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3.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4.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6"/>
  </p:notesMasterIdLst>
  <p:sldIdLst>
    <p:sldId id="565" r:id="rId2"/>
    <p:sldId id="566" r:id="rId3"/>
    <p:sldId id="569" r:id="rId4"/>
    <p:sldId id="4231" r:id="rId5"/>
    <p:sldId id="4259" r:id="rId6"/>
    <p:sldId id="258" r:id="rId7"/>
    <p:sldId id="266" r:id="rId8"/>
    <p:sldId id="267" r:id="rId9"/>
    <p:sldId id="268" r:id="rId10"/>
    <p:sldId id="269" r:id="rId11"/>
    <p:sldId id="4242" r:id="rId12"/>
    <p:sldId id="4243" r:id="rId13"/>
    <p:sldId id="4244" r:id="rId14"/>
    <p:sldId id="4245" r:id="rId15"/>
    <p:sldId id="4200" r:id="rId16"/>
    <p:sldId id="4225" r:id="rId17"/>
    <p:sldId id="4240" r:id="rId18"/>
    <p:sldId id="4239" r:id="rId19"/>
    <p:sldId id="4238" r:id="rId20"/>
    <p:sldId id="4237" r:id="rId21"/>
    <p:sldId id="4201" r:id="rId22"/>
    <p:sldId id="4241" r:id="rId23"/>
    <p:sldId id="4234" r:id="rId24"/>
    <p:sldId id="4235" r:id="rId25"/>
    <p:sldId id="4215" r:id="rId26"/>
    <p:sldId id="4202" r:id="rId27"/>
    <p:sldId id="4207" r:id="rId28"/>
    <p:sldId id="4203" r:id="rId29"/>
    <p:sldId id="4205" r:id="rId30"/>
    <p:sldId id="4204" r:id="rId31"/>
    <p:sldId id="4206" r:id="rId32"/>
    <p:sldId id="4208" r:id="rId33"/>
    <p:sldId id="4209" r:id="rId34"/>
    <p:sldId id="4210" r:id="rId35"/>
    <p:sldId id="4211" r:id="rId36"/>
    <p:sldId id="4212" r:id="rId37"/>
    <p:sldId id="4213" r:id="rId38"/>
    <p:sldId id="4214" r:id="rId39"/>
    <p:sldId id="4246" r:id="rId40"/>
    <p:sldId id="4247" r:id="rId41"/>
    <p:sldId id="4248" r:id="rId42"/>
    <p:sldId id="4216" r:id="rId43"/>
    <p:sldId id="4219" r:id="rId44"/>
    <p:sldId id="4224" r:id="rId45"/>
    <p:sldId id="4220" r:id="rId46"/>
    <p:sldId id="4221" r:id="rId47"/>
    <p:sldId id="4226" r:id="rId48"/>
    <p:sldId id="4229" r:id="rId49"/>
    <p:sldId id="4230" r:id="rId50"/>
    <p:sldId id="275" r:id="rId51"/>
    <p:sldId id="273" r:id="rId52"/>
    <p:sldId id="274" r:id="rId53"/>
    <p:sldId id="4252" r:id="rId54"/>
    <p:sldId id="4249" r:id="rId55"/>
    <p:sldId id="4250" r:id="rId56"/>
    <p:sldId id="4251" r:id="rId57"/>
    <p:sldId id="4253" r:id="rId58"/>
    <p:sldId id="4222" r:id="rId59"/>
    <p:sldId id="4223" r:id="rId60"/>
    <p:sldId id="4227" r:id="rId61"/>
    <p:sldId id="4228" r:id="rId62"/>
    <p:sldId id="276" r:id="rId63"/>
    <p:sldId id="4218" r:id="rId64"/>
    <p:sldId id="572" r:id="rId65"/>
    <p:sldId id="4217" r:id="rId66"/>
    <p:sldId id="4232" r:id="rId67"/>
    <p:sldId id="4233" r:id="rId68"/>
    <p:sldId id="4254" r:id="rId69"/>
    <p:sldId id="4255" r:id="rId70"/>
    <p:sldId id="4256" r:id="rId71"/>
    <p:sldId id="4257" r:id="rId72"/>
    <p:sldId id="4258" r:id="rId73"/>
    <p:sldId id="4260" r:id="rId74"/>
    <p:sldId id="2772"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1752"/>
    <a:srgbClr val="1BBFD1"/>
    <a:srgbClr val="D56E48"/>
    <a:srgbClr val="11CCDD"/>
    <a:srgbClr val="F9F9F9"/>
    <a:srgbClr val="E7C24C"/>
    <a:srgbClr val="FF0909"/>
    <a:srgbClr val="4472C4"/>
    <a:srgbClr val="D1C3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150" autoAdjust="0"/>
    <p:restoredTop sz="94721"/>
  </p:normalViewPr>
  <p:slideViewPr>
    <p:cSldViewPr snapToGrid="0" snapToObjects="1">
      <p:cViewPr varScale="1">
        <p:scale>
          <a:sx n="106" d="100"/>
          <a:sy n="106" d="100"/>
        </p:scale>
        <p:origin x="184" y="5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403795-7E30-4A8F-962A-31AA4511D2AB}"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CA"/>
        </a:p>
      </dgm:t>
    </dgm:pt>
    <dgm:pt modelId="{50431369-481C-455D-B72C-E50F24C8E8CB}">
      <dgm:prSet phldrT="[Text]" custT="1"/>
      <dgm:spPr/>
      <dgm:t>
        <a:bodyPr/>
        <a:lstStyle/>
        <a:p>
          <a:r>
            <a:rPr lang="en-CA" sz="1400" b="1" dirty="0">
              <a:latin typeface="Montserrat" panose="00000500000000000000" pitchFamily="2" charset="0"/>
            </a:rPr>
            <a:t>Step 1. Problem Scoping</a:t>
          </a:r>
        </a:p>
        <a:p>
          <a:r>
            <a:rPr lang="en-CA" sz="1400" dirty="0">
              <a:latin typeface="Montserrat" panose="00000500000000000000" pitchFamily="2" charset="0"/>
            </a:rPr>
            <a:t>Define the business problem &amp; objectives. Use the 4Ws (Who, What, Where, Why) to understand context &amp; expected outcomes.</a:t>
          </a:r>
          <a:endParaRPr lang="en-CA" sz="1400" b="1" dirty="0">
            <a:latin typeface="Montserrat" panose="00000500000000000000" pitchFamily="2" charset="0"/>
          </a:endParaRPr>
        </a:p>
      </dgm:t>
    </dgm:pt>
    <dgm:pt modelId="{6A5D676A-6C55-4730-A436-DAE90C267FCE}" type="parTrans" cxnId="{F0F8FCC8-C529-47E2-B138-03EB77FDCEED}">
      <dgm:prSet/>
      <dgm:spPr/>
      <dgm:t>
        <a:bodyPr/>
        <a:lstStyle/>
        <a:p>
          <a:endParaRPr lang="en-CA"/>
        </a:p>
      </dgm:t>
    </dgm:pt>
    <dgm:pt modelId="{B09149B5-A241-42BC-A80A-97EFADE05E9F}" type="sibTrans" cxnId="{F0F8FCC8-C529-47E2-B138-03EB77FDCEED}">
      <dgm:prSet/>
      <dgm:spPr/>
      <dgm:t>
        <a:bodyPr/>
        <a:lstStyle/>
        <a:p>
          <a:endParaRPr lang="en-CA"/>
        </a:p>
      </dgm:t>
    </dgm:pt>
    <dgm:pt modelId="{8BCE3EBC-FB55-4DC6-A75E-A7600EEB24F7}">
      <dgm:prSet phldrT="[Text]" custT="1"/>
      <dgm:spPr/>
      <dgm:t>
        <a:bodyPr/>
        <a:lstStyle/>
        <a:p>
          <a:r>
            <a:rPr lang="en-CA" sz="1400" b="1" dirty="0">
              <a:latin typeface="Montserrat" panose="00000500000000000000" pitchFamily="2" charset="0"/>
            </a:rPr>
            <a:t>Step 3. Data Exploration</a:t>
          </a:r>
        </a:p>
        <a:p>
          <a:r>
            <a:rPr lang="en-CA" sz="1400" dirty="0">
              <a:latin typeface="Montserrat" panose="00000500000000000000" pitchFamily="2" charset="0"/>
            </a:rPr>
            <a:t>Analyze the data to understand patterns, identify outliers, handle missing values, &amp; perform feature engineering.</a:t>
          </a:r>
          <a:endParaRPr lang="en-CA" sz="1400" b="1" dirty="0">
            <a:latin typeface="Montserrat" panose="00000500000000000000" pitchFamily="2" charset="0"/>
          </a:endParaRPr>
        </a:p>
      </dgm:t>
    </dgm:pt>
    <dgm:pt modelId="{1EFFD5B0-0312-42C6-A552-64AACFB270C2}" type="parTrans" cxnId="{68E5AC04-7C7E-4BC6-85CE-2BA26EC8218F}">
      <dgm:prSet/>
      <dgm:spPr/>
      <dgm:t>
        <a:bodyPr/>
        <a:lstStyle/>
        <a:p>
          <a:endParaRPr lang="en-CA"/>
        </a:p>
      </dgm:t>
    </dgm:pt>
    <dgm:pt modelId="{459E6D47-0B22-4AFB-8069-010452DA16E9}" type="sibTrans" cxnId="{68E5AC04-7C7E-4BC6-85CE-2BA26EC8218F}">
      <dgm:prSet/>
      <dgm:spPr/>
      <dgm:t>
        <a:bodyPr/>
        <a:lstStyle/>
        <a:p>
          <a:endParaRPr lang="en-CA"/>
        </a:p>
      </dgm:t>
    </dgm:pt>
    <dgm:pt modelId="{2425FE96-F2DB-4014-9808-F74F534BC7AB}">
      <dgm:prSet phldrT="[Text]" custT="1"/>
      <dgm:spPr/>
      <dgm:t>
        <a:bodyPr/>
        <a:lstStyle/>
        <a:p>
          <a:r>
            <a:rPr lang="en-CA" sz="1400" b="1" dirty="0">
              <a:latin typeface="Montserrat" panose="00000500000000000000" pitchFamily="2" charset="0"/>
            </a:rPr>
            <a:t>Step 2. Data Acquisition</a:t>
          </a:r>
        </a:p>
        <a:p>
          <a:r>
            <a:rPr lang="en-CA" sz="1400" dirty="0">
              <a:latin typeface="Montserrat" panose="00000500000000000000" pitchFamily="2" charset="0"/>
            </a:rPr>
            <a:t>Gather relevant data from internal and/or external sources. This includes structured &amp; unstructured data collection through APIs, databases, sensors, etc.</a:t>
          </a:r>
          <a:endParaRPr lang="en-CA" sz="1400" b="1" dirty="0">
            <a:latin typeface="Montserrat" panose="00000500000000000000" pitchFamily="2" charset="0"/>
          </a:endParaRPr>
        </a:p>
      </dgm:t>
    </dgm:pt>
    <dgm:pt modelId="{09CD666A-DAFE-45A8-89A5-F4A2C61F6390}" type="parTrans" cxnId="{A5893879-EF99-40AE-80B0-B968D653385B}">
      <dgm:prSet/>
      <dgm:spPr/>
      <dgm:t>
        <a:bodyPr/>
        <a:lstStyle/>
        <a:p>
          <a:endParaRPr lang="en-CA"/>
        </a:p>
      </dgm:t>
    </dgm:pt>
    <dgm:pt modelId="{36EC555A-EB57-460F-8F51-C52B479F56B4}" type="sibTrans" cxnId="{A5893879-EF99-40AE-80B0-B968D653385B}">
      <dgm:prSet/>
      <dgm:spPr/>
      <dgm:t>
        <a:bodyPr/>
        <a:lstStyle/>
        <a:p>
          <a:endParaRPr lang="en-CA"/>
        </a:p>
      </dgm:t>
    </dgm:pt>
    <dgm:pt modelId="{FAE990D1-8AEE-44DB-90EC-107C0A0501C1}">
      <dgm:prSet phldrT="[Text]" custT="1"/>
      <dgm:spPr/>
      <dgm:t>
        <a:bodyPr/>
        <a:lstStyle/>
        <a:p>
          <a:pPr>
            <a:buNone/>
          </a:pPr>
          <a:r>
            <a:rPr lang="en-CA" sz="1400" b="1" dirty="0">
              <a:latin typeface="Montserrat" panose="00000500000000000000" pitchFamily="2" charset="0"/>
            </a:rPr>
            <a:t>Step 4. Modeling</a:t>
          </a:r>
        </a:p>
        <a:p>
          <a:pPr>
            <a:buNone/>
          </a:pPr>
          <a:r>
            <a:rPr lang="en-CA" sz="1400" dirty="0">
              <a:latin typeface="Montserrat" panose="00000500000000000000" pitchFamily="2" charset="0"/>
            </a:rPr>
            <a:t>Develop &amp; train AI models using selected algorithms. Fine-tune the model to improve accuracy &amp; performance.</a:t>
          </a:r>
        </a:p>
      </dgm:t>
    </dgm:pt>
    <dgm:pt modelId="{6F44D0C7-8DA8-4FAD-BEDE-D8DC312216F5}" type="parTrans" cxnId="{0388C772-B259-49C8-9572-5CC6FE5F33BB}">
      <dgm:prSet/>
      <dgm:spPr/>
      <dgm:t>
        <a:bodyPr/>
        <a:lstStyle/>
        <a:p>
          <a:endParaRPr lang="en-CA"/>
        </a:p>
      </dgm:t>
    </dgm:pt>
    <dgm:pt modelId="{AFFED99C-22DD-412F-8CAD-016931C68A52}" type="sibTrans" cxnId="{0388C772-B259-49C8-9572-5CC6FE5F33BB}">
      <dgm:prSet/>
      <dgm:spPr/>
      <dgm:t>
        <a:bodyPr/>
        <a:lstStyle/>
        <a:p>
          <a:endParaRPr lang="en-CA"/>
        </a:p>
      </dgm:t>
    </dgm:pt>
    <dgm:pt modelId="{611E23C9-EBE0-42AF-B00A-333EAC2D923C}">
      <dgm:prSet phldrT="[Text]" custT="1"/>
      <dgm:spPr/>
      <dgm:t>
        <a:bodyPr/>
        <a:lstStyle/>
        <a:p>
          <a:r>
            <a:rPr lang="en-CA" sz="1400" b="1" dirty="0">
              <a:latin typeface="Montserrat" panose="00000500000000000000" pitchFamily="2" charset="0"/>
            </a:rPr>
            <a:t>Step 5. Model Evaluation</a:t>
          </a:r>
        </a:p>
        <a:p>
          <a:r>
            <a:rPr lang="en-CA" sz="1400" dirty="0">
              <a:latin typeface="Montserrat" panose="00000500000000000000" pitchFamily="2" charset="0"/>
            </a:rPr>
            <a:t>Assess model performance using metrics such as accuracy, precision, recall, F1-score, etc. This helps ensure the model is reliable and generalizable.</a:t>
          </a:r>
        </a:p>
      </dgm:t>
    </dgm:pt>
    <dgm:pt modelId="{FC5CCA6A-632E-497B-BD45-35FD4B08B7B2}" type="parTrans" cxnId="{2B816AC4-D108-4886-8877-8499BEFED39E}">
      <dgm:prSet/>
      <dgm:spPr/>
      <dgm:t>
        <a:bodyPr/>
        <a:lstStyle/>
        <a:p>
          <a:endParaRPr lang="en-CA"/>
        </a:p>
      </dgm:t>
    </dgm:pt>
    <dgm:pt modelId="{5916901A-B55E-421C-86A3-258E126634B4}" type="sibTrans" cxnId="{2B816AC4-D108-4886-8877-8499BEFED39E}">
      <dgm:prSet/>
      <dgm:spPr/>
      <dgm:t>
        <a:bodyPr/>
        <a:lstStyle/>
        <a:p>
          <a:endParaRPr lang="en-CA"/>
        </a:p>
      </dgm:t>
    </dgm:pt>
    <dgm:pt modelId="{A3E54BB4-06BC-410B-8B2F-C596473713F8}">
      <dgm:prSet phldrT="[Text]" custT="1"/>
      <dgm:spPr/>
      <dgm:t>
        <a:bodyPr/>
        <a:lstStyle/>
        <a:p>
          <a:r>
            <a:rPr lang="en-CA" sz="1400" b="1" dirty="0">
              <a:latin typeface="Montserrat" panose="00000500000000000000" pitchFamily="2" charset="0"/>
            </a:rPr>
            <a:t>Step 6. Deployment</a:t>
          </a:r>
        </a:p>
        <a:p>
          <a:r>
            <a:rPr lang="en-CA" sz="1400" dirty="0">
              <a:latin typeface="Montserrat" panose="00000500000000000000" pitchFamily="2" charset="0"/>
            </a:rPr>
            <a:t>Integrate the trained model into a production environment where it can be used by end users to generate predictions.</a:t>
          </a:r>
        </a:p>
      </dgm:t>
    </dgm:pt>
    <dgm:pt modelId="{4CE80AA3-47B0-4AC8-BE59-82A45C266D47}" type="parTrans" cxnId="{C8BB5CDB-2EB4-49E1-9941-AC00891D5D27}">
      <dgm:prSet/>
      <dgm:spPr/>
      <dgm:t>
        <a:bodyPr/>
        <a:lstStyle/>
        <a:p>
          <a:endParaRPr lang="en-CA"/>
        </a:p>
      </dgm:t>
    </dgm:pt>
    <dgm:pt modelId="{ACF7D184-983A-47A9-97EF-C664E753CFC8}" type="sibTrans" cxnId="{C8BB5CDB-2EB4-49E1-9941-AC00891D5D27}">
      <dgm:prSet/>
      <dgm:spPr/>
      <dgm:t>
        <a:bodyPr/>
        <a:lstStyle/>
        <a:p>
          <a:endParaRPr lang="en-CA"/>
        </a:p>
      </dgm:t>
    </dgm:pt>
    <dgm:pt modelId="{3EA985B3-DE52-4A73-A46F-493732BDBC7F}">
      <dgm:prSet phldrT="[Text]" custT="1"/>
      <dgm:spPr/>
      <dgm:t>
        <a:bodyPr/>
        <a:lstStyle/>
        <a:p>
          <a:r>
            <a:rPr lang="en-CA" sz="1400" b="1" dirty="0">
              <a:latin typeface="Montserrat" panose="00000500000000000000" pitchFamily="2" charset="0"/>
            </a:rPr>
            <a:t>Step 7. Maintenance &amp; Monitoring</a:t>
          </a:r>
        </a:p>
        <a:p>
          <a:r>
            <a:rPr lang="en-CA" sz="1400" dirty="0">
              <a:latin typeface="Montserrat" panose="00000500000000000000" pitchFamily="2" charset="0"/>
            </a:rPr>
            <a:t>Continuously monitor the model’s performance and retrain it as needed to ensure it adapts to new data and remains effective over time.</a:t>
          </a:r>
        </a:p>
      </dgm:t>
    </dgm:pt>
    <dgm:pt modelId="{FBD7E852-FF26-47B3-B55D-B0167CBEBCAB}" type="parTrans" cxnId="{C965C434-0971-4327-ADD4-7AED3213CF4B}">
      <dgm:prSet/>
      <dgm:spPr/>
      <dgm:t>
        <a:bodyPr/>
        <a:lstStyle/>
        <a:p>
          <a:endParaRPr lang="en-CA"/>
        </a:p>
      </dgm:t>
    </dgm:pt>
    <dgm:pt modelId="{2C352127-3E38-41AE-9BB8-FE3C6AF07EAD}" type="sibTrans" cxnId="{C965C434-0971-4327-ADD4-7AED3213CF4B}">
      <dgm:prSet/>
      <dgm:spPr/>
      <dgm:t>
        <a:bodyPr/>
        <a:lstStyle/>
        <a:p>
          <a:endParaRPr lang="en-CA"/>
        </a:p>
      </dgm:t>
    </dgm:pt>
    <dgm:pt modelId="{3B0F8027-CB63-491A-A998-1372D4E11634}" type="pres">
      <dgm:prSet presAssocID="{E7403795-7E30-4A8F-962A-31AA4511D2AB}" presName="rootnode" presStyleCnt="0">
        <dgm:presLayoutVars>
          <dgm:chMax/>
          <dgm:chPref/>
          <dgm:dir/>
          <dgm:animLvl val="lvl"/>
        </dgm:presLayoutVars>
      </dgm:prSet>
      <dgm:spPr/>
    </dgm:pt>
    <dgm:pt modelId="{68A3B8D6-D101-45A5-85A2-142DFD4FED42}" type="pres">
      <dgm:prSet presAssocID="{50431369-481C-455D-B72C-E50F24C8E8CB}" presName="composite" presStyleCnt="0"/>
      <dgm:spPr/>
    </dgm:pt>
    <dgm:pt modelId="{A5197BF8-3E74-4E92-90E4-3E2E45C5C2A3}" type="pres">
      <dgm:prSet presAssocID="{50431369-481C-455D-B72C-E50F24C8E8CB}" presName="LShape" presStyleLbl="alignNode1" presStyleIdx="0" presStyleCnt="13"/>
      <dgm:spPr>
        <a:solidFill>
          <a:srgbClr val="D56E48"/>
        </a:solidFill>
        <a:ln>
          <a:noFill/>
        </a:ln>
      </dgm:spPr>
    </dgm:pt>
    <dgm:pt modelId="{5D5D9AB6-EEDD-4BD3-977C-305469BA0261}" type="pres">
      <dgm:prSet presAssocID="{50431369-481C-455D-B72C-E50F24C8E8CB}" presName="ParentText" presStyleLbl="revTx" presStyleIdx="0" presStyleCnt="7">
        <dgm:presLayoutVars>
          <dgm:chMax val="0"/>
          <dgm:chPref val="0"/>
          <dgm:bulletEnabled val="1"/>
        </dgm:presLayoutVars>
      </dgm:prSet>
      <dgm:spPr/>
    </dgm:pt>
    <dgm:pt modelId="{AC2D6AEA-9B05-42E9-A026-B81090D337F0}" type="pres">
      <dgm:prSet presAssocID="{50431369-481C-455D-B72C-E50F24C8E8CB}" presName="Triangle" presStyleLbl="alignNode1" presStyleIdx="1" presStyleCnt="13"/>
      <dgm:spPr>
        <a:solidFill>
          <a:srgbClr val="D56E48"/>
        </a:solidFill>
        <a:ln>
          <a:noFill/>
        </a:ln>
      </dgm:spPr>
    </dgm:pt>
    <dgm:pt modelId="{30B501CE-C7B9-4CD3-9109-73F9DD26F1B7}" type="pres">
      <dgm:prSet presAssocID="{B09149B5-A241-42BC-A80A-97EFADE05E9F}" presName="sibTrans" presStyleCnt="0"/>
      <dgm:spPr/>
    </dgm:pt>
    <dgm:pt modelId="{623342F4-C366-48C0-8E05-B2153645171C}" type="pres">
      <dgm:prSet presAssocID="{B09149B5-A241-42BC-A80A-97EFADE05E9F}" presName="space" presStyleCnt="0"/>
      <dgm:spPr/>
    </dgm:pt>
    <dgm:pt modelId="{5040EFCC-31FD-40D7-B495-3AA491FDA773}" type="pres">
      <dgm:prSet presAssocID="{2425FE96-F2DB-4014-9808-F74F534BC7AB}" presName="composite" presStyleCnt="0"/>
      <dgm:spPr/>
    </dgm:pt>
    <dgm:pt modelId="{A33D4270-609E-4AA3-8271-F23E953621C9}" type="pres">
      <dgm:prSet presAssocID="{2425FE96-F2DB-4014-9808-F74F534BC7AB}" presName="LShape" presStyleLbl="alignNode1" presStyleIdx="2" presStyleCnt="13"/>
      <dgm:spPr>
        <a:solidFill>
          <a:srgbClr val="D56E48"/>
        </a:solidFill>
        <a:ln>
          <a:noFill/>
        </a:ln>
      </dgm:spPr>
    </dgm:pt>
    <dgm:pt modelId="{855DD54A-DED1-4D82-A0BC-A3D0CAA2A87F}" type="pres">
      <dgm:prSet presAssocID="{2425FE96-F2DB-4014-9808-F74F534BC7AB}" presName="ParentText" presStyleLbl="revTx" presStyleIdx="1" presStyleCnt="7">
        <dgm:presLayoutVars>
          <dgm:chMax val="0"/>
          <dgm:chPref val="0"/>
          <dgm:bulletEnabled val="1"/>
        </dgm:presLayoutVars>
      </dgm:prSet>
      <dgm:spPr/>
    </dgm:pt>
    <dgm:pt modelId="{ED2C80C3-84F6-4288-A9C8-4B9770720D7E}" type="pres">
      <dgm:prSet presAssocID="{2425FE96-F2DB-4014-9808-F74F534BC7AB}" presName="Triangle" presStyleLbl="alignNode1" presStyleIdx="3" presStyleCnt="13"/>
      <dgm:spPr>
        <a:solidFill>
          <a:srgbClr val="D56E48"/>
        </a:solidFill>
        <a:ln>
          <a:noFill/>
        </a:ln>
      </dgm:spPr>
    </dgm:pt>
    <dgm:pt modelId="{19A269C0-6C3A-4112-8728-434F1F1034C4}" type="pres">
      <dgm:prSet presAssocID="{36EC555A-EB57-460F-8F51-C52B479F56B4}" presName="sibTrans" presStyleCnt="0"/>
      <dgm:spPr/>
    </dgm:pt>
    <dgm:pt modelId="{FEB8E655-18F2-4DA9-842B-DFD72FD75342}" type="pres">
      <dgm:prSet presAssocID="{36EC555A-EB57-460F-8F51-C52B479F56B4}" presName="space" presStyleCnt="0"/>
      <dgm:spPr/>
    </dgm:pt>
    <dgm:pt modelId="{0316A1A7-1A83-48F3-A081-001FABF79709}" type="pres">
      <dgm:prSet presAssocID="{8BCE3EBC-FB55-4DC6-A75E-A7600EEB24F7}" presName="composite" presStyleCnt="0"/>
      <dgm:spPr/>
    </dgm:pt>
    <dgm:pt modelId="{3D738D62-8D5E-4D03-AD82-3EB35A4AAC42}" type="pres">
      <dgm:prSet presAssocID="{8BCE3EBC-FB55-4DC6-A75E-A7600EEB24F7}" presName="LShape" presStyleLbl="alignNode1" presStyleIdx="4" presStyleCnt="13"/>
      <dgm:spPr>
        <a:solidFill>
          <a:srgbClr val="D56E48"/>
        </a:solidFill>
        <a:ln>
          <a:noFill/>
        </a:ln>
      </dgm:spPr>
    </dgm:pt>
    <dgm:pt modelId="{D9489394-1C97-401A-8FE3-A80068DDF909}" type="pres">
      <dgm:prSet presAssocID="{8BCE3EBC-FB55-4DC6-A75E-A7600EEB24F7}" presName="ParentText" presStyleLbl="revTx" presStyleIdx="2" presStyleCnt="7">
        <dgm:presLayoutVars>
          <dgm:chMax val="0"/>
          <dgm:chPref val="0"/>
          <dgm:bulletEnabled val="1"/>
        </dgm:presLayoutVars>
      </dgm:prSet>
      <dgm:spPr/>
    </dgm:pt>
    <dgm:pt modelId="{51165B95-C9C3-4A89-8576-34A9B69B97F0}" type="pres">
      <dgm:prSet presAssocID="{8BCE3EBC-FB55-4DC6-A75E-A7600EEB24F7}" presName="Triangle" presStyleLbl="alignNode1" presStyleIdx="5" presStyleCnt="13"/>
      <dgm:spPr>
        <a:solidFill>
          <a:srgbClr val="D56E48"/>
        </a:solidFill>
        <a:ln>
          <a:noFill/>
        </a:ln>
      </dgm:spPr>
    </dgm:pt>
    <dgm:pt modelId="{2554D61B-2C8E-4973-9465-056B823D4D52}" type="pres">
      <dgm:prSet presAssocID="{459E6D47-0B22-4AFB-8069-010452DA16E9}" presName="sibTrans" presStyleCnt="0"/>
      <dgm:spPr/>
    </dgm:pt>
    <dgm:pt modelId="{3686C1ED-0CBE-43AF-95F8-1CF4041368A4}" type="pres">
      <dgm:prSet presAssocID="{459E6D47-0B22-4AFB-8069-010452DA16E9}" presName="space" presStyleCnt="0"/>
      <dgm:spPr/>
    </dgm:pt>
    <dgm:pt modelId="{A41BC37F-86BB-4965-8583-F78E515DBAE7}" type="pres">
      <dgm:prSet presAssocID="{FAE990D1-8AEE-44DB-90EC-107C0A0501C1}" presName="composite" presStyleCnt="0"/>
      <dgm:spPr/>
    </dgm:pt>
    <dgm:pt modelId="{DF897D56-0D3C-45BE-AC53-5C3B54B37B4E}" type="pres">
      <dgm:prSet presAssocID="{FAE990D1-8AEE-44DB-90EC-107C0A0501C1}" presName="LShape" presStyleLbl="alignNode1" presStyleIdx="6" presStyleCnt="13"/>
      <dgm:spPr>
        <a:solidFill>
          <a:srgbClr val="D56E48"/>
        </a:solidFill>
        <a:ln>
          <a:noFill/>
        </a:ln>
      </dgm:spPr>
    </dgm:pt>
    <dgm:pt modelId="{9B7C5D4A-61CF-4DD5-8253-969280031ABA}" type="pres">
      <dgm:prSet presAssocID="{FAE990D1-8AEE-44DB-90EC-107C0A0501C1}" presName="ParentText" presStyleLbl="revTx" presStyleIdx="3" presStyleCnt="7">
        <dgm:presLayoutVars>
          <dgm:chMax val="0"/>
          <dgm:chPref val="0"/>
          <dgm:bulletEnabled val="1"/>
        </dgm:presLayoutVars>
      </dgm:prSet>
      <dgm:spPr/>
    </dgm:pt>
    <dgm:pt modelId="{6AEE8688-6329-4DE1-BA4F-B5954E8ECF79}" type="pres">
      <dgm:prSet presAssocID="{FAE990D1-8AEE-44DB-90EC-107C0A0501C1}" presName="Triangle" presStyleLbl="alignNode1" presStyleIdx="7" presStyleCnt="13"/>
      <dgm:spPr>
        <a:solidFill>
          <a:srgbClr val="D56E48"/>
        </a:solidFill>
        <a:ln>
          <a:noFill/>
        </a:ln>
      </dgm:spPr>
    </dgm:pt>
    <dgm:pt modelId="{29D68217-CA8E-4780-9886-0B583D25B212}" type="pres">
      <dgm:prSet presAssocID="{AFFED99C-22DD-412F-8CAD-016931C68A52}" presName="sibTrans" presStyleCnt="0"/>
      <dgm:spPr/>
    </dgm:pt>
    <dgm:pt modelId="{39150099-6502-47B5-A485-354BCB6CD1C0}" type="pres">
      <dgm:prSet presAssocID="{AFFED99C-22DD-412F-8CAD-016931C68A52}" presName="space" presStyleCnt="0"/>
      <dgm:spPr/>
    </dgm:pt>
    <dgm:pt modelId="{0E37F100-65FB-4CD2-9992-BCBF394F8DA1}" type="pres">
      <dgm:prSet presAssocID="{611E23C9-EBE0-42AF-B00A-333EAC2D923C}" presName="composite" presStyleCnt="0"/>
      <dgm:spPr/>
    </dgm:pt>
    <dgm:pt modelId="{FDD45974-4D89-4002-89CF-37647622E151}" type="pres">
      <dgm:prSet presAssocID="{611E23C9-EBE0-42AF-B00A-333EAC2D923C}" presName="LShape" presStyleLbl="alignNode1" presStyleIdx="8" presStyleCnt="13"/>
      <dgm:spPr>
        <a:solidFill>
          <a:srgbClr val="D56E48"/>
        </a:solidFill>
        <a:ln>
          <a:noFill/>
        </a:ln>
      </dgm:spPr>
    </dgm:pt>
    <dgm:pt modelId="{383A5A5E-4524-4B31-93A4-3452ED550E07}" type="pres">
      <dgm:prSet presAssocID="{611E23C9-EBE0-42AF-B00A-333EAC2D923C}" presName="ParentText" presStyleLbl="revTx" presStyleIdx="4" presStyleCnt="7">
        <dgm:presLayoutVars>
          <dgm:chMax val="0"/>
          <dgm:chPref val="0"/>
          <dgm:bulletEnabled val="1"/>
        </dgm:presLayoutVars>
      </dgm:prSet>
      <dgm:spPr/>
    </dgm:pt>
    <dgm:pt modelId="{72DC2A12-A0E1-412E-AAF6-0B15046421EA}" type="pres">
      <dgm:prSet presAssocID="{611E23C9-EBE0-42AF-B00A-333EAC2D923C}" presName="Triangle" presStyleLbl="alignNode1" presStyleIdx="9" presStyleCnt="13"/>
      <dgm:spPr>
        <a:solidFill>
          <a:srgbClr val="D56E48"/>
        </a:solidFill>
        <a:ln>
          <a:noFill/>
        </a:ln>
      </dgm:spPr>
    </dgm:pt>
    <dgm:pt modelId="{C90FA308-7FA9-433C-813C-072BDD707557}" type="pres">
      <dgm:prSet presAssocID="{5916901A-B55E-421C-86A3-258E126634B4}" presName="sibTrans" presStyleCnt="0"/>
      <dgm:spPr/>
    </dgm:pt>
    <dgm:pt modelId="{8B57C6C3-323D-492E-9295-E857C39264B1}" type="pres">
      <dgm:prSet presAssocID="{5916901A-B55E-421C-86A3-258E126634B4}" presName="space" presStyleCnt="0"/>
      <dgm:spPr/>
    </dgm:pt>
    <dgm:pt modelId="{58208796-200F-4857-BDAB-4661C60FA8CB}" type="pres">
      <dgm:prSet presAssocID="{A3E54BB4-06BC-410B-8B2F-C596473713F8}" presName="composite" presStyleCnt="0"/>
      <dgm:spPr/>
    </dgm:pt>
    <dgm:pt modelId="{A7EAA430-4388-4C23-8BE4-9CC3DAB20E8B}" type="pres">
      <dgm:prSet presAssocID="{A3E54BB4-06BC-410B-8B2F-C596473713F8}" presName="LShape" presStyleLbl="alignNode1" presStyleIdx="10" presStyleCnt="13"/>
      <dgm:spPr>
        <a:solidFill>
          <a:srgbClr val="D56E48"/>
        </a:solidFill>
        <a:ln>
          <a:noFill/>
        </a:ln>
      </dgm:spPr>
    </dgm:pt>
    <dgm:pt modelId="{D16277B2-4FB3-49F7-B98B-B4B060F4B14C}" type="pres">
      <dgm:prSet presAssocID="{A3E54BB4-06BC-410B-8B2F-C596473713F8}" presName="ParentText" presStyleLbl="revTx" presStyleIdx="5" presStyleCnt="7">
        <dgm:presLayoutVars>
          <dgm:chMax val="0"/>
          <dgm:chPref val="0"/>
          <dgm:bulletEnabled val="1"/>
        </dgm:presLayoutVars>
      </dgm:prSet>
      <dgm:spPr/>
    </dgm:pt>
    <dgm:pt modelId="{8D90BE74-BB9F-4ED4-9803-F3EBBE5A5D63}" type="pres">
      <dgm:prSet presAssocID="{A3E54BB4-06BC-410B-8B2F-C596473713F8}" presName="Triangle" presStyleLbl="alignNode1" presStyleIdx="11" presStyleCnt="13"/>
      <dgm:spPr>
        <a:solidFill>
          <a:srgbClr val="D56E48"/>
        </a:solidFill>
        <a:ln>
          <a:noFill/>
        </a:ln>
      </dgm:spPr>
    </dgm:pt>
    <dgm:pt modelId="{5186C1F4-4E39-430D-B088-1EA947EC6DE5}" type="pres">
      <dgm:prSet presAssocID="{ACF7D184-983A-47A9-97EF-C664E753CFC8}" presName="sibTrans" presStyleCnt="0"/>
      <dgm:spPr/>
    </dgm:pt>
    <dgm:pt modelId="{64CD8071-3654-44AC-A2F0-5E78C89139C2}" type="pres">
      <dgm:prSet presAssocID="{ACF7D184-983A-47A9-97EF-C664E753CFC8}" presName="space" presStyleCnt="0"/>
      <dgm:spPr/>
    </dgm:pt>
    <dgm:pt modelId="{4904E9EE-13C2-41E1-9092-8C886868B525}" type="pres">
      <dgm:prSet presAssocID="{3EA985B3-DE52-4A73-A46F-493732BDBC7F}" presName="composite" presStyleCnt="0"/>
      <dgm:spPr/>
    </dgm:pt>
    <dgm:pt modelId="{2393D578-8172-40CF-A411-ED368597F851}" type="pres">
      <dgm:prSet presAssocID="{3EA985B3-DE52-4A73-A46F-493732BDBC7F}" presName="LShape" presStyleLbl="alignNode1" presStyleIdx="12" presStyleCnt="13"/>
      <dgm:spPr>
        <a:solidFill>
          <a:srgbClr val="D56E48"/>
        </a:solidFill>
        <a:ln>
          <a:noFill/>
        </a:ln>
      </dgm:spPr>
    </dgm:pt>
    <dgm:pt modelId="{9BE97963-BE5B-40A3-A1BF-195C7D44B9A3}" type="pres">
      <dgm:prSet presAssocID="{3EA985B3-DE52-4A73-A46F-493732BDBC7F}" presName="ParentText" presStyleLbl="revTx" presStyleIdx="6" presStyleCnt="7">
        <dgm:presLayoutVars>
          <dgm:chMax val="0"/>
          <dgm:chPref val="0"/>
          <dgm:bulletEnabled val="1"/>
        </dgm:presLayoutVars>
      </dgm:prSet>
      <dgm:spPr/>
    </dgm:pt>
  </dgm:ptLst>
  <dgm:cxnLst>
    <dgm:cxn modelId="{68E5AC04-7C7E-4BC6-85CE-2BA26EC8218F}" srcId="{E7403795-7E30-4A8F-962A-31AA4511D2AB}" destId="{8BCE3EBC-FB55-4DC6-A75E-A7600EEB24F7}" srcOrd="2" destOrd="0" parTransId="{1EFFD5B0-0312-42C6-A552-64AACFB270C2}" sibTransId="{459E6D47-0B22-4AFB-8069-010452DA16E9}"/>
    <dgm:cxn modelId="{C965C434-0971-4327-ADD4-7AED3213CF4B}" srcId="{E7403795-7E30-4A8F-962A-31AA4511D2AB}" destId="{3EA985B3-DE52-4A73-A46F-493732BDBC7F}" srcOrd="6" destOrd="0" parTransId="{FBD7E852-FF26-47B3-B55D-B0167CBEBCAB}" sibTransId="{2C352127-3E38-41AE-9BB8-FE3C6AF07EAD}"/>
    <dgm:cxn modelId="{0388C772-B259-49C8-9572-5CC6FE5F33BB}" srcId="{E7403795-7E30-4A8F-962A-31AA4511D2AB}" destId="{FAE990D1-8AEE-44DB-90EC-107C0A0501C1}" srcOrd="3" destOrd="0" parTransId="{6F44D0C7-8DA8-4FAD-BEDE-D8DC312216F5}" sibTransId="{AFFED99C-22DD-412F-8CAD-016931C68A52}"/>
    <dgm:cxn modelId="{A5893879-EF99-40AE-80B0-B968D653385B}" srcId="{E7403795-7E30-4A8F-962A-31AA4511D2AB}" destId="{2425FE96-F2DB-4014-9808-F74F534BC7AB}" srcOrd="1" destOrd="0" parTransId="{09CD666A-DAFE-45A8-89A5-F4A2C61F6390}" sibTransId="{36EC555A-EB57-460F-8F51-C52B479F56B4}"/>
    <dgm:cxn modelId="{06BECB83-15C5-4509-90DB-F753F1B0BE65}" type="presOf" srcId="{2425FE96-F2DB-4014-9808-F74F534BC7AB}" destId="{855DD54A-DED1-4D82-A0BC-A3D0CAA2A87F}" srcOrd="0" destOrd="0" presId="urn:microsoft.com/office/officeart/2009/3/layout/StepUpProcess"/>
    <dgm:cxn modelId="{CE279688-02AE-47AA-B9CF-7A51435590B6}" type="presOf" srcId="{8BCE3EBC-FB55-4DC6-A75E-A7600EEB24F7}" destId="{D9489394-1C97-401A-8FE3-A80068DDF909}" srcOrd="0" destOrd="0" presId="urn:microsoft.com/office/officeart/2009/3/layout/StepUpProcess"/>
    <dgm:cxn modelId="{0B7F2190-F558-4748-9ED2-69A4CF69148D}" type="presOf" srcId="{50431369-481C-455D-B72C-E50F24C8E8CB}" destId="{5D5D9AB6-EEDD-4BD3-977C-305469BA0261}" srcOrd="0" destOrd="0" presId="urn:microsoft.com/office/officeart/2009/3/layout/StepUpProcess"/>
    <dgm:cxn modelId="{0F9506B1-888F-4FAD-9CEC-CC4D4D6C4762}" type="presOf" srcId="{3EA985B3-DE52-4A73-A46F-493732BDBC7F}" destId="{9BE97963-BE5B-40A3-A1BF-195C7D44B9A3}" srcOrd="0" destOrd="0" presId="urn:microsoft.com/office/officeart/2009/3/layout/StepUpProcess"/>
    <dgm:cxn modelId="{14444ABA-26D9-474E-8F62-12A05396EB70}" type="presOf" srcId="{E7403795-7E30-4A8F-962A-31AA4511D2AB}" destId="{3B0F8027-CB63-491A-A998-1372D4E11634}" srcOrd="0" destOrd="0" presId="urn:microsoft.com/office/officeart/2009/3/layout/StepUpProcess"/>
    <dgm:cxn modelId="{374C7EBD-C78C-42FD-8B35-2BDAF7EE2083}" type="presOf" srcId="{FAE990D1-8AEE-44DB-90EC-107C0A0501C1}" destId="{9B7C5D4A-61CF-4DD5-8253-969280031ABA}" srcOrd="0" destOrd="0" presId="urn:microsoft.com/office/officeart/2009/3/layout/StepUpProcess"/>
    <dgm:cxn modelId="{2B816AC4-D108-4886-8877-8499BEFED39E}" srcId="{E7403795-7E30-4A8F-962A-31AA4511D2AB}" destId="{611E23C9-EBE0-42AF-B00A-333EAC2D923C}" srcOrd="4" destOrd="0" parTransId="{FC5CCA6A-632E-497B-BD45-35FD4B08B7B2}" sibTransId="{5916901A-B55E-421C-86A3-258E126634B4}"/>
    <dgm:cxn modelId="{F0F8FCC8-C529-47E2-B138-03EB77FDCEED}" srcId="{E7403795-7E30-4A8F-962A-31AA4511D2AB}" destId="{50431369-481C-455D-B72C-E50F24C8E8CB}" srcOrd="0" destOrd="0" parTransId="{6A5D676A-6C55-4730-A436-DAE90C267FCE}" sibTransId="{B09149B5-A241-42BC-A80A-97EFADE05E9F}"/>
    <dgm:cxn modelId="{C8BB5CDB-2EB4-49E1-9941-AC00891D5D27}" srcId="{E7403795-7E30-4A8F-962A-31AA4511D2AB}" destId="{A3E54BB4-06BC-410B-8B2F-C596473713F8}" srcOrd="5" destOrd="0" parTransId="{4CE80AA3-47B0-4AC8-BE59-82A45C266D47}" sibTransId="{ACF7D184-983A-47A9-97EF-C664E753CFC8}"/>
    <dgm:cxn modelId="{026EAEDB-4AA2-4E2D-A71F-AF92D117A8BA}" type="presOf" srcId="{A3E54BB4-06BC-410B-8B2F-C596473713F8}" destId="{D16277B2-4FB3-49F7-B98B-B4B060F4B14C}" srcOrd="0" destOrd="0" presId="urn:microsoft.com/office/officeart/2009/3/layout/StepUpProcess"/>
    <dgm:cxn modelId="{6B7A8EEE-F45C-4B97-A3C1-DC5389EA8CAA}" type="presOf" srcId="{611E23C9-EBE0-42AF-B00A-333EAC2D923C}" destId="{383A5A5E-4524-4B31-93A4-3452ED550E07}" srcOrd="0" destOrd="0" presId="urn:microsoft.com/office/officeart/2009/3/layout/StepUpProcess"/>
    <dgm:cxn modelId="{764455AF-C5CF-4057-9B70-51E60BC0F0D4}" type="presParOf" srcId="{3B0F8027-CB63-491A-A998-1372D4E11634}" destId="{68A3B8D6-D101-45A5-85A2-142DFD4FED42}" srcOrd="0" destOrd="0" presId="urn:microsoft.com/office/officeart/2009/3/layout/StepUpProcess"/>
    <dgm:cxn modelId="{6B932B6E-B60C-4C0D-9BE0-346636351B3D}" type="presParOf" srcId="{68A3B8D6-D101-45A5-85A2-142DFD4FED42}" destId="{A5197BF8-3E74-4E92-90E4-3E2E45C5C2A3}" srcOrd="0" destOrd="0" presId="urn:microsoft.com/office/officeart/2009/3/layout/StepUpProcess"/>
    <dgm:cxn modelId="{5CC8FF50-E01B-4783-BE6E-132822E4B3C4}" type="presParOf" srcId="{68A3B8D6-D101-45A5-85A2-142DFD4FED42}" destId="{5D5D9AB6-EEDD-4BD3-977C-305469BA0261}" srcOrd="1" destOrd="0" presId="urn:microsoft.com/office/officeart/2009/3/layout/StepUpProcess"/>
    <dgm:cxn modelId="{910BA086-1385-4685-96CA-B5C8CC108F13}" type="presParOf" srcId="{68A3B8D6-D101-45A5-85A2-142DFD4FED42}" destId="{AC2D6AEA-9B05-42E9-A026-B81090D337F0}" srcOrd="2" destOrd="0" presId="urn:microsoft.com/office/officeart/2009/3/layout/StepUpProcess"/>
    <dgm:cxn modelId="{EF44D540-E392-4CA2-8D92-551983908E72}" type="presParOf" srcId="{3B0F8027-CB63-491A-A998-1372D4E11634}" destId="{30B501CE-C7B9-4CD3-9109-73F9DD26F1B7}" srcOrd="1" destOrd="0" presId="urn:microsoft.com/office/officeart/2009/3/layout/StepUpProcess"/>
    <dgm:cxn modelId="{B03CB07C-F627-4B9A-9292-318D4EEE5C56}" type="presParOf" srcId="{30B501CE-C7B9-4CD3-9109-73F9DD26F1B7}" destId="{623342F4-C366-48C0-8E05-B2153645171C}" srcOrd="0" destOrd="0" presId="urn:microsoft.com/office/officeart/2009/3/layout/StepUpProcess"/>
    <dgm:cxn modelId="{DD99BC9E-9FE3-420A-95F4-4FD01CFA258B}" type="presParOf" srcId="{3B0F8027-CB63-491A-A998-1372D4E11634}" destId="{5040EFCC-31FD-40D7-B495-3AA491FDA773}" srcOrd="2" destOrd="0" presId="urn:microsoft.com/office/officeart/2009/3/layout/StepUpProcess"/>
    <dgm:cxn modelId="{91CE0B7A-97C5-4B2F-870E-70E9FBBC4DE9}" type="presParOf" srcId="{5040EFCC-31FD-40D7-B495-3AA491FDA773}" destId="{A33D4270-609E-4AA3-8271-F23E953621C9}" srcOrd="0" destOrd="0" presId="urn:microsoft.com/office/officeart/2009/3/layout/StepUpProcess"/>
    <dgm:cxn modelId="{16F4F979-553E-462A-8D33-3915E69BE48E}" type="presParOf" srcId="{5040EFCC-31FD-40D7-B495-3AA491FDA773}" destId="{855DD54A-DED1-4D82-A0BC-A3D0CAA2A87F}" srcOrd="1" destOrd="0" presId="urn:microsoft.com/office/officeart/2009/3/layout/StepUpProcess"/>
    <dgm:cxn modelId="{84F709D8-54E3-4853-99B1-D0FBEA574C60}" type="presParOf" srcId="{5040EFCC-31FD-40D7-B495-3AA491FDA773}" destId="{ED2C80C3-84F6-4288-A9C8-4B9770720D7E}" srcOrd="2" destOrd="0" presId="urn:microsoft.com/office/officeart/2009/3/layout/StepUpProcess"/>
    <dgm:cxn modelId="{A14BB8D8-63E6-4ABF-B54B-5A2A57B423D1}" type="presParOf" srcId="{3B0F8027-CB63-491A-A998-1372D4E11634}" destId="{19A269C0-6C3A-4112-8728-434F1F1034C4}" srcOrd="3" destOrd="0" presId="urn:microsoft.com/office/officeart/2009/3/layout/StepUpProcess"/>
    <dgm:cxn modelId="{F23CA3A7-C326-4FFC-8206-F80B089509CB}" type="presParOf" srcId="{19A269C0-6C3A-4112-8728-434F1F1034C4}" destId="{FEB8E655-18F2-4DA9-842B-DFD72FD75342}" srcOrd="0" destOrd="0" presId="urn:microsoft.com/office/officeart/2009/3/layout/StepUpProcess"/>
    <dgm:cxn modelId="{2A637D8B-ED65-47C9-8668-796A504F29C6}" type="presParOf" srcId="{3B0F8027-CB63-491A-A998-1372D4E11634}" destId="{0316A1A7-1A83-48F3-A081-001FABF79709}" srcOrd="4" destOrd="0" presId="urn:microsoft.com/office/officeart/2009/3/layout/StepUpProcess"/>
    <dgm:cxn modelId="{32037650-3B66-4632-AF6E-ACD00C9F8922}" type="presParOf" srcId="{0316A1A7-1A83-48F3-A081-001FABF79709}" destId="{3D738D62-8D5E-4D03-AD82-3EB35A4AAC42}" srcOrd="0" destOrd="0" presId="urn:microsoft.com/office/officeart/2009/3/layout/StepUpProcess"/>
    <dgm:cxn modelId="{92BB7B1D-7617-48EB-A571-B13D8D4F509B}" type="presParOf" srcId="{0316A1A7-1A83-48F3-A081-001FABF79709}" destId="{D9489394-1C97-401A-8FE3-A80068DDF909}" srcOrd="1" destOrd="0" presId="urn:microsoft.com/office/officeart/2009/3/layout/StepUpProcess"/>
    <dgm:cxn modelId="{B7119C93-718B-4846-80EF-51EB51AA70CD}" type="presParOf" srcId="{0316A1A7-1A83-48F3-A081-001FABF79709}" destId="{51165B95-C9C3-4A89-8576-34A9B69B97F0}" srcOrd="2" destOrd="0" presId="urn:microsoft.com/office/officeart/2009/3/layout/StepUpProcess"/>
    <dgm:cxn modelId="{AE44C402-76B1-4213-999B-89618FF2C125}" type="presParOf" srcId="{3B0F8027-CB63-491A-A998-1372D4E11634}" destId="{2554D61B-2C8E-4973-9465-056B823D4D52}" srcOrd="5" destOrd="0" presId="urn:microsoft.com/office/officeart/2009/3/layout/StepUpProcess"/>
    <dgm:cxn modelId="{F1A59874-6A69-4FFF-A2D1-49553D2FFEAB}" type="presParOf" srcId="{2554D61B-2C8E-4973-9465-056B823D4D52}" destId="{3686C1ED-0CBE-43AF-95F8-1CF4041368A4}" srcOrd="0" destOrd="0" presId="urn:microsoft.com/office/officeart/2009/3/layout/StepUpProcess"/>
    <dgm:cxn modelId="{E907C46C-5259-49A5-9CD6-15AF337A9D40}" type="presParOf" srcId="{3B0F8027-CB63-491A-A998-1372D4E11634}" destId="{A41BC37F-86BB-4965-8583-F78E515DBAE7}" srcOrd="6" destOrd="0" presId="urn:microsoft.com/office/officeart/2009/3/layout/StepUpProcess"/>
    <dgm:cxn modelId="{F7FD36E8-6D2C-4CD7-8246-8B5957E3D92F}" type="presParOf" srcId="{A41BC37F-86BB-4965-8583-F78E515DBAE7}" destId="{DF897D56-0D3C-45BE-AC53-5C3B54B37B4E}" srcOrd="0" destOrd="0" presId="urn:microsoft.com/office/officeart/2009/3/layout/StepUpProcess"/>
    <dgm:cxn modelId="{E69AAE1D-AC73-4E8C-B332-433627C540E4}" type="presParOf" srcId="{A41BC37F-86BB-4965-8583-F78E515DBAE7}" destId="{9B7C5D4A-61CF-4DD5-8253-969280031ABA}" srcOrd="1" destOrd="0" presId="urn:microsoft.com/office/officeart/2009/3/layout/StepUpProcess"/>
    <dgm:cxn modelId="{DE89F40D-298C-474A-A81F-DC89D90A8E49}" type="presParOf" srcId="{A41BC37F-86BB-4965-8583-F78E515DBAE7}" destId="{6AEE8688-6329-4DE1-BA4F-B5954E8ECF79}" srcOrd="2" destOrd="0" presId="urn:microsoft.com/office/officeart/2009/3/layout/StepUpProcess"/>
    <dgm:cxn modelId="{90ABABAB-BC5C-4C65-BD50-FCC59541EBC0}" type="presParOf" srcId="{3B0F8027-CB63-491A-A998-1372D4E11634}" destId="{29D68217-CA8E-4780-9886-0B583D25B212}" srcOrd="7" destOrd="0" presId="urn:microsoft.com/office/officeart/2009/3/layout/StepUpProcess"/>
    <dgm:cxn modelId="{B2405138-712C-4765-BBAA-903B773613A3}" type="presParOf" srcId="{29D68217-CA8E-4780-9886-0B583D25B212}" destId="{39150099-6502-47B5-A485-354BCB6CD1C0}" srcOrd="0" destOrd="0" presId="urn:microsoft.com/office/officeart/2009/3/layout/StepUpProcess"/>
    <dgm:cxn modelId="{FAA80644-D2E9-4D88-A5D4-426680C0D4D2}" type="presParOf" srcId="{3B0F8027-CB63-491A-A998-1372D4E11634}" destId="{0E37F100-65FB-4CD2-9992-BCBF394F8DA1}" srcOrd="8" destOrd="0" presId="urn:microsoft.com/office/officeart/2009/3/layout/StepUpProcess"/>
    <dgm:cxn modelId="{4C5FDDE6-765A-41DF-A05C-0631708A7AD6}" type="presParOf" srcId="{0E37F100-65FB-4CD2-9992-BCBF394F8DA1}" destId="{FDD45974-4D89-4002-89CF-37647622E151}" srcOrd="0" destOrd="0" presId="urn:microsoft.com/office/officeart/2009/3/layout/StepUpProcess"/>
    <dgm:cxn modelId="{C17AA9CF-52F7-4CA0-98F9-241B6A85D399}" type="presParOf" srcId="{0E37F100-65FB-4CD2-9992-BCBF394F8DA1}" destId="{383A5A5E-4524-4B31-93A4-3452ED550E07}" srcOrd="1" destOrd="0" presId="urn:microsoft.com/office/officeart/2009/3/layout/StepUpProcess"/>
    <dgm:cxn modelId="{35B977C6-CE1B-4A40-9DFE-C385103F8D53}" type="presParOf" srcId="{0E37F100-65FB-4CD2-9992-BCBF394F8DA1}" destId="{72DC2A12-A0E1-412E-AAF6-0B15046421EA}" srcOrd="2" destOrd="0" presId="urn:microsoft.com/office/officeart/2009/3/layout/StepUpProcess"/>
    <dgm:cxn modelId="{FF7D57BF-77C2-4A50-A75D-5BFCD9A15D6D}" type="presParOf" srcId="{3B0F8027-CB63-491A-A998-1372D4E11634}" destId="{C90FA308-7FA9-433C-813C-072BDD707557}" srcOrd="9" destOrd="0" presId="urn:microsoft.com/office/officeart/2009/3/layout/StepUpProcess"/>
    <dgm:cxn modelId="{67B491E0-A4E2-4E96-8417-BA0DF70978F6}" type="presParOf" srcId="{C90FA308-7FA9-433C-813C-072BDD707557}" destId="{8B57C6C3-323D-492E-9295-E857C39264B1}" srcOrd="0" destOrd="0" presId="urn:microsoft.com/office/officeart/2009/3/layout/StepUpProcess"/>
    <dgm:cxn modelId="{EBBC67EE-D66B-47A4-BD40-AF09A5DDBC27}" type="presParOf" srcId="{3B0F8027-CB63-491A-A998-1372D4E11634}" destId="{58208796-200F-4857-BDAB-4661C60FA8CB}" srcOrd="10" destOrd="0" presId="urn:microsoft.com/office/officeart/2009/3/layout/StepUpProcess"/>
    <dgm:cxn modelId="{241830E0-0077-4C25-8A19-5886E07D935D}" type="presParOf" srcId="{58208796-200F-4857-BDAB-4661C60FA8CB}" destId="{A7EAA430-4388-4C23-8BE4-9CC3DAB20E8B}" srcOrd="0" destOrd="0" presId="urn:microsoft.com/office/officeart/2009/3/layout/StepUpProcess"/>
    <dgm:cxn modelId="{66D7DB38-D6B1-4A14-A459-36992A35B46D}" type="presParOf" srcId="{58208796-200F-4857-BDAB-4661C60FA8CB}" destId="{D16277B2-4FB3-49F7-B98B-B4B060F4B14C}" srcOrd="1" destOrd="0" presId="urn:microsoft.com/office/officeart/2009/3/layout/StepUpProcess"/>
    <dgm:cxn modelId="{236C1D72-EB6E-4D17-96B0-D418A5B3A837}" type="presParOf" srcId="{58208796-200F-4857-BDAB-4661C60FA8CB}" destId="{8D90BE74-BB9F-4ED4-9803-F3EBBE5A5D63}" srcOrd="2" destOrd="0" presId="urn:microsoft.com/office/officeart/2009/3/layout/StepUpProcess"/>
    <dgm:cxn modelId="{BDDC77EC-80FC-4894-9C00-B2B21720D28A}" type="presParOf" srcId="{3B0F8027-CB63-491A-A998-1372D4E11634}" destId="{5186C1F4-4E39-430D-B088-1EA947EC6DE5}" srcOrd="11" destOrd="0" presId="urn:microsoft.com/office/officeart/2009/3/layout/StepUpProcess"/>
    <dgm:cxn modelId="{B270AC04-80DC-4351-9903-E45C10BA1798}" type="presParOf" srcId="{5186C1F4-4E39-430D-B088-1EA947EC6DE5}" destId="{64CD8071-3654-44AC-A2F0-5E78C89139C2}" srcOrd="0" destOrd="0" presId="urn:microsoft.com/office/officeart/2009/3/layout/StepUpProcess"/>
    <dgm:cxn modelId="{00C0591C-5A3B-4DE5-ACDE-7A8FB077C5BE}" type="presParOf" srcId="{3B0F8027-CB63-491A-A998-1372D4E11634}" destId="{4904E9EE-13C2-41E1-9092-8C886868B525}" srcOrd="12" destOrd="0" presId="urn:microsoft.com/office/officeart/2009/3/layout/StepUpProcess"/>
    <dgm:cxn modelId="{9078E647-196A-4F3E-94B2-51D33475B323}" type="presParOf" srcId="{4904E9EE-13C2-41E1-9092-8C886868B525}" destId="{2393D578-8172-40CF-A411-ED368597F851}" srcOrd="0" destOrd="0" presId="urn:microsoft.com/office/officeart/2009/3/layout/StepUpProcess"/>
    <dgm:cxn modelId="{F8CD11D2-B275-4271-AF7A-5D687F56CFED}" type="presParOf" srcId="{4904E9EE-13C2-41E1-9092-8C886868B525}" destId="{9BE97963-BE5B-40A3-A1BF-195C7D44B9A3}"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F98E98-1A9F-4EF5-B8EC-0E4C787D3D5F}" type="doc">
      <dgm:prSet loTypeId="urn:microsoft.com/office/officeart/2005/8/layout/chart3" loCatId="cycle" qsTypeId="urn:microsoft.com/office/officeart/2005/8/quickstyle/simple1" qsCatId="simple" csTypeId="urn:microsoft.com/office/officeart/2005/8/colors/accent1_2" csCatId="accent1" phldr="1"/>
      <dgm:spPr/>
    </dgm:pt>
    <dgm:pt modelId="{3D8A9E8C-E28E-429F-B229-B496515DB01D}">
      <dgm:prSet phldrT="[Text]" custT="1"/>
      <dgm:spPr>
        <a:solidFill>
          <a:srgbClr val="0C1752"/>
        </a:solidFill>
      </dgm:spPr>
      <dgm:t>
        <a:bodyPr/>
        <a:lstStyle/>
        <a:p>
          <a:r>
            <a:rPr lang="en-US" sz="1400" b="1" dirty="0">
              <a:latin typeface="Montserrat" panose="00000500000000000000" pitchFamily="2" charset="0"/>
            </a:rPr>
            <a:t>Planning</a:t>
          </a:r>
          <a:endParaRPr lang="en-CA" sz="1400" b="1" dirty="0">
            <a:latin typeface="Montserrat" panose="00000500000000000000" pitchFamily="2" charset="0"/>
          </a:endParaRPr>
        </a:p>
      </dgm:t>
    </dgm:pt>
    <dgm:pt modelId="{2659826C-55E1-4B15-A22D-480255FE3CB2}" type="parTrans" cxnId="{B40950C3-E882-4196-BB6D-E2D19EB4AA20}">
      <dgm:prSet/>
      <dgm:spPr/>
      <dgm:t>
        <a:bodyPr/>
        <a:lstStyle/>
        <a:p>
          <a:endParaRPr lang="en-CA" sz="2000" b="1"/>
        </a:p>
      </dgm:t>
    </dgm:pt>
    <dgm:pt modelId="{49D1F5F5-FFB4-4F79-BCFC-B0ED2599FDA9}" type="sibTrans" cxnId="{B40950C3-E882-4196-BB6D-E2D19EB4AA20}">
      <dgm:prSet/>
      <dgm:spPr/>
      <dgm:t>
        <a:bodyPr/>
        <a:lstStyle/>
        <a:p>
          <a:endParaRPr lang="en-CA" sz="2000" b="1"/>
        </a:p>
      </dgm:t>
    </dgm:pt>
    <dgm:pt modelId="{3B6E9810-793F-438A-BA6B-EE1C2B40A8FE}">
      <dgm:prSet phldrT="[Text]" custT="1"/>
      <dgm:spPr>
        <a:solidFill>
          <a:srgbClr val="1BBFD1"/>
        </a:solidFill>
      </dgm:spPr>
      <dgm:t>
        <a:bodyPr/>
        <a:lstStyle/>
        <a:p>
          <a:r>
            <a:rPr lang="en-US" sz="1400" b="1" dirty="0">
              <a:latin typeface="Montserrat" panose="00000500000000000000" pitchFamily="2" charset="0"/>
            </a:rPr>
            <a:t>Coordination</a:t>
          </a:r>
          <a:endParaRPr lang="en-CA" sz="1400" b="1" dirty="0">
            <a:latin typeface="Montserrat" panose="00000500000000000000" pitchFamily="2" charset="0"/>
          </a:endParaRPr>
        </a:p>
      </dgm:t>
    </dgm:pt>
    <dgm:pt modelId="{6BC6FEED-1619-4E05-BD75-C1B7EB14D81C}" type="parTrans" cxnId="{50AECFA3-6F89-4C37-AEB9-D8EAD85484E7}">
      <dgm:prSet/>
      <dgm:spPr/>
      <dgm:t>
        <a:bodyPr/>
        <a:lstStyle/>
        <a:p>
          <a:endParaRPr lang="en-CA" sz="2000" b="1"/>
        </a:p>
      </dgm:t>
    </dgm:pt>
    <dgm:pt modelId="{4EF6FFED-C67C-44C2-9F01-58CC2376181D}" type="sibTrans" cxnId="{50AECFA3-6F89-4C37-AEB9-D8EAD85484E7}">
      <dgm:prSet/>
      <dgm:spPr/>
      <dgm:t>
        <a:bodyPr/>
        <a:lstStyle/>
        <a:p>
          <a:endParaRPr lang="en-CA" sz="2000" b="1"/>
        </a:p>
      </dgm:t>
    </dgm:pt>
    <dgm:pt modelId="{4280E7A9-B52A-47B6-8771-4CB61F419ABE}">
      <dgm:prSet phldrT="[Text]" custT="1"/>
      <dgm:spPr>
        <a:solidFill>
          <a:srgbClr val="D56E48"/>
        </a:solidFill>
      </dgm:spPr>
      <dgm:t>
        <a:bodyPr/>
        <a:lstStyle/>
        <a:p>
          <a:r>
            <a:rPr lang="en-US" sz="1400" b="1" dirty="0">
              <a:latin typeface="Montserrat" panose="00000500000000000000" pitchFamily="2" charset="0"/>
            </a:rPr>
            <a:t>Business Alignment</a:t>
          </a:r>
          <a:endParaRPr lang="en-CA" sz="1400" b="1" dirty="0">
            <a:latin typeface="Montserrat" panose="00000500000000000000" pitchFamily="2" charset="0"/>
          </a:endParaRPr>
        </a:p>
      </dgm:t>
    </dgm:pt>
    <dgm:pt modelId="{320083B3-61A3-4E17-89E0-3B0198AD4FAC}" type="parTrans" cxnId="{85D444DB-BD6D-4E4F-A35C-DF0B6B5D382D}">
      <dgm:prSet/>
      <dgm:spPr/>
      <dgm:t>
        <a:bodyPr/>
        <a:lstStyle/>
        <a:p>
          <a:endParaRPr lang="en-CA" sz="2000" b="1"/>
        </a:p>
      </dgm:t>
    </dgm:pt>
    <dgm:pt modelId="{5ABECC41-3465-4BB6-B2C9-39EFA52F60F0}" type="sibTrans" cxnId="{85D444DB-BD6D-4E4F-A35C-DF0B6B5D382D}">
      <dgm:prSet/>
      <dgm:spPr/>
      <dgm:t>
        <a:bodyPr/>
        <a:lstStyle/>
        <a:p>
          <a:endParaRPr lang="en-CA" sz="2000" b="1"/>
        </a:p>
      </dgm:t>
    </dgm:pt>
    <dgm:pt modelId="{41765D8C-9321-4E1A-AF0F-16728801E4D1}" type="pres">
      <dgm:prSet presAssocID="{79F98E98-1A9F-4EF5-B8EC-0E4C787D3D5F}" presName="compositeShape" presStyleCnt="0">
        <dgm:presLayoutVars>
          <dgm:chMax val="7"/>
          <dgm:dir/>
          <dgm:resizeHandles val="exact"/>
        </dgm:presLayoutVars>
      </dgm:prSet>
      <dgm:spPr/>
    </dgm:pt>
    <dgm:pt modelId="{DF839E07-AEBB-4BE6-962A-91042BEBE5BF}" type="pres">
      <dgm:prSet presAssocID="{79F98E98-1A9F-4EF5-B8EC-0E4C787D3D5F}" presName="wedge1" presStyleLbl="node1" presStyleIdx="0" presStyleCnt="3" custLinFactNeighborX="-5118" custLinFactNeighborY="2945"/>
      <dgm:spPr/>
    </dgm:pt>
    <dgm:pt modelId="{D773ECF7-EC95-42E7-A559-8264E4F57B5D}" type="pres">
      <dgm:prSet presAssocID="{79F98E98-1A9F-4EF5-B8EC-0E4C787D3D5F}" presName="wedge1Tx" presStyleLbl="node1" presStyleIdx="0" presStyleCnt="3">
        <dgm:presLayoutVars>
          <dgm:chMax val="0"/>
          <dgm:chPref val="0"/>
          <dgm:bulletEnabled val="1"/>
        </dgm:presLayoutVars>
      </dgm:prSet>
      <dgm:spPr/>
    </dgm:pt>
    <dgm:pt modelId="{F03A589B-1F92-455E-955F-8C1AC52CCE1D}" type="pres">
      <dgm:prSet presAssocID="{79F98E98-1A9F-4EF5-B8EC-0E4C787D3D5F}" presName="wedge2" presStyleLbl="node1" presStyleIdx="1" presStyleCnt="3"/>
      <dgm:spPr/>
    </dgm:pt>
    <dgm:pt modelId="{A2870E58-8501-4A6A-BABB-D277C1201EF9}" type="pres">
      <dgm:prSet presAssocID="{79F98E98-1A9F-4EF5-B8EC-0E4C787D3D5F}" presName="wedge2Tx" presStyleLbl="node1" presStyleIdx="1" presStyleCnt="3">
        <dgm:presLayoutVars>
          <dgm:chMax val="0"/>
          <dgm:chPref val="0"/>
          <dgm:bulletEnabled val="1"/>
        </dgm:presLayoutVars>
      </dgm:prSet>
      <dgm:spPr/>
    </dgm:pt>
    <dgm:pt modelId="{7A8235FE-553A-4AA4-9793-6ADDB5AFBE17}" type="pres">
      <dgm:prSet presAssocID="{79F98E98-1A9F-4EF5-B8EC-0E4C787D3D5F}" presName="wedge3" presStyleLbl="node1" presStyleIdx="2" presStyleCnt="3"/>
      <dgm:spPr/>
    </dgm:pt>
    <dgm:pt modelId="{14D887E1-4410-4E21-93BF-B745E941F782}" type="pres">
      <dgm:prSet presAssocID="{79F98E98-1A9F-4EF5-B8EC-0E4C787D3D5F}" presName="wedge3Tx" presStyleLbl="node1" presStyleIdx="2" presStyleCnt="3">
        <dgm:presLayoutVars>
          <dgm:chMax val="0"/>
          <dgm:chPref val="0"/>
          <dgm:bulletEnabled val="1"/>
        </dgm:presLayoutVars>
      </dgm:prSet>
      <dgm:spPr/>
    </dgm:pt>
  </dgm:ptLst>
  <dgm:cxnLst>
    <dgm:cxn modelId="{B3A0052A-7966-4961-9DEB-B26928A4357B}" type="presOf" srcId="{3B6E9810-793F-438A-BA6B-EE1C2B40A8FE}" destId="{F03A589B-1F92-455E-955F-8C1AC52CCE1D}" srcOrd="0" destOrd="0" presId="urn:microsoft.com/office/officeart/2005/8/layout/chart3"/>
    <dgm:cxn modelId="{A810F32B-B0C9-472E-84EF-164C1E217657}" type="presOf" srcId="{4280E7A9-B52A-47B6-8771-4CB61F419ABE}" destId="{7A8235FE-553A-4AA4-9793-6ADDB5AFBE17}" srcOrd="0" destOrd="0" presId="urn:microsoft.com/office/officeart/2005/8/layout/chart3"/>
    <dgm:cxn modelId="{7EF7E582-B379-4E7E-91A8-AEFD047D7A7B}" type="presOf" srcId="{4280E7A9-B52A-47B6-8771-4CB61F419ABE}" destId="{14D887E1-4410-4E21-93BF-B745E941F782}" srcOrd="1" destOrd="0" presId="urn:microsoft.com/office/officeart/2005/8/layout/chart3"/>
    <dgm:cxn modelId="{50AECFA3-6F89-4C37-AEB9-D8EAD85484E7}" srcId="{79F98E98-1A9F-4EF5-B8EC-0E4C787D3D5F}" destId="{3B6E9810-793F-438A-BA6B-EE1C2B40A8FE}" srcOrd="1" destOrd="0" parTransId="{6BC6FEED-1619-4E05-BD75-C1B7EB14D81C}" sibTransId="{4EF6FFED-C67C-44C2-9F01-58CC2376181D}"/>
    <dgm:cxn modelId="{B66F69A6-7061-4FF1-AFD3-EBB163A780B2}" type="presOf" srcId="{3B6E9810-793F-438A-BA6B-EE1C2B40A8FE}" destId="{A2870E58-8501-4A6A-BABB-D277C1201EF9}" srcOrd="1" destOrd="0" presId="urn:microsoft.com/office/officeart/2005/8/layout/chart3"/>
    <dgm:cxn modelId="{6F2ACEB8-9DF5-4050-A1A2-704E05E3D820}" type="presOf" srcId="{3D8A9E8C-E28E-429F-B229-B496515DB01D}" destId="{DF839E07-AEBB-4BE6-962A-91042BEBE5BF}" srcOrd="0" destOrd="0" presId="urn:microsoft.com/office/officeart/2005/8/layout/chart3"/>
    <dgm:cxn modelId="{A66618C0-7863-4EFB-841B-D26E14A871B4}" type="presOf" srcId="{79F98E98-1A9F-4EF5-B8EC-0E4C787D3D5F}" destId="{41765D8C-9321-4E1A-AF0F-16728801E4D1}" srcOrd="0" destOrd="0" presId="urn:microsoft.com/office/officeart/2005/8/layout/chart3"/>
    <dgm:cxn modelId="{B40950C3-E882-4196-BB6D-E2D19EB4AA20}" srcId="{79F98E98-1A9F-4EF5-B8EC-0E4C787D3D5F}" destId="{3D8A9E8C-E28E-429F-B229-B496515DB01D}" srcOrd="0" destOrd="0" parTransId="{2659826C-55E1-4B15-A22D-480255FE3CB2}" sibTransId="{49D1F5F5-FFB4-4F79-BCFC-B0ED2599FDA9}"/>
    <dgm:cxn modelId="{85D444DB-BD6D-4E4F-A35C-DF0B6B5D382D}" srcId="{79F98E98-1A9F-4EF5-B8EC-0E4C787D3D5F}" destId="{4280E7A9-B52A-47B6-8771-4CB61F419ABE}" srcOrd="2" destOrd="0" parTransId="{320083B3-61A3-4E17-89E0-3B0198AD4FAC}" sibTransId="{5ABECC41-3465-4BB6-B2C9-39EFA52F60F0}"/>
    <dgm:cxn modelId="{A0859CE2-5958-4B53-96BB-43BA6167C180}" type="presOf" srcId="{3D8A9E8C-E28E-429F-B229-B496515DB01D}" destId="{D773ECF7-EC95-42E7-A559-8264E4F57B5D}" srcOrd="1" destOrd="0" presId="urn:microsoft.com/office/officeart/2005/8/layout/chart3"/>
    <dgm:cxn modelId="{D6C64513-D62B-4479-9C2F-ECA36C530A4B}" type="presParOf" srcId="{41765D8C-9321-4E1A-AF0F-16728801E4D1}" destId="{DF839E07-AEBB-4BE6-962A-91042BEBE5BF}" srcOrd="0" destOrd="0" presId="urn:microsoft.com/office/officeart/2005/8/layout/chart3"/>
    <dgm:cxn modelId="{A00C3C04-2210-489B-8091-91534000B849}" type="presParOf" srcId="{41765D8C-9321-4E1A-AF0F-16728801E4D1}" destId="{D773ECF7-EC95-42E7-A559-8264E4F57B5D}" srcOrd="1" destOrd="0" presId="urn:microsoft.com/office/officeart/2005/8/layout/chart3"/>
    <dgm:cxn modelId="{A72D33FC-5ACE-4F12-848E-C6C99C673D61}" type="presParOf" srcId="{41765D8C-9321-4E1A-AF0F-16728801E4D1}" destId="{F03A589B-1F92-455E-955F-8C1AC52CCE1D}" srcOrd="2" destOrd="0" presId="urn:microsoft.com/office/officeart/2005/8/layout/chart3"/>
    <dgm:cxn modelId="{53C5CD52-EC9E-4EFD-A292-D4E0822E63F5}" type="presParOf" srcId="{41765D8C-9321-4E1A-AF0F-16728801E4D1}" destId="{A2870E58-8501-4A6A-BABB-D277C1201EF9}" srcOrd="3" destOrd="0" presId="urn:microsoft.com/office/officeart/2005/8/layout/chart3"/>
    <dgm:cxn modelId="{36CEA175-0ADB-4314-8764-A1E9B81E7596}" type="presParOf" srcId="{41765D8C-9321-4E1A-AF0F-16728801E4D1}" destId="{7A8235FE-553A-4AA4-9793-6ADDB5AFBE17}" srcOrd="4" destOrd="0" presId="urn:microsoft.com/office/officeart/2005/8/layout/chart3"/>
    <dgm:cxn modelId="{349032D6-D389-4880-A32C-3EC207E78F28}" type="presParOf" srcId="{41765D8C-9321-4E1A-AF0F-16728801E4D1}" destId="{14D887E1-4410-4E21-93BF-B745E941F782}" srcOrd="5" destOrd="0" presId="urn:microsoft.com/office/officeart/2005/8/layout/char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60AEF07-1022-4F3F-8267-7F5D998E07CB}"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6448D89F-DDD3-4075-A57E-626E4EFFABC3}">
      <dgm:prSet phldrT="[Text]"/>
      <dgm:spPr>
        <a:solidFill>
          <a:srgbClr val="0C1752"/>
        </a:solidFill>
      </dgm:spPr>
      <dgm:t>
        <a:bodyPr/>
        <a:lstStyle/>
        <a:p>
          <a:pPr>
            <a:buNone/>
          </a:pPr>
          <a:r>
            <a:rPr lang="en-CA" b="1" dirty="0">
              <a:effectLst/>
              <a:latin typeface="Montserrat" panose="00000500000000000000" pitchFamily="2" charset="0"/>
              <a:ea typeface="Aptos" panose="020B0004020202020204" pitchFamily="34" charset="0"/>
              <a:cs typeface="Times New Roman" panose="02020603050405020304" pitchFamily="18" charset="0"/>
            </a:rPr>
            <a:t>Quantify Expected Business Value: </a:t>
          </a:r>
          <a:r>
            <a:rPr lang="en-CA" dirty="0">
              <a:effectLst/>
              <a:latin typeface="Montserrat" panose="00000500000000000000" pitchFamily="2" charset="0"/>
              <a:ea typeface="Aptos" panose="020B0004020202020204" pitchFamily="34" charset="0"/>
              <a:cs typeface="Times New Roman" panose="02020603050405020304" pitchFamily="18" charset="0"/>
            </a:rPr>
            <a:t>Estimate potential outcomes such as cost reduction (e.g., 15%), revenue growth (e.g., $1M annually), or time savings (e.g., 3,000 labor hours per year).</a:t>
          </a:r>
          <a:endParaRPr lang="en-CA" dirty="0">
            <a:latin typeface="Montserrat" panose="00000500000000000000" pitchFamily="2" charset="0"/>
          </a:endParaRPr>
        </a:p>
      </dgm:t>
    </dgm:pt>
    <dgm:pt modelId="{1216C1A7-5194-461D-95B3-C5188DC22384}" type="parTrans" cxnId="{3C0F3EB6-A371-4EA3-87DC-FE8B511F37A9}">
      <dgm:prSet/>
      <dgm:spPr/>
      <dgm:t>
        <a:bodyPr/>
        <a:lstStyle/>
        <a:p>
          <a:endParaRPr lang="en-CA"/>
        </a:p>
      </dgm:t>
    </dgm:pt>
    <dgm:pt modelId="{AB96F704-AF30-4F07-BC1F-CB78BD2EE76F}" type="sibTrans" cxnId="{3C0F3EB6-A371-4EA3-87DC-FE8B511F37A9}">
      <dgm:prSet/>
      <dgm:spPr/>
      <dgm:t>
        <a:bodyPr/>
        <a:lstStyle/>
        <a:p>
          <a:endParaRPr lang="en-CA"/>
        </a:p>
      </dgm:t>
    </dgm:pt>
    <dgm:pt modelId="{C79DAA55-2707-4C89-9EEB-0B84065440AA}">
      <dgm:prSet/>
      <dgm:spPr>
        <a:solidFill>
          <a:srgbClr val="D56E48"/>
        </a:solidFill>
      </dgm:spPr>
      <dgm:t>
        <a:bodyPr/>
        <a:lstStyle/>
        <a:p>
          <a:r>
            <a:rPr lang="en-CA" b="1" dirty="0">
              <a:effectLst/>
              <a:latin typeface="Montserrat" panose="00000500000000000000" pitchFamily="2" charset="0"/>
              <a:ea typeface="Aptos" panose="020B0004020202020204" pitchFamily="34" charset="0"/>
              <a:cs typeface="Times New Roman" panose="02020603050405020304" pitchFamily="18" charset="0"/>
            </a:rPr>
            <a:t>Align with Strategic Goals: </a:t>
          </a:r>
          <a:r>
            <a:rPr lang="en-CA" dirty="0">
              <a:effectLst/>
              <a:latin typeface="Montserrat" panose="00000500000000000000" pitchFamily="2" charset="0"/>
              <a:ea typeface="Aptos" panose="020B0004020202020204" pitchFamily="34" charset="0"/>
              <a:cs typeface="Times New Roman" panose="02020603050405020304" pitchFamily="18" charset="0"/>
            </a:rPr>
            <a:t>Ensure the project directly supports key business objectives such as improving customer retention, increasing operational efficiency, or unlocking new revenue streams.</a:t>
          </a:r>
        </a:p>
      </dgm:t>
    </dgm:pt>
    <dgm:pt modelId="{80BDA0CE-A0A2-4627-B3A1-BBA0483563BD}" type="parTrans" cxnId="{D1ED158A-C76A-41E4-A09C-B2D40ECCA870}">
      <dgm:prSet/>
      <dgm:spPr/>
      <dgm:t>
        <a:bodyPr/>
        <a:lstStyle/>
        <a:p>
          <a:endParaRPr lang="en-CA"/>
        </a:p>
      </dgm:t>
    </dgm:pt>
    <dgm:pt modelId="{A7C1E733-9EAB-4DF2-97AB-9988CCFFF4BC}" type="sibTrans" cxnId="{D1ED158A-C76A-41E4-A09C-B2D40ECCA870}">
      <dgm:prSet/>
      <dgm:spPr/>
      <dgm:t>
        <a:bodyPr/>
        <a:lstStyle/>
        <a:p>
          <a:endParaRPr lang="en-CA"/>
        </a:p>
      </dgm:t>
    </dgm:pt>
    <dgm:pt modelId="{B1D77C55-DDE4-4124-8D9A-AB922328D802}">
      <dgm:prSet/>
      <dgm:spPr>
        <a:solidFill>
          <a:srgbClr val="1BBFD1"/>
        </a:solidFill>
      </dgm:spPr>
      <dgm:t>
        <a:bodyPr/>
        <a:lstStyle/>
        <a:p>
          <a:r>
            <a:rPr lang="en-CA" b="1" dirty="0">
              <a:effectLst/>
              <a:latin typeface="Montserrat" panose="00000500000000000000" pitchFamily="2" charset="0"/>
              <a:ea typeface="Aptos" panose="020B0004020202020204" pitchFamily="34" charset="0"/>
              <a:cs typeface="Times New Roman" panose="02020603050405020304" pitchFamily="18" charset="0"/>
            </a:rPr>
            <a:t>Define Clear Success Metrics: </a:t>
          </a:r>
          <a:r>
            <a:rPr lang="en-CA" dirty="0">
              <a:effectLst/>
              <a:latin typeface="Montserrat" panose="00000500000000000000" pitchFamily="2" charset="0"/>
              <a:ea typeface="Aptos" panose="020B0004020202020204" pitchFamily="34" charset="0"/>
              <a:cs typeface="Times New Roman" panose="02020603050405020304" pitchFamily="18" charset="0"/>
            </a:rPr>
            <a:t>Establish well-defined Key Performance Indicators (KPIs) to track performance and ROI.</a:t>
          </a:r>
        </a:p>
      </dgm:t>
    </dgm:pt>
    <dgm:pt modelId="{D6E867CE-FF96-4661-90A4-374348907FF9}" type="parTrans" cxnId="{5D6766B1-8FD6-4403-AE8F-3DC85F1DBD8D}">
      <dgm:prSet/>
      <dgm:spPr/>
      <dgm:t>
        <a:bodyPr/>
        <a:lstStyle/>
        <a:p>
          <a:endParaRPr lang="en-CA"/>
        </a:p>
      </dgm:t>
    </dgm:pt>
    <dgm:pt modelId="{4FE68084-48F3-469F-814A-CACA420D36E7}" type="sibTrans" cxnId="{5D6766B1-8FD6-4403-AE8F-3DC85F1DBD8D}">
      <dgm:prSet/>
      <dgm:spPr/>
      <dgm:t>
        <a:bodyPr/>
        <a:lstStyle/>
        <a:p>
          <a:endParaRPr lang="en-CA"/>
        </a:p>
      </dgm:t>
    </dgm:pt>
    <dgm:pt modelId="{A083169E-D8E9-4693-BF02-C29353CA9437}" type="pres">
      <dgm:prSet presAssocID="{260AEF07-1022-4F3F-8267-7F5D998E07CB}" presName="diagram" presStyleCnt="0">
        <dgm:presLayoutVars>
          <dgm:dir/>
          <dgm:resizeHandles val="exact"/>
        </dgm:presLayoutVars>
      </dgm:prSet>
      <dgm:spPr/>
    </dgm:pt>
    <dgm:pt modelId="{0C5D8429-F719-4DB4-82BA-CF88462A5350}" type="pres">
      <dgm:prSet presAssocID="{6448D89F-DDD3-4075-A57E-626E4EFFABC3}" presName="node" presStyleLbl="node1" presStyleIdx="0" presStyleCnt="3">
        <dgm:presLayoutVars>
          <dgm:bulletEnabled val="1"/>
        </dgm:presLayoutVars>
      </dgm:prSet>
      <dgm:spPr/>
    </dgm:pt>
    <dgm:pt modelId="{1A84AE4B-38FB-4987-8A59-B28B4B16B702}" type="pres">
      <dgm:prSet presAssocID="{AB96F704-AF30-4F07-BC1F-CB78BD2EE76F}" presName="sibTrans" presStyleCnt="0"/>
      <dgm:spPr/>
    </dgm:pt>
    <dgm:pt modelId="{FFBB0A9E-712F-4040-AD6F-AD565E03DCEA}" type="pres">
      <dgm:prSet presAssocID="{C79DAA55-2707-4C89-9EEB-0B84065440AA}" presName="node" presStyleLbl="node1" presStyleIdx="1" presStyleCnt="3">
        <dgm:presLayoutVars>
          <dgm:bulletEnabled val="1"/>
        </dgm:presLayoutVars>
      </dgm:prSet>
      <dgm:spPr/>
    </dgm:pt>
    <dgm:pt modelId="{ECBB3A1E-97FA-44B6-BD9E-A2D09841AA85}" type="pres">
      <dgm:prSet presAssocID="{A7C1E733-9EAB-4DF2-97AB-9988CCFFF4BC}" presName="sibTrans" presStyleCnt="0"/>
      <dgm:spPr/>
    </dgm:pt>
    <dgm:pt modelId="{B67550A5-9F4E-4717-83BC-320D9D85C207}" type="pres">
      <dgm:prSet presAssocID="{B1D77C55-DDE4-4124-8D9A-AB922328D802}" presName="node" presStyleLbl="node1" presStyleIdx="2" presStyleCnt="3">
        <dgm:presLayoutVars>
          <dgm:bulletEnabled val="1"/>
        </dgm:presLayoutVars>
      </dgm:prSet>
      <dgm:spPr/>
    </dgm:pt>
  </dgm:ptLst>
  <dgm:cxnLst>
    <dgm:cxn modelId="{FD0AAD52-A611-434F-9D71-298FAB2EEB6A}" type="presOf" srcId="{B1D77C55-DDE4-4124-8D9A-AB922328D802}" destId="{B67550A5-9F4E-4717-83BC-320D9D85C207}" srcOrd="0" destOrd="0" presId="urn:microsoft.com/office/officeart/2005/8/layout/default"/>
    <dgm:cxn modelId="{6859C15B-8C9D-4D88-929C-E483980DEF77}" type="presOf" srcId="{6448D89F-DDD3-4075-A57E-626E4EFFABC3}" destId="{0C5D8429-F719-4DB4-82BA-CF88462A5350}" srcOrd="0" destOrd="0" presId="urn:microsoft.com/office/officeart/2005/8/layout/default"/>
    <dgm:cxn modelId="{D1ED158A-C76A-41E4-A09C-B2D40ECCA870}" srcId="{260AEF07-1022-4F3F-8267-7F5D998E07CB}" destId="{C79DAA55-2707-4C89-9EEB-0B84065440AA}" srcOrd="1" destOrd="0" parTransId="{80BDA0CE-A0A2-4627-B3A1-BBA0483563BD}" sibTransId="{A7C1E733-9EAB-4DF2-97AB-9988CCFFF4BC}"/>
    <dgm:cxn modelId="{51120893-CC49-4819-96ED-808C7E35E930}" type="presOf" srcId="{260AEF07-1022-4F3F-8267-7F5D998E07CB}" destId="{A083169E-D8E9-4693-BF02-C29353CA9437}" srcOrd="0" destOrd="0" presId="urn:microsoft.com/office/officeart/2005/8/layout/default"/>
    <dgm:cxn modelId="{5D6766B1-8FD6-4403-AE8F-3DC85F1DBD8D}" srcId="{260AEF07-1022-4F3F-8267-7F5D998E07CB}" destId="{B1D77C55-DDE4-4124-8D9A-AB922328D802}" srcOrd="2" destOrd="0" parTransId="{D6E867CE-FF96-4661-90A4-374348907FF9}" sibTransId="{4FE68084-48F3-469F-814A-CACA420D36E7}"/>
    <dgm:cxn modelId="{3C0F3EB6-A371-4EA3-87DC-FE8B511F37A9}" srcId="{260AEF07-1022-4F3F-8267-7F5D998E07CB}" destId="{6448D89F-DDD3-4075-A57E-626E4EFFABC3}" srcOrd="0" destOrd="0" parTransId="{1216C1A7-5194-461D-95B3-C5188DC22384}" sibTransId="{AB96F704-AF30-4F07-BC1F-CB78BD2EE76F}"/>
    <dgm:cxn modelId="{8DD421B8-E6B7-4A02-8AA2-9CDF0DFFD4B9}" type="presOf" srcId="{C79DAA55-2707-4C89-9EEB-0B84065440AA}" destId="{FFBB0A9E-712F-4040-AD6F-AD565E03DCEA}" srcOrd="0" destOrd="0" presId="urn:microsoft.com/office/officeart/2005/8/layout/default"/>
    <dgm:cxn modelId="{F542B9F0-7DA1-493E-8793-635806CE4198}" type="presParOf" srcId="{A083169E-D8E9-4693-BF02-C29353CA9437}" destId="{0C5D8429-F719-4DB4-82BA-CF88462A5350}" srcOrd="0" destOrd="0" presId="urn:microsoft.com/office/officeart/2005/8/layout/default"/>
    <dgm:cxn modelId="{3216AC5B-4F3F-4654-A8EE-DA9C890FA4D3}" type="presParOf" srcId="{A083169E-D8E9-4693-BF02-C29353CA9437}" destId="{1A84AE4B-38FB-4987-8A59-B28B4B16B702}" srcOrd="1" destOrd="0" presId="urn:microsoft.com/office/officeart/2005/8/layout/default"/>
    <dgm:cxn modelId="{F6C25A5D-A7BF-45B5-A761-0C6BD853CFBF}" type="presParOf" srcId="{A083169E-D8E9-4693-BF02-C29353CA9437}" destId="{FFBB0A9E-712F-4040-AD6F-AD565E03DCEA}" srcOrd="2" destOrd="0" presId="urn:microsoft.com/office/officeart/2005/8/layout/default"/>
    <dgm:cxn modelId="{E583C85D-5051-40FE-B183-E501750947E9}" type="presParOf" srcId="{A083169E-D8E9-4693-BF02-C29353CA9437}" destId="{ECBB3A1E-97FA-44B6-BD9E-A2D09841AA85}" srcOrd="3" destOrd="0" presId="urn:microsoft.com/office/officeart/2005/8/layout/default"/>
    <dgm:cxn modelId="{89C42D31-74AC-44F3-AA22-D09E40AFFD98}" type="presParOf" srcId="{A083169E-D8E9-4693-BF02-C29353CA9437}" destId="{B67550A5-9F4E-4717-83BC-320D9D85C207}" srcOrd="4"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1CB3A39-4C1F-45E8-B308-C6C3303AB449}"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D2AEAD1E-1262-49A0-9365-01479EF25CFA}">
      <dgm:prSet phldrT="[Text]"/>
      <dgm:spPr>
        <a:solidFill>
          <a:srgbClr val="0C1752"/>
        </a:solidFill>
      </dgm:spPr>
      <dgm:t>
        <a:bodyPr/>
        <a:lstStyle/>
        <a:p>
          <a:pPr>
            <a:buNone/>
          </a:pPr>
          <a:r>
            <a:rPr lang="en-CA" b="1" dirty="0">
              <a:latin typeface="Montserrat" panose="00000500000000000000" pitchFamily="2" charset="0"/>
            </a:rPr>
            <a:t> Technical Feasibility: </a:t>
          </a:r>
          <a:r>
            <a:rPr lang="en-CA" dirty="0">
              <a:latin typeface="Montserrat" panose="00000500000000000000" pitchFamily="2" charset="0"/>
            </a:rPr>
            <a:t>Do we have the right tools and infrastructure (e.g., cloud, compute)?, Are the required AI models technically achievable given our use case?</a:t>
          </a:r>
        </a:p>
      </dgm:t>
    </dgm:pt>
    <dgm:pt modelId="{91899650-2099-4D5B-A516-3AFAA7892B99}" type="parTrans" cxnId="{FD93F8B4-E56E-4B48-9FEA-A92BC09A0F07}">
      <dgm:prSet/>
      <dgm:spPr/>
      <dgm:t>
        <a:bodyPr/>
        <a:lstStyle/>
        <a:p>
          <a:endParaRPr lang="en-CA">
            <a:latin typeface="Montserrat" panose="00000500000000000000" pitchFamily="2" charset="0"/>
          </a:endParaRPr>
        </a:p>
      </dgm:t>
    </dgm:pt>
    <dgm:pt modelId="{30DEC319-FCC1-468D-9AC1-12407E5D0F8E}" type="sibTrans" cxnId="{FD93F8B4-E56E-4B48-9FEA-A92BC09A0F07}">
      <dgm:prSet/>
      <dgm:spPr/>
      <dgm:t>
        <a:bodyPr/>
        <a:lstStyle/>
        <a:p>
          <a:endParaRPr lang="en-CA">
            <a:latin typeface="Montserrat" panose="00000500000000000000" pitchFamily="2" charset="0"/>
          </a:endParaRPr>
        </a:p>
      </dgm:t>
    </dgm:pt>
    <dgm:pt modelId="{0FACF90E-93B3-4240-968C-053CC695E76D}">
      <dgm:prSet/>
      <dgm:spPr>
        <a:solidFill>
          <a:srgbClr val="D56E48"/>
        </a:solidFill>
      </dgm:spPr>
      <dgm:t>
        <a:bodyPr/>
        <a:lstStyle/>
        <a:p>
          <a:pPr>
            <a:buNone/>
          </a:pPr>
          <a:r>
            <a:rPr lang="en-CA" b="1" dirty="0">
              <a:latin typeface="Montserrat" panose="00000500000000000000" pitchFamily="2" charset="0"/>
            </a:rPr>
            <a:t>Organizational Readiness: </a:t>
          </a:r>
          <a:r>
            <a:rPr lang="en-CA" dirty="0">
              <a:latin typeface="Montserrat" panose="00000500000000000000" pitchFamily="2" charset="0"/>
            </a:rPr>
            <a:t>Do we have skilled personnel (data scientists, ML engineers)?</a:t>
          </a:r>
        </a:p>
      </dgm:t>
    </dgm:pt>
    <dgm:pt modelId="{2B4EF1F4-B503-44E1-B43C-4EE120920C23}" type="parTrans" cxnId="{E0617EA6-3119-4352-B4A2-E1F289A8C7A5}">
      <dgm:prSet/>
      <dgm:spPr/>
      <dgm:t>
        <a:bodyPr/>
        <a:lstStyle/>
        <a:p>
          <a:endParaRPr lang="en-CA">
            <a:latin typeface="Montserrat" panose="00000500000000000000" pitchFamily="2" charset="0"/>
          </a:endParaRPr>
        </a:p>
      </dgm:t>
    </dgm:pt>
    <dgm:pt modelId="{377B601D-AEAA-488F-8A6D-47BA65D3E543}" type="sibTrans" cxnId="{E0617EA6-3119-4352-B4A2-E1F289A8C7A5}">
      <dgm:prSet/>
      <dgm:spPr/>
      <dgm:t>
        <a:bodyPr/>
        <a:lstStyle/>
        <a:p>
          <a:endParaRPr lang="en-CA">
            <a:latin typeface="Montserrat" panose="00000500000000000000" pitchFamily="2" charset="0"/>
          </a:endParaRPr>
        </a:p>
      </dgm:t>
    </dgm:pt>
    <dgm:pt modelId="{62EE8380-E227-435E-AD0A-1DE882FE56CC}">
      <dgm:prSet/>
      <dgm:spPr>
        <a:solidFill>
          <a:srgbClr val="1BBFD1"/>
        </a:solidFill>
      </dgm:spPr>
      <dgm:t>
        <a:bodyPr/>
        <a:lstStyle/>
        <a:p>
          <a:pPr>
            <a:buNone/>
          </a:pPr>
          <a:r>
            <a:rPr lang="en-CA" b="1" dirty="0">
              <a:latin typeface="Montserrat" panose="00000500000000000000" pitchFamily="2" charset="0"/>
            </a:rPr>
            <a:t>Data Availability &amp; Quality: </a:t>
          </a:r>
          <a:r>
            <a:rPr lang="en-CA" dirty="0">
              <a:latin typeface="Montserrat" panose="00000500000000000000" pitchFamily="2" charset="0"/>
            </a:rPr>
            <a:t>Do we have access to the right data (historical, real-time, labeled)?, Is the data clean, complete, &amp; enough to train a model?</a:t>
          </a:r>
        </a:p>
      </dgm:t>
    </dgm:pt>
    <dgm:pt modelId="{69CE90CE-3725-49E0-9DC2-03F7473F00E1}" type="parTrans" cxnId="{69553F8E-DD2B-4C8C-8AF0-37359BB840C3}">
      <dgm:prSet/>
      <dgm:spPr/>
      <dgm:t>
        <a:bodyPr/>
        <a:lstStyle/>
        <a:p>
          <a:endParaRPr lang="en-CA">
            <a:latin typeface="Montserrat" panose="00000500000000000000" pitchFamily="2" charset="0"/>
          </a:endParaRPr>
        </a:p>
      </dgm:t>
    </dgm:pt>
    <dgm:pt modelId="{4C6C51FD-E61B-47F8-89E0-A004D23E00E7}" type="sibTrans" cxnId="{69553F8E-DD2B-4C8C-8AF0-37359BB840C3}">
      <dgm:prSet/>
      <dgm:spPr/>
      <dgm:t>
        <a:bodyPr/>
        <a:lstStyle/>
        <a:p>
          <a:endParaRPr lang="en-CA">
            <a:latin typeface="Montserrat" panose="00000500000000000000" pitchFamily="2" charset="0"/>
          </a:endParaRPr>
        </a:p>
      </dgm:t>
    </dgm:pt>
    <dgm:pt modelId="{D2DD193D-E736-4B62-9462-DE9F5CFBDB5E}">
      <dgm:prSet/>
      <dgm:spPr>
        <a:solidFill>
          <a:schemeClr val="bg1">
            <a:lumMod val="50000"/>
          </a:schemeClr>
        </a:solidFill>
      </dgm:spPr>
      <dgm:t>
        <a:bodyPr/>
        <a:lstStyle/>
        <a:p>
          <a:pPr>
            <a:buNone/>
          </a:pPr>
          <a:r>
            <a:rPr lang="en-CA" b="1" dirty="0">
              <a:latin typeface="Montserrat" panose="00000500000000000000" pitchFamily="2" charset="0"/>
            </a:rPr>
            <a:t>Cost &amp; Resource Constraints: </a:t>
          </a:r>
          <a:r>
            <a:rPr lang="en-CA" dirty="0">
              <a:latin typeface="Montserrat" panose="00000500000000000000" pitchFamily="2" charset="0"/>
            </a:rPr>
            <a:t>Can we deliver the project within the available budget and timeframe?, Are there tools we can leverage to reduce development costs (e.g., </a:t>
          </a:r>
          <a:r>
            <a:rPr lang="en-CA" dirty="0" err="1">
              <a:latin typeface="Montserrat" panose="00000500000000000000" pitchFamily="2" charset="0"/>
            </a:rPr>
            <a:t>AutoML</a:t>
          </a:r>
          <a:r>
            <a:rPr lang="en-CA" dirty="0">
              <a:latin typeface="Montserrat" panose="00000500000000000000" pitchFamily="2" charset="0"/>
            </a:rPr>
            <a:t>, pre-trained models)?</a:t>
          </a:r>
        </a:p>
      </dgm:t>
    </dgm:pt>
    <dgm:pt modelId="{FD1BE084-A299-48E4-A703-19F300DEF8D3}" type="parTrans" cxnId="{57D751B0-FF7B-4E02-9C84-9C50C9D7244B}">
      <dgm:prSet/>
      <dgm:spPr/>
      <dgm:t>
        <a:bodyPr/>
        <a:lstStyle/>
        <a:p>
          <a:endParaRPr lang="en-CA">
            <a:latin typeface="Montserrat" panose="00000500000000000000" pitchFamily="2" charset="0"/>
          </a:endParaRPr>
        </a:p>
      </dgm:t>
    </dgm:pt>
    <dgm:pt modelId="{FD36A7FF-6E3C-4F9B-BAD4-82A530E8C75B}" type="sibTrans" cxnId="{57D751B0-FF7B-4E02-9C84-9C50C9D7244B}">
      <dgm:prSet/>
      <dgm:spPr/>
      <dgm:t>
        <a:bodyPr/>
        <a:lstStyle/>
        <a:p>
          <a:endParaRPr lang="en-CA">
            <a:latin typeface="Montserrat" panose="00000500000000000000" pitchFamily="2" charset="0"/>
          </a:endParaRPr>
        </a:p>
      </dgm:t>
    </dgm:pt>
    <dgm:pt modelId="{98653FC8-E1A7-469B-B029-7311B372FEF8}" type="pres">
      <dgm:prSet presAssocID="{E1CB3A39-4C1F-45E8-B308-C6C3303AB449}" presName="diagram" presStyleCnt="0">
        <dgm:presLayoutVars>
          <dgm:dir/>
          <dgm:resizeHandles val="exact"/>
        </dgm:presLayoutVars>
      </dgm:prSet>
      <dgm:spPr/>
    </dgm:pt>
    <dgm:pt modelId="{2B25BF39-B901-4518-854E-2C577F7009C2}" type="pres">
      <dgm:prSet presAssocID="{D2AEAD1E-1262-49A0-9365-01479EF25CFA}" presName="node" presStyleLbl="node1" presStyleIdx="0" presStyleCnt="4">
        <dgm:presLayoutVars>
          <dgm:bulletEnabled val="1"/>
        </dgm:presLayoutVars>
      </dgm:prSet>
      <dgm:spPr/>
    </dgm:pt>
    <dgm:pt modelId="{4F63A38A-7631-4E65-95DE-9E96E388F350}" type="pres">
      <dgm:prSet presAssocID="{30DEC319-FCC1-468D-9AC1-12407E5D0F8E}" presName="sibTrans" presStyleCnt="0"/>
      <dgm:spPr/>
    </dgm:pt>
    <dgm:pt modelId="{6DD4C9F4-38A6-4DA9-9836-614AF829B9E5}" type="pres">
      <dgm:prSet presAssocID="{0FACF90E-93B3-4240-968C-053CC695E76D}" presName="node" presStyleLbl="node1" presStyleIdx="1" presStyleCnt="4">
        <dgm:presLayoutVars>
          <dgm:bulletEnabled val="1"/>
        </dgm:presLayoutVars>
      </dgm:prSet>
      <dgm:spPr/>
    </dgm:pt>
    <dgm:pt modelId="{1567D415-E697-4525-BBD0-CA0093C40A58}" type="pres">
      <dgm:prSet presAssocID="{377B601D-AEAA-488F-8A6D-47BA65D3E543}" presName="sibTrans" presStyleCnt="0"/>
      <dgm:spPr/>
    </dgm:pt>
    <dgm:pt modelId="{E028C94D-5B5F-4443-9C45-6D080A13328C}" type="pres">
      <dgm:prSet presAssocID="{62EE8380-E227-435E-AD0A-1DE882FE56CC}" presName="node" presStyleLbl="node1" presStyleIdx="2" presStyleCnt="4">
        <dgm:presLayoutVars>
          <dgm:bulletEnabled val="1"/>
        </dgm:presLayoutVars>
      </dgm:prSet>
      <dgm:spPr/>
    </dgm:pt>
    <dgm:pt modelId="{115420FF-BD0C-499A-911F-C15EF820BF07}" type="pres">
      <dgm:prSet presAssocID="{4C6C51FD-E61B-47F8-89E0-A004D23E00E7}" presName="sibTrans" presStyleCnt="0"/>
      <dgm:spPr/>
    </dgm:pt>
    <dgm:pt modelId="{D07FC4A7-3448-4987-BDA5-9FC6D533AFB8}" type="pres">
      <dgm:prSet presAssocID="{D2DD193D-E736-4B62-9462-DE9F5CFBDB5E}" presName="node" presStyleLbl="node1" presStyleIdx="3" presStyleCnt="4">
        <dgm:presLayoutVars>
          <dgm:bulletEnabled val="1"/>
        </dgm:presLayoutVars>
      </dgm:prSet>
      <dgm:spPr/>
    </dgm:pt>
  </dgm:ptLst>
  <dgm:cxnLst>
    <dgm:cxn modelId="{7B52C429-E762-4748-AAFC-AF5AC65498B6}" type="presOf" srcId="{D2AEAD1E-1262-49A0-9365-01479EF25CFA}" destId="{2B25BF39-B901-4518-854E-2C577F7009C2}" srcOrd="0" destOrd="0" presId="urn:microsoft.com/office/officeart/2005/8/layout/default"/>
    <dgm:cxn modelId="{B1FCE942-7B6A-4188-AC68-BA5C4B7B9A2D}" type="presOf" srcId="{62EE8380-E227-435E-AD0A-1DE882FE56CC}" destId="{E028C94D-5B5F-4443-9C45-6D080A13328C}" srcOrd="0" destOrd="0" presId="urn:microsoft.com/office/officeart/2005/8/layout/default"/>
    <dgm:cxn modelId="{7B06F451-6C97-4430-85F5-1175D907ADFF}" type="presOf" srcId="{D2DD193D-E736-4B62-9462-DE9F5CFBDB5E}" destId="{D07FC4A7-3448-4987-BDA5-9FC6D533AFB8}" srcOrd="0" destOrd="0" presId="urn:microsoft.com/office/officeart/2005/8/layout/default"/>
    <dgm:cxn modelId="{2183C458-89F8-400F-BAE3-DF66AAE11867}" type="presOf" srcId="{E1CB3A39-4C1F-45E8-B308-C6C3303AB449}" destId="{98653FC8-E1A7-469B-B029-7311B372FEF8}" srcOrd="0" destOrd="0" presId="urn:microsoft.com/office/officeart/2005/8/layout/default"/>
    <dgm:cxn modelId="{69553F8E-DD2B-4C8C-8AF0-37359BB840C3}" srcId="{E1CB3A39-4C1F-45E8-B308-C6C3303AB449}" destId="{62EE8380-E227-435E-AD0A-1DE882FE56CC}" srcOrd="2" destOrd="0" parTransId="{69CE90CE-3725-49E0-9DC2-03F7473F00E1}" sibTransId="{4C6C51FD-E61B-47F8-89E0-A004D23E00E7}"/>
    <dgm:cxn modelId="{E0617EA6-3119-4352-B4A2-E1F289A8C7A5}" srcId="{E1CB3A39-4C1F-45E8-B308-C6C3303AB449}" destId="{0FACF90E-93B3-4240-968C-053CC695E76D}" srcOrd="1" destOrd="0" parTransId="{2B4EF1F4-B503-44E1-B43C-4EE120920C23}" sibTransId="{377B601D-AEAA-488F-8A6D-47BA65D3E543}"/>
    <dgm:cxn modelId="{A3B116AD-55FD-47E8-9B29-E886DFFA7628}" type="presOf" srcId="{0FACF90E-93B3-4240-968C-053CC695E76D}" destId="{6DD4C9F4-38A6-4DA9-9836-614AF829B9E5}" srcOrd="0" destOrd="0" presId="urn:microsoft.com/office/officeart/2005/8/layout/default"/>
    <dgm:cxn modelId="{57D751B0-FF7B-4E02-9C84-9C50C9D7244B}" srcId="{E1CB3A39-4C1F-45E8-B308-C6C3303AB449}" destId="{D2DD193D-E736-4B62-9462-DE9F5CFBDB5E}" srcOrd="3" destOrd="0" parTransId="{FD1BE084-A299-48E4-A703-19F300DEF8D3}" sibTransId="{FD36A7FF-6E3C-4F9B-BAD4-82A530E8C75B}"/>
    <dgm:cxn modelId="{FD93F8B4-E56E-4B48-9FEA-A92BC09A0F07}" srcId="{E1CB3A39-4C1F-45E8-B308-C6C3303AB449}" destId="{D2AEAD1E-1262-49A0-9365-01479EF25CFA}" srcOrd="0" destOrd="0" parTransId="{91899650-2099-4D5B-A516-3AFAA7892B99}" sibTransId="{30DEC319-FCC1-468D-9AC1-12407E5D0F8E}"/>
    <dgm:cxn modelId="{80E62702-0458-4BD6-910C-6DFC215822A9}" type="presParOf" srcId="{98653FC8-E1A7-469B-B029-7311B372FEF8}" destId="{2B25BF39-B901-4518-854E-2C577F7009C2}" srcOrd="0" destOrd="0" presId="urn:microsoft.com/office/officeart/2005/8/layout/default"/>
    <dgm:cxn modelId="{7CEBA87D-1382-4B3A-B696-DEA698E90812}" type="presParOf" srcId="{98653FC8-E1A7-469B-B029-7311B372FEF8}" destId="{4F63A38A-7631-4E65-95DE-9E96E388F350}" srcOrd="1" destOrd="0" presId="urn:microsoft.com/office/officeart/2005/8/layout/default"/>
    <dgm:cxn modelId="{D5030BBA-0982-45E3-B9BE-093A11738500}" type="presParOf" srcId="{98653FC8-E1A7-469B-B029-7311B372FEF8}" destId="{6DD4C9F4-38A6-4DA9-9836-614AF829B9E5}" srcOrd="2" destOrd="0" presId="urn:microsoft.com/office/officeart/2005/8/layout/default"/>
    <dgm:cxn modelId="{119A7DBE-57B3-463F-BD22-35B8880384C2}" type="presParOf" srcId="{98653FC8-E1A7-469B-B029-7311B372FEF8}" destId="{1567D415-E697-4525-BBD0-CA0093C40A58}" srcOrd="3" destOrd="0" presId="urn:microsoft.com/office/officeart/2005/8/layout/default"/>
    <dgm:cxn modelId="{E7662204-12E8-4657-80B9-ACD1FDF58B9A}" type="presParOf" srcId="{98653FC8-E1A7-469B-B029-7311B372FEF8}" destId="{E028C94D-5B5F-4443-9C45-6D080A13328C}" srcOrd="4" destOrd="0" presId="urn:microsoft.com/office/officeart/2005/8/layout/default"/>
    <dgm:cxn modelId="{31718DA1-22AA-40EC-9E47-42E3507E183B}" type="presParOf" srcId="{98653FC8-E1A7-469B-B029-7311B372FEF8}" destId="{115420FF-BD0C-499A-911F-C15EF820BF07}" srcOrd="5" destOrd="0" presId="urn:microsoft.com/office/officeart/2005/8/layout/default"/>
    <dgm:cxn modelId="{A4203516-AB18-4293-B3F3-E78BCCE55F4B}" type="presParOf" srcId="{98653FC8-E1A7-469B-B029-7311B372FEF8}" destId="{D07FC4A7-3448-4987-BDA5-9FC6D533AFB8}" srcOrd="6"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F8A98AA-7576-4358-9B01-D50988A841D2}"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69E29310-8388-4AF1-90A3-D6BD57C3F93C}">
      <dgm:prSet phldrT="[Text]" custT="1"/>
      <dgm:spPr>
        <a:solidFill>
          <a:srgbClr val="0C1752"/>
        </a:solidFill>
      </dgm:spPr>
      <dgm:t>
        <a:bodyPr/>
        <a:lstStyle/>
        <a:p>
          <a:r>
            <a:rPr lang="en-CA" sz="2400" b="0" dirty="0">
              <a:latin typeface="Montserrat" panose="00000500000000000000" pitchFamily="2" charset="0"/>
            </a:rPr>
            <a:t>1. Business &amp; Product Roles</a:t>
          </a:r>
        </a:p>
      </dgm:t>
    </dgm:pt>
    <dgm:pt modelId="{0EEC6DB1-1A9C-4342-BE81-BC33032747DE}" type="parTrans" cxnId="{F0A8B00A-78B5-48AD-A4E1-AB90B406647A}">
      <dgm:prSet/>
      <dgm:spPr/>
      <dgm:t>
        <a:bodyPr/>
        <a:lstStyle/>
        <a:p>
          <a:endParaRPr lang="en-CA" sz="2400" b="0"/>
        </a:p>
      </dgm:t>
    </dgm:pt>
    <dgm:pt modelId="{1A0FE37A-42F3-41CA-A6EE-0A0545D4FD6A}" type="sibTrans" cxnId="{F0A8B00A-78B5-48AD-A4E1-AB90B406647A}">
      <dgm:prSet/>
      <dgm:spPr/>
      <dgm:t>
        <a:bodyPr/>
        <a:lstStyle/>
        <a:p>
          <a:endParaRPr lang="en-CA" sz="2400" b="0"/>
        </a:p>
      </dgm:t>
    </dgm:pt>
    <dgm:pt modelId="{4D43B397-D92F-4CAB-9751-FAB77392B366}">
      <dgm:prSet phldrT="[Text]" custT="1"/>
      <dgm:spPr>
        <a:solidFill>
          <a:srgbClr val="D56E48"/>
        </a:solidFill>
      </dgm:spPr>
      <dgm:t>
        <a:bodyPr/>
        <a:lstStyle/>
        <a:p>
          <a:r>
            <a:rPr lang="it-IT" sz="2400" b="0">
              <a:latin typeface="Montserrat" panose="00000500000000000000" pitchFamily="2" charset="0"/>
            </a:rPr>
            <a:t>2. Data Science &amp; AI Roles</a:t>
          </a:r>
          <a:endParaRPr lang="en-CA" sz="2400" b="0" dirty="0">
            <a:latin typeface="Montserrat" panose="00000500000000000000" pitchFamily="2" charset="0"/>
          </a:endParaRPr>
        </a:p>
      </dgm:t>
    </dgm:pt>
    <dgm:pt modelId="{F640D35C-66B9-44F1-AB4A-AB3D7EC19C5B}" type="parTrans" cxnId="{D261ADC8-C109-46AD-9DD1-09D012591E08}">
      <dgm:prSet/>
      <dgm:spPr/>
      <dgm:t>
        <a:bodyPr/>
        <a:lstStyle/>
        <a:p>
          <a:endParaRPr lang="en-CA" sz="2400" b="0"/>
        </a:p>
      </dgm:t>
    </dgm:pt>
    <dgm:pt modelId="{C001D649-47AD-43A4-B1D0-AFC5365141D1}" type="sibTrans" cxnId="{D261ADC8-C109-46AD-9DD1-09D012591E08}">
      <dgm:prSet/>
      <dgm:spPr/>
      <dgm:t>
        <a:bodyPr/>
        <a:lstStyle/>
        <a:p>
          <a:endParaRPr lang="en-CA" sz="2400" b="0"/>
        </a:p>
      </dgm:t>
    </dgm:pt>
    <dgm:pt modelId="{8CC9C33E-008E-4386-85C0-B10BCFC978E7}">
      <dgm:prSet phldrT="[Text]" custT="1"/>
      <dgm:spPr>
        <a:solidFill>
          <a:srgbClr val="1BBFD1"/>
        </a:solidFill>
      </dgm:spPr>
      <dgm:t>
        <a:bodyPr/>
        <a:lstStyle/>
        <a:p>
          <a:r>
            <a:rPr lang="en-CA" sz="2400" b="0">
              <a:latin typeface="Montserrat" panose="00000500000000000000" pitchFamily="2" charset="0"/>
            </a:rPr>
            <a:t>3. Development &amp; Operations Roles</a:t>
          </a:r>
          <a:endParaRPr lang="en-CA" sz="2400" b="0" dirty="0">
            <a:latin typeface="Montserrat" panose="00000500000000000000" pitchFamily="2" charset="0"/>
          </a:endParaRPr>
        </a:p>
      </dgm:t>
    </dgm:pt>
    <dgm:pt modelId="{EBAC5973-0DFA-42D0-812E-29D5F4269783}" type="parTrans" cxnId="{93D8C295-4B69-49E0-B3E0-E32E6C7FA0AB}">
      <dgm:prSet/>
      <dgm:spPr/>
      <dgm:t>
        <a:bodyPr/>
        <a:lstStyle/>
        <a:p>
          <a:endParaRPr lang="en-CA" sz="2400" b="0"/>
        </a:p>
      </dgm:t>
    </dgm:pt>
    <dgm:pt modelId="{D074A5D5-8252-48EA-BF05-37F3022DFAB8}" type="sibTrans" cxnId="{93D8C295-4B69-49E0-B3E0-E32E6C7FA0AB}">
      <dgm:prSet/>
      <dgm:spPr/>
      <dgm:t>
        <a:bodyPr/>
        <a:lstStyle/>
        <a:p>
          <a:endParaRPr lang="en-CA" sz="2400" b="0"/>
        </a:p>
      </dgm:t>
    </dgm:pt>
    <dgm:pt modelId="{06BFA09B-BDD8-462B-9AAB-5D5E0353A582}">
      <dgm:prSet phldrT="[Text]" custT="1"/>
      <dgm:spPr>
        <a:solidFill>
          <a:schemeClr val="bg1">
            <a:lumMod val="65000"/>
          </a:schemeClr>
        </a:solidFill>
      </dgm:spPr>
      <dgm:t>
        <a:bodyPr/>
        <a:lstStyle/>
        <a:p>
          <a:r>
            <a:rPr lang="en-CA" sz="2400" b="0">
              <a:latin typeface="Montserrat" panose="00000500000000000000" pitchFamily="2" charset="0"/>
            </a:rPr>
            <a:t>4. Data Engineering Roles</a:t>
          </a:r>
          <a:endParaRPr lang="en-CA" sz="2400" b="0" dirty="0">
            <a:latin typeface="Montserrat" panose="00000500000000000000" pitchFamily="2" charset="0"/>
          </a:endParaRPr>
        </a:p>
      </dgm:t>
    </dgm:pt>
    <dgm:pt modelId="{AAD8B5C6-C7D8-4405-8B2A-4B4A1CFB93BF}" type="parTrans" cxnId="{80E9198F-EFFF-40DA-BC6E-070706A2DACD}">
      <dgm:prSet/>
      <dgm:spPr/>
      <dgm:t>
        <a:bodyPr/>
        <a:lstStyle/>
        <a:p>
          <a:endParaRPr lang="en-CA" sz="2400" b="0"/>
        </a:p>
      </dgm:t>
    </dgm:pt>
    <dgm:pt modelId="{BB0E45BC-1CA5-4FE3-ABF4-0972E1950D10}" type="sibTrans" cxnId="{80E9198F-EFFF-40DA-BC6E-070706A2DACD}">
      <dgm:prSet/>
      <dgm:spPr/>
      <dgm:t>
        <a:bodyPr/>
        <a:lstStyle/>
        <a:p>
          <a:endParaRPr lang="en-CA" sz="2400" b="0"/>
        </a:p>
      </dgm:t>
    </dgm:pt>
    <dgm:pt modelId="{A5988627-8D21-48EE-9466-A305821302CC}" type="pres">
      <dgm:prSet presAssocID="{0F8A98AA-7576-4358-9B01-D50988A841D2}" presName="diagram" presStyleCnt="0">
        <dgm:presLayoutVars>
          <dgm:dir/>
          <dgm:resizeHandles val="exact"/>
        </dgm:presLayoutVars>
      </dgm:prSet>
      <dgm:spPr/>
    </dgm:pt>
    <dgm:pt modelId="{3575B728-FC27-4F01-8F8B-C6FCA2850D70}" type="pres">
      <dgm:prSet presAssocID="{69E29310-8388-4AF1-90A3-D6BD57C3F93C}" presName="node" presStyleLbl="node1" presStyleIdx="0" presStyleCnt="4">
        <dgm:presLayoutVars>
          <dgm:bulletEnabled val="1"/>
        </dgm:presLayoutVars>
      </dgm:prSet>
      <dgm:spPr/>
    </dgm:pt>
    <dgm:pt modelId="{49694114-CFE7-481D-9533-DCD02DBD4ED1}" type="pres">
      <dgm:prSet presAssocID="{1A0FE37A-42F3-41CA-A6EE-0A0545D4FD6A}" presName="sibTrans" presStyleCnt="0"/>
      <dgm:spPr/>
    </dgm:pt>
    <dgm:pt modelId="{5293BE1E-03F0-43FA-B129-B589923B7064}" type="pres">
      <dgm:prSet presAssocID="{4D43B397-D92F-4CAB-9751-FAB77392B366}" presName="node" presStyleLbl="node1" presStyleIdx="1" presStyleCnt="4">
        <dgm:presLayoutVars>
          <dgm:bulletEnabled val="1"/>
        </dgm:presLayoutVars>
      </dgm:prSet>
      <dgm:spPr/>
    </dgm:pt>
    <dgm:pt modelId="{04B36143-FEF3-403F-893B-F21B1C4F984A}" type="pres">
      <dgm:prSet presAssocID="{C001D649-47AD-43A4-B1D0-AFC5365141D1}" presName="sibTrans" presStyleCnt="0"/>
      <dgm:spPr/>
    </dgm:pt>
    <dgm:pt modelId="{0C3CD48D-BA5F-401E-8178-5766DB7F0EC3}" type="pres">
      <dgm:prSet presAssocID="{8CC9C33E-008E-4386-85C0-B10BCFC978E7}" presName="node" presStyleLbl="node1" presStyleIdx="2" presStyleCnt="4">
        <dgm:presLayoutVars>
          <dgm:bulletEnabled val="1"/>
        </dgm:presLayoutVars>
      </dgm:prSet>
      <dgm:spPr/>
    </dgm:pt>
    <dgm:pt modelId="{9A14CE11-C92A-4332-820C-CBA7972E0856}" type="pres">
      <dgm:prSet presAssocID="{D074A5D5-8252-48EA-BF05-37F3022DFAB8}" presName="sibTrans" presStyleCnt="0"/>
      <dgm:spPr/>
    </dgm:pt>
    <dgm:pt modelId="{8C196223-B7C7-44B0-BEF9-9C7948E3198A}" type="pres">
      <dgm:prSet presAssocID="{06BFA09B-BDD8-462B-9AAB-5D5E0353A582}" presName="node" presStyleLbl="node1" presStyleIdx="3" presStyleCnt="4">
        <dgm:presLayoutVars>
          <dgm:bulletEnabled val="1"/>
        </dgm:presLayoutVars>
      </dgm:prSet>
      <dgm:spPr/>
    </dgm:pt>
  </dgm:ptLst>
  <dgm:cxnLst>
    <dgm:cxn modelId="{F0A8B00A-78B5-48AD-A4E1-AB90B406647A}" srcId="{0F8A98AA-7576-4358-9B01-D50988A841D2}" destId="{69E29310-8388-4AF1-90A3-D6BD57C3F93C}" srcOrd="0" destOrd="0" parTransId="{0EEC6DB1-1A9C-4342-BE81-BC33032747DE}" sibTransId="{1A0FE37A-42F3-41CA-A6EE-0A0545D4FD6A}"/>
    <dgm:cxn modelId="{66B1D313-8956-4374-B47A-5796EE478391}" type="presOf" srcId="{4D43B397-D92F-4CAB-9751-FAB77392B366}" destId="{5293BE1E-03F0-43FA-B129-B589923B7064}" srcOrd="0" destOrd="0" presId="urn:microsoft.com/office/officeart/2005/8/layout/default"/>
    <dgm:cxn modelId="{80E9198F-EFFF-40DA-BC6E-070706A2DACD}" srcId="{0F8A98AA-7576-4358-9B01-D50988A841D2}" destId="{06BFA09B-BDD8-462B-9AAB-5D5E0353A582}" srcOrd="3" destOrd="0" parTransId="{AAD8B5C6-C7D8-4405-8B2A-4B4A1CFB93BF}" sibTransId="{BB0E45BC-1CA5-4FE3-ABF4-0972E1950D10}"/>
    <dgm:cxn modelId="{93D8C295-4B69-49E0-B3E0-E32E6C7FA0AB}" srcId="{0F8A98AA-7576-4358-9B01-D50988A841D2}" destId="{8CC9C33E-008E-4386-85C0-B10BCFC978E7}" srcOrd="2" destOrd="0" parTransId="{EBAC5973-0DFA-42D0-812E-29D5F4269783}" sibTransId="{D074A5D5-8252-48EA-BF05-37F3022DFAB8}"/>
    <dgm:cxn modelId="{A56B79B7-2C31-4289-AD13-15AB902DF49E}" type="presOf" srcId="{06BFA09B-BDD8-462B-9AAB-5D5E0353A582}" destId="{8C196223-B7C7-44B0-BEF9-9C7948E3198A}" srcOrd="0" destOrd="0" presId="urn:microsoft.com/office/officeart/2005/8/layout/default"/>
    <dgm:cxn modelId="{D261ADC8-C109-46AD-9DD1-09D012591E08}" srcId="{0F8A98AA-7576-4358-9B01-D50988A841D2}" destId="{4D43B397-D92F-4CAB-9751-FAB77392B366}" srcOrd="1" destOrd="0" parTransId="{F640D35C-66B9-44F1-AB4A-AB3D7EC19C5B}" sibTransId="{C001D649-47AD-43A4-B1D0-AFC5365141D1}"/>
    <dgm:cxn modelId="{4F0E74DF-9978-4AA6-9F5C-CFE962B7FDF6}" type="presOf" srcId="{69E29310-8388-4AF1-90A3-D6BD57C3F93C}" destId="{3575B728-FC27-4F01-8F8B-C6FCA2850D70}" srcOrd="0" destOrd="0" presId="urn:microsoft.com/office/officeart/2005/8/layout/default"/>
    <dgm:cxn modelId="{1EE5B5E7-87B4-4B37-BF19-8748AA4B0019}" type="presOf" srcId="{8CC9C33E-008E-4386-85C0-B10BCFC978E7}" destId="{0C3CD48D-BA5F-401E-8178-5766DB7F0EC3}" srcOrd="0" destOrd="0" presId="urn:microsoft.com/office/officeart/2005/8/layout/default"/>
    <dgm:cxn modelId="{1A0A20FC-A842-4407-9DFC-9B03FA578FFF}" type="presOf" srcId="{0F8A98AA-7576-4358-9B01-D50988A841D2}" destId="{A5988627-8D21-48EE-9466-A305821302CC}" srcOrd="0" destOrd="0" presId="urn:microsoft.com/office/officeart/2005/8/layout/default"/>
    <dgm:cxn modelId="{82D84797-1D3A-4C34-8127-A9D5E511A0D3}" type="presParOf" srcId="{A5988627-8D21-48EE-9466-A305821302CC}" destId="{3575B728-FC27-4F01-8F8B-C6FCA2850D70}" srcOrd="0" destOrd="0" presId="urn:microsoft.com/office/officeart/2005/8/layout/default"/>
    <dgm:cxn modelId="{84B964B2-4B7E-4D8A-8DBF-C9C3F0B87C35}" type="presParOf" srcId="{A5988627-8D21-48EE-9466-A305821302CC}" destId="{49694114-CFE7-481D-9533-DCD02DBD4ED1}" srcOrd="1" destOrd="0" presId="urn:microsoft.com/office/officeart/2005/8/layout/default"/>
    <dgm:cxn modelId="{754F17A1-56B3-4255-B08B-94EE80983872}" type="presParOf" srcId="{A5988627-8D21-48EE-9466-A305821302CC}" destId="{5293BE1E-03F0-43FA-B129-B589923B7064}" srcOrd="2" destOrd="0" presId="urn:microsoft.com/office/officeart/2005/8/layout/default"/>
    <dgm:cxn modelId="{227EA8F0-AEE3-4780-9B8E-AAABB3C95A53}" type="presParOf" srcId="{A5988627-8D21-48EE-9466-A305821302CC}" destId="{04B36143-FEF3-403F-893B-F21B1C4F984A}" srcOrd="3" destOrd="0" presId="urn:microsoft.com/office/officeart/2005/8/layout/default"/>
    <dgm:cxn modelId="{2E92AA83-A895-485A-A022-3C8643D82AD0}" type="presParOf" srcId="{A5988627-8D21-48EE-9466-A305821302CC}" destId="{0C3CD48D-BA5F-401E-8178-5766DB7F0EC3}" srcOrd="4" destOrd="0" presId="urn:microsoft.com/office/officeart/2005/8/layout/default"/>
    <dgm:cxn modelId="{E99244C1-0052-4134-B62D-5EDD047B9B68}" type="presParOf" srcId="{A5988627-8D21-48EE-9466-A305821302CC}" destId="{9A14CE11-C92A-4332-820C-CBA7972E0856}" srcOrd="5" destOrd="0" presId="urn:microsoft.com/office/officeart/2005/8/layout/default"/>
    <dgm:cxn modelId="{4DE623D9-EAA4-4915-8F65-570380567133}" type="presParOf" srcId="{A5988627-8D21-48EE-9466-A305821302CC}" destId="{8C196223-B7C7-44B0-BEF9-9C7948E3198A}"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08C7A93-2164-4B40-BF54-E96F56F4052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9F595454-5EA7-4629-8F34-92C0F2D28E46}">
      <dgm:prSet phldrT="[Text]"/>
      <dgm:spPr>
        <a:solidFill>
          <a:srgbClr val="0C1752"/>
        </a:solidFill>
      </dgm:spPr>
      <dgm:t>
        <a:bodyPr/>
        <a:lstStyle/>
        <a:p>
          <a:pPr>
            <a:buNone/>
          </a:pPr>
          <a:r>
            <a:rPr lang="en-US" b="1" dirty="0">
              <a:latin typeface="Montserrat" panose="00000500000000000000" pitchFamily="2" charset="0"/>
            </a:rPr>
            <a:t>Uncertain and evolving requirements</a:t>
          </a:r>
          <a:r>
            <a:rPr lang="en-US" dirty="0">
              <a:latin typeface="Montserrat" panose="00000500000000000000" pitchFamily="2" charset="0"/>
            </a:rPr>
            <a:t>: </a:t>
          </a:r>
        </a:p>
        <a:p>
          <a:pPr>
            <a:buNone/>
          </a:pPr>
          <a:r>
            <a:rPr lang="en-US" dirty="0">
              <a:latin typeface="Montserrat" panose="00000500000000000000" pitchFamily="2" charset="0"/>
            </a:rPr>
            <a:t>AI project goals often shift based on data insights and model performance, making upfront planning difficult.</a:t>
          </a:r>
          <a:endParaRPr lang="en-CA" dirty="0">
            <a:latin typeface="Montserrat" panose="00000500000000000000" pitchFamily="2" charset="0"/>
          </a:endParaRPr>
        </a:p>
      </dgm:t>
    </dgm:pt>
    <dgm:pt modelId="{E5B6C5B5-1B56-4135-948D-806E64F4D428}" type="parTrans" cxnId="{00322531-D422-4B0A-9CF5-731AE28DEBD3}">
      <dgm:prSet/>
      <dgm:spPr/>
      <dgm:t>
        <a:bodyPr/>
        <a:lstStyle/>
        <a:p>
          <a:endParaRPr lang="en-CA">
            <a:latin typeface="Montserrat" panose="00000500000000000000" pitchFamily="2" charset="0"/>
          </a:endParaRPr>
        </a:p>
      </dgm:t>
    </dgm:pt>
    <dgm:pt modelId="{3271B91D-5C86-4897-97FA-D600FF7F057E}" type="sibTrans" cxnId="{00322531-D422-4B0A-9CF5-731AE28DEBD3}">
      <dgm:prSet/>
      <dgm:spPr/>
      <dgm:t>
        <a:bodyPr/>
        <a:lstStyle/>
        <a:p>
          <a:endParaRPr lang="en-CA">
            <a:latin typeface="Montserrat" panose="00000500000000000000" pitchFamily="2" charset="0"/>
          </a:endParaRPr>
        </a:p>
      </dgm:t>
    </dgm:pt>
    <dgm:pt modelId="{985EF37C-1E73-4289-A2FE-EB344E5FE41F}">
      <dgm:prSet/>
      <dgm:spPr>
        <a:solidFill>
          <a:srgbClr val="D56E48"/>
        </a:solidFill>
      </dgm:spPr>
      <dgm:t>
        <a:bodyPr/>
        <a:lstStyle/>
        <a:p>
          <a:pPr>
            <a:buNone/>
          </a:pPr>
          <a:r>
            <a:rPr lang="en-US" b="1" dirty="0">
              <a:latin typeface="Montserrat" panose="00000500000000000000" pitchFamily="2" charset="0"/>
            </a:rPr>
            <a:t>Data as a core dependency</a:t>
          </a:r>
          <a:r>
            <a:rPr lang="en-US" dirty="0">
              <a:latin typeface="Montserrat" panose="00000500000000000000" pitchFamily="2" charset="0"/>
            </a:rPr>
            <a:t>: Success heavily depends on data availability, quality, and relevance.</a:t>
          </a:r>
        </a:p>
      </dgm:t>
    </dgm:pt>
    <dgm:pt modelId="{0CD55270-F1E3-4401-AAD0-50813D7B37C6}" type="parTrans" cxnId="{F387384A-2A80-47B7-9D8D-EBED86B3F72E}">
      <dgm:prSet/>
      <dgm:spPr/>
      <dgm:t>
        <a:bodyPr/>
        <a:lstStyle/>
        <a:p>
          <a:endParaRPr lang="en-CA">
            <a:latin typeface="Montserrat" panose="00000500000000000000" pitchFamily="2" charset="0"/>
          </a:endParaRPr>
        </a:p>
      </dgm:t>
    </dgm:pt>
    <dgm:pt modelId="{9915FC1B-D148-454F-A6E7-392E23A82666}" type="sibTrans" cxnId="{F387384A-2A80-47B7-9D8D-EBED86B3F72E}">
      <dgm:prSet/>
      <dgm:spPr/>
      <dgm:t>
        <a:bodyPr/>
        <a:lstStyle/>
        <a:p>
          <a:endParaRPr lang="en-CA">
            <a:latin typeface="Montserrat" panose="00000500000000000000" pitchFamily="2" charset="0"/>
          </a:endParaRPr>
        </a:p>
      </dgm:t>
    </dgm:pt>
    <dgm:pt modelId="{28592FCE-EE0A-48C7-A585-B5FD73EEC11A}">
      <dgm:prSet/>
      <dgm:spPr>
        <a:solidFill>
          <a:srgbClr val="1BBFD1"/>
        </a:solidFill>
      </dgm:spPr>
      <dgm:t>
        <a:bodyPr/>
        <a:lstStyle/>
        <a:p>
          <a:pPr>
            <a:buNone/>
          </a:pPr>
          <a:r>
            <a:rPr lang="en-US" b="1">
              <a:latin typeface="Montserrat" panose="00000500000000000000" pitchFamily="2" charset="0"/>
            </a:rPr>
            <a:t>Non-deterministic outcomes</a:t>
          </a:r>
          <a:r>
            <a:rPr lang="en-US">
              <a:latin typeface="Montserrat" panose="00000500000000000000" pitchFamily="2" charset="0"/>
            </a:rPr>
            <a:t>: Unlike traditional software, AI models may never reach perfect accuracy, requiring tolerance for probabilistic results.</a:t>
          </a:r>
        </a:p>
      </dgm:t>
    </dgm:pt>
    <dgm:pt modelId="{3F4AFEAF-56C0-4356-99A7-B16463D6381D}" type="parTrans" cxnId="{BA72DB7B-6CD5-4581-AD90-08B105A1DFCA}">
      <dgm:prSet/>
      <dgm:spPr/>
      <dgm:t>
        <a:bodyPr/>
        <a:lstStyle/>
        <a:p>
          <a:endParaRPr lang="en-CA">
            <a:latin typeface="Montserrat" panose="00000500000000000000" pitchFamily="2" charset="0"/>
          </a:endParaRPr>
        </a:p>
      </dgm:t>
    </dgm:pt>
    <dgm:pt modelId="{115DB681-74D4-4181-BCF5-39695071FBDC}" type="sibTrans" cxnId="{BA72DB7B-6CD5-4581-AD90-08B105A1DFCA}">
      <dgm:prSet/>
      <dgm:spPr/>
      <dgm:t>
        <a:bodyPr/>
        <a:lstStyle/>
        <a:p>
          <a:endParaRPr lang="en-CA">
            <a:latin typeface="Montserrat" panose="00000500000000000000" pitchFamily="2" charset="0"/>
          </a:endParaRPr>
        </a:p>
      </dgm:t>
    </dgm:pt>
    <dgm:pt modelId="{9774D50C-2648-48B4-818F-3EBB5596253C}">
      <dgm:prSet/>
      <dgm:spPr>
        <a:solidFill>
          <a:schemeClr val="bg1">
            <a:lumMod val="65000"/>
          </a:schemeClr>
        </a:solidFill>
      </dgm:spPr>
      <dgm:t>
        <a:bodyPr/>
        <a:lstStyle/>
        <a:p>
          <a:r>
            <a:rPr lang="en-US" b="1" dirty="0">
              <a:latin typeface="Montserrat" panose="00000500000000000000" pitchFamily="2" charset="0"/>
            </a:rPr>
            <a:t>Complex team collaboration</a:t>
          </a:r>
          <a:r>
            <a:rPr lang="en-US" dirty="0">
              <a:latin typeface="Montserrat" panose="00000500000000000000" pitchFamily="2" charset="0"/>
            </a:rPr>
            <a:t>: AI projects require cross-functional teams (data scientists, engineers, domain experts), making coordination and communication more challenging.</a:t>
          </a:r>
        </a:p>
      </dgm:t>
    </dgm:pt>
    <dgm:pt modelId="{C31EDE9D-BB54-4D2E-A9C2-5ED21476A735}" type="parTrans" cxnId="{E695C719-F5E2-4911-8430-C2A4D68267DA}">
      <dgm:prSet/>
      <dgm:spPr/>
      <dgm:t>
        <a:bodyPr/>
        <a:lstStyle/>
        <a:p>
          <a:endParaRPr lang="en-CA">
            <a:latin typeface="Montserrat" panose="00000500000000000000" pitchFamily="2" charset="0"/>
          </a:endParaRPr>
        </a:p>
      </dgm:t>
    </dgm:pt>
    <dgm:pt modelId="{49627A80-AF89-49F2-AD9D-9631AF37556C}" type="sibTrans" cxnId="{E695C719-F5E2-4911-8430-C2A4D68267DA}">
      <dgm:prSet/>
      <dgm:spPr/>
      <dgm:t>
        <a:bodyPr/>
        <a:lstStyle/>
        <a:p>
          <a:endParaRPr lang="en-CA">
            <a:latin typeface="Montserrat" panose="00000500000000000000" pitchFamily="2" charset="0"/>
          </a:endParaRPr>
        </a:p>
      </dgm:t>
    </dgm:pt>
    <dgm:pt modelId="{6B7E203A-5618-4B6E-8250-0BD45706ECEE}" type="pres">
      <dgm:prSet presAssocID="{508C7A93-2164-4B40-BF54-E96F56F4052C}" presName="diagram" presStyleCnt="0">
        <dgm:presLayoutVars>
          <dgm:dir/>
          <dgm:resizeHandles val="exact"/>
        </dgm:presLayoutVars>
      </dgm:prSet>
      <dgm:spPr/>
    </dgm:pt>
    <dgm:pt modelId="{44563EEE-1197-49E8-A6F4-E1F660945938}" type="pres">
      <dgm:prSet presAssocID="{9F595454-5EA7-4629-8F34-92C0F2D28E46}" presName="node" presStyleLbl="node1" presStyleIdx="0" presStyleCnt="4">
        <dgm:presLayoutVars>
          <dgm:bulletEnabled val="1"/>
        </dgm:presLayoutVars>
      </dgm:prSet>
      <dgm:spPr/>
    </dgm:pt>
    <dgm:pt modelId="{4722582A-6AA7-4FA4-83B8-C88ABE44ABFE}" type="pres">
      <dgm:prSet presAssocID="{3271B91D-5C86-4897-97FA-D600FF7F057E}" presName="sibTrans" presStyleCnt="0"/>
      <dgm:spPr/>
    </dgm:pt>
    <dgm:pt modelId="{4D28F683-3E2E-49F9-9FC7-583B983DC071}" type="pres">
      <dgm:prSet presAssocID="{985EF37C-1E73-4289-A2FE-EB344E5FE41F}" presName="node" presStyleLbl="node1" presStyleIdx="1" presStyleCnt="4">
        <dgm:presLayoutVars>
          <dgm:bulletEnabled val="1"/>
        </dgm:presLayoutVars>
      </dgm:prSet>
      <dgm:spPr/>
    </dgm:pt>
    <dgm:pt modelId="{40CEF524-1A6A-44DD-8996-622343DB40E8}" type="pres">
      <dgm:prSet presAssocID="{9915FC1B-D148-454F-A6E7-392E23A82666}" presName="sibTrans" presStyleCnt="0"/>
      <dgm:spPr/>
    </dgm:pt>
    <dgm:pt modelId="{B47E7B98-79C8-41AA-A327-7C31F7B3358B}" type="pres">
      <dgm:prSet presAssocID="{28592FCE-EE0A-48C7-A585-B5FD73EEC11A}" presName="node" presStyleLbl="node1" presStyleIdx="2" presStyleCnt="4">
        <dgm:presLayoutVars>
          <dgm:bulletEnabled val="1"/>
        </dgm:presLayoutVars>
      </dgm:prSet>
      <dgm:spPr/>
    </dgm:pt>
    <dgm:pt modelId="{D635F05E-2E8D-42B0-B660-42485D9DD99D}" type="pres">
      <dgm:prSet presAssocID="{115DB681-74D4-4181-BCF5-39695071FBDC}" presName="sibTrans" presStyleCnt="0"/>
      <dgm:spPr/>
    </dgm:pt>
    <dgm:pt modelId="{0EFAD58A-B3A1-485A-A693-2A5A303DE78A}" type="pres">
      <dgm:prSet presAssocID="{9774D50C-2648-48B4-818F-3EBB5596253C}" presName="node" presStyleLbl="node1" presStyleIdx="3" presStyleCnt="4">
        <dgm:presLayoutVars>
          <dgm:bulletEnabled val="1"/>
        </dgm:presLayoutVars>
      </dgm:prSet>
      <dgm:spPr/>
    </dgm:pt>
  </dgm:ptLst>
  <dgm:cxnLst>
    <dgm:cxn modelId="{10CAD802-4FE1-4072-83ED-AC10CBA2FF95}" type="presOf" srcId="{9F595454-5EA7-4629-8F34-92C0F2D28E46}" destId="{44563EEE-1197-49E8-A6F4-E1F660945938}" srcOrd="0" destOrd="0" presId="urn:microsoft.com/office/officeart/2005/8/layout/default"/>
    <dgm:cxn modelId="{E695C719-F5E2-4911-8430-C2A4D68267DA}" srcId="{508C7A93-2164-4B40-BF54-E96F56F4052C}" destId="{9774D50C-2648-48B4-818F-3EBB5596253C}" srcOrd="3" destOrd="0" parTransId="{C31EDE9D-BB54-4D2E-A9C2-5ED21476A735}" sibTransId="{49627A80-AF89-49F2-AD9D-9631AF37556C}"/>
    <dgm:cxn modelId="{CC01F51C-2952-4E25-A80C-819D848BA54E}" type="presOf" srcId="{9774D50C-2648-48B4-818F-3EBB5596253C}" destId="{0EFAD58A-B3A1-485A-A693-2A5A303DE78A}" srcOrd="0" destOrd="0" presId="urn:microsoft.com/office/officeart/2005/8/layout/default"/>
    <dgm:cxn modelId="{00322531-D422-4B0A-9CF5-731AE28DEBD3}" srcId="{508C7A93-2164-4B40-BF54-E96F56F4052C}" destId="{9F595454-5EA7-4629-8F34-92C0F2D28E46}" srcOrd="0" destOrd="0" parTransId="{E5B6C5B5-1B56-4135-948D-806E64F4D428}" sibTransId="{3271B91D-5C86-4897-97FA-D600FF7F057E}"/>
    <dgm:cxn modelId="{DBB6DE44-B1CE-43F2-8283-A62FBFA103DF}" type="presOf" srcId="{28592FCE-EE0A-48C7-A585-B5FD73EEC11A}" destId="{B47E7B98-79C8-41AA-A327-7C31F7B3358B}" srcOrd="0" destOrd="0" presId="urn:microsoft.com/office/officeart/2005/8/layout/default"/>
    <dgm:cxn modelId="{F387384A-2A80-47B7-9D8D-EBED86B3F72E}" srcId="{508C7A93-2164-4B40-BF54-E96F56F4052C}" destId="{985EF37C-1E73-4289-A2FE-EB344E5FE41F}" srcOrd="1" destOrd="0" parTransId="{0CD55270-F1E3-4401-AAD0-50813D7B37C6}" sibTransId="{9915FC1B-D148-454F-A6E7-392E23A82666}"/>
    <dgm:cxn modelId="{BA72DB7B-6CD5-4581-AD90-08B105A1DFCA}" srcId="{508C7A93-2164-4B40-BF54-E96F56F4052C}" destId="{28592FCE-EE0A-48C7-A585-B5FD73EEC11A}" srcOrd="2" destOrd="0" parTransId="{3F4AFEAF-56C0-4356-99A7-B16463D6381D}" sibTransId="{115DB681-74D4-4181-BCF5-39695071FBDC}"/>
    <dgm:cxn modelId="{E819AE92-2B0C-4358-A4AE-C541CD1FA417}" type="presOf" srcId="{508C7A93-2164-4B40-BF54-E96F56F4052C}" destId="{6B7E203A-5618-4B6E-8250-0BD45706ECEE}" srcOrd="0" destOrd="0" presId="urn:microsoft.com/office/officeart/2005/8/layout/default"/>
    <dgm:cxn modelId="{0B1FD29A-2F0A-412E-B356-3AAF51AFC5F9}" type="presOf" srcId="{985EF37C-1E73-4289-A2FE-EB344E5FE41F}" destId="{4D28F683-3E2E-49F9-9FC7-583B983DC071}" srcOrd="0" destOrd="0" presId="urn:microsoft.com/office/officeart/2005/8/layout/default"/>
    <dgm:cxn modelId="{54AD46DC-17F0-4231-BF19-7F64BB565C88}" type="presParOf" srcId="{6B7E203A-5618-4B6E-8250-0BD45706ECEE}" destId="{44563EEE-1197-49E8-A6F4-E1F660945938}" srcOrd="0" destOrd="0" presId="urn:microsoft.com/office/officeart/2005/8/layout/default"/>
    <dgm:cxn modelId="{BF00B026-4D81-411B-B8E1-0430143BCD14}" type="presParOf" srcId="{6B7E203A-5618-4B6E-8250-0BD45706ECEE}" destId="{4722582A-6AA7-4FA4-83B8-C88ABE44ABFE}" srcOrd="1" destOrd="0" presId="urn:microsoft.com/office/officeart/2005/8/layout/default"/>
    <dgm:cxn modelId="{7022418A-E147-4950-974C-C198B9062D71}" type="presParOf" srcId="{6B7E203A-5618-4B6E-8250-0BD45706ECEE}" destId="{4D28F683-3E2E-49F9-9FC7-583B983DC071}" srcOrd="2" destOrd="0" presId="urn:microsoft.com/office/officeart/2005/8/layout/default"/>
    <dgm:cxn modelId="{1119592B-490F-4281-90D7-8A6FE4C9AA7D}" type="presParOf" srcId="{6B7E203A-5618-4B6E-8250-0BD45706ECEE}" destId="{40CEF524-1A6A-44DD-8996-622343DB40E8}" srcOrd="3" destOrd="0" presId="urn:microsoft.com/office/officeart/2005/8/layout/default"/>
    <dgm:cxn modelId="{99F9B5C8-3C61-4F71-BCDC-420EFE8B5D35}" type="presParOf" srcId="{6B7E203A-5618-4B6E-8250-0BD45706ECEE}" destId="{B47E7B98-79C8-41AA-A327-7C31F7B3358B}" srcOrd="4" destOrd="0" presId="urn:microsoft.com/office/officeart/2005/8/layout/default"/>
    <dgm:cxn modelId="{659FA449-AF65-457B-8D49-A57D666CC9D7}" type="presParOf" srcId="{6B7E203A-5618-4B6E-8250-0BD45706ECEE}" destId="{D635F05E-2E8D-42B0-B660-42485D9DD99D}" srcOrd="5" destOrd="0" presId="urn:microsoft.com/office/officeart/2005/8/layout/default"/>
    <dgm:cxn modelId="{C3A0CA89-768D-4C7D-B2ED-5E334EF0400F}" type="presParOf" srcId="{6B7E203A-5618-4B6E-8250-0BD45706ECEE}" destId="{0EFAD58A-B3A1-485A-A693-2A5A303DE78A}"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23C8837-BFA9-4BCD-9517-5F08583B52FC}" type="doc">
      <dgm:prSet loTypeId="urn:microsoft.com/office/officeart/2005/8/layout/hProcess9" loCatId="process" qsTypeId="urn:microsoft.com/office/officeart/2005/8/quickstyle/simple1" qsCatId="simple" csTypeId="urn:microsoft.com/office/officeart/2005/8/colors/accent1_2" csCatId="accent1" phldr="1"/>
      <dgm:spPr/>
    </dgm:pt>
    <dgm:pt modelId="{E1C3B4BF-B140-4439-836D-1828D56B5A0E}">
      <dgm:prSet phldrT="[Text]" custT="1"/>
      <dgm:spPr>
        <a:solidFill>
          <a:srgbClr val="0C1752"/>
        </a:solidFill>
      </dgm:spPr>
      <dgm:t>
        <a:bodyPr/>
        <a:lstStyle/>
        <a:p>
          <a:pPr>
            <a:buNone/>
          </a:pPr>
          <a:r>
            <a:rPr lang="en-CA" sz="1500" dirty="0">
              <a:latin typeface="Montserrat" panose="00000500000000000000" pitchFamily="2" charset="0"/>
            </a:rPr>
            <a:t>Requirements</a:t>
          </a:r>
        </a:p>
      </dgm:t>
    </dgm:pt>
    <dgm:pt modelId="{B0D0F1C0-3FA8-483D-8A10-F59DF175DF5F}" type="parTrans" cxnId="{6ABE2BE9-5CCA-4E56-9692-5F34347E7557}">
      <dgm:prSet/>
      <dgm:spPr/>
      <dgm:t>
        <a:bodyPr/>
        <a:lstStyle/>
        <a:p>
          <a:endParaRPr lang="en-CA" sz="1500"/>
        </a:p>
      </dgm:t>
    </dgm:pt>
    <dgm:pt modelId="{9CC65909-FA21-44DC-8CD0-DEB883A7AA29}" type="sibTrans" cxnId="{6ABE2BE9-5CCA-4E56-9692-5F34347E7557}">
      <dgm:prSet/>
      <dgm:spPr/>
      <dgm:t>
        <a:bodyPr/>
        <a:lstStyle/>
        <a:p>
          <a:endParaRPr lang="en-CA" sz="1500"/>
        </a:p>
      </dgm:t>
    </dgm:pt>
    <dgm:pt modelId="{86638E07-5661-4CE5-A21A-6092524108C3}">
      <dgm:prSet custT="1"/>
      <dgm:spPr>
        <a:solidFill>
          <a:srgbClr val="D56E48"/>
        </a:solidFill>
      </dgm:spPr>
      <dgm:t>
        <a:bodyPr/>
        <a:lstStyle/>
        <a:p>
          <a:pPr>
            <a:buNone/>
          </a:pPr>
          <a:r>
            <a:rPr lang="en-CA" sz="1500">
              <a:latin typeface="Montserrat" panose="00000500000000000000" pitchFamily="2" charset="0"/>
            </a:rPr>
            <a:t>Design</a:t>
          </a:r>
        </a:p>
      </dgm:t>
    </dgm:pt>
    <dgm:pt modelId="{858E2D0B-671B-4A49-A9B6-857121951E32}" type="parTrans" cxnId="{9CE649D5-649B-4C17-990C-1DB7FE2B5C0A}">
      <dgm:prSet/>
      <dgm:spPr/>
      <dgm:t>
        <a:bodyPr/>
        <a:lstStyle/>
        <a:p>
          <a:endParaRPr lang="en-CA" sz="1500"/>
        </a:p>
      </dgm:t>
    </dgm:pt>
    <dgm:pt modelId="{1247FDEF-AF84-44B9-A0D8-308291EB209E}" type="sibTrans" cxnId="{9CE649D5-649B-4C17-990C-1DB7FE2B5C0A}">
      <dgm:prSet/>
      <dgm:spPr/>
      <dgm:t>
        <a:bodyPr/>
        <a:lstStyle/>
        <a:p>
          <a:endParaRPr lang="en-CA" sz="1500"/>
        </a:p>
      </dgm:t>
    </dgm:pt>
    <dgm:pt modelId="{3444D504-6352-442D-85A4-0535EA64FB82}">
      <dgm:prSet custT="1"/>
      <dgm:spPr>
        <a:solidFill>
          <a:schemeClr val="bg1">
            <a:lumMod val="65000"/>
          </a:schemeClr>
        </a:solidFill>
      </dgm:spPr>
      <dgm:t>
        <a:bodyPr/>
        <a:lstStyle/>
        <a:p>
          <a:pPr>
            <a:buNone/>
          </a:pPr>
          <a:r>
            <a:rPr lang="en-CA" sz="1500" dirty="0">
              <a:latin typeface="Montserrat" panose="00000500000000000000" pitchFamily="2" charset="0"/>
            </a:rPr>
            <a:t>Implement</a:t>
          </a:r>
        </a:p>
      </dgm:t>
    </dgm:pt>
    <dgm:pt modelId="{7228737A-DFBC-42AC-A8D8-687FCFB344BA}" type="parTrans" cxnId="{5A629DD8-D8DD-4FF6-A595-AB71DA2540C9}">
      <dgm:prSet/>
      <dgm:spPr/>
      <dgm:t>
        <a:bodyPr/>
        <a:lstStyle/>
        <a:p>
          <a:endParaRPr lang="en-CA" sz="1500"/>
        </a:p>
      </dgm:t>
    </dgm:pt>
    <dgm:pt modelId="{636A4291-2B50-47E3-8DB2-153DD52834FA}" type="sibTrans" cxnId="{5A629DD8-D8DD-4FF6-A595-AB71DA2540C9}">
      <dgm:prSet/>
      <dgm:spPr/>
      <dgm:t>
        <a:bodyPr/>
        <a:lstStyle/>
        <a:p>
          <a:endParaRPr lang="en-CA" sz="1500"/>
        </a:p>
      </dgm:t>
    </dgm:pt>
    <dgm:pt modelId="{64EAD4B9-0C4F-4340-A1D4-3E9A89003281}">
      <dgm:prSet custT="1"/>
      <dgm:spPr>
        <a:solidFill>
          <a:srgbClr val="1BBFD1"/>
        </a:solidFill>
      </dgm:spPr>
      <dgm:t>
        <a:bodyPr/>
        <a:lstStyle/>
        <a:p>
          <a:pPr>
            <a:buNone/>
          </a:pPr>
          <a:r>
            <a:rPr lang="en-CA" sz="1500" dirty="0">
              <a:latin typeface="Montserrat" panose="00000500000000000000" pitchFamily="2" charset="0"/>
            </a:rPr>
            <a:t>Testing</a:t>
          </a:r>
        </a:p>
      </dgm:t>
    </dgm:pt>
    <dgm:pt modelId="{FB41FC6D-D6A3-4B3A-A988-9FF355CFBCD0}" type="parTrans" cxnId="{44BE86DB-F7BB-45CB-8AE8-912B38AE82B4}">
      <dgm:prSet/>
      <dgm:spPr/>
      <dgm:t>
        <a:bodyPr/>
        <a:lstStyle/>
        <a:p>
          <a:endParaRPr lang="en-CA" sz="1500"/>
        </a:p>
      </dgm:t>
    </dgm:pt>
    <dgm:pt modelId="{75832518-15BD-4425-9FE5-E8AFB606140F}" type="sibTrans" cxnId="{44BE86DB-F7BB-45CB-8AE8-912B38AE82B4}">
      <dgm:prSet/>
      <dgm:spPr/>
      <dgm:t>
        <a:bodyPr/>
        <a:lstStyle/>
        <a:p>
          <a:endParaRPr lang="en-CA" sz="1500"/>
        </a:p>
      </dgm:t>
    </dgm:pt>
    <dgm:pt modelId="{1A8C75BD-B5AB-4204-B588-3F3DD1E90C10}">
      <dgm:prSet custT="1"/>
      <dgm:spPr>
        <a:solidFill>
          <a:srgbClr val="0C1752"/>
        </a:solidFill>
      </dgm:spPr>
      <dgm:t>
        <a:bodyPr/>
        <a:lstStyle/>
        <a:p>
          <a:pPr>
            <a:buNone/>
          </a:pPr>
          <a:r>
            <a:rPr lang="en-CA" sz="1500" dirty="0">
              <a:latin typeface="Montserrat" panose="00000500000000000000" pitchFamily="2" charset="0"/>
            </a:rPr>
            <a:t>Deployment</a:t>
          </a:r>
        </a:p>
      </dgm:t>
    </dgm:pt>
    <dgm:pt modelId="{319EACD3-85F8-4346-84DE-C2DA6120E10F}" type="parTrans" cxnId="{DE3667A4-E576-4256-8232-9D566F37B4C6}">
      <dgm:prSet/>
      <dgm:spPr/>
      <dgm:t>
        <a:bodyPr/>
        <a:lstStyle/>
        <a:p>
          <a:endParaRPr lang="en-CA" sz="1500"/>
        </a:p>
      </dgm:t>
    </dgm:pt>
    <dgm:pt modelId="{06D09E33-0422-4B5A-9B47-658B7D233AF6}" type="sibTrans" cxnId="{DE3667A4-E576-4256-8232-9D566F37B4C6}">
      <dgm:prSet/>
      <dgm:spPr/>
      <dgm:t>
        <a:bodyPr/>
        <a:lstStyle/>
        <a:p>
          <a:endParaRPr lang="en-CA" sz="1500"/>
        </a:p>
      </dgm:t>
    </dgm:pt>
    <dgm:pt modelId="{99675605-FF7B-422B-9688-1C10BF816FDF}">
      <dgm:prSet custT="1"/>
      <dgm:spPr>
        <a:solidFill>
          <a:srgbClr val="D56E48"/>
        </a:solidFill>
      </dgm:spPr>
      <dgm:t>
        <a:bodyPr/>
        <a:lstStyle/>
        <a:p>
          <a:r>
            <a:rPr lang="en-CA" sz="1500" dirty="0">
              <a:latin typeface="Montserrat" panose="00000500000000000000" pitchFamily="2" charset="0"/>
            </a:rPr>
            <a:t>Maintenance</a:t>
          </a:r>
        </a:p>
      </dgm:t>
    </dgm:pt>
    <dgm:pt modelId="{B8F3B0D6-EFDA-4FDE-A9C8-DF2DE4B92A8C}" type="parTrans" cxnId="{B79F9CCE-8C0C-47D1-8583-6B4DDA4E99D1}">
      <dgm:prSet/>
      <dgm:spPr/>
      <dgm:t>
        <a:bodyPr/>
        <a:lstStyle/>
        <a:p>
          <a:endParaRPr lang="en-CA" sz="1500"/>
        </a:p>
      </dgm:t>
    </dgm:pt>
    <dgm:pt modelId="{E940F39C-9FA8-40F9-9E03-894F9CEC725E}" type="sibTrans" cxnId="{B79F9CCE-8C0C-47D1-8583-6B4DDA4E99D1}">
      <dgm:prSet/>
      <dgm:spPr/>
      <dgm:t>
        <a:bodyPr/>
        <a:lstStyle/>
        <a:p>
          <a:endParaRPr lang="en-CA" sz="1500"/>
        </a:p>
      </dgm:t>
    </dgm:pt>
    <dgm:pt modelId="{1EA61CE0-4843-429E-9206-6FB5ED619B90}" type="pres">
      <dgm:prSet presAssocID="{F23C8837-BFA9-4BCD-9517-5F08583B52FC}" presName="CompostProcess" presStyleCnt="0">
        <dgm:presLayoutVars>
          <dgm:dir/>
          <dgm:resizeHandles val="exact"/>
        </dgm:presLayoutVars>
      </dgm:prSet>
      <dgm:spPr/>
    </dgm:pt>
    <dgm:pt modelId="{E34FEE4C-39B7-4230-8785-F340F0ED036D}" type="pres">
      <dgm:prSet presAssocID="{F23C8837-BFA9-4BCD-9517-5F08583B52FC}" presName="arrow" presStyleLbl="bgShp" presStyleIdx="0" presStyleCnt="1"/>
      <dgm:spPr>
        <a:solidFill>
          <a:schemeClr val="bg1">
            <a:lumMod val="95000"/>
          </a:schemeClr>
        </a:solidFill>
      </dgm:spPr>
    </dgm:pt>
    <dgm:pt modelId="{19C609C0-FAD2-489D-870A-8F40B1A11219}" type="pres">
      <dgm:prSet presAssocID="{F23C8837-BFA9-4BCD-9517-5F08583B52FC}" presName="linearProcess" presStyleCnt="0"/>
      <dgm:spPr/>
    </dgm:pt>
    <dgm:pt modelId="{ED1442AE-F0CE-4C64-9629-EFE6350FCAFA}" type="pres">
      <dgm:prSet presAssocID="{E1C3B4BF-B140-4439-836D-1828D56B5A0E}" presName="textNode" presStyleLbl="node1" presStyleIdx="0" presStyleCnt="6">
        <dgm:presLayoutVars>
          <dgm:bulletEnabled val="1"/>
        </dgm:presLayoutVars>
      </dgm:prSet>
      <dgm:spPr/>
    </dgm:pt>
    <dgm:pt modelId="{5B801C44-E2E4-491C-9729-DF0AB8CE7B03}" type="pres">
      <dgm:prSet presAssocID="{9CC65909-FA21-44DC-8CD0-DEB883A7AA29}" presName="sibTrans" presStyleCnt="0"/>
      <dgm:spPr/>
    </dgm:pt>
    <dgm:pt modelId="{2D1B1E36-04BA-4C0D-9752-D41015028D54}" type="pres">
      <dgm:prSet presAssocID="{86638E07-5661-4CE5-A21A-6092524108C3}" presName="textNode" presStyleLbl="node1" presStyleIdx="1" presStyleCnt="6">
        <dgm:presLayoutVars>
          <dgm:bulletEnabled val="1"/>
        </dgm:presLayoutVars>
      </dgm:prSet>
      <dgm:spPr/>
    </dgm:pt>
    <dgm:pt modelId="{9B842673-E3CB-4080-A857-C71FF4B3AA48}" type="pres">
      <dgm:prSet presAssocID="{1247FDEF-AF84-44B9-A0D8-308291EB209E}" presName="sibTrans" presStyleCnt="0"/>
      <dgm:spPr/>
    </dgm:pt>
    <dgm:pt modelId="{DFA20CCC-06FD-4E1A-BEA7-7DA3F710250A}" type="pres">
      <dgm:prSet presAssocID="{3444D504-6352-442D-85A4-0535EA64FB82}" presName="textNode" presStyleLbl="node1" presStyleIdx="2" presStyleCnt="6">
        <dgm:presLayoutVars>
          <dgm:bulletEnabled val="1"/>
        </dgm:presLayoutVars>
      </dgm:prSet>
      <dgm:spPr/>
    </dgm:pt>
    <dgm:pt modelId="{19788897-92D6-48B7-B9A4-EDEDFD4048D9}" type="pres">
      <dgm:prSet presAssocID="{636A4291-2B50-47E3-8DB2-153DD52834FA}" presName="sibTrans" presStyleCnt="0"/>
      <dgm:spPr/>
    </dgm:pt>
    <dgm:pt modelId="{BDB81A61-0D33-4B02-BD9B-5FCF35A5CB6F}" type="pres">
      <dgm:prSet presAssocID="{64EAD4B9-0C4F-4340-A1D4-3E9A89003281}" presName="textNode" presStyleLbl="node1" presStyleIdx="3" presStyleCnt="6">
        <dgm:presLayoutVars>
          <dgm:bulletEnabled val="1"/>
        </dgm:presLayoutVars>
      </dgm:prSet>
      <dgm:spPr/>
    </dgm:pt>
    <dgm:pt modelId="{DF63B409-CD4D-4C37-9B82-C583A3FABB6D}" type="pres">
      <dgm:prSet presAssocID="{75832518-15BD-4425-9FE5-E8AFB606140F}" presName="sibTrans" presStyleCnt="0"/>
      <dgm:spPr/>
    </dgm:pt>
    <dgm:pt modelId="{5E40F5CA-F5CC-4F19-AACC-26749BE1E44B}" type="pres">
      <dgm:prSet presAssocID="{1A8C75BD-B5AB-4204-B588-3F3DD1E90C10}" presName="textNode" presStyleLbl="node1" presStyleIdx="4" presStyleCnt="6">
        <dgm:presLayoutVars>
          <dgm:bulletEnabled val="1"/>
        </dgm:presLayoutVars>
      </dgm:prSet>
      <dgm:spPr/>
    </dgm:pt>
    <dgm:pt modelId="{B69350BC-1763-4411-A66C-EF4B0DBAC50E}" type="pres">
      <dgm:prSet presAssocID="{06D09E33-0422-4B5A-9B47-658B7D233AF6}" presName="sibTrans" presStyleCnt="0"/>
      <dgm:spPr/>
    </dgm:pt>
    <dgm:pt modelId="{A952F637-AC9A-4CBC-A414-E372B899528C}" type="pres">
      <dgm:prSet presAssocID="{99675605-FF7B-422B-9688-1C10BF816FDF}" presName="textNode" presStyleLbl="node1" presStyleIdx="5" presStyleCnt="6">
        <dgm:presLayoutVars>
          <dgm:bulletEnabled val="1"/>
        </dgm:presLayoutVars>
      </dgm:prSet>
      <dgm:spPr/>
    </dgm:pt>
  </dgm:ptLst>
  <dgm:cxnLst>
    <dgm:cxn modelId="{28F11040-C69F-4F75-8DD4-6FBA2555755F}" type="presOf" srcId="{1A8C75BD-B5AB-4204-B588-3F3DD1E90C10}" destId="{5E40F5CA-F5CC-4F19-AACC-26749BE1E44B}" srcOrd="0" destOrd="0" presId="urn:microsoft.com/office/officeart/2005/8/layout/hProcess9"/>
    <dgm:cxn modelId="{1ABAA980-7FB4-4FEE-A883-7749FB390924}" type="presOf" srcId="{E1C3B4BF-B140-4439-836D-1828D56B5A0E}" destId="{ED1442AE-F0CE-4C64-9629-EFE6350FCAFA}" srcOrd="0" destOrd="0" presId="urn:microsoft.com/office/officeart/2005/8/layout/hProcess9"/>
    <dgm:cxn modelId="{CFFA2B90-5A68-44AF-82FD-49BFB0CA579D}" type="presOf" srcId="{F23C8837-BFA9-4BCD-9517-5F08583B52FC}" destId="{1EA61CE0-4843-429E-9206-6FB5ED619B90}" srcOrd="0" destOrd="0" presId="urn:microsoft.com/office/officeart/2005/8/layout/hProcess9"/>
    <dgm:cxn modelId="{B0CFA39A-8391-4465-B779-3B685396CC08}" type="presOf" srcId="{64EAD4B9-0C4F-4340-A1D4-3E9A89003281}" destId="{BDB81A61-0D33-4B02-BD9B-5FCF35A5CB6F}" srcOrd="0" destOrd="0" presId="urn:microsoft.com/office/officeart/2005/8/layout/hProcess9"/>
    <dgm:cxn modelId="{DE3667A4-E576-4256-8232-9D566F37B4C6}" srcId="{F23C8837-BFA9-4BCD-9517-5F08583B52FC}" destId="{1A8C75BD-B5AB-4204-B588-3F3DD1E90C10}" srcOrd="4" destOrd="0" parTransId="{319EACD3-85F8-4346-84DE-C2DA6120E10F}" sibTransId="{06D09E33-0422-4B5A-9B47-658B7D233AF6}"/>
    <dgm:cxn modelId="{B011C1AD-84F8-4164-BA86-BB339089DAFF}" type="presOf" srcId="{86638E07-5661-4CE5-A21A-6092524108C3}" destId="{2D1B1E36-04BA-4C0D-9752-D41015028D54}" srcOrd="0" destOrd="0" presId="urn:microsoft.com/office/officeart/2005/8/layout/hProcess9"/>
    <dgm:cxn modelId="{580913B1-8CAE-4337-8044-4121028136C7}" type="presOf" srcId="{99675605-FF7B-422B-9688-1C10BF816FDF}" destId="{A952F637-AC9A-4CBC-A414-E372B899528C}" srcOrd="0" destOrd="0" presId="urn:microsoft.com/office/officeart/2005/8/layout/hProcess9"/>
    <dgm:cxn modelId="{8747A7BB-A2F2-4941-A3AC-996430D9C883}" type="presOf" srcId="{3444D504-6352-442D-85A4-0535EA64FB82}" destId="{DFA20CCC-06FD-4E1A-BEA7-7DA3F710250A}" srcOrd="0" destOrd="0" presId="urn:microsoft.com/office/officeart/2005/8/layout/hProcess9"/>
    <dgm:cxn modelId="{B79F9CCE-8C0C-47D1-8583-6B4DDA4E99D1}" srcId="{F23C8837-BFA9-4BCD-9517-5F08583B52FC}" destId="{99675605-FF7B-422B-9688-1C10BF816FDF}" srcOrd="5" destOrd="0" parTransId="{B8F3B0D6-EFDA-4FDE-A9C8-DF2DE4B92A8C}" sibTransId="{E940F39C-9FA8-40F9-9E03-894F9CEC725E}"/>
    <dgm:cxn modelId="{9CE649D5-649B-4C17-990C-1DB7FE2B5C0A}" srcId="{F23C8837-BFA9-4BCD-9517-5F08583B52FC}" destId="{86638E07-5661-4CE5-A21A-6092524108C3}" srcOrd="1" destOrd="0" parTransId="{858E2D0B-671B-4A49-A9B6-857121951E32}" sibTransId="{1247FDEF-AF84-44B9-A0D8-308291EB209E}"/>
    <dgm:cxn modelId="{5A629DD8-D8DD-4FF6-A595-AB71DA2540C9}" srcId="{F23C8837-BFA9-4BCD-9517-5F08583B52FC}" destId="{3444D504-6352-442D-85A4-0535EA64FB82}" srcOrd="2" destOrd="0" parTransId="{7228737A-DFBC-42AC-A8D8-687FCFB344BA}" sibTransId="{636A4291-2B50-47E3-8DB2-153DD52834FA}"/>
    <dgm:cxn modelId="{44BE86DB-F7BB-45CB-8AE8-912B38AE82B4}" srcId="{F23C8837-BFA9-4BCD-9517-5F08583B52FC}" destId="{64EAD4B9-0C4F-4340-A1D4-3E9A89003281}" srcOrd="3" destOrd="0" parTransId="{FB41FC6D-D6A3-4B3A-A988-9FF355CFBCD0}" sibTransId="{75832518-15BD-4425-9FE5-E8AFB606140F}"/>
    <dgm:cxn modelId="{6ABE2BE9-5CCA-4E56-9692-5F34347E7557}" srcId="{F23C8837-BFA9-4BCD-9517-5F08583B52FC}" destId="{E1C3B4BF-B140-4439-836D-1828D56B5A0E}" srcOrd="0" destOrd="0" parTransId="{B0D0F1C0-3FA8-483D-8A10-F59DF175DF5F}" sibTransId="{9CC65909-FA21-44DC-8CD0-DEB883A7AA29}"/>
    <dgm:cxn modelId="{B7AD314F-C04A-4C8D-BD62-92E211BE7DFF}" type="presParOf" srcId="{1EA61CE0-4843-429E-9206-6FB5ED619B90}" destId="{E34FEE4C-39B7-4230-8785-F340F0ED036D}" srcOrd="0" destOrd="0" presId="urn:microsoft.com/office/officeart/2005/8/layout/hProcess9"/>
    <dgm:cxn modelId="{D91771B7-A6A2-40BB-87E4-F53864258C3D}" type="presParOf" srcId="{1EA61CE0-4843-429E-9206-6FB5ED619B90}" destId="{19C609C0-FAD2-489D-870A-8F40B1A11219}" srcOrd="1" destOrd="0" presId="urn:microsoft.com/office/officeart/2005/8/layout/hProcess9"/>
    <dgm:cxn modelId="{AF82B8A8-B38B-4227-ACD7-7AEC36036926}" type="presParOf" srcId="{19C609C0-FAD2-489D-870A-8F40B1A11219}" destId="{ED1442AE-F0CE-4C64-9629-EFE6350FCAFA}" srcOrd="0" destOrd="0" presId="urn:microsoft.com/office/officeart/2005/8/layout/hProcess9"/>
    <dgm:cxn modelId="{BA4F8E53-E89B-4A23-BD52-EF1F1EAA5FFB}" type="presParOf" srcId="{19C609C0-FAD2-489D-870A-8F40B1A11219}" destId="{5B801C44-E2E4-491C-9729-DF0AB8CE7B03}" srcOrd="1" destOrd="0" presId="urn:microsoft.com/office/officeart/2005/8/layout/hProcess9"/>
    <dgm:cxn modelId="{40E856D9-3FE2-412C-96D8-FD605703961A}" type="presParOf" srcId="{19C609C0-FAD2-489D-870A-8F40B1A11219}" destId="{2D1B1E36-04BA-4C0D-9752-D41015028D54}" srcOrd="2" destOrd="0" presId="urn:microsoft.com/office/officeart/2005/8/layout/hProcess9"/>
    <dgm:cxn modelId="{68257CA4-00F1-4DC5-A96F-1AB143AD32F2}" type="presParOf" srcId="{19C609C0-FAD2-489D-870A-8F40B1A11219}" destId="{9B842673-E3CB-4080-A857-C71FF4B3AA48}" srcOrd="3" destOrd="0" presId="urn:microsoft.com/office/officeart/2005/8/layout/hProcess9"/>
    <dgm:cxn modelId="{169E56AD-0929-4897-98ED-AD0AECF5F2F0}" type="presParOf" srcId="{19C609C0-FAD2-489D-870A-8F40B1A11219}" destId="{DFA20CCC-06FD-4E1A-BEA7-7DA3F710250A}" srcOrd="4" destOrd="0" presId="urn:microsoft.com/office/officeart/2005/8/layout/hProcess9"/>
    <dgm:cxn modelId="{A91AFF8B-FBFB-45C8-B01F-9AD2DC0365AD}" type="presParOf" srcId="{19C609C0-FAD2-489D-870A-8F40B1A11219}" destId="{19788897-92D6-48B7-B9A4-EDEDFD4048D9}" srcOrd="5" destOrd="0" presId="urn:microsoft.com/office/officeart/2005/8/layout/hProcess9"/>
    <dgm:cxn modelId="{300DB051-0097-4A57-9DD7-6D519B0E86C7}" type="presParOf" srcId="{19C609C0-FAD2-489D-870A-8F40B1A11219}" destId="{BDB81A61-0D33-4B02-BD9B-5FCF35A5CB6F}" srcOrd="6" destOrd="0" presId="urn:microsoft.com/office/officeart/2005/8/layout/hProcess9"/>
    <dgm:cxn modelId="{4E6EDB30-4931-4EC5-B765-8E80D068A318}" type="presParOf" srcId="{19C609C0-FAD2-489D-870A-8F40B1A11219}" destId="{DF63B409-CD4D-4C37-9B82-C583A3FABB6D}" srcOrd="7" destOrd="0" presId="urn:microsoft.com/office/officeart/2005/8/layout/hProcess9"/>
    <dgm:cxn modelId="{C5DC1DA8-7C52-4181-84BC-0F5536E39D42}" type="presParOf" srcId="{19C609C0-FAD2-489D-870A-8F40B1A11219}" destId="{5E40F5CA-F5CC-4F19-AACC-26749BE1E44B}" srcOrd="8" destOrd="0" presId="urn:microsoft.com/office/officeart/2005/8/layout/hProcess9"/>
    <dgm:cxn modelId="{B93616CD-F0DD-4FF9-B558-C946260ABA80}" type="presParOf" srcId="{19C609C0-FAD2-489D-870A-8F40B1A11219}" destId="{B69350BC-1763-4411-A66C-EF4B0DBAC50E}" srcOrd="9" destOrd="0" presId="urn:microsoft.com/office/officeart/2005/8/layout/hProcess9"/>
    <dgm:cxn modelId="{4896A50B-CCFF-448B-9F6A-E1A3F2B7B1C7}" type="presParOf" srcId="{19C609C0-FAD2-489D-870A-8F40B1A11219}" destId="{A952F637-AC9A-4CBC-A414-E372B899528C}" srcOrd="10"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CD1D24F-867D-4A7C-8B0B-FFF9C6A5F088}"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1CB65EB9-7E3C-4553-A316-89EDAF659BA1}">
      <dgm:prSet phldrT="[Text]" custT="1"/>
      <dgm:spPr>
        <a:solidFill>
          <a:srgbClr val="0C1752"/>
        </a:solidFill>
      </dgm:spPr>
      <dgm:t>
        <a:bodyPr/>
        <a:lstStyle/>
        <a:p>
          <a:r>
            <a:rPr lang="en-CA" sz="1700" b="1" dirty="0">
              <a:latin typeface="Montserrat" panose="00000500000000000000" pitchFamily="2" charset="0"/>
            </a:rPr>
            <a:t>A. CRISP-DM </a:t>
          </a:r>
        </a:p>
        <a:p>
          <a:r>
            <a:rPr lang="en-CA" sz="1700" dirty="0">
              <a:latin typeface="Montserrat" panose="00000500000000000000" pitchFamily="2" charset="0"/>
            </a:rPr>
            <a:t>A classic data science methodology </a:t>
          </a:r>
        </a:p>
        <a:p>
          <a:r>
            <a:rPr lang="en-CA" sz="1700" dirty="0">
              <a:latin typeface="Montserrat" panose="00000500000000000000" pitchFamily="2" charset="0"/>
            </a:rPr>
            <a:t>Business understanding → Data understanding → Data preparation → Modeling → Evaluation → Deployment. </a:t>
          </a:r>
        </a:p>
      </dgm:t>
    </dgm:pt>
    <dgm:pt modelId="{18E8BAF7-5538-4460-A46D-546DD9445D5C}" type="parTrans" cxnId="{ACF1E0C6-3E8F-4CF6-866C-4512F222738C}">
      <dgm:prSet/>
      <dgm:spPr/>
      <dgm:t>
        <a:bodyPr/>
        <a:lstStyle/>
        <a:p>
          <a:endParaRPr lang="en-CA" sz="1700"/>
        </a:p>
      </dgm:t>
    </dgm:pt>
    <dgm:pt modelId="{54896910-8323-41DB-99EB-B3013B3FDD26}" type="sibTrans" cxnId="{ACF1E0C6-3E8F-4CF6-866C-4512F222738C}">
      <dgm:prSet/>
      <dgm:spPr/>
      <dgm:t>
        <a:bodyPr/>
        <a:lstStyle/>
        <a:p>
          <a:endParaRPr lang="en-CA" sz="1700"/>
        </a:p>
      </dgm:t>
    </dgm:pt>
    <dgm:pt modelId="{F9ADAD80-BE14-4549-83F6-228EE567C1CF}">
      <dgm:prSet phldrT="[Text]" custT="1"/>
      <dgm:spPr>
        <a:solidFill>
          <a:srgbClr val="D56E48"/>
        </a:solidFill>
      </dgm:spPr>
      <dgm:t>
        <a:bodyPr/>
        <a:lstStyle/>
        <a:p>
          <a:r>
            <a:rPr lang="en-CA" sz="1700" b="1" dirty="0">
              <a:latin typeface="Montserrat" panose="00000500000000000000" pitchFamily="2" charset="0"/>
            </a:rPr>
            <a:t>B. Agile for AI </a:t>
          </a:r>
        </a:p>
        <a:p>
          <a:r>
            <a:rPr lang="en-CA" sz="1700" dirty="0">
              <a:latin typeface="Montserrat" panose="00000500000000000000" pitchFamily="2" charset="0"/>
            </a:rPr>
            <a:t>Modified Agile practices (e.g., sprints, stand-ups) tailored for iterative experimentation, rapid prototyping, and model tuning. Very common in AI/ML teams.</a:t>
          </a:r>
        </a:p>
      </dgm:t>
    </dgm:pt>
    <dgm:pt modelId="{E0BE2148-3E65-450B-BD64-7E793480574E}" type="parTrans" cxnId="{B80BFF1A-CE05-4A32-A222-2CE0746FD9C9}">
      <dgm:prSet/>
      <dgm:spPr/>
      <dgm:t>
        <a:bodyPr/>
        <a:lstStyle/>
        <a:p>
          <a:endParaRPr lang="en-CA" sz="1700"/>
        </a:p>
      </dgm:t>
    </dgm:pt>
    <dgm:pt modelId="{E9D27006-D543-4035-8672-2BE71B5E9142}" type="sibTrans" cxnId="{B80BFF1A-CE05-4A32-A222-2CE0746FD9C9}">
      <dgm:prSet/>
      <dgm:spPr/>
      <dgm:t>
        <a:bodyPr/>
        <a:lstStyle/>
        <a:p>
          <a:endParaRPr lang="en-CA" sz="1700"/>
        </a:p>
      </dgm:t>
    </dgm:pt>
    <dgm:pt modelId="{71FFBD58-917C-4508-91D2-0C0A8EAC5F8D}">
      <dgm:prSet phldrT="[Text]" custT="1"/>
      <dgm:spPr>
        <a:solidFill>
          <a:srgbClr val="1BBFD1"/>
        </a:solidFill>
      </dgm:spPr>
      <dgm:t>
        <a:bodyPr/>
        <a:lstStyle/>
        <a:p>
          <a:r>
            <a:rPr lang="en-CA" sz="1700" b="1" dirty="0">
              <a:latin typeface="Montserrat" panose="00000500000000000000" pitchFamily="2" charset="0"/>
            </a:rPr>
            <a:t>C. Hybrid Approaches</a:t>
          </a:r>
        </a:p>
        <a:p>
          <a:r>
            <a:rPr lang="en-CA" sz="1700" b="1" dirty="0">
              <a:latin typeface="Montserrat" panose="00000500000000000000" pitchFamily="2" charset="0"/>
            </a:rPr>
            <a:t> </a:t>
          </a:r>
          <a:r>
            <a:rPr lang="en-CA" sz="1700" dirty="0">
              <a:latin typeface="Montserrat" panose="00000500000000000000" pitchFamily="2" charset="0"/>
            </a:rPr>
            <a:t>Combining traditional project management with Agile and CRISP-DM to adapt to evolving data and model needs. Helps bridge business goals and technical execution.</a:t>
          </a:r>
        </a:p>
      </dgm:t>
    </dgm:pt>
    <dgm:pt modelId="{5A237B0F-3AF7-4C58-873B-B63B45B70B32}" type="parTrans" cxnId="{B4F36899-1C9B-446D-AE1F-6A3388ADA2EC}">
      <dgm:prSet/>
      <dgm:spPr/>
      <dgm:t>
        <a:bodyPr/>
        <a:lstStyle/>
        <a:p>
          <a:endParaRPr lang="en-CA" sz="1700"/>
        </a:p>
      </dgm:t>
    </dgm:pt>
    <dgm:pt modelId="{19B4C59F-FBD8-43A8-9951-A4A5DAD5C74F}" type="sibTrans" cxnId="{B4F36899-1C9B-446D-AE1F-6A3388ADA2EC}">
      <dgm:prSet/>
      <dgm:spPr/>
      <dgm:t>
        <a:bodyPr/>
        <a:lstStyle/>
        <a:p>
          <a:endParaRPr lang="en-CA" sz="1700"/>
        </a:p>
      </dgm:t>
    </dgm:pt>
    <dgm:pt modelId="{21A0A688-82B3-4748-B74C-8E44F93EBE7A}" type="pres">
      <dgm:prSet presAssocID="{DCD1D24F-867D-4A7C-8B0B-FFF9C6A5F088}" presName="diagram" presStyleCnt="0">
        <dgm:presLayoutVars>
          <dgm:dir/>
          <dgm:resizeHandles val="exact"/>
        </dgm:presLayoutVars>
      </dgm:prSet>
      <dgm:spPr/>
    </dgm:pt>
    <dgm:pt modelId="{5271EEBC-3E21-47B4-9F3B-8B52E78B9E85}" type="pres">
      <dgm:prSet presAssocID="{1CB65EB9-7E3C-4553-A316-89EDAF659BA1}" presName="node" presStyleLbl="node1" presStyleIdx="0" presStyleCnt="3">
        <dgm:presLayoutVars>
          <dgm:bulletEnabled val="1"/>
        </dgm:presLayoutVars>
      </dgm:prSet>
      <dgm:spPr/>
    </dgm:pt>
    <dgm:pt modelId="{FF19D5CA-8F16-4985-B2C0-1155E5EFDD20}" type="pres">
      <dgm:prSet presAssocID="{54896910-8323-41DB-99EB-B3013B3FDD26}" presName="sibTrans" presStyleCnt="0"/>
      <dgm:spPr/>
    </dgm:pt>
    <dgm:pt modelId="{0634ABF7-4ABD-4418-A519-EF1EACC30BB1}" type="pres">
      <dgm:prSet presAssocID="{F9ADAD80-BE14-4549-83F6-228EE567C1CF}" presName="node" presStyleLbl="node1" presStyleIdx="1" presStyleCnt="3">
        <dgm:presLayoutVars>
          <dgm:bulletEnabled val="1"/>
        </dgm:presLayoutVars>
      </dgm:prSet>
      <dgm:spPr/>
    </dgm:pt>
    <dgm:pt modelId="{F750408E-35CB-43FD-9E68-72CD469806B3}" type="pres">
      <dgm:prSet presAssocID="{E9D27006-D543-4035-8672-2BE71B5E9142}" presName="sibTrans" presStyleCnt="0"/>
      <dgm:spPr/>
    </dgm:pt>
    <dgm:pt modelId="{9E1E2A3A-92B3-4275-8A22-ED8BEEE5B602}" type="pres">
      <dgm:prSet presAssocID="{71FFBD58-917C-4508-91D2-0C0A8EAC5F8D}" presName="node" presStyleLbl="node1" presStyleIdx="2" presStyleCnt="3">
        <dgm:presLayoutVars>
          <dgm:bulletEnabled val="1"/>
        </dgm:presLayoutVars>
      </dgm:prSet>
      <dgm:spPr/>
    </dgm:pt>
  </dgm:ptLst>
  <dgm:cxnLst>
    <dgm:cxn modelId="{125FA112-BCA6-4786-86C3-B46CAA123201}" type="presOf" srcId="{F9ADAD80-BE14-4549-83F6-228EE567C1CF}" destId="{0634ABF7-4ABD-4418-A519-EF1EACC30BB1}" srcOrd="0" destOrd="0" presId="urn:microsoft.com/office/officeart/2005/8/layout/default"/>
    <dgm:cxn modelId="{FE89AB18-04D6-483A-B583-841F2491D8DD}" type="presOf" srcId="{1CB65EB9-7E3C-4553-A316-89EDAF659BA1}" destId="{5271EEBC-3E21-47B4-9F3B-8B52E78B9E85}" srcOrd="0" destOrd="0" presId="urn:microsoft.com/office/officeart/2005/8/layout/default"/>
    <dgm:cxn modelId="{B80BFF1A-CE05-4A32-A222-2CE0746FD9C9}" srcId="{DCD1D24F-867D-4A7C-8B0B-FFF9C6A5F088}" destId="{F9ADAD80-BE14-4549-83F6-228EE567C1CF}" srcOrd="1" destOrd="0" parTransId="{E0BE2148-3E65-450B-BD64-7E793480574E}" sibTransId="{E9D27006-D543-4035-8672-2BE71B5E9142}"/>
    <dgm:cxn modelId="{EEB3FC81-665F-4422-B87E-3D35DBCFC57B}" type="presOf" srcId="{DCD1D24F-867D-4A7C-8B0B-FFF9C6A5F088}" destId="{21A0A688-82B3-4748-B74C-8E44F93EBE7A}" srcOrd="0" destOrd="0" presId="urn:microsoft.com/office/officeart/2005/8/layout/default"/>
    <dgm:cxn modelId="{AF737C91-2911-4D8D-9A4F-FF5D82E028D7}" type="presOf" srcId="{71FFBD58-917C-4508-91D2-0C0A8EAC5F8D}" destId="{9E1E2A3A-92B3-4275-8A22-ED8BEEE5B602}" srcOrd="0" destOrd="0" presId="urn:microsoft.com/office/officeart/2005/8/layout/default"/>
    <dgm:cxn modelId="{B4F36899-1C9B-446D-AE1F-6A3388ADA2EC}" srcId="{DCD1D24F-867D-4A7C-8B0B-FFF9C6A5F088}" destId="{71FFBD58-917C-4508-91D2-0C0A8EAC5F8D}" srcOrd="2" destOrd="0" parTransId="{5A237B0F-3AF7-4C58-873B-B63B45B70B32}" sibTransId="{19B4C59F-FBD8-43A8-9951-A4A5DAD5C74F}"/>
    <dgm:cxn modelId="{ACF1E0C6-3E8F-4CF6-866C-4512F222738C}" srcId="{DCD1D24F-867D-4A7C-8B0B-FFF9C6A5F088}" destId="{1CB65EB9-7E3C-4553-A316-89EDAF659BA1}" srcOrd="0" destOrd="0" parTransId="{18E8BAF7-5538-4460-A46D-546DD9445D5C}" sibTransId="{54896910-8323-41DB-99EB-B3013B3FDD26}"/>
    <dgm:cxn modelId="{840CBFD6-88CE-41DE-8851-F536CF0784BC}" type="presParOf" srcId="{21A0A688-82B3-4748-B74C-8E44F93EBE7A}" destId="{5271EEBC-3E21-47B4-9F3B-8B52E78B9E85}" srcOrd="0" destOrd="0" presId="urn:microsoft.com/office/officeart/2005/8/layout/default"/>
    <dgm:cxn modelId="{7EB61147-9936-463D-B937-3DBCA4976671}" type="presParOf" srcId="{21A0A688-82B3-4748-B74C-8E44F93EBE7A}" destId="{FF19D5CA-8F16-4985-B2C0-1155E5EFDD20}" srcOrd="1" destOrd="0" presId="urn:microsoft.com/office/officeart/2005/8/layout/default"/>
    <dgm:cxn modelId="{920B6BC7-8F9C-4A62-8DB0-47D82EE81849}" type="presParOf" srcId="{21A0A688-82B3-4748-B74C-8E44F93EBE7A}" destId="{0634ABF7-4ABD-4418-A519-EF1EACC30BB1}" srcOrd="2" destOrd="0" presId="urn:microsoft.com/office/officeart/2005/8/layout/default"/>
    <dgm:cxn modelId="{DE2D2F93-A9D9-49C3-9365-BB15DA3DC100}" type="presParOf" srcId="{21A0A688-82B3-4748-B74C-8E44F93EBE7A}" destId="{F750408E-35CB-43FD-9E68-72CD469806B3}" srcOrd="3" destOrd="0" presId="urn:microsoft.com/office/officeart/2005/8/layout/default"/>
    <dgm:cxn modelId="{D048F645-7B10-441B-9899-82138E24B9D5}" type="presParOf" srcId="{21A0A688-82B3-4748-B74C-8E44F93EBE7A}" destId="{9E1E2A3A-92B3-4275-8A22-ED8BEEE5B602}" srcOrd="4"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327E1DA-5653-448A-A7C6-319B1BEDA6C1}"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0DC63839-9AD6-4EBD-99EF-67E1AA0B3D33}">
      <dgm:prSet phldrT="[Text]"/>
      <dgm:spPr>
        <a:solidFill>
          <a:srgbClr val="0C1752"/>
        </a:solidFill>
      </dgm:spPr>
      <dgm:t>
        <a:bodyPr/>
        <a:lstStyle/>
        <a:p>
          <a:pPr>
            <a:buNone/>
          </a:pPr>
          <a:r>
            <a:rPr lang="en-US" b="1" dirty="0">
              <a:latin typeface="Montserrat" panose="00000500000000000000" pitchFamily="2" charset="0"/>
            </a:rPr>
            <a:t>Short, iterative sprints</a:t>
          </a:r>
          <a:r>
            <a:rPr lang="en-US" dirty="0">
              <a:latin typeface="Montserrat" panose="00000500000000000000" pitchFamily="2" charset="0"/>
            </a:rPr>
            <a:t> to develop, test, and refine models.</a:t>
          </a:r>
          <a:endParaRPr lang="en-CA" dirty="0">
            <a:latin typeface="Montserrat" panose="00000500000000000000" pitchFamily="2" charset="0"/>
          </a:endParaRPr>
        </a:p>
      </dgm:t>
    </dgm:pt>
    <dgm:pt modelId="{EE927F6F-A742-4390-96CA-03F69592348E}" type="parTrans" cxnId="{9DFB5CDD-DCB4-4066-A1BE-F373CA641524}">
      <dgm:prSet/>
      <dgm:spPr/>
      <dgm:t>
        <a:bodyPr/>
        <a:lstStyle/>
        <a:p>
          <a:endParaRPr lang="en-CA">
            <a:latin typeface="Montserrat" panose="00000500000000000000" pitchFamily="2" charset="0"/>
          </a:endParaRPr>
        </a:p>
      </dgm:t>
    </dgm:pt>
    <dgm:pt modelId="{7159A05C-98F9-464D-A3F9-DA567E992B7D}" type="sibTrans" cxnId="{9DFB5CDD-DCB4-4066-A1BE-F373CA641524}">
      <dgm:prSet/>
      <dgm:spPr/>
      <dgm:t>
        <a:bodyPr/>
        <a:lstStyle/>
        <a:p>
          <a:endParaRPr lang="en-CA">
            <a:latin typeface="Montserrat" panose="00000500000000000000" pitchFamily="2" charset="0"/>
          </a:endParaRPr>
        </a:p>
      </dgm:t>
    </dgm:pt>
    <dgm:pt modelId="{59A4F81D-6611-4060-8A60-D6E9AD56EA0A}">
      <dgm:prSet/>
      <dgm:spPr>
        <a:solidFill>
          <a:srgbClr val="1BBFD1"/>
        </a:solidFill>
      </dgm:spPr>
      <dgm:t>
        <a:bodyPr/>
        <a:lstStyle/>
        <a:p>
          <a:pPr>
            <a:buNone/>
          </a:pPr>
          <a:r>
            <a:rPr lang="en-US" b="1">
              <a:latin typeface="Montserrat" panose="00000500000000000000" pitchFamily="2" charset="0"/>
            </a:rPr>
            <a:t>Continuous collaboration</a:t>
          </a:r>
          <a:r>
            <a:rPr lang="en-US">
              <a:latin typeface="Montserrat" panose="00000500000000000000" pitchFamily="2" charset="0"/>
            </a:rPr>
            <a:t> between data scientists, engineers, and business teams.</a:t>
          </a:r>
        </a:p>
      </dgm:t>
    </dgm:pt>
    <dgm:pt modelId="{03343A24-421E-4D37-9B76-5E21CB4D333F}" type="parTrans" cxnId="{9186A58C-ED9E-44DF-B8F9-93B68701C8B2}">
      <dgm:prSet/>
      <dgm:spPr/>
      <dgm:t>
        <a:bodyPr/>
        <a:lstStyle/>
        <a:p>
          <a:endParaRPr lang="en-CA">
            <a:latin typeface="Montserrat" panose="00000500000000000000" pitchFamily="2" charset="0"/>
          </a:endParaRPr>
        </a:p>
      </dgm:t>
    </dgm:pt>
    <dgm:pt modelId="{4A219B15-C8B9-4202-BB94-65289F26FBE8}" type="sibTrans" cxnId="{9186A58C-ED9E-44DF-B8F9-93B68701C8B2}">
      <dgm:prSet/>
      <dgm:spPr/>
      <dgm:t>
        <a:bodyPr/>
        <a:lstStyle/>
        <a:p>
          <a:endParaRPr lang="en-CA">
            <a:latin typeface="Montserrat" panose="00000500000000000000" pitchFamily="2" charset="0"/>
          </a:endParaRPr>
        </a:p>
      </dgm:t>
    </dgm:pt>
    <dgm:pt modelId="{07973657-59E5-4795-9339-8FD85BB642C1}">
      <dgm:prSet/>
      <dgm:spPr>
        <a:solidFill>
          <a:srgbClr val="D56E48"/>
        </a:solidFill>
      </dgm:spPr>
      <dgm:t>
        <a:bodyPr/>
        <a:lstStyle/>
        <a:p>
          <a:pPr>
            <a:buNone/>
          </a:pPr>
          <a:r>
            <a:rPr lang="en-US" b="1">
              <a:latin typeface="Montserrat" panose="00000500000000000000" pitchFamily="2" charset="0"/>
            </a:rPr>
            <a:t>Fast feedback loops</a:t>
          </a:r>
          <a:r>
            <a:rPr lang="en-US">
              <a:latin typeface="Montserrat" panose="00000500000000000000" pitchFamily="2" charset="0"/>
            </a:rPr>
            <a:t> to validate models early and improve performance over time.</a:t>
          </a:r>
        </a:p>
      </dgm:t>
    </dgm:pt>
    <dgm:pt modelId="{A81543F0-8882-4AB4-83D0-3B13BBB2DC98}" type="parTrans" cxnId="{492E8DE3-B372-4A39-B0FD-8D1220951914}">
      <dgm:prSet/>
      <dgm:spPr/>
      <dgm:t>
        <a:bodyPr/>
        <a:lstStyle/>
        <a:p>
          <a:endParaRPr lang="en-CA">
            <a:latin typeface="Montserrat" panose="00000500000000000000" pitchFamily="2" charset="0"/>
          </a:endParaRPr>
        </a:p>
      </dgm:t>
    </dgm:pt>
    <dgm:pt modelId="{1AD435DE-2586-441E-AE31-9A79E25F0EE8}" type="sibTrans" cxnId="{492E8DE3-B372-4A39-B0FD-8D1220951914}">
      <dgm:prSet/>
      <dgm:spPr/>
      <dgm:t>
        <a:bodyPr/>
        <a:lstStyle/>
        <a:p>
          <a:endParaRPr lang="en-CA">
            <a:latin typeface="Montserrat" panose="00000500000000000000" pitchFamily="2" charset="0"/>
          </a:endParaRPr>
        </a:p>
      </dgm:t>
    </dgm:pt>
    <dgm:pt modelId="{77592DFC-216C-416F-B1F6-76856BED262D}">
      <dgm:prSet/>
      <dgm:spPr>
        <a:solidFill>
          <a:schemeClr val="bg1">
            <a:lumMod val="65000"/>
          </a:schemeClr>
        </a:solidFill>
      </dgm:spPr>
      <dgm:t>
        <a:bodyPr/>
        <a:lstStyle/>
        <a:p>
          <a:r>
            <a:rPr lang="en-US" b="1">
              <a:latin typeface="Montserrat" panose="00000500000000000000" pitchFamily="2" charset="0"/>
            </a:rPr>
            <a:t>Flexibility</a:t>
          </a:r>
          <a:r>
            <a:rPr lang="en-US">
              <a:latin typeface="Montserrat" panose="00000500000000000000" pitchFamily="2" charset="0"/>
            </a:rPr>
            <a:t> to adjust the approach as new data or challenges emerge.</a:t>
          </a:r>
        </a:p>
      </dgm:t>
    </dgm:pt>
    <dgm:pt modelId="{4E853ECA-E982-4DFF-BCE1-E3768ABE38B5}" type="parTrans" cxnId="{AB1607DC-FB83-41E8-A6BA-C7B6A9638C02}">
      <dgm:prSet/>
      <dgm:spPr/>
      <dgm:t>
        <a:bodyPr/>
        <a:lstStyle/>
        <a:p>
          <a:endParaRPr lang="en-CA">
            <a:latin typeface="Montserrat" panose="00000500000000000000" pitchFamily="2" charset="0"/>
          </a:endParaRPr>
        </a:p>
      </dgm:t>
    </dgm:pt>
    <dgm:pt modelId="{2A4BE5EC-D256-44B1-B849-51579F0BE63C}" type="sibTrans" cxnId="{AB1607DC-FB83-41E8-A6BA-C7B6A9638C02}">
      <dgm:prSet/>
      <dgm:spPr/>
      <dgm:t>
        <a:bodyPr/>
        <a:lstStyle/>
        <a:p>
          <a:endParaRPr lang="en-CA">
            <a:latin typeface="Montserrat" panose="00000500000000000000" pitchFamily="2" charset="0"/>
          </a:endParaRPr>
        </a:p>
      </dgm:t>
    </dgm:pt>
    <dgm:pt modelId="{DB6FF71A-B63C-480C-BE02-2F9833B61874}" type="pres">
      <dgm:prSet presAssocID="{6327E1DA-5653-448A-A7C6-319B1BEDA6C1}" presName="diagram" presStyleCnt="0">
        <dgm:presLayoutVars>
          <dgm:dir/>
          <dgm:resizeHandles val="exact"/>
        </dgm:presLayoutVars>
      </dgm:prSet>
      <dgm:spPr/>
    </dgm:pt>
    <dgm:pt modelId="{AEA21C6F-AD18-47E9-B182-89C2240033E9}" type="pres">
      <dgm:prSet presAssocID="{0DC63839-9AD6-4EBD-99EF-67E1AA0B3D33}" presName="node" presStyleLbl="node1" presStyleIdx="0" presStyleCnt="4">
        <dgm:presLayoutVars>
          <dgm:bulletEnabled val="1"/>
        </dgm:presLayoutVars>
      </dgm:prSet>
      <dgm:spPr/>
    </dgm:pt>
    <dgm:pt modelId="{8756CEBA-A9C0-4B31-821D-234BB44DC2BF}" type="pres">
      <dgm:prSet presAssocID="{7159A05C-98F9-464D-A3F9-DA567E992B7D}" presName="sibTrans" presStyleCnt="0"/>
      <dgm:spPr/>
    </dgm:pt>
    <dgm:pt modelId="{C03CD6A3-BA67-4F9D-9D34-E0111BFC5B76}" type="pres">
      <dgm:prSet presAssocID="{59A4F81D-6611-4060-8A60-D6E9AD56EA0A}" presName="node" presStyleLbl="node1" presStyleIdx="1" presStyleCnt="4">
        <dgm:presLayoutVars>
          <dgm:bulletEnabled val="1"/>
        </dgm:presLayoutVars>
      </dgm:prSet>
      <dgm:spPr/>
    </dgm:pt>
    <dgm:pt modelId="{50C6CEE0-72BA-47D9-9A56-660D4C19FA57}" type="pres">
      <dgm:prSet presAssocID="{4A219B15-C8B9-4202-BB94-65289F26FBE8}" presName="sibTrans" presStyleCnt="0"/>
      <dgm:spPr/>
    </dgm:pt>
    <dgm:pt modelId="{33228EF3-B22D-463C-9C13-B19354D93FC7}" type="pres">
      <dgm:prSet presAssocID="{07973657-59E5-4795-9339-8FD85BB642C1}" presName="node" presStyleLbl="node1" presStyleIdx="2" presStyleCnt="4">
        <dgm:presLayoutVars>
          <dgm:bulletEnabled val="1"/>
        </dgm:presLayoutVars>
      </dgm:prSet>
      <dgm:spPr/>
    </dgm:pt>
    <dgm:pt modelId="{ECBDCC06-EA02-47FF-8748-CE21A3774B01}" type="pres">
      <dgm:prSet presAssocID="{1AD435DE-2586-441E-AE31-9A79E25F0EE8}" presName="sibTrans" presStyleCnt="0"/>
      <dgm:spPr/>
    </dgm:pt>
    <dgm:pt modelId="{A818783E-CCD5-4237-9B9A-A28CD1E727D9}" type="pres">
      <dgm:prSet presAssocID="{77592DFC-216C-416F-B1F6-76856BED262D}" presName="node" presStyleLbl="node1" presStyleIdx="3" presStyleCnt="4">
        <dgm:presLayoutVars>
          <dgm:bulletEnabled val="1"/>
        </dgm:presLayoutVars>
      </dgm:prSet>
      <dgm:spPr/>
    </dgm:pt>
  </dgm:ptLst>
  <dgm:cxnLst>
    <dgm:cxn modelId="{37E2820C-4F46-419E-95BD-EDEB60C2A73E}" type="presOf" srcId="{0DC63839-9AD6-4EBD-99EF-67E1AA0B3D33}" destId="{AEA21C6F-AD18-47E9-B182-89C2240033E9}" srcOrd="0" destOrd="0" presId="urn:microsoft.com/office/officeart/2005/8/layout/default"/>
    <dgm:cxn modelId="{F644411A-A366-4ED5-86FE-79305ED9103D}" type="presOf" srcId="{6327E1DA-5653-448A-A7C6-319B1BEDA6C1}" destId="{DB6FF71A-B63C-480C-BE02-2F9833B61874}" srcOrd="0" destOrd="0" presId="urn:microsoft.com/office/officeart/2005/8/layout/default"/>
    <dgm:cxn modelId="{EDF16444-0CB7-4A6E-AF6F-6FEE3587FA0E}" type="presOf" srcId="{07973657-59E5-4795-9339-8FD85BB642C1}" destId="{33228EF3-B22D-463C-9C13-B19354D93FC7}" srcOrd="0" destOrd="0" presId="urn:microsoft.com/office/officeart/2005/8/layout/default"/>
    <dgm:cxn modelId="{9186A58C-ED9E-44DF-B8F9-93B68701C8B2}" srcId="{6327E1DA-5653-448A-A7C6-319B1BEDA6C1}" destId="{59A4F81D-6611-4060-8A60-D6E9AD56EA0A}" srcOrd="1" destOrd="0" parTransId="{03343A24-421E-4D37-9B76-5E21CB4D333F}" sibTransId="{4A219B15-C8B9-4202-BB94-65289F26FBE8}"/>
    <dgm:cxn modelId="{CA9ACA99-D0B3-4038-BE0A-803013AC1F13}" type="presOf" srcId="{59A4F81D-6611-4060-8A60-D6E9AD56EA0A}" destId="{C03CD6A3-BA67-4F9D-9D34-E0111BFC5B76}" srcOrd="0" destOrd="0" presId="urn:microsoft.com/office/officeart/2005/8/layout/default"/>
    <dgm:cxn modelId="{204F0BD7-3704-41CD-9B45-95D338423527}" type="presOf" srcId="{77592DFC-216C-416F-B1F6-76856BED262D}" destId="{A818783E-CCD5-4237-9B9A-A28CD1E727D9}" srcOrd="0" destOrd="0" presId="urn:microsoft.com/office/officeart/2005/8/layout/default"/>
    <dgm:cxn modelId="{AB1607DC-FB83-41E8-A6BA-C7B6A9638C02}" srcId="{6327E1DA-5653-448A-A7C6-319B1BEDA6C1}" destId="{77592DFC-216C-416F-B1F6-76856BED262D}" srcOrd="3" destOrd="0" parTransId="{4E853ECA-E982-4DFF-BCE1-E3768ABE38B5}" sibTransId="{2A4BE5EC-D256-44B1-B849-51579F0BE63C}"/>
    <dgm:cxn modelId="{9DFB5CDD-DCB4-4066-A1BE-F373CA641524}" srcId="{6327E1DA-5653-448A-A7C6-319B1BEDA6C1}" destId="{0DC63839-9AD6-4EBD-99EF-67E1AA0B3D33}" srcOrd="0" destOrd="0" parTransId="{EE927F6F-A742-4390-96CA-03F69592348E}" sibTransId="{7159A05C-98F9-464D-A3F9-DA567E992B7D}"/>
    <dgm:cxn modelId="{492E8DE3-B372-4A39-B0FD-8D1220951914}" srcId="{6327E1DA-5653-448A-A7C6-319B1BEDA6C1}" destId="{07973657-59E5-4795-9339-8FD85BB642C1}" srcOrd="2" destOrd="0" parTransId="{A81543F0-8882-4AB4-83D0-3B13BBB2DC98}" sibTransId="{1AD435DE-2586-441E-AE31-9A79E25F0EE8}"/>
    <dgm:cxn modelId="{575CCB0E-D52D-4FC9-8610-72B311908AA0}" type="presParOf" srcId="{DB6FF71A-B63C-480C-BE02-2F9833B61874}" destId="{AEA21C6F-AD18-47E9-B182-89C2240033E9}" srcOrd="0" destOrd="0" presId="urn:microsoft.com/office/officeart/2005/8/layout/default"/>
    <dgm:cxn modelId="{7652B944-A32F-44D5-937A-1F03D46B6FF5}" type="presParOf" srcId="{DB6FF71A-B63C-480C-BE02-2F9833B61874}" destId="{8756CEBA-A9C0-4B31-821D-234BB44DC2BF}" srcOrd="1" destOrd="0" presId="urn:microsoft.com/office/officeart/2005/8/layout/default"/>
    <dgm:cxn modelId="{966D3D5B-9A3C-4B8D-AD6E-FA7B0C4CCE96}" type="presParOf" srcId="{DB6FF71A-B63C-480C-BE02-2F9833B61874}" destId="{C03CD6A3-BA67-4F9D-9D34-E0111BFC5B76}" srcOrd="2" destOrd="0" presId="urn:microsoft.com/office/officeart/2005/8/layout/default"/>
    <dgm:cxn modelId="{27C51C50-AF0F-487E-B9E0-BE305D0023FC}" type="presParOf" srcId="{DB6FF71A-B63C-480C-BE02-2F9833B61874}" destId="{50C6CEE0-72BA-47D9-9A56-660D4C19FA57}" srcOrd="3" destOrd="0" presId="urn:microsoft.com/office/officeart/2005/8/layout/default"/>
    <dgm:cxn modelId="{54455225-1BAC-4C4C-9105-5323A27BCCD6}" type="presParOf" srcId="{DB6FF71A-B63C-480C-BE02-2F9833B61874}" destId="{33228EF3-B22D-463C-9C13-B19354D93FC7}" srcOrd="4" destOrd="0" presId="urn:microsoft.com/office/officeart/2005/8/layout/default"/>
    <dgm:cxn modelId="{1640B2A0-03EC-4A6A-8254-5BD94515FBB7}" type="presParOf" srcId="{DB6FF71A-B63C-480C-BE02-2F9833B61874}" destId="{ECBDCC06-EA02-47FF-8748-CE21A3774B01}" srcOrd="5" destOrd="0" presId="urn:microsoft.com/office/officeart/2005/8/layout/default"/>
    <dgm:cxn modelId="{C3779D0C-6E09-42F4-BACC-A352E6EFFE10}" type="presParOf" srcId="{DB6FF71A-B63C-480C-BE02-2F9833B61874}" destId="{A818783E-CCD5-4237-9B9A-A28CD1E727D9}" srcOrd="6"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D124981-62FD-41E1-A541-492C8FDA6D48}"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0B0B5603-F311-47C8-9E8E-64633FDD673E}">
      <dgm:prSet phldrT="[Text]" custT="1"/>
      <dgm:spPr>
        <a:solidFill>
          <a:srgbClr val="0C1752"/>
        </a:solidFill>
      </dgm:spPr>
      <dgm:t>
        <a:bodyPr/>
        <a:lstStyle/>
        <a:p>
          <a:pPr>
            <a:buNone/>
          </a:pPr>
          <a:r>
            <a:rPr lang="en-US" sz="1400" b="1" dirty="0">
              <a:latin typeface="Montserrat" panose="00000500000000000000" pitchFamily="2" charset="0"/>
            </a:rPr>
            <a:t>Alignment: </a:t>
          </a:r>
          <a:r>
            <a:rPr lang="en-US" sz="1400" dirty="0">
              <a:latin typeface="Montserrat" panose="00000500000000000000" pitchFamily="2" charset="0"/>
            </a:rPr>
            <a:t>Ensures all teams are working toward common strategic goals.</a:t>
          </a:r>
          <a:endParaRPr lang="en-CA" sz="1400" dirty="0">
            <a:latin typeface="Montserrat" panose="00000500000000000000" pitchFamily="2" charset="0"/>
          </a:endParaRPr>
        </a:p>
      </dgm:t>
    </dgm:pt>
    <dgm:pt modelId="{CFC48AD6-8314-4FF0-AAC8-440ADE9C865B}" type="parTrans" cxnId="{3508FD8C-3521-4D15-BB7F-48F7126AD414}">
      <dgm:prSet/>
      <dgm:spPr/>
      <dgm:t>
        <a:bodyPr/>
        <a:lstStyle/>
        <a:p>
          <a:endParaRPr lang="en-CA" sz="1400">
            <a:latin typeface="Montserrat" panose="00000500000000000000" pitchFamily="2" charset="0"/>
          </a:endParaRPr>
        </a:p>
      </dgm:t>
    </dgm:pt>
    <dgm:pt modelId="{4E2D1D55-453C-439B-9397-572F55CE5C86}" type="sibTrans" cxnId="{3508FD8C-3521-4D15-BB7F-48F7126AD414}">
      <dgm:prSet/>
      <dgm:spPr/>
      <dgm:t>
        <a:bodyPr/>
        <a:lstStyle/>
        <a:p>
          <a:endParaRPr lang="en-CA" sz="1400">
            <a:latin typeface="Montserrat" panose="00000500000000000000" pitchFamily="2" charset="0"/>
          </a:endParaRPr>
        </a:p>
      </dgm:t>
    </dgm:pt>
    <dgm:pt modelId="{0EF2BB20-B172-4E97-B5BC-02EDA72C470D}">
      <dgm:prSet custT="1"/>
      <dgm:spPr>
        <a:solidFill>
          <a:srgbClr val="D56E48"/>
        </a:solidFill>
      </dgm:spPr>
      <dgm:t>
        <a:bodyPr/>
        <a:lstStyle/>
        <a:p>
          <a:pPr>
            <a:buNone/>
          </a:pPr>
          <a:r>
            <a:rPr lang="en-US" sz="1400" b="1" dirty="0">
              <a:latin typeface="Montserrat" panose="00000500000000000000" pitchFamily="2" charset="0"/>
            </a:rPr>
            <a:t>Faster Time-to-Market: </a:t>
          </a:r>
          <a:r>
            <a:rPr lang="en-US" sz="1400" dirty="0">
              <a:latin typeface="Montserrat" panose="00000500000000000000" pitchFamily="2" charset="0"/>
            </a:rPr>
            <a:t> Accelerates delivery of value through synchronized planning and execution.</a:t>
          </a:r>
        </a:p>
      </dgm:t>
    </dgm:pt>
    <dgm:pt modelId="{1E07063D-4529-4886-A423-8AC2EF00D181}" type="parTrans" cxnId="{754BDA5D-37D4-40EE-A8A4-9E649D4AC89B}">
      <dgm:prSet/>
      <dgm:spPr/>
      <dgm:t>
        <a:bodyPr/>
        <a:lstStyle/>
        <a:p>
          <a:endParaRPr lang="en-CA" sz="1400">
            <a:latin typeface="Montserrat" panose="00000500000000000000" pitchFamily="2" charset="0"/>
          </a:endParaRPr>
        </a:p>
      </dgm:t>
    </dgm:pt>
    <dgm:pt modelId="{3EDC8483-215D-418A-8B90-CC0F3497F5A3}" type="sibTrans" cxnId="{754BDA5D-37D4-40EE-A8A4-9E649D4AC89B}">
      <dgm:prSet/>
      <dgm:spPr/>
      <dgm:t>
        <a:bodyPr/>
        <a:lstStyle/>
        <a:p>
          <a:endParaRPr lang="en-CA" sz="1400">
            <a:latin typeface="Montserrat" panose="00000500000000000000" pitchFamily="2" charset="0"/>
          </a:endParaRPr>
        </a:p>
      </dgm:t>
    </dgm:pt>
    <dgm:pt modelId="{D9883A2C-55AE-429D-B233-BACE6BB378ED}">
      <dgm:prSet custT="1"/>
      <dgm:spPr>
        <a:solidFill>
          <a:schemeClr val="bg1">
            <a:lumMod val="65000"/>
          </a:schemeClr>
        </a:solidFill>
      </dgm:spPr>
      <dgm:t>
        <a:bodyPr/>
        <a:lstStyle/>
        <a:p>
          <a:pPr>
            <a:buNone/>
          </a:pPr>
          <a:r>
            <a:rPr lang="en-US" sz="1400" b="1" dirty="0">
              <a:latin typeface="Montserrat" panose="00000500000000000000" pitchFamily="2" charset="0"/>
            </a:rPr>
            <a:t>Increased Productivity: </a:t>
          </a:r>
          <a:r>
            <a:rPr lang="en-US" sz="1400" dirty="0">
              <a:latin typeface="Montserrat" panose="00000500000000000000" pitchFamily="2" charset="0"/>
            </a:rPr>
            <a:t> Streamlines processes and improves team efficiency.</a:t>
          </a:r>
        </a:p>
      </dgm:t>
    </dgm:pt>
    <dgm:pt modelId="{A703A6D5-D3BC-4EF0-A090-E112D493F8B9}" type="parTrans" cxnId="{39941A77-EDC0-4E17-8642-5CAE07C681BB}">
      <dgm:prSet/>
      <dgm:spPr/>
      <dgm:t>
        <a:bodyPr/>
        <a:lstStyle/>
        <a:p>
          <a:endParaRPr lang="en-CA" sz="1400">
            <a:latin typeface="Montserrat" panose="00000500000000000000" pitchFamily="2" charset="0"/>
          </a:endParaRPr>
        </a:p>
      </dgm:t>
    </dgm:pt>
    <dgm:pt modelId="{E10E80AD-D257-4DBF-BB73-95316F37E742}" type="sibTrans" cxnId="{39941A77-EDC0-4E17-8642-5CAE07C681BB}">
      <dgm:prSet/>
      <dgm:spPr/>
      <dgm:t>
        <a:bodyPr/>
        <a:lstStyle/>
        <a:p>
          <a:endParaRPr lang="en-CA" sz="1400">
            <a:latin typeface="Montserrat" panose="00000500000000000000" pitchFamily="2" charset="0"/>
          </a:endParaRPr>
        </a:p>
      </dgm:t>
    </dgm:pt>
    <dgm:pt modelId="{50140626-3102-445B-B1EA-D8982125FE5C}">
      <dgm:prSet custT="1"/>
      <dgm:spPr>
        <a:solidFill>
          <a:srgbClr val="0C1752"/>
        </a:solidFill>
      </dgm:spPr>
      <dgm:t>
        <a:bodyPr/>
        <a:lstStyle/>
        <a:p>
          <a:pPr>
            <a:buNone/>
          </a:pPr>
          <a:r>
            <a:rPr lang="en-US" sz="1400" b="1" dirty="0">
              <a:latin typeface="Montserrat" panose="00000500000000000000" pitchFamily="2" charset="0"/>
            </a:rPr>
            <a:t>Improved Quality: </a:t>
          </a:r>
          <a:r>
            <a:rPr lang="en-US" sz="1400" dirty="0">
              <a:latin typeface="Montserrat" panose="00000500000000000000" pitchFamily="2" charset="0"/>
            </a:rPr>
            <a:t> Emphasizes built-in quality through continuous testing and integration.</a:t>
          </a:r>
        </a:p>
      </dgm:t>
    </dgm:pt>
    <dgm:pt modelId="{2697B430-541A-48D3-8466-BF9498B71064}" type="parTrans" cxnId="{B7C18110-7C32-48F5-97DE-E7C0E5663D52}">
      <dgm:prSet/>
      <dgm:spPr/>
      <dgm:t>
        <a:bodyPr/>
        <a:lstStyle/>
        <a:p>
          <a:endParaRPr lang="en-CA" sz="1400">
            <a:latin typeface="Montserrat" panose="00000500000000000000" pitchFamily="2" charset="0"/>
          </a:endParaRPr>
        </a:p>
      </dgm:t>
    </dgm:pt>
    <dgm:pt modelId="{69FE029B-1AC0-4DA8-A966-BF9EA2006752}" type="sibTrans" cxnId="{B7C18110-7C32-48F5-97DE-E7C0E5663D52}">
      <dgm:prSet/>
      <dgm:spPr/>
      <dgm:t>
        <a:bodyPr/>
        <a:lstStyle/>
        <a:p>
          <a:endParaRPr lang="en-CA" sz="1400">
            <a:latin typeface="Montserrat" panose="00000500000000000000" pitchFamily="2" charset="0"/>
          </a:endParaRPr>
        </a:p>
      </dgm:t>
    </dgm:pt>
    <dgm:pt modelId="{07F71C54-D904-4E66-AE91-9776DFD9E3AF}">
      <dgm:prSet custT="1"/>
      <dgm:spPr>
        <a:solidFill>
          <a:srgbClr val="1BBFD1"/>
        </a:solidFill>
      </dgm:spPr>
      <dgm:t>
        <a:bodyPr/>
        <a:lstStyle/>
        <a:p>
          <a:pPr>
            <a:buNone/>
          </a:pPr>
          <a:r>
            <a:rPr lang="en-US" sz="1400" b="1" dirty="0">
              <a:latin typeface="Montserrat" panose="00000500000000000000" pitchFamily="2" charset="0"/>
            </a:rPr>
            <a:t>Transparency: </a:t>
          </a:r>
          <a:r>
            <a:rPr lang="en-US" sz="1400" dirty="0">
              <a:latin typeface="Montserrat" panose="00000500000000000000" pitchFamily="2" charset="0"/>
            </a:rPr>
            <a:t>Provides visibility into work progress, dependencies, and risks.</a:t>
          </a:r>
        </a:p>
      </dgm:t>
    </dgm:pt>
    <dgm:pt modelId="{B68995D5-C15D-4052-A134-1932AE3D1B92}" type="parTrans" cxnId="{BFDD7F8A-F519-42F4-BFAB-3BE15FFE06CB}">
      <dgm:prSet/>
      <dgm:spPr/>
      <dgm:t>
        <a:bodyPr/>
        <a:lstStyle/>
        <a:p>
          <a:endParaRPr lang="en-CA" sz="1400">
            <a:latin typeface="Montserrat" panose="00000500000000000000" pitchFamily="2" charset="0"/>
          </a:endParaRPr>
        </a:p>
      </dgm:t>
    </dgm:pt>
    <dgm:pt modelId="{B5B2F3EF-BC68-4843-BE9A-95471B946FF4}" type="sibTrans" cxnId="{BFDD7F8A-F519-42F4-BFAB-3BE15FFE06CB}">
      <dgm:prSet/>
      <dgm:spPr/>
      <dgm:t>
        <a:bodyPr/>
        <a:lstStyle/>
        <a:p>
          <a:endParaRPr lang="en-CA" sz="1400">
            <a:latin typeface="Montserrat" panose="00000500000000000000" pitchFamily="2" charset="0"/>
          </a:endParaRPr>
        </a:p>
      </dgm:t>
    </dgm:pt>
    <dgm:pt modelId="{6225EF08-E0A0-4A17-BE9E-9EC393E3D1F2}">
      <dgm:prSet custT="1"/>
      <dgm:spPr>
        <a:solidFill>
          <a:srgbClr val="0C1752"/>
        </a:solidFill>
      </dgm:spPr>
      <dgm:t>
        <a:bodyPr/>
        <a:lstStyle/>
        <a:p>
          <a:pPr>
            <a:buNone/>
          </a:pPr>
          <a:r>
            <a:rPr lang="en-CA" sz="1400" b="1" dirty="0">
              <a:latin typeface="Montserrat" panose="00000500000000000000" pitchFamily="2" charset="0"/>
            </a:rPr>
            <a:t>Continuous Improvement: </a:t>
          </a:r>
          <a:r>
            <a:rPr lang="en-CA" sz="1400" dirty="0">
              <a:latin typeface="Montserrat" panose="00000500000000000000" pitchFamily="2" charset="0"/>
            </a:rPr>
            <a:t>Encourages regular reflection and process enhancement.</a:t>
          </a:r>
        </a:p>
      </dgm:t>
    </dgm:pt>
    <dgm:pt modelId="{D284E029-4DF8-41B9-94C8-8D4883E473E5}" type="parTrans" cxnId="{872EA690-E6F9-4B0B-9599-5E8B303DD511}">
      <dgm:prSet/>
      <dgm:spPr/>
      <dgm:t>
        <a:bodyPr/>
        <a:lstStyle/>
        <a:p>
          <a:endParaRPr lang="en-CA" sz="1400">
            <a:latin typeface="Montserrat" panose="00000500000000000000" pitchFamily="2" charset="0"/>
          </a:endParaRPr>
        </a:p>
      </dgm:t>
    </dgm:pt>
    <dgm:pt modelId="{08DB44B8-1928-4A76-827E-3546936FA63A}" type="sibTrans" cxnId="{872EA690-E6F9-4B0B-9599-5E8B303DD511}">
      <dgm:prSet/>
      <dgm:spPr/>
      <dgm:t>
        <a:bodyPr/>
        <a:lstStyle/>
        <a:p>
          <a:endParaRPr lang="en-CA" sz="1400">
            <a:latin typeface="Montserrat" panose="00000500000000000000" pitchFamily="2" charset="0"/>
          </a:endParaRPr>
        </a:p>
      </dgm:t>
    </dgm:pt>
    <dgm:pt modelId="{5A0CE88C-B06C-4806-8D55-19D69E13D73F}">
      <dgm:prSet custT="1"/>
      <dgm:spPr>
        <a:solidFill>
          <a:srgbClr val="D56E48"/>
        </a:solidFill>
      </dgm:spPr>
      <dgm:t>
        <a:bodyPr/>
        <a:lstStyle/>
        <a:p>
          <a:pPr>
            <a:buNone/>
          </a:pPr>
          <a:r>
            <a:rPr lang="en-US" sz="1400" b="1" dirty="0">
              <a:latin typeface="Montserrat" panose="00000500000000000000" pitchFamily="2" charset="0"/>
            </a:rPr>
            <a:t>Enhanced Collaboration: </a:t>
          </a:r>
          <a:r>
            <a:rPr lang="en-US" sz="1400" dirty="0">
              <a:latin typeface="Montserrat" panose="00000500000000000000" pitchFamily="2" charset="0"/>
            </a:rPr>
            <a:t> Promotes cross-functional teamwork across the organization.</a:t>
          </a:r>
        </a:p>
      </dgm:t>
    </dgm:pt>
    <dgm:pt modelId="{1376A56B-0E83-4614-8509-100320BC4A9A}" type="parTrans" cxnId="{CB8031D5-B435-4239-8863-F79749016840}">
      <dgm:prSet/>
      <dgm:spPr/>
      <dgm:t>
        <a:bodyPr/>
        <a:lstStyle/>
        <a:p>
          <a:endParaRPr lang="en-CA" sz="1400">
            <a:latin typeface="Montserrat" panose="00000500000000000000" pitchFamily="2" charset="0"/>
          </a:endParaRPr>
        </a:p>
      </dgm:t>
    </dgm:pt>
    <dgm:pt modelId="{F6225524-0220-4BA0-8C1F-5BAF137A2C14}" type="sibTrans" cxnId="{CB8031D5-B435-4239-8863-F79749016840}">
      <dgm:prSet/>
      <dgm:spPr/>
      <dgm:t>
        <a:bodyPr/>
        <a:lstStyle/>
        <a:p>
          <a:endParaRPr lang="en-CA" sz="1400">
            <a:latin typeface="Montserrat" panose="00000500000000000000" pitchFamily="2" charset="0"/>
          </a:endParaRPr>
        </a:p>
      </dgm:t>
    </dgm:pt>
    <dgm:pt modelId="{F3CCFF56-F77F-439A-A5C7-7ED1E85F1609}">
      <dgm:prSet custT="1"/>
      <dgm:spPr>
        <a:solidFill>
          <a:srgbClr val="1BBFD1"/>
        </a:solidFill>
      </dgm:spPr>
      <dgm:t>
        <a:bodyPr/>
        <a:lstStyle/>
        <a:p>
          <a:pPr>
            <a:buNone/>
          </a:pPr>
          <a:r>
            <a:rPr lang="en-US" sz="1400" b="1" dirty="0">
              <a:latin typeface="Montserrat" panose="00000500000000000000" pitchFamily="2" charset="0"/>
            </a:rPr>
            <a:t>Better Risk Management: </a:t>
          </a:r>
          <a:r>
            <a:rPr lang="en-US" sz="1400" dirty="0">
              <a:latin typeface="Montserrat" panose="00000500000000000000" pitchFamily="2" charset="0"/>
            </a:rPr>
            <a:t>Identifies and mitigates risks early through cadence and synchronization.</a:t>
          </a:r>
        </a:p>
      </dgm:t>
    </dgm:pt>
    <dgm:pt modelId="{260AB1FF-B121-40AA-AF6D-6E0BB178046E}" type="parTrans" cxnId="{541D8413-3278-4425-8CEE-0E9375D818E0}">
      <dgm:prSet/>
      <dgm:spPr/>
      <dgm:t>
        <a:bodyPr/>
        <a:lstStyle/>
        <a:p>
          <a:endParaRPr lang="en-CA" sz="1400">
            <a:latin typeface="Montserrat" panose="00000500000000000000" pitchFamily="2" charset="0"/>
          </a:endParaRPr>
        </a:p>
      </dgm:t>
    </dgm:pt>
    <dgm:pt modelId="{3C301E1E-D1F4-4FF5-A75A-7F00CBBEA783}" type="sibTrans" cxnId="{541D8413-3278-4425-8CEE-0E9375D818E0}">
      <dgm:prSet/>
      <dgm:spPr/>
      <dgm:t>
        <a:bodyPr/>
        <a:lstStyle/>
        <a:p>
          <a:endParaRPr lang="en-CA" sz="1400">
            <a:latin typeface="Montserrat" panose="00000500000000000000" pitchFamily="2" charset="0"/>
          </a:endParaRPr>
        </a:p>
      </dgm:t>
    </dgm:pt>
    <dgm:pt modelId="{8FDA7301-93EB-4884-95E7-569DD132BF85}">
      <dgm:prSet custT="1"/>
      <dgm:spPr>
        <a:solidFill>
          <a:srgbClr val="D56E48"/>
        </a:solidFill>
      </dgm:spPr>
      <dgm:t>
        <a:bodyPr/>
        <a:lstStyle/>
        <a:p>
          <a:pPr>
            <a:buNone/>
          </a:pPr>
          <a:r>
            <a:rPr lang="en-US" sz="1400" b="1" dirty="0">
              <a:latin typeface="Montserrat" panose="00000500000000000000" pitchFamily="2" charset="0"/>
            </a:rPr>
            <a:t>Customer-Centric Delivery: </a:t>
          </a:r>
          <a:r>
            <a:rPr lang="en-US" sz="1400" dirty="0">
              <a:latin typeface="Montserrat" panose="00000500000000000000" pitchFamily="2" charset="0"/>
            </a:rPr>
            <a:t>Focuses on delivering value that meets customer needs.</a:t>
          </a:r>
        </a:p>
      </dgm:t>
    </dgm:pt>
    <dgm:pt modelId="{8807377E-CDBE-43EC-BFEB-42F1BD42C6F7}" type="parTrans" cxnId="{E7D65FD9-CCAD-45A3-A930-1E65A9246B57}">
      <dgm:prSet/>
      <dgm:spPr/>
      <dgm:t>
        <a:bodyPr/>
        <a:lstStyle/>
        <a:p>
          <a:endParaRPr lang="en-CA" sz="1400">
            <a:latin typeface="Montserrat" panose="00000500000000000000" pitchFamily="2" charset="0"/>
          </a:endParaRPr>
        </a:p>
      </dgm:t>
    </dgm:pt>
    <dgm:pt modelId="{E2B85D46-AD19-4FEB-A494-AD5FB8223B0E}" type="sibTrans" cxnId="{E7D65FD9-CCAD-45A3-A930-1E65A9246B57}">
      <dgm:prSet/>
      <dgm:spPr/>
      <dgm:t>
        <a:bodyPr/>
        <a:lstStyle/>
        <a:p>
          <a:endParaRPr lang="en-CA" sz="1400">
            <a:latin typeface="Montserrat" panose="00000500000000000000" pitchFamily="2" charset="0"/>
          </a:endParaRPr>
        </a:p>
      </dgm:t>
    </dgm:pt>
    <dgm:pt modelId="{29D9A099-7B5C-4EB6-8D77-05F8513D9102}">
      <dgm:prSet custT="1"/>
      <dgm:spPr>
        <a:solidFill>
          <a:srgbClr val="0C1752"/>
        </a:solidFill>
      </dgm:spPr>
      <dgm:t>
        <a:bodyPr/>
        <a:lstStyle/>
        <a:p>
          <a:r>
            <a:rPr lang="en-CA" sz="1400" b="1" dirty="0">
              <a:latin typeface="Montserrat" panose="00000500000000000000" pitchFamily="2" charset="0"/>
            </a:rPr>
            <a:t>Scalability:</a:t>
          </a:r>
          <a:r>
            <a:rPr lang="en-CA" sz="1400" dirty="0">
              <a:latin typeface="Montserrat" panose="00000500000000000000" pitchFamily="2" charset="0"/>
            </a:rPr>
            <a:t> Supports Agile implementation across large, complex enterprise environments.</a:t>
          </a:r>
        </a:p>
      </dgm:t>
    </dgm:pt>
    <dgm:pt modelId="{4134B149-F488-465F-82D5-5412F65C70F8}" type="parTrans" cxnId="{7BCF7B8D-E231-417E-B415-9E0C009B31E1}">
      <dgm:prSet/>
      <dgm:spPr/>
      <dgm:t>
        <a:bodyPr/>
        <a:lstStyle/>
        <a:p>
          <a:endParaRPr lang="en-CA" sz="1400">
            <a:latin typeface="Montserrat" panose="00000500000000000000" pitchFamily="2" charset="0"/>
          </a:endParaRPr>
        </a:p>
      </dgm:t>
    </dgm:pt>
    <dgm:pt modelId="{E8585175-D295-4DB2-A47E-9B55081453C8}" type="sibTrans" cxnId="{7BCF7B8D-E231-417E-B415-9E0C009B31E1}">
      <dgm:prSet/>
      <dgm:spPr/>
      <dgm:t>
        <a:bodyPr/>
        <a:lstStyle/>
        <a:p>
          <a:endParaRPr lang="en-CA" sz="1400">
            <a:latin typeface="Montserrat" panose="00000500000000000000" pitchFamily="2" charset="0"/>
          </a:endParaRPr>
        </a:p>
      </dgm:t>
    </dgm:pt>
    <dgm:pt modelId="{2D0D9E47-5897-4D5C-B440-8A137B2F93DA}" type="pres">
      <dgm:prSet presAssocID="{DD124981-62FD-41E1-A541-492C8FDA6D48}" presName="diagram" presStyleCnt="0">
        <dgm:presLayoutVars>
          <dgm:dir/>
          <dgm:resizeHandles val="exact"/>
        </dgm:presLayoutVars>
      </dgm:prSet>
      <dgm:spPr/>
    </dgm:pt>
    <dgm:pt modelId="{9C10B42E-E9A0-417A-8225-10F481A57ACF}" type="pres">
      <dgm:prSet presAssocID="{0B0B5603-F311-47C8-9E8E-64633FDD673E}" presName="node" presStyleLbl="node1" presStyleIdx="0" presStyleCnt="10">
        <dgm:presLayoutVars>
          <dgm:bulletEnabled val="1"/>
        </dgm:presLayoutVars>
      </dgm:prSet>
      <dgm:spPr/>
    </dgm:pt>
    <dgm:pt modelId="{EAB5626F-BB37-4D11-8430-80944E30DA18}" type="pres">
      <dgm:prSet presAssocID="{4E2D1D55-453C-439B-9397-572F55CE5C86}" presName="sibTrans" presStyleCnt="0"/>
      <dgm:spPr/>
    </dgm:pt>
    <dgm:pt modelId="{FD2F13F7-E419-4FA7-83C9-DEF04EE63800}" type="pres">
      <dgm:prSet presAssocID="{0EF2BB20-B172-4E97-B5BC-02EDA72C470D}" presName="node" presStyleLbl="node1" presStyleIdx="1" presStyleCnt="10">
        <dgm:presLayoutVars>
          <dgm:bulletEnabled val="1"/>
        </dgm:presLayoutVars>
      </dgm:prSet>
      <dgm:spPr/>
    </dgm:pt>
    <dgm:pt modelId="{241F2CEB-9345-415C-B7E9-05D94E623798}" type="pres">
      <dgm:prSet presAssocID="{3EDC8483-215D-418A-8B90-CC0F3497F5A3}" presName="sibTrans" presStyleCnt="0"/>
      <dgm:spPr/>
    </dgm:pt>
    <dgm:pt modelId="{96C988B8-42C1-443D-803F-9C7F20688824}" type="pres">
      <dgm:prSet presAssocID="{D9883A2C-55AE-429D-B233-BACE6BB378ED}" presName="node" presStyleLbl="node1" presStyleIdx="2" presStyleCnt="10">
        <dgm:presLayoutVars>
          <dgm:bulletEnabled val="1"/>
        </dgm:presLayoutVars>
      </dgm:prSet>
      <dgm:spPr/>
    </dgm:pt>
    <dgm:pt modelId="{D2FA9DEA-A021-45D8-A5FB-CA71564ABED4}" type="pres">
      <dgm:prSet presAssocID="{E10E80AD-D257-4DBF-BB73-95316F37E742}" presName="sibTrans" presStyleCnt="0"/>
      <dgm:spPr/>
    </dgm:pt>
    <dgm:pt modelId="{4A9BD7ED-F702-4114-8F8B-3136A02AD752}" type="pres">
      <dgm:prSet presAssocID="{50140626-3102-445B-B1EA-D8982125FE5C}" presName="node" presStyleLbl="node1" presStyleIdx="3" presStyleCnt="10">
        <dgm:presLayoutVars>
          <dgm:bulletEnabled val="1"/>
        </dgm:presLayoutVars>
      </dgm:prSet>
      <dgm:spPr/>
    </dgm:pt>
    <dgm:pt modelId="{EB552246-D7F5-48FB-9F5A-1E6DF84A8D78}" type="pres">
      <dgm:prSet presAssocID="{69FE029B-1AC0-4DA8-A966-BF9EA2006752}" presName="sibTrans" presStyleCnt="0"/>
      <dgm:spPr/>
    </dgm:pt>
    <dgm:pt modelId="{188AFCF2-6168-4185-BF15-30828022E544}" type="pres">
      <dgm:prSet presAssocID="{07F71C54-D904-4E66-AE91-9776DFD9E3AF}" presName="node" presStyleLbl="node1" presStyleIdx="4" presStyleCnt="10">
        <dgm:presLayoutVars>
          <dgm:bulletEnabled val="1"/>
        </dgm:presLayoutVars>
      </dgm:prSet>
      <dgm:spPr/>
    </dgm:pt>
    <dgm:pt modelId="{8ADB5588-31BB-469C-9D55-2CD16DF705F8}" type="pres">
      <dgm:prSet presAssocID="{B5B2F3EF-BC68-4843-BE9A-95471B946FF4}" presName="sibTrans" presStyleCnt="0"/>
      <dgm:spPr/>
    </dgm:pt>
    <dgm:pt modelId="{B283950B-1015-42EA-A048-D712DD9416C8}" type="pres">
      <dgm:prSet presAssocID="{6225EF08-E0A0-4A17-BE9E-9EC393E3D1F2}" presName="node" presStyleLbl="node1" presStyleIdx="5" presStyleCnt="10">
        <dgm:presLayoutVars>
          <dgm:bulletEnabled val="1"/>
        </dgm:presLayoutVars>
      </dgm:prSet>
      <dgm:spPr/>
    </dgm:pt>
    <dgm:pt modelId="{AF64E267-5BAC-4E2C-95B6-AFBCFE12D4FA}" type="pres">
      <dgm:prSet presAssocID="{08DB44B8-1928-4A76-827E-3546936FA63A}" presName="sibTrans" presStyleCnt="0"/>
      <dgm:spPr/>
    </dgm:pt>
    <dgm:pt modelId="{9C923C9B-8756-4AF1-B44D-05374425E536}" type="pres">
      <dgm:prSet presAssocID="{5A0CE88C-B06C-4806-8D55-19D69E13D73F}" presName="node" presStyleLbl="node1" presStyleIdx="6" presStyleCnt="10">
        <dgm:presLayoutVars>
          <dgm:bulletEnabled val="1"/>
        </dgm:presLayoutVars>
      </dgm:prSet>
      <dgm:spPr/>
    </dgm:pt>
    <dgm:pt modelId="{2737D471-A928-4090-A708-A12569CCD284}" type="pres">
      <dgm:prSet presAssocID="{F6225524-0220-4BA0-8C1F-5BAF137A2C14}" presName="sibTrans" presStyleCnt="0"/>
      <dgm:spPr/>
    </dgm:pt>
    <dgm:pt modelId="{8C40480D-7675-4CA4-B42F-385C90D63803}" type="pres">
      <dgm:prSet presAssocID="{F3CCFF56-F77F-439A-A5C7-7ED1E85F1609}" presName="node" presStyleLbl="node1" presStyleIdx="7" presStyleCnt="10">
        <dgm:presLayoutVars>
          <dgm:bulletEnabled val="1"/>
        </dgm:presLayoutVars>
      </dgm:prSet>
      <dgm:spPr/>
    </dgm:pt>
    <dgm:pt modelId="{F89BABAE-B658-4183-BEDB-7F3649700159}" type="pres">
      <dgm:prSet presAssocID="{3C301E1E-D1F4-4FF5-A75A-7F00CBBEA783}" presName="sibTrans" presStyleCnt="0"/>
      <dgm:spPr/>
    </dgm:pt>
    <dgm:pt modelId="{4633365F-FFFE-4D93-959F-AD80371AAD9D}" type="pres">
      <dgm:prSet presAssocID="{8FDA7301-93EB-4884-95E7-569DD132BF85}" presName="node" presStyleLbl="node1" presStyleIdx="8" presStyleCnt="10">
        <dgm:presLayoutVars>
          <dgm:bulletEnabled val="1"/>
        </dgm:presLayoutVars>
      </dgm:prSet>
      <dgm:spPr/>
    </dgm:pt>
    <dgm:pt modelId="{F5D35281-37A9-4454-92B3-9B822A1240B9}" type="pres">
      <dgm:prSet presAssocID="{E2B85D46-AD19-4FEB-A494-AD5FB8223B0E}" presName="sibTrans" presStyleCnt="0"/>
      <dgm:spPr/>
    </dgm:pt>
    <dgm:pt modelId="{F7FD9979-E2DB-46CF-ACA3-9992583B0F06}" type="pres">
      <dgm:prSet presAssocID="{29D9A099-7B5C-4EB6-8D77-05F8513D9102}" presName="node" presStyleLbl="node1" presStyleIdx="9" presStyleCnt="10">
        <dgm:presLayoutVars>
          <dgm:bulletEnabled val="1"/>
        </dgm:presLayoutVars>
      </dgm:prSet>
      <dgm:spPr/>
    </dgm:pt>
  </dgm:ptLst>
  <dgm:cxnLst>
    <dgm:cxn modelId="{B7C18110-7C32-48F5-97DE-E7C0E5663D52}" srcId="{DD124981-62FD-41E1-A541-492C8FDA6D48}" destId="{50140626-3102-445B-B1EA-D8982125FE5C}" srcOrd="3" destOrd="0" parTransId="{2697B430-541A-48D3-8466-BF9498B71064}" sibTransId="{69FE029B-1AC0-4DA8-A966-BF9EA2006752}"/>
    <dgm:cxn modelId="{541D8413-3278-4425-8CEE-0E9375D818E0}" srcId="{DD124981-62FD-41E1-A541-492C8FDA6D48}" destId="{F3CCFF56-F77F-439A-A5C7-7ED1E85F1609}" srcOrd="7" destOrd="0" parTransId="{260AB1FF-B121-40AA-AF6D-6E0BB178046E}" sibTransId="{3C301E1E-D1F4-4FF5-A75A-7F00CBBEA783}"/>
    <dgm:cxn modelId="{B6DFF123-DEBE-43A3-B6EB-D310258FD48D}" type="presOf" srcId="{50140626-3102-445B-B1EA-D8982125FE5C}" destId="{4A9BD7ED-F702-4114-8F8B-3136A02AD752}" srcOrd="0" destOrd="0" presId="urn:microsoft.com/office/officeart/2005/8/layout/default"/>
    <dgm:cxn modelId="{B7B3983A-9CE9-4E03-9807-E6956ABFCE1A}" type="presOf" srcId="{DD124981-62FD-41E1-A541-492C8FDA6D48}" destId="{2D0D9E47-5897-4D5C-B440-8A137B2F93DA}" srcOrd="0" destOrd="0" presId="urn:microsoft.com/office/officeart/2005/8/layout/default"/>
    <dgm:cxn modelId="{754BDA5D-37D4-40EE-A8A4-9E649D4AC89B}" srcId="{DD124981-62FD-41E1-A541-492C8FDA6D48}" destId="{0EF2BB20-B172-4E97-B5BC-02EDA72C470D}" srcOrd="1" destOrd="0" parTransId="{1E07063D-4529-4886-A423-8AC2EF00D181}" sibTransId="{3EDC8483-215D-418A-8B90-CC0F3497F5A3}"/>
    <dgm:cxn modelId="{13073C6E-6E20-4C93-BD45-E4DB44E68D69}" type="presOf" srcId="{07F71C54-D904-4E66-AE91-9776DFD9E3AF}" destId="{188AFCF2-6168-4185-BF15-30828022E544}" srcOrd="0" destOrd="0" presId="urn:microsoft.com/office/officeart/2005/8/layout/default"/>
    <dgm:cxn modelId="{BFC2796F-3485-4FAE-95AC-C5ADE474DFB6}" type="presOf" srcId="{8FDA7301-93EB-4884-95E7-569DD132BF85}" destId="{4633365F-FFFE-4D93-959F-AD80371AAD9D}" srcOrd="0" destOrd="0" presId="urn:microsoft.com/office/officeart/2005/8/layout/default"/>
    <dgm:cxn modelId="{39941A77-EDC0-4E17-8642-5CAE07C681BB}" srcId="{DD124981-62FD-41E1-A541-492C8FDA6D48}" destId="{D9883A2C-55AE-429D-B233-BACE6BB378ED}" srcOrd="2" destOrd="0" parTransId="{A703A6D5-D3BC-4EF0-A090-E112D493F8B9}" sibTransId="{E10E80AD-D257-4DBF-BB73-95316F37E742}"/>
    <dgm:cxn modelId="{BFDD7F8A-F519-42F4-BFAB-3BE15FFE06CB}" srcId="{DD124981-62FD-41E1-A541-492C8FDA6D48}" destId="{07F71C54-D904-4E66-AE91-9776DFD9E3AF}" srcOrd="4" destOrd="0" parTransId="{B68995D5-C15D-4052-A134-1932AE3D1B92}" sibTransId="{B5B2F3EF-BC68-4843-BE9A-95471B946FF4}"/>
    <dgm:cxn modelId="{3508FD8C-3521-4D15-BB7F-48F7126AD414}" srcId="{DD124981-62FD-41E1-A541-492C8FDA6D48}" destId="{0B0B5603-F311-47C8-9E8E-64633FDD673E}" srcOrd="0" destOrd="0" parTransId="{CFC48AD6-8314-4FF0-AAC8-440ADE9C865B}" sibTransId="{4E2D1D55-453C-439B-9397-572F55CE5C86}"/>
    <dgm:cxn modelId="{7BCF7B8D-E231-417E-B415-9E0C009B31E1}" srcId="{DD124981-62FD-41E1-A541-492C8FDA6D48}" destId="{29D9A099-7B5C-4EB6-8D77-05F8513D9102}" srcOrd="9" destOrd="0" parTransId="{4134B149-F488-465F-82D5-5412F65C70F8}" sibTransId="{E8585175-D295-4DB2-A47E-9B55081453C8}"/>
    <dgm:cxn modelId="{872EA690-E6F9-4B0B-9599-5E8B303DD511}" srcId="{DD124981-62FD-41E1-A541-492C8FDA6D48}" destId="{6225EF08-E0A0-4A17-BE9E-9EC393E3D1F2}" srcOrd="5" destOrd="0" parTransId="{D284E029-4DF8-41B9-94C8-8D4883E473E5}" sibTransId="{08DB44B8-1928-4A76-827E-3546936FA63A}"/>
    <dgm:cxn modelId="{ECCE1295-FBFC-4DF6-8FCC-A8954C49F430}" type="presOf" srcId="{D9883A2C-55AE-429D-B233-BACE6BB378ED}" destId="{96C988B8-42C1-443D-803F-9C7F20688824}" srcOrd="0" destOrd="0" presId="urn:microsoft.com/office/officeart/2005/8/layout/default"/>
    <dgm:cxn modelId="{D914B7AD-3747-4C9C-8209-A7C874BC8C17}" type="presOf" srcId="{29D9A099-7B5C-4EB6-8D77-05F8513D9102}" destId="{F7FD9979-E2DB-46CF-ACA3-9992583B0F06}" srcOrd="0" destOrd="0" presId="urn:microsoft.com/office/officeart/2005/8/layout/default"/>
    <dgm:cxn modelId="{2212CAAE-5C8B-427C-BFB9-3D7B111DD3F4}" type="presOf" srcId="{6225EF08-E0A0-4A17-BE9E-9EC393E3D1F2}" destId="{B283950B-1015-42EA-A048-D712DD9416C8}" srcOrd="0" destOrd="0" presId="urn:microsoft.com/office/officeart/2005/8/layout/default"/>
    <dgm:cxn modelId="{0C63D1C0-9D11-4E48-B46E-F5569961CAF5}" type="presOf" srcId="{F3CCFF56-F77F-439A-A5C7-7ED1E85F1609}" destId="{8C40480D-7675-4CA4-B42F-385C90D63803}" srcOrd="0" destOrd="0" presId="urn:microsoft.com/office/officeart/2005/8/layout/default"/>
    <dgm:cxn modelId="{9DCD55C8-0501-4878-A0C9-6CA21E425DB8}" type="presOf" srcId="{5A0CE88C-B06C-4806-8D55-19D69E13D73F}" destId="{9C923C9B-8756-4AF1-B44D-05374425E536}" srcOrd="0" destOrd="0" presId="urn:microsoft.com/office/officeart/2005/8/layout/default"/>
    <dgm:cxn modelId="{9C1C61D0-4FEA-488C-94FD-31237D8A901C}" type="presOf" srcId="{0EF2BB20-B172-4E97-B5BC-02EDA72C470D}" destId="{FD2F13F7-E419-4FA7-83C9-DEF04EE63800}" srcOrd="0" destOrd="0" presId="urn:microsoft.com/office/officeart/2005/8/layout/default"/>
    <dgm:cxn modelId="{CB8031D5-B435-4239-8863-F79749016840}" srcId="{DD124981-62FD-41E1-A541-492C8FDA6D48}" destId="{5A0CE88C-B06C-4806-8D55-19D69E13D73F}" srcOrd="6" destOrd="0" parTransId="{1376A56B-0E83-4614-8509-100320BC4A9A}" sibTransId="{F6225524-0220-4BA0-8C1F-5BAF137A2C14}"/>
    <dgm:cxn modelId="{E7D65FD9-CCAD-45A3-A930-1E65A9246B57}" srcId="{DD124981-62FD-41E1-A541-492C8FDA6D48}" destId="{8FDA7301-93EB-4884-95E7-569DD132BF85}" srcOrd="8" destOrd="0" parTransId="{8807377E-CDBE-43EC-BFEB-42F1BD42C6F7}" sibTransId="{E2B85D46-AD19-4FEB-A494-AD5FB8223B0E}"/>
    <dgm:cxn modelId="{1BD3DBEF-DD2B-427E-8D05-CEAD5AB96BB9}" type="presOf" srcId="{0B0B5603-F311-47C8-9E8E-64633FDD673E}" destId="{9C10B42E-E9A0-417A-8225-10F481A57ACF}" srcOrd="0" destOrd="0" presId="urn:microsoft.com/office/officeart/2005/8/layout/default"/>
    <dgm:cxn modelId="{9DBE955B-3F86-4B23-AEA1-45B1F9B5DBC6}" type="presParOf" srcId="{2D0D9E47-5897-4D5C-B440-8A137B2F93DA}" destId="{9C10B42E-E9A0-417A-8225-10F481A57ACF}" srcOrd="0" destOrd="0" presId="urn:microsoft.com/office/officeart/2005/8/layout/default"/>
    <dgm:cxn modelId="{7B0A6818-8152-4829-B3E4-2353DD8C7E45}" type="presParOf" srcId="{2D0D9E47-5897-4D5C-B440-8A137B2F93DA}" destId="{EAB5626F-BB37-4D11-8430-80944E30DA18}" srcOrd="1" destOrd="0" presId="urn:microsoft.com/office/officeart/2005/8/layout/default"/>
    <dgm:cxn modelId="{C2EF78DD-6DD2-471B-A7DC-A54FFE96D5A0}" type="presParOf" srcId="{2D0D9E47-5897-4D5C-B440-8A137B2F93DA}" destId="{FD2F13F7-E419-4FA7-83C9-DEF04EE63800}" srcOrd="2" destOrd="0" presId="urn:microsoft.com/office/officeart/2005/8/layout/default"/>
    <dgm:cxn modelId="{A1C88575-4405-4848-8BC9-76C5CCE53529}" type="presParOf" srcId="{2D0D9E47-5897-4D5C-B440-8A137B2F93DA}" destId="{241F2CEB-9345-415C-B7E9-05D94E623798}" srcOrd="3" destOrd="0" presId="urn:microsoft.com/office/officeart/2005/8/layout/default"/>
    <dgm:cxn modelId="{4EE690C2-3F52-4B72-B990-EE438D0CB53C}" type="presParOf" srcId="{2D0D9E47-5897-4D5C-B440-8A137B2F93DA}" destId="{96C988B8-42C1-443D-803F-9C7F20688824}" srcOrd="4" destOrd="0" presId="urn:microsoft.com/office/officeart/2005/8/layout/default"/>
    <dgm:cxn modelId="{D93DA25D-10DF-4A94-B184-39493038FC70}" type="presParOf" srcId="{2D0D9E47-5897-4D5C-B440-8A137B2F93DA}" destId="{D2FA9DEA-A021-45D8-A5FB-CA71564ABED4}" srcOrd="5" destOrd="0" presId="urn:microsoft.com/office/officeart/2005/8/layout/default"/>
    <dgm:cxn modelId="{11304E10-E4F0-4E1A-88EB-F4B88F4F90D7}" type="presParOf" srcId="{2D0D9E47-5897-4D5C-B440-8A137B2F93DA}" destId="{4A9BD7ED-F702-4114-8F8B-3136A02AD752}" srcOrd="6" destOrd="0" presId="urn:microsoft.com/office/officeart/2005/8/layout/default"/>
    <dgm:cxn modelId="{EB936455-3E27-4D0A-A5E6-4CE67CE13C8B}" type="presParOf" srcId="{2D0D9E47-5897-4D5C-B440-8A137B2F93DA}" destId="{EB552246-D7F5-48FB-9F5A-1E6DF84A8D78}" srcOrd="7" destOrd="0" presId="urn:microsoft.com/office/officeart/2005/8/layout/default"/>
    <dgm:cxn modelId="{5350F424-7865-4973-A73B-031C5EE7589E}" type="presParOf" srcId="{2D0D9E47-5897-4D5C-B440-8A137B2F93DA}" destId="{188AFCF2-6168-4185-BF15-30828022E544}" srcOrd="8" destOrd="0" presId="urn:microsoft.com/office/officeart/2005/8/layout/default"/>
    <dgm:cxn modelId="{3F396A8C-A65A-4020-B067-8A735999AC33}" type="presParOf" srcId="{2D0D9E47-5897-4D5C-B440-8A137B2F93DA}" destId="{8ADB5588-31BB-469C-9D55-2CD16DF705F8}" srcOrd="9" destOrd="0" presId="urn:microsoft.com/office/officeart/2005/8/layout/default"/>
    <dgm:cxn modelId="{3E69162D-5365-477D-AA2C-DDE42750F552}" type="presParOf" srcId="{2D0D9E47-5897-4D5C-B440-8A137B2F93DA}" destId="{B283950B-1015-42EA-A048-D712DD9416C8}" srcOrd="10" destOrd="0" presId="urn:microsoft.com/office/officeart/2005/8/layout/default"/>
    <dgm:cxn modelId="{8FBAF921-D755-4467-B433-E2D76379731F}" type="presParOf" srcId="{2D0D9E47-5897-4D5C-B440-8A137B2F93DA}" destId="{AF64E267-5BAC-4E2C-95B6-AFBCFE12D4FA}" srcOrd="11" destOrd="0" presId="urn:microsoft.com/office/officeart/2005/8/layout/default"/>
    <dgm:cxn modelId="{B7B932D6-F735-4FF3-8FA7-FC3AC29B0CC4}" type="presParOf" srcId="{2D0D9E47-5897-4D5C-B440-8A137B2F93DA}" destId="{9C923C9B-8756-4AF1-B44D-05374425E536}" srcOrd="12" destOrd="0" presId="urn:microsoft.com/office/officeart/2005/8/layout/default"/>
    <dgm:cxn modelId="{38943995-9974-4CF7-AE4D-BF04F2A226F0}" type="presParOf" srcId="{2D0D9E47-5897-4D5C-B440-8A137B2F93DA}" destId="{2737D471-A928-4090-A708-A12569CCD284}" srcOrd="13" destOrd="0" presId="urn:microsoft.com/office/officeart/2005/8/layout/default"/>
    <dgm:cxn modelId="{42D32507-25FD-4E23-A408-5DF0B829DAD0}" type="presParOf" srcId="{2D0D9E47-5897-4D5C-B440-8A137B2F93DA}" destId="{8C40480D-7675-4CA4-B42F-385C90D63803}" srcOrd="14" destOrd="0" presId="urn:microsoft.com/office/officeart/2005/8/layout/default"/>
    <dgm:cxn modelId="{CFD0C690-9E52-4B4B-A0F5-4F2B910E2489}" type="presParOf" srcId="{2D0D9E47-5897-4D5C-B440-8A137B2F93DA}" destId="{F89BABAE-B658-4183-BEDB-7F3649700159}" srcOrd="15" destOrd="0" presId="urn:microsoft.com/office/officeart/2005/8/layout/default"/>
    <dgm:cxn modelId="{69506F65-6B3B-4963-BF50-FC9C7B19A577}" type="presParOf" srcId="{2D0D9E47-5897-4D5C-B440-8A137B2F93DA}" destId="{4633365F-FFFE-4D93-959F-AD80371AAD9D}" srcOrd="16" destOrd="0" presId="urn:microsoft.com/office/officeart/2005/8/layout/default"/>
    <dgm:cxn modelId="{DB2C5B58-ACB5-4412-B67B-906D3A2FFE54}" type="presParOf" srcId="{2D0D9E47-5897-4D5C-B440-8A137B2F93DA}" destId="{F5D35281-37A9-4454-92B3-9B822A1240B9}" srcOrd="17" destOrd="0" presId="urn:microsoft.com/office/officeart/2005/8/layout/default"/>
    <dgm:cxn modelId="{8A9176FA-8FB7-46C9-AF99-FEE5DE8C1A03}" type="presParOf" srcId="{2D0D9E47-5897-4D5C-B440-8A137B2F93DA}" destId="{F7FD9979-E2DB-46CF-ACA3-9992583B0F06}" srcOrd="1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6F215E6-B269-447C-A034-731C6F0090E1}"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87519B05-2A58-4977-958D-3AA87ECE9082}">
      <dgm:prSet phldrT="[Text]"/>
      <dgm:spPr>
        <a:solidFill>
          <a:srgbClr val="0C1752"/>
        </a:solidFill>
      </dgm:spPr>
      <dgm:t>
        <a:bodyPr/>
        <a:lstStyle/>
        <a:p>
          <a:pPr>
            <a:buClr>
              <a:srgbClr val="1BBFD1"/>
            </a:buClr>
            <a:buSzPts val="1800"/>
            <a:buChar char="●"/>
          </a:pPr>
          <a:r>
            <a:rPr lang="en-US" b="1" dirty="0">
              <a:solidFill>
                <a:schemeClr val="bg1"/>
              </a:solidFill>
              <a:latin typeface="Montserrat" panose="00000500000000000000" pitchFamily="2" charset="0"/>
              <a:ea typeface="Montserrat"/>
              <a:cs typeface="Montserrat"/>
              <a:sym typeface="Montserrat"/>
            </a:rPr>
            <a:t>Clear Business Vision &amp; Value Alignment:</a:t>
          </a:r>
          <a:r>
            <a:rPr lang="en-US" dirty="0">
              <a:solidFill>
                <a:schemeClr val="bg1"/>
              </a:solidFill>
              <a:latin typeface="Montserrat" panose="00000500000000000000" pitchFamily="2" charset="0"/>
              <a:ea typeface="Montserrat"/>
              <a:cs typeface="Montserrat"/>
              <a:sym typeface="Montserrat"/>
            </a:rPr>
            <a:t>  The "Why." AI must solve a real business problem and deliver measurable value.</a:t>
          </a:r>
          <a:endParaRPr lang="en-CA" dirty="0">
            <a:solidFill>
              <a:schemeClr val="bg1"/>
            </a:solidFill>
            <a:latin typeface="Montserrat" panose="00000500000000000000" pitchFamily="2" charset="0"/>
          </a:endParaRPr>
        </a:p>
      </dgm:t>
    </dgm:pt>
    <dgm:pt modelId="{39D12289-2AE8-4681-B07F-F1ED7E96F9A1}" type="parTrans" cxnId="{DF13D17D-44B8-43FB-96F7-DEC6E496DA5B}">
      <dgm:prSet/>
      <dgm:spPr/>
      <dgm:t>
        <a:bodyPr/>
        <a:lstStyle/>
        <a:p>
          <a:endParaRPr lang="en-CA"/>
        </a:p>
      </dgm:t>
    </dgm:pt>
    <dgm:pt modelId="{C2D159E2-C83F-46EB-B7E6-CAC0BE8B6ED4}" type="sibTrans" cxnId="{DF13D17D-44B8-43FB-96F7-DEC6E496DA5B}">
      <dgm:prSet/>
      <dgm:spPr/>
      <dgm:t>
        <a:bodyPr/>
        <a:lstStyle/>
        <a:p>
          <a:endParaRPr lang="en-CA"/>
        </a:p>
      </dgm:t>
    </dgm:pt>
    <dgm:pt modelId="{BCE76A23-173E-4C75-BF7B-42F57E1151D7}">
      <dgm:prSet/>
      <dgm:spPr>
        <a:solidFill>
          <a:srgbClr val="D56E48"/>
        </a:solidFill>
      </dgm:spPr>
      <dgm:t>
        <a:bodyPr/>
        <a:lstStyle/>
        <a:p>
          <a:r>
            <a:rPr lang="en-CA" b="1" dirty="0">
              <a:solidFill>
                <a:schemeClr val="bg1"/>
              </a:solidFill>
              <a:latin typeface="Montserrat" panose="00000500000000000000" pitchFamily="2" charset="0"/>
              <a:ea typeface="Montserrat"/>
              <a:cs typeface="Montserrat"/>
              <a:sym typeface="Montserrat"/>
            </a:rPr>
            <a:t>Data Quality, Availability &amp; Governance:</a:t>
          </a:r>
          <a:r>
            <a:rPr lang="en-CA" dirty="0">
              <a:solidFill>
                <a:schemeClr val="bg1"/>
              </a:solidFill>
              <a:latin typeface="Montserrat" panose="00000500000000000000" pitchFamily="2" charset="0"/>
              <a:ea typeface="Montserrat"/>
              <a:cs typeface="Montserrat"/>
              <a:sym typeface="Montserrat"/>
            </a:rPr>
            <a:t> </a:t>
          </a:r>
          <a:r>
            <a:rPr lang="en-US" dirty="0">
              <a:solidFill>
                <a:schemeClr val="bg1"/>
              </a:solidFill>
              <a:latin typeface="Montserrat" panose="00000500000000000000" pitchFamily="2" charset="0"/>
              <a:ea typeface="Montserrat"/>
              <a:cs typeface="Montserrat"/>
              <a:sym typeface="Montserrat"/>
            </a:rPr>
            <a:t>Data is the lifeblood. A robust data strategy is non-negotiable.</a:t>
          </a:r>
          <a:endParaRPr lang="en-CA" dirty="0">
            <a:solidFill>
              <a:schemeClr val="bg1"/>
            </a:solidFill>
            <a:latin typeface="Montserrat" panose="00000500000000000000" pitchFamily="2" charset="0"/>
            <a:ea typeface="Montserrat"/>
            <a:cs typeface="Montserrat"/>
            <a:sym typeface="Montserrat"/>
          </a:endParaRPr>
        </a:p>
      </dgm:t>
    </dgm:pt>
    <dgm:pt modelId="{6A729EDC-1E18-466F-BAA7-A13DD0B94D65}" type="parTrans" cxnId="{C444EEA0-CC16-4E85-A28F-EA7E467C5862}">
      <dgm:prSet/>
      <dgm:spPr/>
      <dgm:t>
        <a:bodyPr/>
        <a:lstStyle/>
        <a:p>
          <a:endParaRPr lang="en-CA"/>
        </a:p>
      </dgm:t>
    </dgm:pt>
    <dgm:pt modelId="{319CBD70-7050-4176-A0C3-AAD975BE01E9}" type="sibTrans" cxnId="{C444EEA0-CC16-4E85-A28F-EA7E467C5862}">
      <dgm:prSet/>
      <dgm:spPr/>
      <dgm:t>
        <a:bodyPr/>
        <a:lstStyle/>
        <a:p>
          <a:endParaRPr lang="en-CA"/>
        </a:p>
      </dgm:t>
    </dgm:pt>
    <dgm:pt modelId="{C2D65A6B-4A1D-46C3-90FC-BFED0D15250F}">
      <dgm:prSet/>
      <dgm:spPr>
        <a:solidFill>
          <a:srgbClr val="1BBFD1"/>
        </a:solidFill>
      </dgm:spPr>
      <dgm:t>
        <a:bodyPr/>
        <a:lstStyle/>
        <a:p>
          <a:r>
            <a:rPr lang="en-CA" b="1">
              <a:solidFill>
                <a:schemeClr val="bg1"/>
              </a:solidFill>
              <a:latin typeface="Montserrat" panose="00000500000000000000" pitchFamily="2" charset="0"/>
              <a:ea typeface="Montserrat"/>
              <a:cs typeface="Montserrat"/>
              <a:sym typeface="Montserrat"/>
            </a:rPr>
            <a:t>Realistic Expectations &amp; Iterative Progress:</a:t>
          </a:r>
          <a:r>
            <a:rPr lang="en-CA">
              <a:solidFill>
                <a:schemeClr val="bg1"/>
              </a:solidFill>
              <a:latin typeface="Montserrat" panose="00000500000000000000" pitchFamily="2" charset="0"/>
              <a:ea typeface="Montserrat"/>
              <a:cs typeface="Montserrat"/>
              <a:sym typeface="Montserrat"/>
            </a:rPr>
            <a:t> </a:t>
          </a:r>
          <a:r>
            <a:rPr lang="en-US">
              <a:solidFill>
                <a:schemeClr val="bg1"/>
              </a:solidFill>
              <a:latin typeface="Montserrat" panose="00000500000000000000" pitchFamily="2" charset="0"/>
              <a:ea typeface="Montserrat"/>
              <a:cs typeface="Montserrat"/>
              <a:sym typeface="Montserrat"/>
            </a:rPr>
            <a:t>AI is not magic. Start small, iterate, and manage expectations.</a:t>
          </a:r>
          <a:endParaRPr lang="en-CA" dirty="0">
            <a:solidFill>
              <a:schemeClr val="bg1"/>
            </a:solidFill>
            <a:latin typeface="Montserrat" panose="00000500000000000000" pitchFamily="2" charset="0"/>
            <a:ea typeface="Montserrat"/>
            <a:cs typeface="Montserrat"/>
            <a:sym typeface="Montserrat"/>
          </a:endParaRPr>
        </a:p>
      </dgm:t>
    </dgm:pt>
    <dgm:pt modelId="{5DE22A70-8C27-4C03-82C6-92C8DF18EBC6}" type="parTrans" cxnId="{D47191D2-835B-403C-9E2D-DE94F8654970}">
      <dgm:prSet/>
      <dgm:spPr/>
      <dgm:t>
        <a:bodyPr/>
        <a:lstStyle/>
        <a:p>
          <a:endParaRPr lang="en-CA"/>
        </a:p>
      </dgm:t>
    </dgm:pt>
    <dgm:pt modelId="{47DBA7D8-1F5B-45D9-934A-43D14AB39227}" type="sibTrans" cxnId="{D47191D2-835B-403C-9E2D-DE94F8654970}">
      <dgm:prSet/>
      <dgm:spPr/>
      <dgm:t>
        <a:bodyPr/>
        <a:lstStyle/>
        <a:p>
          <a:endParaRPr lang="en-CA"/>
        </a:p>
      </dgm:t>
    </dgm:pt>
    <dgm:pt modelId="{9960D911-F356-4153-BCED-058798B14A28}">
      <dgm:prSet/>
      <dgm:spPr>
        <a:solidFill>
          <a:schemeClr val="bg1">
            <a:lumMod val="65000"/>
          </a:schemeClr>
        </a:solidFill>
      </dgm:spPr>
      <dgm:t>
        <a:bodyPr/>
        <a:lstStyle/>
        <a:p>
          <a:r>
            <a:rPr lang="en-US" b="1" dirty="0">
              <a:solidFill>
                <a:schemeClr val="bg1"/>
              </a:solidFill>
              <a:latin typeface="Montserrat" panose="00000500000000000000" pitchFamily="2" charset="0"/>
              <a:ea typeface="Montserrat"/>
              <a:cs typeface="Montserrat"/>
              <a:sym typeface="Montserrat"/>
            </a:rPr>
            <a:t>Skilled Multidisciplinary Team &amp; Strong Leadership: </a:t>
          </a:r>
          <a:r>
            <a:rPr lang="en-US" dirty="0">
              <a:solidFill>
                <a:schemeClr val="bg1"/>
              </a:solidFill>
              <a:latin typeface="Montserrat" panose="00000500000000000000" pitchFamily="2" charset="0"/>
              <a:ea typeface="Montserrat"/>
              <a:cs typeface="Montserrat"/>
              <a:sym typeface="Montserrat"/>
            </a:rPr>
            <a:t>The "Who." Diverse expertise is crucial.</a:t>
          </a:r>
          <a:endParaRPr lang="en-US" b="1" dirty="0">
            <a:solidFill>
              <a:schemeClr val="bg1"/>
            </a:solidFill>
            <a:latin typeface="Montserrat" panose="00000500000000000000" pitchFamily="2" charset="0"/>
            <a:ea typeface="Montserrat"/>
            <a:cs typeface="Montserrat"/>
            <a:sym typeface="Montserrat"/>
          </a:endParaRPr>
        </a:p>
      </dgm:t>
    </dgm:pt>
    <dgm:pt modelId="{FBE6FCE3-76D6-4BBF-87A9-910B523785E6}" type="parTrans" cxnId="{B72DC5BD-16DF-47A3-870D-A9335A6215DE}">
      <dgm:prSet/>
      <dgm:spPr/>
      <dgm:t>
        <a:bodyPr/>
        <a:lstStyle/>
        <a:p>
          <a:endParaRPr lang="en-CA"/>
        </a:p>
      </dgm:t>
    </dgm:pt>
    <dgm:pt modelId="{AE7046A3-3397-4D46-8126-29D0A9504ABB}" type="sibTrans" cxnId="{B72DC5BD-16DF-47A3-870D-A9335A6215DE}">
      <dgm:prSet/>
      <dgm:spPr/>
      <dgm:t>
        <a:bodyPr/>
        <a:lstStyle/>
        <a:p>
          <a:endParaRPr lang="en-CA"/>
        </a:p>
      </dgm:t>
    </dgm:pt>
    <dgm:pt modelId="{53D2BA52-5932-4E6A-B238-9CCC040C5066}">
      <dgm:prSet/>
      <dgm:spPr>
        <a:solidFill>
          <a:srgbClr val="0C1752"/>
        </a:solidFill>
      </dgm:spPr>
      <dgm:t>
        <a:bodyPr/>
        <a:lstStyle/>
        <a:p>
          <a:r>
            <a:rPr lang="en-CA" b="1" dirty="0">
              <a:solidFill>
                <a:schemeClr val="bg1"/>
              </a:solidFill>
              <a:latin typeface="Montserrat" panose="00000500000000000000" pitchFamily="2" charset="0"/>
              <a:ea typeface="Montserrat"/>
              <a:cs typeface="Montserrat"/>
              <a:sym typeface="Montserrat"/>
            </a:rPr>
            <a:t>Effective Stakeholder Management &amp; Communication:</a:t>
          </a:r>
          <a:r>
            <a:rPr lang="en-CA" dirty="0">
              <a:solidFill>
                <a:schemeClr val="bg1"/>
              </a:solidFill>
              <a:latin typeface="Montserrat" panose="00000500000000000000" pitchFamily="2" charset="0"/>
              <a:ea typeface="Montserrat"/>
              <a:cs typeface="Montserrat"/>
              <a:sym typeface="Montserrat"/>
            </a:rPr>
            <a:t> </a:t>
          </a:r>
          <a:r>
            <a:rPr lang="en-US" dirty="0">
              <a:solidFill>
                <a:schemeClr val="bg1"/>
              </a:solidFill>
              <a:latin typeface="Montserrat" panose="00000500000000000000" pitchFamily="2" charset="0"/>
              <a:ea typeface="Montserrat"/>
              <a:cs typeface="Montserrat"/>
              <a:sym typeface="Montserrat"/>
            </a:rPr>
            <a:t>Keeping everyone informed and aligned.</a:t>
          </a:r>
          <a:endParaRPr lang="en-CA" dirty="0">
            <a:solidFill>
              <a:schemeClr val="bg1"/>
            </a:solidFill>
            <a:latin typeface="Montserrat" panose="00000500000000000000" pitchFamily="2" charset="0"/>
            <a:ea typeface="Montserrat"/>
            <a:cs typeface="Montserrat"/>
            <a:sym typeface="Montserrat"/>
          </a:endParaRPr>
        </a:p>
      </dgm:t>
    </dgm:pt>
    <dgm:pt modelId="{6AEE8145-7287-4AB6-BEAA-226D8E98A57F}" type="parTrans" cxnId="{37F630FF-4B1F-4C7C-A0F1-B1B6C9BCF0CB}">
      <dgm:prSet/>
      <dgm:spPr/>
      <dgm:t>
        <a:bodyPr/>
        <a:lstStyle/>
        <a:p>
          <a:endParaRPr lang="en-CA"/>
        </a:p>
      </dgm:t>
    </dgm:pt>
    <dgm:pt modelId="{E51F3A41-E0A4-44D1-9728-42207D32C5F4}" type="sibTrans" cxnId="{37F630FF-4B1F-4C7C-A0F1-B1B6C9BCF0CB}">
      <dgm:prSet/>
      <dgm:spPr/>
      <dgm:t>
        <a:bodyPr/>
        <a:lstStyle/>
        <a:p>
          <a:endParaRPr lang="en-CA"/>
        </a:p>
      </dgm:t>
    </dgm:pt>
    <dgm:pt modelId="{1495A476-E88F-4F5A-A7F6-F2105CFEB8A9}">
      <dgm:prSet/>
      <dgm:spPr>
        <a:solidFill>
          <a:schemeClr val="bg1">
            <a:lumMod val="65000"/>
          </a:schemeClr>
        </a:solidFill>
      </dgm:spPr>
      <dgm:t>
        <a:bodyPr/>
        <a:lstStyle/>
        <a:p>
          <a:r>
            <a:rPr lang="en-CA" b="1">
              <a:solidFill>
                <a:schemeClr val="bg1"/>
              </a:solidFill>
              <a:latin typeface="Montserrat" panose="00000500000000000000" pitchFamily="2" charset="0"/>
              <a:ea typeface="Montserrat"/>
              <a:cs typeface="Montserrat"/>
              <a:sym typeface="Montserrat"/>
            </a:rPr>
            <a:t>Robust MLOps &amp; Deployment Strategy:</a:t>
          </a:r>
          <a:r>
            <a:rPr lang="en-CA">
              <a:solidFill>
                <a:schemeClr val="bg1"/>
              </a:solidFill>
              <a:latin typeface="Montserrat" panose="00000500000000000000" pitchFamily="2" charset="0"/>
              <a:ea typeface="Montserrat"/>
              <a:cs typeface="Montserrat"/>
              <a:sym typeface="Montserrat"/>
            </a:rPr>
            <a:t> </a:t>
          </a:r>
          <a:r>
            <a:rPr lang="en-US">
              <a:solidFill>
                <a:schemeClr val="bg1"/>
              </a:solidFill>
              <a:latin typeface="Montserrat" panose="00000500000000000000" pitchFamily="2" charset="0"/>
              <a:ea typeface="Montserrat"/>
              <a:cs typeface="Montserrat"/>
              <a:sym typeface="Montserrat"/>
            </a:rPr>
            <a:t>Moving from prototype to production reliably and scalably.</a:t>
          </a:r>
          <a:endParaRPr lang="en-CA" dirty="0">
            <a:solidFill>
              <a:schemeClr val="bg1"/>
            </a:solidFill>
            <a:latin typeface="Montserrat" panose="00000500000000000000" pitchFamily="2" charset="0"/>
            <a:ea typeface="Montserrat"/>
            <a:cs typeface="Montserrat"/>
            <a:sym typeface="Montserrat"/>
          </a:endParaRPr>
        </a:p>
      </dgm:t>
    </dgm:pt>
    <dgm:pt modelId="{9B906BDE-31C7-452F-989D-31F8A5829DD4}" type="parTrans" cxnId="{EB6707AA-5E82-4A22-A5D6-3DBA83FCD1C9}">
      <dgm:prSet/>
      <dgm:spPr/>
      <dgm:t>
        <a:bodyPr/>
        <a:lstStyle/>
        <a:p>
          <a:endParaRPr lang="en-CA"/>
        </a:p>
      </dgm:t>
    </dgm:pt>
    <dgm:pt modelId="{080F09C4-E202-45B4-86F4-3EB2F72EA2B6}" type="sibTrans" cxnId="{EB6707AA-5E82-4A22-A5D6-3DBA83FCD1C9}">
      <dgm:prSet/>
      <dgm:spPr/>
      <dgm:t>
        <a:bodyPr/>
        <a:lstStyle/>
        <a:p>
          <a:endParaRPr lang="en-CA"/>
        </a:p>
      </dgm:t>
    </dgm:pt>
    <dgm:pt modelId="{8E5C29BC-920D-41E0-A330-1A0C6B474CEB}">
      <dgm:prSet/>
      <dgm:spPr>
        <a:solidFill>
          <a:srgbClr val="D56E48"/>
        </a:solidFill>
      </dgm:spPr>
      <dgm:t>
        <a:bodyPr/>
        <a:lstStyle/>
        <a:p>
          <a:r>
            <a:rPr lang="en-CA" b="1" dirty="0">
              <a:solidFill>
                <a:schemeClr val="bg1"/>
              </a:solidFill>
              <a:latin typeface="Montserrat" panose="00000500000000000000" pitchFamily="2" charset="0"/>
              <a:ea typeface="Montserrat"/>
              <a:cs typeface="Montserrat"/>
              <a:sym typeface="Montserrat"/>
            </a:rPr>
            <a:t>Ethical Considerations &amp; Responsible AI:</a:t>
          </a:r>
          <a:r>
            <a:rPr lang="en-CA" dirty="0">
              <a:solidFill>
                <a:schemeClr val="bg1"/>
              </a:solidFill>
              <a:latin typeface="Montserrat" panose="00000500000000000000" pitchFamily="2" charset="0"/>
              <a:ea typeface="Montserrat"/>
              <a:cs typeface="Montserrat"/>
              <a:sym typeface="Montserrat"/>
            </a:rPr>
            <a:t>  </a:t>
          </a:r>
          <a:r>
            <a:rPr lang="en-US" dirty="0">
              <a:solidFill>
                <a:schemeClr val="bg1"/>
              </a:solidFill>
              <a:latin typeface="Montserrat" panose="00000500000000000000" pitchFamily="2" charset="0"/>
              <a:ea typeface="Montserrat"/>
              <a:cs typeface="Montserrat"/>
              <a:sym typeface="Montserrat"/>
            </a:rPr>
            <a:t>Building trust and mitigating societal risks</a:t>
          </a:r>
          <a:endParaRPr lang="en-CA" dirty="0">
            <a:solidFill>
              <a:schemeClr val="bg1"/>
            </a:solidFill>
            <a:latin typeface="Montserrat" panose="00000500000000000000" pitchFamily="2" charset="0"/>
            <a:ea typeface="Montserrat"/>
            <a:cs typeface="Montserrat"/>
            <a:sym typeface="Montserrat"/>
          </a:endParaRPr>
        </a:p>
      </dgm:t>
    </dgm:pt>
    <dgm:pt modelId="{A4A496E1-CB91-4070-B4D4-B476F34AC7FA}" type="parTrans" cxnId="{9805C517-0673-4D77-B9C6-87C021F0DCEB}">
      <dgm:prSet/>
      <dgm:spPr/>
      <dgm:t>
        <a:bodyPr/>
        <a:lstStyle/>
        <a:p>
          <a:endParaRPr lang="en-CA"/>
        </a:p>
      </dgm:t>
    </dgm:pt>
    <dgm:pt modelId="{4F30CE09-778F-4923-BAAA-07CB2F34EE47}" type="sibTrans" cxnId="{9805C517-0673-4D77-B9C6-87C021F0DCEB}">
      <dgm:prSet/>
      <dgm:spPr/>
      <dgm:t>
        <a:bodyPr/>
        <a:lstStyle/>
        <a:p>
          <a:endParaRPr lang="en-CA"/>
        </a:p>
      </dgm:t>
    </dgm:pt>
    <dgm:pt modelId="{CFFB61BA-A5FD-4C77-9AAD-79B8D214E43C}" type="pres">
      <dgm:prSet presAssocID="{76F215E6-B269-447C-A034-731C6F0090E1}" presName="diagram" presStyleCnt="0">
        <dgm:presLayoutVars>
          <dgm:dir/>
          <dgm:resizeHandles val="exact"/>
        </dgm:presLayoutVars>
      </dgm:prSet>
      <dgm:spPr/>
    </dgm:pt>
    <dgm:pt modelId="{F7CE2118-063A-47CA-97E2-C01ABED7B6FE}" type="pres">
      <dgm:prSet presAssocID="{87519B05-2A58-4977-958D-3AA87ECE9082}" presName="node" presStyleLbl="node1" presStyleIdx="0" presStyleCnt="7">
        <dgm:presLayoutVars>
          <dgm:bulletEnabled val="1"/>
        </dgm:presLayoutVars>
      </dgm:prSet>
      <dgm:spPr/>
    </dgm:pt>
    <dgm:pt modelId="{DE4E5198-43BC-4D2C-B450-2F6145D64809}" type="pres">
      <dgm:prSet presAssocID="{C2D159E2-C83F-46EB-B7E6-CAC0BE8B6ED4}" presName="sibTrans" presStyleCnt="0"/>
      <dgm:spPr/>
    </dgm:pt>
    <dgm:pt modelId="{618D537A-FEEA-4982-B9BF-1EA371CD9B96}" type="pres">
      <dgm:prSet presAssocID="{BCE76A23-173E-4C75-BF7B-42F57E1151D7}" presName="node" presStyleLbl="node1" presStyleIdx="1" presStyleCnt="7">
        <dgm:presLayoutVars>
          <dgm:bulletEnabled val="1"/>
        </dgm:presLayoutVars>
      </dgm:prSet>
      <dgm:spPr/>
    </dgm:pt>
    <dgm:pt modelId="{1F644CD6-BC34-4232-83AD-18A36EF5F3D6}" type="pres">
      <dgm:prSet presAssocID="{319CBD70-7050-4176-A0C3-AAD975BE01E9}" presName="sibTrans" presStyleCnt="0"/>
      <dgm:spPr/>
    </dgm:pt>
    <dgm:pt modelId="{B74D2078-2115-486E-BC12-E2DC0CACFFDE}" type="pres">
      <dgm:prSet presAssocID="{C2D65A6B-4A1D-46C3-90FC-BFED0D15250F}" presName="node" presStyleLbl="node1" presStyleIdx="2" presStyleCnt="7">
        <dgm:presLayoutVars>
          <dgm:bulletEnabled val="1"/>
        </dgm:presLayoutVars>
      </dgm:prSet>
      <dgm:spPr/>
    </dgm:pt>
    <dgm:pt modelId="{0FA72009-2A36-48E7-B032-5D89776EEA43}" type="pres">
      <dgm:prSet presAssocID="{47DBA7D8-1F5B-45D9-934A-43D14AB39227}" presName="sibTrans" presStyleCnt="0"/>
      <dgm:spPr/>
    </dgm:pt>
    <dgm:pt modelId="{ED2CE8BF-3ED2-41A1-9A79-A957BA7B3AB7}" type="pres">
      <dgm:prSet presAssocID="{9960D911-F356-4153-BCED-058798B14A28}" presName="node" presStyleLbl="node1" presStyleIdx="3" presStyleCnt="7">
        <dgm:presLayoutVars>
          <dgm:bulletEnabled val="1"/>
        </dgm:presLayoutVars>
      </dgm:prSet>
      <dgm:spPr/>
    </dgm:pt>
    <dgm:pt modelId="{AA279CA4-AF0C-4CD4-86AF-65022F65B0BF}" type="pres">
      <dgm:prSet presAssocID="{AE7046A3-3397-4D46-8126-29D0A9504ABB}" presName="sibTrans" presStyleCnt="0"/>
      <dgm:spPr/>
    </dgm:pt>
    <dgm:pt modelId="{B985339F-8CEF-4904-A02D-072AC84269A9}" type="pres">
      <dgm:prSet presAssocID="{53D2BA52-5932-4E6A-B238-9CCC040C5066}" presName="node" presStyleLbl="node1" presStyleIdx="4" presStyleCnt="7">
        <dgm:presLayoutVars>
          <dgm:bulletEnabled val="1"/>
        </dgm:presLayoutVars>
      </dgm:prSet>
      <dgm:spPr/>
    </dgm:pt>
    <dgm:pt modelId="{515F1BD2-E875-4BC4-93DF-4A90A0E46146}" type="pres">
      <dgm:prSet presAssocID="{E51F3A41-E0A4-44D1-9728-42207D32C5F4}" presName="sibTrans" presStyleCnt="0"/>
      <dgm:spPr/>
    </dgm:pt>
    <dgm:pt modelId="{AF42AA41-4CD9-4820-8B15-B261CC645C69}" type="pres">
      <dgm:prSet presAssocID="{1495A476-E88F-4F5A-A7F6-F2105CFEB8A9}" presName="node" presStyleLbl="node1" presStyleIdx="5" presStyleCnt="7">
        <dgm:presLayoutVars>
          <dgm:bulletEnabled val="1"/>
        </dgm:presLayoutVars>
      </dgm:prSet>
      <dgm:spPr/>
    </dgm:pt>
    <dgm:pt modelId="{9C1B96F8-7EA0-478C-B12B-3FBAB90C1211}" type="pres">
      <dgm:prSet presAssocID="{080F09C4-E202-45B4-86F4-3EB2F72EA2B6}" presName="sibTrans" presStyleCnt="0"/>
      <dgm:spPr/>
    </dgm:pt>
    <dgm:pt modelId="{9F5671E8-CE14-443C-B8C2-CAB0A572CEA7}" type="pres">
      <dgm:prSet presAssocID="{8E5C29BC-920D-41E0-A330-1A0C6B474CEB}" presName="node" presStyleLbl="node1" presStyleIdx="6" presStyleCnt="7">
        <dgm:presLayoutVars>
          <dgm:bulletEnabled val="1"/>
        </dgm:presLayoutVars>
      </dgm:prSet>
      <dgm:spPr/>
    </dgm:pt>
  </dgm:ptLst>
  <dgm:cxnLst>
    <dgm:cxn modelId="{9805C517-0673-4D77-B9C6-87C021F0DCEB}" srcId="{76F215E6-B269-447C-A034-731C6F0090E1}" destId="{8E5C29BC-920D-41E0-A330-1A0C6B474CEB}" srcOrd="6" destOrd="0" parTransId="{A4A496E1-CB91-4070-B4D4-B476F34AC7FA}" sibTransId="{4F30CE09-778F-4923-BAAA-07CB2F34EE47}"/>
    <dgm:cxn modelId="{F5A7324C-018A-425C-A7E5-FAEC36689EA5}" type="presOf" srcId="{C2D65A6B-4A1D-46C3-90FC-BFED0D15250F}" destId="{B74D2078-2115-486E-BC12-E2DC0CACFFDE}" srcOrd="0" destOrd="0" presId="urn:microsoft.com/office/officeart/2005/8/layout/default"/>
    <dgm:cxn modelId="{2A6DC96F-2C05-4ED0-934A-24BDEA1AA2A3}" type="presOf" srcId="{1495A476-E88F-4F5A-A7F6-F2105CFEB8A9}" destId="{AF42AA41-4CD9-4820-8B15-B261CC645C69}" srcOrd="0" destOrd="0" presId="urn:microsoft.com/office/officeart/2005/8/layout/default"/>
    <dgm:cxn modelId="{DF13D17D-44B8-43FB-96F7-DEC6E496DA5B}" srcId="{76F215E6-B269-447C-A034-731C6F0090E1}" destId="{87519B05-2A58-4977-958D-3AA87ECE9082}" srcOrd="0" destOrd="0" parTransId="{39D12289-2AE8-4681-B07F-F1ED7E96F9A1}" sibTransId="{C2D159E2-C83F-46EB-B7E6-CAC0BE8B6ED4}"/>
    <dgm:cxn modelId="{EAC29C8A-52D4-4495-BC20-87E679F59D46}" type="presOf" srcId="{BCE76A23-173E-4C75-BF7B-42F57E1151D7}" destId="{618D537A-FEEA-4982-B9BF-1EA371CD9B96}" srcOrd="0" destOrd="0" presId="urn:microsoft.com/office/officeart/2005/8/layout/default"/>
    <dgm:cxn modelId="{FD6B018C-24A6-4535-A709-37BCB9E94932}" type="presOf" srcId="{8E5C29BC-920D-41E0-A330-1A0C6B474CEB}" destId="{9F5671E8-CE14-443C-B8C2-CAB0A572CEA7}" srcOrd="0" destOrd="0" presId="urn:microsoft.com/office/officeart/2005/8/layout/default"/>
    <dgm:cxn modelId="{79CDD992-C7E6-44AB-85BB-2152E5E3C75B}" type="presOf" srcId="{9960D911-F356-4153-BCED-058798B14A28}" destId="{ED2CE8BF-3ED2-41A1-9A79-A957BA7B3AB7}" srcOrd="0" destOrd="0" presId="urn:microsoft.com/office/officeart/2005/8/layout/default"/>
    <dgm:cxn modelId="{C444EEA0-CC16-4E85-A28F-EA7E467C5862}" srcId="{76F215E6-B269-447C-A034-731C6F0090E1}" destId="{BCE76A23-173E-4C75-BF7B-42F57E1151D7}" srcOrd="1" destOrd="0" parTransId="{6A729EDC-1E18-466F-BAA7-A13DD0B94D65}" sibTransId="{319CBD70-7050-4176-A0C3-AAD975BE01E9}"/>
    <dgm:cxn modelId="{EB6707AA-5E82-4A22-A5D6-3DBA83FCD1C9}" srcId="{76F215E6-B269-447C-A034-731C6F0090E1}" destId="{1495A476-E88F-4F5A-A7F6-F2105CFEB8A9}" srcOrd="5" destOrd="0" parTransId="{9B906BDE-31C7-452F-989D-31F8A5829DD4}" sibTransId="{080F09C4-E202-45B4-86F4-3EB2F72EA2B6}"/>
    <dgm:cxn modelId="{03CD53B8-DC41-405A-91BB-4C1C39E53E55}" type="presOf" srcId="{76F215E6-B269-447C-A034-731C6F0090E1}" destId="{CFFB61BA-A5FD-4C77-9AAD-79B8D214E43C}" srcOrd="0" destOrd="0" presId="urn:microsoft.com/office/officeart/2005/8/layout/default"/>
    <dgm:cxn modelId="{B72DC5BD-16DF-47A3-870D-A9335A6215DE}" srcId="{76F215E6-B269-447C-A034-731C6F0090E1}" destId="{9960D911-F356-4153-BCED-058798B14A28}" srcOrd="3" destOrd="0" parTransId="{FBE6FCE3-76D6-4BBF-87A9-910B523785E6}" sibTransId="{AE7046A3-3397-4D46-8126-29D0A9504ABB}"/>
    <dgm:cxn modelId="{D47191D2-835B-403C-9E2D-DE94F8654970}" srcId="{76F215E6-B269-447C-A034-731C6F0090E1}" destId="{C2D65A6B-4A1D-46C3-90FC-BFED0D15250F}" srcOrd="2" destOrd="0" parTransId="{5DE22A70-8C27-4C03-82C6-92C8DF18EBC6}" sibTransId="{47DBA7D8-1F5B-45D9-934A-43D14AB39227}"/>
    <dgm:cxn modelId="{EECDAEE0-0888-4C2B-B1FD-BB00B9B10063}" type="presOf" srcId="{53D2BA52-5932-4E6A-B238-9CCC040C5066}" destId="{B985339F-8CEF-4904-A02D-072AC84269A9}" srcOrd="0" destOrd="0" presId="urn:microsoft.com/office/officeart/2005/8/layout/default"/>
    <dgm:cxn modelId="{44AFE7F7-5E08-42D3-8F84-C781D230048F}" type="presOf" srcId="{87519B05-2A58-4977-958D-3AA87ECE9082}" destId="{F7CE2118-063A-47CA-97E2-C01ABED7B6FE}" srcOrd="0" destOrd="0" presId="urn:microsoft.com/office/officeart/2005/8/layout/default"/>
    <dgm:cxn modelId="{37F630FF-4B1F-4C7C-A0F1-B1B6C9BCF0CB}" srcId="{76F215E6-B269-447C-A034-731C6F0090E1}" destId="{53D2BA52-5932-4E6A-B238-9CCC040C5066}" srcOrd="4" destOrd="0" parTransId="{6AEE8145-7287-4AB6-BEAA-226D8E98A57F}" sibTransId="{E51F3A41-E0A4-44D1-9728-42207D32C5F4}"/>
    <dgm:cxn modelId="{CB41D012-6D81-47C6-9B42-27A1C5800FDF}" type="presParOf" srcId="{CFFB61BA-A5FD-4C77-9AAD-79B8D214E43C}" destId="{F7CE2118-063A-47CA-97E2-C01ABED7B6FE}" srcOrd="0" destOrd="0" presId="urn:microsoft.com/office/officeart/2005/8/layout/default"/>
    <dgm:cxn modelId="{5557222A-9AC7-4563-AD48-9212FB06B3C8}" type="presParOf" srcId="{CFFB61BA-A5FD-4C77-9AAD-79B8D214E43C}" destId="{DE4E5198-43BC-4D2C-B450-2F6145D64809}" srcOrd="1" destOrd="0" presId="urn:microsoft.com/office/officeart/2005/8/layout/default"/>
    <dgm:cxn modelId="{FF48611F-9209-40A7-AD28-D3A7172C4D85}" type="presParOf" srcId="{CFFB61BA-A5FD-4C77-9AAD-79B8D214E43C}" destId="{618D537A-FEEA-4982-B9BF-1EA371CD9B96}" srcOrd="2" destOrd="0" presId="urn:microsoft.com/office/officeart/2005/8/layout/default"/>
    <dgm:cxn modelId="{8669326B-9D59-4B5F-AC01-2469CD019552}" type="presParOf" srcId="{CFFB61BA-A5FD-4C77-9AAD-79B8D214E43C}" destId="{1F644CD6-BC34-4232-83AD-18A36EF5F3D6}" srcOrd="3" destOrd="0" presId="urn:microsoft.com/office/officeart/2005/8/layout/default"/>
    <dgm:cxn modelId="{367EFB4D-4E65-4DCF-978B-CBCBB85D179A}" type="presParOf" srcId="{CFFB61BA-A5FD-4C77-9AAD-79B8D214E43C}" destId="{B74D2078-2115-486E-BC12-E2DC0CACFFDE}" srcOrd="4" destOrd="0" presId="urn:microsoft.com/office/officeart/2005/8/layout/default"/>
    <dgm:cxn modelId="{61229026-AB1E-4D33-9E6B-784D04C4E579}" type="presParOf" srcId="{CFFB61BA-A5FD-4C77-9AAD-79B8D214E43C}" destId="{0FA72009-2A36-48E7-B032-5D89776EEA43}" srcOrd="5" destOrd="0" presId="urn:microsoft.com/office/officeart/2005/8/layout/default"/>
    <dgm:cxn modelId="{08181F19-3F9A-4085-9EE5-3A2CDA08B55D}" type="presParOf" srcId="{CFFB61BA-A5FD-4C77-9AAD-79B8D214E43C}" destId="{ED2CE8BF-3ED2-41A1-9A79-A957BA7B3AB7}" srcOrd="6" destOrd="0" presId="urn:microsoft.com/office/officeart/2005/8/layout/default"/>
    <dgm:cxn modelId="{435B80AB-088F-41EE-83FA-4EDBA7A1DDEA}" type="presParOf" srcId="{CFFB61BA-A5FD-4C77-9AAD-79B8D214E43C}" destId="{AA279CA4-AF0C-4CD4-86AF-65022F65B0BF}" srcOrd="7" destOrd="0" presId="urn:microsoft.com/office/officeart/2005/8/layout/default"/>
    <dgm:cxn modelId="{E183CCF5-87B0-4970-A1D9-1906205E0090}" type="presParOf" srcId="{CFFB61BA-A5FD-4C77-9AAD-79B8D214E43C}" destId="{B985339F-8CEF-4904-A02D-072AC84269A9}" srcOrd="8" destOrd="0" presId="urn:microsoft.com/office/officeart/2005/8/layout/default"/>
    <dgm:cxn modelId="{81590C1C-D54A-4671-942F-018B947745E2}" type="presParOf" srcId="{CFFB61BA-A5FD-4C77-9AAD-79B8D214E43C}" destId="{515F1BD2-E875-4BC4-93DF-4A90A0E46146}" srcOrd="9" destOrd="0" presId="urn:microsoft.com/office/officeart/2005/8/layout/default"/>
    <dgm:cxn modelId="{1A3A9A66-9BB7-48AB-A096-706E816261B3}" type="presParOf" srcId="{CFFB61BA-A5FD-4C77-9AAD-79B8D214E43C}" destId="{AF42AA41-4CD9-4820-8B15-B261CC645C69}" srcOrd="10" destOrd="0" presId="urn:microsoft.com/office/officeart/2005/8/layout/default"/>
    <dgm:cxn modelId="{65837103-839C-4789-A144-89248B683E8D}" type="presParOf" srcId="{CFFB61BA-A5FD-4C77-9AAD-79B8D214E43C}" destId="{9C1B96F8-7EA0-478C-B12B-3FBAB90C1211}" srcOrd="11" destOrd="0" presId="urn:microsoft.com/office/officeart/2005/8/layout/default"/>
    <dgm:cxn modelId="{587BC3F5-105B-4A30-AC9F-7DBBBEA8195A}" type="presParOf" srcId="{CFFB61BA-A5FD-4C77-9AAD-79B8D214E43C}" destId="{9F5671E8-CE14-443C-B8C2-CAB0A572CEA7}" srcOrd="1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FB4E548-EFC0-4EF6-A786-00FFE61A654F}"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48FE7A73-7F73-414C-80A2-125DD933A7E7}">
      <dgm:prSet custT="1"/>
      <dgm:spPr>
        <a:solidFill>
          <a:srgbClr val="0C1752"/>
        </a:solidFill>
      </dgm:spPr>
      <dgm:t>
        <a:bodyPr/>
        <a:lstStyle/>
        <a:p>
          <a:pPr>
            <a:buNone/>
          </a:pPr>
          <a:r>
            <a:rPr lang="en-US" sz="1600" b="0" dirty="0">
              <a:latin typeface="Montserrat" panose="00000500000000000000" pitchFamily="2" charset="0"/>
            </a:rPr>
            <a:t>Scoping &amp; Planning:</a:t>
          </a:r>
        </a:p>
        <a:p>
          <a:pPr>
            <a:buNone/>
          </a:pPr>
          <a:r>
            <a:rPr lang="en-US" sz="1600" b="0" dirty="0">
              <a:latin typeface="Montserrat" panose="00000500000000000000" pitchFamily="2" charset="0"/>
            </a:rPr>
            <a:t>Stakeholder workshops, consultant fees, feasibility studies</a:t>
          </a:r>
        </a:p>
      </dgm:t>
    </dgm:pt>
    <dgm:pt modelId="{471BD238-242E-4678-B218-424F8A38D4D2}" type="parTrans" cxnId="{3B60970C-3DCE-4B92-9B0F-11E916023FAB}">
      <dgm:prSet/>
      <dgm:spPr/>
      <dgm:t>
        <a:bodyPr/>
        <a:lstStyle/>
        <a:p>
          <a:endParaRPr lang="en-CA" sz="1600"/>
        </a:p>
      </dgm:t>
    </dgm:pt>
    <dgm:pt modelId="{9A779ACB-AE36-4DF6-ABA2-6EC21B639767}" type="sibTrans" cxnId="{3B60970C-3DCE-4B92-9B0F-11E916023FAB}">
      <dgm:prSet/>
      <dgm:spPr/>
      <dgm:t>
        <a:bodyPr/>
        <a:lstStyle/>
        <a:p>
          <a:endParaRPr lang="en-CA" sz="1600"/>
        </a:p>
      </dgm:t>
    </dgm:pt>
    <dgm:pt modelId="{E20E368C-C81C-4389-9315-17402C4B3C74}">
      <dgm:prSet custT="1"/>
      <dgm:spPr>
        <a:solidFill>
          <a:srgbClr val="1BBFD1"/>
        </a:solidFill>
      </dgm:spPr>
      <dgm:t>
        <a:bodyPr/>
        <a:lstStyle/>
        <a:p>
          <a:pPr>
            <a:buNone/>
          </a:pPr>
          <a:r>
            <a:rPr lang="en-CA" sz="1600" b="0" dirty="0">
              <a:latin typeface="Montserrat" panose="00000500000000000000" pitchFamily="2" charset="0"/>
            </a:rPr>
            <a:t>Data Strategy	:</a:t>
          </a:r>
        </a:p>
        <a:p>
          <a:pPr>
            <a:buNone/>
          </a:pPr>
          <a:r>
            <a:rPr lang="en-CA" sz="1600" b="0" dirty="0">
              <a:latin typeface="Montserrat" panose="00000500000000000000" pitchFamily="2" charset="0"/>
            </a:rPr>
            <a:t>Data acquisition, cleaning, labeling, storage</a:t>
          </a:r>
        </a:p>
      </dgm:t>
    </dgm:pt>
    <dgm:pt modelId="{E3ED5234-623A-4B48-A91E-F2363B19E668}" type="parTrans" cxnId="{83E2A468-05AB-4437-A889-59797F3E92D9}">
      <dgm:prSet/>
      <dgm:spPr/>
      <dgm:t>
        <a:bodyPr/>
        <a:lstStyle/>
        <a:p>
          <a:endParaRPr lang="en-CA" sz="1600"/>
        </a:p>
      </dgm:t>
    </dgm:pt>
    <dgm:pt modelId="{74E6C8BD-FA58-42F3-AC0B-81C478CE589D}" type="sibTrans" cxnId="{83E2A468-05AB-4437-A889-59797F3E92D9}">
      <dgm:prSet/>
      <dgm:spPr/>
      <dgm:t>
        <a:bodyPr/>
        <a:lstStyle/>
        <a:p>
          <a:endParaRPr lang="en-CA" sz="1600"/>
        </a:p>
      </dgm:t>
    </dgm:pt>
    <dgm:pt modelId="{4AFA0759-B607-465B-B613-0B0D80E8CF25}">
      <dgm:prSet custT="1"/>
      <dgm:spPr>
        <a:solidFill>
          <a:srgbClr val="D56E48"/>
        </a:solidFill>
      </dgm:spPr>
      <dgm:t>
        <a:bodyPr/>
        <a:lstStyle/>
        <a:p>
          <a:pPr>
            <a:buNone/>
          </a:pPr>
          <a:r>
            <a:rPr lang="en-US" sz="1600" b="0" dirty="0">
              <a:latin typeface="Montserrat" panose="00000500000000000000" pitchFamily="2" charset="0"/>
            </a:rPr>
            <a:t>Model Development:</a:t>
          </a:r>
        </a:p>
        <a:p>
          <a:pPr>
            <a:buNone/>
          </a:pPr>
          <a:r>
            <a:rPr lang="en-US" sz="1600" b="0" dirty="0">
              <a:latin typeface="Montserrat" panose="00000500000000000000" pitchFamily="2" charset="0"/>
            </a:rPr>
            <a:t>Cloud compute (GPUs, TPUs), ML engineers, ML tools</a:t>
          </a:r>
        </a:p>
      </dgm:t>
    </dgm:pt>
    <dgm:pt modelId="{A1E0B5DF-FA92-4B7D-A4B6-AA09BF632502}" type="parTrans" cxnId="{6177712B-B05F-40F3-9DE5-70215B41A00C}">
      <dgm:prSet/>
      <dgm:spPr/>
      <dgm:t>
        <a:bodyPr/>
        <a:lstStyle/>
        <a:p>
          <a:endParaRPr lang="en-CA" sz="1600"/>
        </a:p>
      </dgm:t>
    </dgm:pt>
    <dgm:pt modelId="{A3390040-54BD-42DB-AA53-BA72E216875C}" type="sibTrans" cxnId="{6177712B-B05F-40F3-9DE5-70215B41A00C}">
      <dgm:prSet/>
      <dgm:spPr/>
      <dgm:t>
        <a:bodyPr/>
        <a:lstStyle/>
        <a:p>
          <a:endParaRPr lang="en-CA" sz="1600"/>
        </a:p>
      </dgm:t>
    </dgm:pt>
    <dgm:pt modelId="{11410AA0-8D89-468E-8836-803799A585D2}">
      <dgm:prSet custT="1"/>
      <dgm:spPr>
        <a:solidFill>
          <a:schemeClr val="bg1">
            <a:lumMod val="65000"/>
          </a:schemeClr>
        </a:solidFill>
      </dgm:spPr>
      <dgm:t>
        <a:bodyPr/>
        <a:lstStyle/>
        <a:p>
          <a:pPr>
            <a:buNone/>
          </a:pPr>
          <a:r>
            <a:rPr lang="en-US" sz="1600" b="0" dirty="0">
              <a:latin typeface="Montserrat" panose="00000500000000000000" pitchFamily="2" charset="0"/>
            </a:rPr>
            <a:t>Experimentation &amp; Validation:	</a:t>
          </a:r>
        </a:p>
        <a:p>
          <a:pPr>
            <a:buNone/>
          </a:pPr>
          <a:r>
            <a:rPr lang="en-US" sz="1600" b="0" dirty="0" err="1">
              <a:latin typeface="Montserrat" panose="00000500000000000000" pitchFamily="2" charset="0"/>
            </a:rPr>
            <a:t>MLOps</a:t>
          </a:r>
          <a:r>
            <a:rPr lang="en-US" sz="1600" b="0" dirty="0">
              <a:latin typeface="Montserrat" panose="00000500000000000000" pitchFamily="2" charset="0"/>
            </a:rPr>
            <a:t> tools, test datasets, model evaluation</a:t>
          </a:r>
        </a:p>
      </dgm:t>
    </dgm:pt>
    <dgm:pt modelId="{8E446D99-55A4-4DBD-9154-B64E559533A9}" type="parTrans" cxnId="{1839FAEB-708B-4FC7-8ABC-DCD5D4CEC56F}">
      <dgm:prSet/>
      <dgm:spPr/>
      <dgm:t>
        <a:bodyPr/>
        <a:lstStyle/>
        <a:p>
          <a:endParaRPr lang="en-CA" sz="1600"/>
        </a:p>
      </dgm:t>
    </dgm:pt>
    <dgm:pt modelId="{93905A77-DA6C-4EF2-AB58-004586E7C0A3}" type="sibTrans" cxnId="{1839FAEB-708B-4FC7-8ABC-DCD5D4CEC56F}">
      <dgm:prSet/>
      <dgm:spPr/>
      <dgm:t>
        <a:bodyPr/>
        <a:lstStyle/>
        <a:p>
          <a:endParaRPr lang="en-CA" sz="1600"/>
        </a:p>
      </dgm:t>
    </dgm:pt>
    <dgm:pt modelId="{C8C26A63-4925-473A-B025-6FB6DE46030F}">
      <dgm:prSet custT="1"/>
      <dgm:spPr>
        <a:solidFill>
          <a:srgbClr val="0C1752"/>
        </a:solidFill>
      </dgm:spPr>
      <dgm:t>
        <a:bodyPr/>
        <a:lstStyle/>
        <a:p>
          <a:pPr>
            <a:buNone/>
          </a:pPr>
          <a:r>
            <a:rPr lang="en-US" sz="1600" b="0" dirty="0">
              <a:latin typeface="Montserrat" panose="00000500000000000000" pitchFamily="2" charset="0"/>
            </a:rPr>
            <a:t>Deployment &amp; Integration:	</a:t>
          </a:r>
        </a:p>
        <a:p>
          <a:pPr>
            <a:buNone/>
          </a:pPr>
          <a:r>
            <a:rPr lang="en-US" sz="1600" b="0" dirty="0">
              <a:latin typeface="Montserrat" panose="00000500000000000000" pitchFamily="2" charset="0"/>
            </a:rPr>
            <a:t>API hosting, backend integration, cloud DevOps</a:t>
          </a:r>
        </a:p>
      </dgm:t>
    </dgm:pt>
    <dgm:pt modelId="{C0BF0955-ED62-44A2-A405-A7E5287670BA}" type="parTrans" cxnId="{6C2C8F0C-E21B-406D-941B-6A25AB628394}">
      <dgm:prSet/>
      <dgm:spPr/>
      <dgm:t>
        <a:bodyPr/>
        <a:lstStyle/>
        <a:p>
          <a:endParaRPr lang="en-CA" sz="1600"/>
        </a:p>
      </dgm:t>
    </dgm:pt>
    <dgm:pt modelId="{4FD44F59-A8A0-4114-A3C3-9D495DBF22A6}" type="sibTrans" cxnId="{6C2C8F0C-E21B-406D-941B-6A25AB628394}">
      <dgm:prSet/>
      <dgm:spPr/>
      <dgm:t>
        <a:bodyPr/>
        <a:lstStyle/>
        <a:p>
          <a:endParaRPr lang="en-CA" sz="1600"/>
        </a:p>
      </dgm:t>
    </dgm:pt>
    <dgm:pt modelId="{8F1AD79C-9C8A-4016-9205-0F7F02669635}">
      <dgm:prSet custT="1"/>
      <dgm:spPr>
        <a:solidFill>
          <a:srgbClr val="1BBFD1"/>
        </a:solidFill>
      </dgm:spPr>
      <dgm:t>
        <a:bodyPr/>
        <a:lstStyle/>
        <a:p>
          <a:pPr>
            <a:buNone/>
          </a:pPr>
          <a:r>
            <a:rPr lang="en-US" sz="1600" b="0" dirty="0">
              <a:latin typeface="Montserrat" panose="00000500000000000000" pitchFamily="2" charset="0"/>
            </a:rPr>
            <a:t>Monitoring &amp; Maintenance:</a:t>
          </a:r>
        </a:p>
        <a:p>
          <a:pPr>
            <a:buNone/>
          </a:pPr>
          <a:r>
            <a:rPr lang="en-US" sz="1600" b="0" dirty="0">
              <a:latin typeface="Montserrat" panose="00000500000000000000" pitchFamily="2" charset="0"/>
            </a:rPr>
            <a:t>Logging, retraining cycles, system uptime, support</a:t>
          </a:r>
        </a:p>
      </dgm:t>
    </dgm:pt>
    <dgm:pt modelId="{12BB77B0-7304-4766-A691-4A50B25CAF61}" type="parTrans" cxnId="{762093BB-FA1C-48C0-8821-C70442BDA243}">
      <dgm:prSet/>
      <dgm:spPr/>
      <dgm:t>
        <a:bodyPr/>
        <a:lstStyle/>
        <a:p>
          <a:endParaRPr lang="en-CA" sz="1600"/>
        </a:p>
      </dgm:t>
    </dgm:pt>
    <dgm:pt modelId="{C4C01297-229A-4464-AFE4-C3C1EC24EA21}" type="sibTrans" cxnId="{762093BB-FA1C-48C0-8821-C70442BDA243}">
      <dgm:prSet/>
      <dgm:spPr/>
      <dgm:t>
        <a:bodyPr/>
        <a:lstStyle/>
        <a:p>
          <a:endParaRPr lang="en-CA" sz="1600"/>
        </a:p>
      </dgm:t>
    </dgm:pt>
    <dgm:pt modelId="{B74FC1C9-2BF0-4BD1-AA9F-36A634889936}" type="pres">
      <dgm:prSet presAssocID="{8FB4E548-EFC0-4EF6-A786-00FFE61A654F}" presName="diagram" presStyleCnt="0">
        <dgm:presLayoutVars>
          <dgm:dir/>
          <dgm:resizeHandles val="exact"/>
        </dgm:presLayoutVars>
      </dgm:prSet>
      <dgm:spPr/>
    </dgm:pt>
    <dgm:pt modelId="{A0017136-DB63-4C96-99D5-C15DF2B0EBEB}" type="pres">
      <dgm:prSet presAssocID="{48FE7A73-7F73-414C-80A2-125DD933A7E7}" presName="node" presStyleLbl="node1" presStyleIdx="0" presStyleCnt="6">
        <dgm:presLayoutVars>
          <dgm:bulletEnabled val="1"/>
        </dgm:presLayoutVars>
      </dgm:prSet>
      <dgm:spPr/>
    </dgm:pt>
    <dgm:pt modelId="{3A2C98AE-E2F0-49D4-A2ED-2401F0617A33}" type="pres">
      <dgm:prSet presAssocID="{9A779ACB-AE36-4DF6-ABA2-6EC21B639767}" presName="sibTrans" presStyleCnt="0"/>
      <dgm:spPr/>
    </dgm:pt>
    <dgm:pt modelId="{07A5AB6F-89DE-4DA0-B151-E58BADBF0E37}" type="pres">
      <dgm:prSet presAssocID="{E20E368C-C81C-4389-9315-17402C4B3C74}" presName="node" presStyleLbl="node1" presStyleIdx="1" presStyleCnt="6">
        <dgm:presLayoutVars>
          <dgm:bulletEnabled val="1"/>
        </dgm:presLayoutVars>
      </dgm:prSet>
      <dgm:spPr/>
    </dgm:pt>
    <dgm:pt modelId="{90A9FDD2-6EE9-4A2C-B67A-9543F126ADCC}" type="pres">
      <dgm:prSet presAssocID="{74E6C8BD-FA58-42F3-AC0B-81C478CE589D}" presName="sibTrans" presStyleCnt="0"/>
      <dgm:spPr/>
    </dgm:pt>
    <dgm:pt modelId="{1D5C8E40-78B6-4164-B14B-D1DAB306E689}" type="pres">
      <dgm:prSet presAssocID="{4AFA0759-B607-465B-B613-0B0D80E8CF25}" presName="node" presStyleLbl="node1" presStyleIdx="2" presStyleCnt="6">
        <dgm:presLayoutVars>
          <dgm:bulletEnabled val="1"/>
        </dgm:presLayoutVars>
      </dgm:prSet>
      <dgm:spPr/>
    </dgm:pt>
    <dgm:pt modelId="{068D1A19-EC31-47A4-98A3-763B5DB28EF8}" type="pres">
      <dgm:prSet presAssocID="{A3390040-54BD-42DB-AA53-BA72E216875C}" presName="sibTrans" presStyleCnt="0"/>
      <dgm:spPr/>
    </dgm:pt>
    <dgm:pt modelId="{DB31E441-0E87-429A-B871-099D6678722F}" type="pres">
      <dgm:prSet presAssocID="{11410AA0-8D89-468E-8836-803799A585D2}" presName="node" presStyleLbl="node1" presStyleIdx="3" presStyleCnt="6">
        <dgm:presLayoutVars>
          <dgm:bulletEnabled val="1"/>
        </dgm:presLayoutVars>
      </dgm:prSet>
      <dgm:spPr/>
    </dgm:pt>
    <dgm:pt modelId="{40715FF8-124D-4FA0-BCCA-453463180906}" type="pres">
      <dgm:prSet presAssocID="{93905A77-DA6C-4EF2-AB58-004586E7C0A3}" presName="sibTrans" presStyleCnt="0"/>
      <dgm:spPr/>
    </dgm:pt>
    <dgm:pt modelId="{B1D2A83F-D2CA-4010-BCD4-7F96066EF646}" type="pres">
      <dgm:prSet presAssocID="{C8C26A63-4925-473A-B025-6FB6DE46030F}" presName="node" presStyleLbl="node1" presStyleIdx="4" presStyleCnt="6">
        <dgm:presLayoutVars>
          <dgm:bulletEnabled val="1"/>
        </dgm:presLayoutVars>
      </dgm:prSet>
      <dgm:spPr/>
    </dgm:pt>
    <dgm:pt modelId="{75122230-0A3C-47E9-B47A-2B5F07075897}" type="pres">
      <dgm:prSet presAssocID="{4FD44F59-A8A0-4114-A3C3-9D495DBF22A6}" presName="sibTrans" presStyleCnt="0"/>
      <dgm:spPr/>
    </dgm:pt>
    <dgm:pt modelId="{FEC0E453-61D9-4F5F-A4ED-BB0C5CA1F995}" type="pres">
      <dgm:prSet presAssocID="{8F1AD79C-9C8A-4016-9205-0F7F02669635}" presName="node" presStyleLbl="node1" presStyleIdx="5" presStyleCnt="6">
        <dgm:presLayoutVars>
          <dgm:bulletEnabled val="1"/>
        </dgm:presLayoutVars>
      </dgm:prSet>
      <dgm:spPr/>
    </dgm:pt>
  </dgm:ptLst>
  <dgm:cxnLst>
    <dgm:cxn modelId="{6C2C8F0C-E21B-406D-941B-6A25AB628394}" srcId="{8FB4E548-EFC0-4EF6-A786-00FFE61A654F}" destId="{C8C26A63-4925-473A-B025-6FB6DE46030F}" srcOrd="4" destOrd="0" parTransId="{C0BF0955-ED62-44A2-A405-A7E5287670BA}" sibTransId="{4FD44F59-A8A0-4114-A3C3-9D495DBF22A6}"/>
    <dgm:cxn modelId="{3B60970C-3DCE-4B92-9B0F-11E916023FAB}" srcId="{8FB4E548-EFC0-4EF6-A786-00FFE61A654F}" destId="{48FE7A73-7F73-414C-80A2-125DD933A7E7}" srcOrd="0" destOrd="0" parTransId="{471BD238-242E-4678-B218-424F8A38D4D2}" sibTransId="{9A779ACB-AE36-4DF6-ABA2-6EC21B639767}"/>
    <dgm:cxn modelId="{6177712B-B05F-40F3-9DE5-70215B41A00C}" srcId="{8FB4E548-EFC0-4EF6-A786-00FFE61A654F}" destId="{4AFA0759-B607-465B-B613-0B0D80E8CF25}" srcOrd="2" destOrd="0" parTransId="{A1E0B5DF-FA92-4B7D-A4B6-AA09BF632502}" sibTransId="{A3390040-54BD-42DB-AA53-BA72E216875C}"/>
    <dgm:cxn modelId="{C283E14E-F1D0-4CF8-9744-356315F97191}" type="presOf" srcId="{11410AA0-8D89-468E-8836-803799A585D2}" destId="{DB31E441-0E87-429A-B871-099D6678722F}" srcOrd="0" destOrd="0" presId="urn:microsoft.com/office/officeart/2005/8/layout/default"/>
    <dgm:cxn modelId="{BD585052-BFAF-4B75-B016-776B6B6167AB}" type="presOf" srcId="{4AFA0759-B607-465B-B613-0B0D80E8CF25}" destId="{1D5C8E40-78B6-4164-B14B-D1DAB306E689}" srcOrd="0" destOrd="0" presId="urn:microsoft.com/office/officeart/2005/8/layout/default"/>
    <dgm:cxn modelId="{103C5559-C858-49A3-849B-061AA024BD29}" type="presOf" srcId="{8F1AD79C-9C8A-4016-9205-0F7F02669635}" destId="{FEC0E453-61D9-4F5F-A4ED-BB0C5CA1F995}" srcOrd="0" destOrd="0" presId="urn:microsoft.com/office/officeart/2005/8/layout/default"/>
    <dgm:cxn modelId="{83E2A468-05AB-4437-A889-59797F3E92D9}" srcId="{8FB4E548-EFC0-4EF6-A786-00FFE61A654F}" destId="{E20E368C-C81C-4389-9315-17402C4B3C74}" srcOrd="1" destOrd="0" parTransId="{E3ED5234-623A-4B48-A91E-F2363B19E668}" sibTransId="{74E6C8BD-FA58-42F3-AC0B-81C478CE589D}"/>
    <dgm:cxn modelId="{E4CD7A73-B8C1-40B0-A15A-B0E4FB3E4B3D}" type="presOf" srcId="{48FE7A73-7F73-414C-80A2-125DD933A7E7}" destId="{A0017136-DB63-4C96-99D5-C15DF2B0EBEB}" srcOrd="0" destOrd="0" presId="urn:microsoft.com/office/officeart/2005/8/layout/default"/>
    <dgm:cxn modelId="{C31ECF86-A928-4903-ABB7-C0C8C218AA12}" type="presOf" srcId="{C8C26A63-4925-473A-B025-6FB6DE46030F}" destId="{B1D2A83F-D2CA-4010-BCD4-7F96066EF646}" srcOrd="0" destOrd="0" presId="urn:microsoft.com/office/officeart/2005/8/layout/default"/>
    <dgm:cxn modelId="{959C2FB8-D557-4312-B2B6-ED227855CACA}" type="presOf" srcId="{8FB4E548-EFC0-4EF6-A786-00FFE61A654F}" destId="{B74FC1C9-2BF0-4BD1-AA9F-36A634889936}" srcOrd="0" destOrd="0" presId="urn:microsoft.com/office/officeart/2005/8/layout/default"/>
    <dgm:cxn modelId="{762093BB-FA1C-48C0-8821-C70442BDA243}" srcId="{8FB4E548-EFC0-4EF6-A786-00FFE61A654F}" destId="{8F1AD79C-9C8A-4016-9205-0F7F02669635}" srcOrd="5" destOrd="0" parTransId="{12BB77B0-7304-4766-A691-4A50B25CAF61}" sibTransId="{C4C01297-229A-4464-AFE4-C3C1EC24EA21}"/>
    <dgm:cxn modelId="{43B30DCD-9D22-4E2C-827D-8DFB16242DB2}" type="presOf" srcId="{E20E368C-C81C-4389-9315-17402C4B3C74}" destId="{07A5AB6F-89DE-4DA0-B151-E58BADBF0E37}" srcOrd="0" destOrd="0" presId="urn:microsoft.com/office/officeart/2005/8/layout/default"/>
    <dgm:cxn modelId="{1839FAEB-708B-4FC7-8ABC-DCD5D4CEC56F}" srcId="{8FB4E548-EFC0-4EF6-A786-00FFE61A654F}" destId="{11410AA0-8D89-468E-8836-803799A585D2}" srcOrd="3" destOrd="0" parTransId="{8E446D99-55A4-4DBD-9154-B64E559533A9}" sibTransId="{93905A77-DA6C-4EF2-AB58-004586E7C0A3}"/>
    <dgm:cxn modelId="{8592DDF2-82C9-4B3E-9BB4-29E99EC1F2B4}" type="presParOf" srcId="{B74FC1C9-2BF0-4BD1-AA9F-36A634889936}" destId="{A0017136-DB63-4C96-99D5-C15DF2B0EBEB}" srcOrd="0" destOrd="0" presId="urn:microsoft.com/office/officeart/2005/8/layout/default"/>
    <dgm:cxn modelId="{8CC26F59-CDD7-4BC9-A5C9-9DE3A6C43799}" type="presParOf" srcId="{B74FC1C9-2BF0-4BD1-AA9F-36A634889936}" destId="{3A2C98AE-E2F0-49D4-A2ED-2401F0617A33}" srcOrd="1" destOrd="0" presId="urn:microsoft.com/office/officeart/2005/8/layout/default"/>
    <dgm:cxn modelId="{7C299B6A-866D-4CC3-9BD9-2D2EB45D4B9B}" type="presParOf" srcId="{B74FC1C9-2BF0-4BD1-AA9F-36A634889936}" destId="{07A5AB6F-89DE-4DA0-B151-E58BADBF0E37}" srcOrd="2" destOrd="0" presId="urn:microsoft.com/office/officeart/2005/8/layout/default"/>
    <dgm:cxn modelId="{C3A2625B-79AB-430C-9920-1F147B349569}" type="presParOf" srcId="{B74FC1C9-2BF0-4BD1-AA9F-36A634889936}" destId="{90A9FDD2-6EE9-4A2C-B67A-9543F126ADCC}" srcOrd="3" destOrd="0" presId="urn:microsoft.com/office/officeart/2005/8/layout/default"/>
    <dgm:cxn modelId="{E1466AAA-ED2F-4C49-9CFC-CE2C69A914A1}" type="presParOf" srcId="{B74FC1C9-2BF0-4BD1-AA9F-36A634889936}" destId="{1D5C8E40-78B6-4164-B14B-D1DAB306E689}" srcOrd="4" destOrd="0" presId="urn:microsoft.com/office/officeart/2005/8/layout/default"/>
    <dgm:cxn modelId="{DF64D653-4A1A-4AB6-84F9-0926D39638A8}" type="presParOf" srcId="{B74FC1C9-2BF0-4BD1-AA9F-36A634889936}" destId="{068D1A19-EC31-47A4-98A3-763B5DB28EF8}" srcOrd="5" destOrd="0" presId="urn:microsoft.com/office/officeart/2005/8/layout/default"/>
    <dgm:cxn modelId="{C71CDAA9-4006-4C7C-B192-AD13CC808DE1}" type="presParOf" srcId="{B74FC1C9-2BF0-4BD1-AA9F-36A634889936}" destId="{DB31E441-0E87-429A-B871-099D6678722F}" srcOrd="6" destOrd="0" presId="urn:microsoft.com/office/officeart/2005/8/layout/default"/>
    <dgm:cxn modelId="{AE9EA939-6124-49CC-B0D1-E7ACD51068CC}" type="presParOf" srcId="{B74FC1C9-2BF0-4BD1-AA9F-36A634889936}" destId="{40715FF8-124D-4FA0-BCCA-453463180906}" srcOrd="7" destOrd="0" presId="urn:microsoft.com/office/officeart/2005/8/layout/default"/>
    <dgm:cxn modelId="{2EE92DC2-7BAB-42CB-ADF1-6986270B854A}" type="presParOf" srcId="{B74FC1C9-2BF0-4BD1-AA9F-36A634889936}" destId="{B1D2A83F-D2CA-4010-BCD4-7F96066EF646}" srcOrd="8" destOrd="0" presId="urn:microsoft.com/office/officeart/2005/8/layout/default"/>
    <dgm:cxn modelId="{ED23FEB8-E919-4E73-9E54-5FB024FE403D}" type="presParOf" srcId="{B74FC1C9-2BF0-4BD1-AA9F-36A634889936}" destId="{75122230-0A3C-47E9-B47A-2B5F07075897}" srcOrd="9" destOrd="0" presId="urn:microsoft.com/office/officeart/2005/8/layout/default"/>
    <dgm:cxn modelId="{DBAF06DF-F54E-4B3D-8863-ABF2DC54EC2D}" type="presParOf" srcId="{B74FC1C9-2BF0-4BD1-AA9F-36A634889936}" destId="{FEC0E453-61D9-4F5F-A4ED-BB0C5CA1F995}" srcOrd="10"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FB4E548-EFC0-4EF6-A786-00FFE61A654F}"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584084D0-67D1-4B78-873B-7A4E56CF5CAE}">
      <dgm:prSet/>
      <dgm:spPr>
        <a:solidFill>
          <a:srgbClr val="D56E48"/>
        </a:solidFill>
      </dgm:spPr>
      <dgm:t>
        <a:bodyPr/>
        <a:lstStyle/>
        <a:p>
          <a:pPr>
            <a:buNone/>
          </a:pPr>
          <a:r>
            <a:rPr lang="en-CA" dirty="0">
              <a:latin typeface="Montserrat" panose="00000500000000000000" pitchFamily="2" charset="0"/>
            </a:rPr>
            <a:t>Infrastructure: Cloud (AWS, Azure, GCP), storage, bandwidth.</a:t>
          </a:r>
        </a:p>
      </dgm:t>
    </dgm:pt>
    <dgm:pt modelId="{5DCAAF1B-48B0-4D3C-B423-0FE78EF8E7AB}" type="parTrans" cxnId="{F98A2E41-B3E8-4BEE-BF68-781866AC15FA}">
      <dgm:prSet/>
      <dgm:spPr/>
      <dgm:t>
        <a:bodyPr/>
        <a:lstStyle/>
        <a:p>
          <a:endParaRPr lang="en-CA">
            <a:latin typeface="Montserrat" panose="00000500000000000000" pitchFamily="2" charset="0"/>
          </a:endParaRPr>
        </a:p>
      </dgm:t>
    </dgm:pt>
    <dgm:pt modelId="{19C3A181-E64A-4283-AA5D-D0BAB0BA6F35}" type="sibTrans" cxnId="{F98A2E41-B3E8-4BEE-BF68-781866AC15FA}">
      <dgm:prSet/>
      <dgm:spPr/>
      <dgm:t>
        <a:bodyPr/>
        <a:lstStyle/>
        <a:p>
          <a:endParaRPr lang="en-CA">
            <a:latin typeface="Montserrat" panose="00000500000000000000" pitchFamily="2" charset="0"/>
          </a:endParaRPr>
        </a:p>
      </dgm:t>
    </dgm:pt>
    <dgm:pt modelId="{2DF9AEB6-FEF6-46C8-925E-7DED06FAF4A7}">
      <dgm:prSet/>
      <dgm:spPr>
        <a:solidFill>
          <a:srgbClr val="0C1752"/>
        </a:solidFill>
      </dgm:spPr>
      <dgm:t>
        <a:bodyPr/>
        <a:lstStyle/>
        <a:p>
          <a:pPr>
            <a:buNone/>
          </a:pPr>
          <a:r>
            <a:rPr lang="en-CA">
              <a:latin typeface="Montserrat" panose="00000500000000000000" pitchFamily="2" charset="0"/>
            </a:rPr>
            <a:t>Human Resources: Engineers, data scientists, PMs, analysts.</a:t>
          </a:r>
        </a:p>
      </dgm:t>
    </dgm:pt>
    <dgm:pt modelId="{D9047CB8-C8A7-42E1-A400-F922FF593D80}" type="parTrans" cxnId="{FB7D9DD4-16B3-46B5-A1DB-0241CD2AC611}">
      <dgm:prSet/>
      <dgm:spPr/>
      <dgm:t>
        <a:bodyPr/>
        <a:lstStyle/>
        <a:p>
          <a:endParaRPr lang="en-CA">
            <a:latin typeface="Montserrat" panose="00000500000000000000" pitchFamily="2" charset="0"/>
          </a:endParaRPr>
        </a:p>
      </dgm:t>
    </dgm:pt>
    <dgm:pt modelId="{962103AA-20D3-4592-878A-916231B57E1C}" type="sibTrans" cxnId="{FB7D9DD4-16B3-46B5-A1DB-0241CD2AC611}">
      <dgm:prSet/>
      <dgm:spPr/>
      <dgm:t>
        <a:bodyPr/>
        <a:lstStyle/>
        <a:p>
          <a:endParaRPr lang="en-CA">
            <a:latin typeface="Montserrat" panose="00000500000000000000" pitchFamily="2" charset="0"/>
          </a:endParaRPr>
        </a:p>
      </dgm:t>
    </dgm:pt>
    <dgm:pt modelId="{326E5D24-A07C-4DED-B1ED-AD67B09AC60C}">
      <dgm:prSet/>
      <dgm:spPr>
        <a:solidFill>
          <a:schemeClr val="bg1">
            <a:lumMod val="65000"/>
          </a:schemeClr>
        </a:solidFill>
      </dgm:spPr>
      <dgm:t>
        <a:bodyPr/>
        <a:lstStyle/>
        <a:p>
          <a:pPr>
            <a:buNone/>
          </a:pPr>
          <a:r>
            <a:rPr lang="en-CA">
              <a:latin typeface="Montserrat" panose="00000500000000000000" pitchFamily="2" charset="0"/>
            </a:rPr>
            <a:t>Software/Tools: SaaS platforms, annotation tools, IDEs.</a:t>
          </a:r>
        </a:p>
      </dgm:t>
    </dgm:pt>
    <dgm:pt modelId="{2D3D2C1F-82AA-4585-9A8F-8272A8989802}" type="parTrans" cxnId="{AE1D5AE8-9317-41DF-B8BA-892162304F5B}">
      <dgm:prSet/>
      <dgm:spPr/>
      <dgm:t>
        <a:bodyPr/>
        <a:lstStyle/>
        <a:p>
          <a:endParaRPr lang="en-CA">
            <a:latin typeface="Montserrat" panose="00000500000000000000" pitchFamily="2" charset="0"/>
          </a:endParaRPr>
        </a:p>
      </dgm:t>
    </dgm:pt>
    <dgm:pt modelId="{0C17BF32-AF1E-4161-8DA8-4B78F0239504}" type="sibTrans" cxnId="{AE1D5AE8-9317-41DF-B8BA-892162304F5B}">
      <dgm:prSet/>
      <dgm:spPr/>
      <dgm:t>
        <a:bodyPr/>
        <a:lstStyle/>
        <a:p>
          <a:endParaRPr lang="en-CA">
            <a:latin typeface="Montserrat" panose="00000500000000000000" pitchFamily="2" charset="0"/>
          </a:endParaRPr>
        </a:p>
      </dgm:t>
    </dgm:pt>
    <dgm:pt modelId="{5AF55187-52C7-4828-ADF0-A67A7AAD9977}">
      <dgm:prSet/>
      <dgm:spPr>
        <a:solidFill>
          <a:srgbClr val="1BBFD1"/>
        </a:solidFill>
      </dgm:spPr>
      <dgm:t>
        <a:bodyPr/>
        <a:lstStyle/>
        <a:p>
          <a:pPr>
            <a:buNone/>
          </a:pPr>
          <a:r>
            <a:rPr lang="en-CA">
              <a:latin typeface="Montserrat" panose="00000500000000000000" pitchFamily="2" charset="0"/>
            </a:rPr>
            <a:t>Data: Licenses, external datasets, labeling services.</a:t>
          </a:r>
        </a:p>
      </dgm:t>
    </dgm:pt>
    <dgm:pt modelId="{2718A9CF-AE7E-4A2D-9E7B-C496343CBD38}" type="parTrans" cxnId="{C3E25D26-C890-4905-BD14-6B5DF87A805C}">
      <dgm:prSet/>
      <dgm:spPr/>
      <dgm:t>
        <a:bodyPr/>
        <a:lstStyle/>
        <a:p>
          <a:endParaRPr lang="en-CA">
            <a:latin typeface="Montserrat" panose="00000500000000000000" pitchFamily="2" charset="0"/>
          </a:endParaRPr>
        </a:p>
      </dgm:t>
    </dgm:pt>
    <dgm:pt modelId="{7C2DA102-327C-43FB-A8C3-4A5AB4EAC8F9}" type="sibTrans" cxnId="{C3E25D26-C890-4905-BD14-6B5DF87A805C}">
      <dgm:prSet/>
      <dgm:spPr/>
      <dgm:t>
        <a:bodyPr/>
        <a:lstStyle/>
        <a:p>
          <a:endParaRPr lang="en-CA">
            <a:latin typeface="Montserrat" panose="00000500000000000000" pitchFamily="2" charset="0"/>
          </a:endParaRPr>
        </a:p>
      </dgm:t>
    </dgm:pt>
    <dgm:pt modelId="{0670104D-9AAF-41A1-88D6-8AF5D7D0F074}">
      <dgm:prSet/>
      <dgm:spPr>
        <a:solidFill>
          <a:srgbClr val="0C1752"/>
        </a:solidFill>
      </dgm:spPr>
      <dgm:t>
        <a:bodyPr/>
        <a:lstStyle/>
        <a:p>
          <a:r>
            <a:rPr lang="en-CA" dirty="0">
              <a:latin typeface="Montserrat" panose="00000500000000000000" pitchFamily="2" charset="0"/>
            </a:rPr>
            <a:t>Ongoing Operations: Maintenance, security, updates.</a:t>
          </a:r>
        </a:p>
      </dgm:t>
    </dgm:pt>
    <dgm:pt modelId="{78D9EBD7-ADFC-44EE-B27D-DF88FB86C9A0}" type="parTrans" cxnId="{7FA4D3FF-EDFB-45BE-8BF6-FB681D949399}">
      <dgm:prSet/>
      <dgm:spPr/>
      <dgm:t>
        <a:bodyPr/>
        <a:lstStyle/>
        <a:p>
          <a:endParaRPr lang="en-CA">
            <a:latin typeface="Montserrat" panose="00000500000000000000" pitchFamily="2" charset="0"/>
          </a:endParaRPr>
        </a:p>
      </dgm:t>
    </dgm:pt>
    <dgm:pt modelId="{849EE83C-B9AC-4798-8549-0A9E1A978C29}" type="sibTrans" cxnId="{7FA4D3FF-EDFB-45BE-8BF6-FB681D949399}">
      <dgm:prSet/>
      <dgm:spPr/>
      <dgm:t>
        <a:bodyPr/>
        <a:lstStyle/>
        <a:p>
          <a:endParaRPr lang="en-CA">
            <a:latin typeface="Montserrat" panose="00000500000000000000" pitchFamily="2" charset="0"/>
          </a:endParaRPr>
        </a:p>
      </dgm:t>
    </dgm:pt>
    <dgm:pt modelId="{B74FC1C9-2BF0-4BD1-AA9F-36A634889936}" type="pres">
      <dgm:prSet presAssocID="{8FB4E548-EFC0-4EF6-A786-00FFE61A654F}" presName="diagram" presStyleCnt="0">
        <dgm:presLayoutVars>
          <dgm:dir/>
          <dgm:resizeHandles val="exact"/>
        </dgm:presLayoutVars>
      </dgm:prSet>
      <dgm:spPr/>
    </dgm:pt>
    <dgm:pt modelId="{77A58950-D9D8-4725-8C72-6F7CEA1DEE5A}" type="pres">
      <dgm:prSet presAssocID="{584084D0-67D1-4B78-873B-7A4E56CF5CAE}" presName="node" presStyleLbl="node1" presStyleIdx="0" presStyleCnt="5">
        <dgm:presLayoutVars>
          <dgm:bulletEnabled val="1"/>
        </dgm:presLayoutVars>
      </dgm:prSet>
      <dgm:spPr/>
    </dgm:pt>
    <dgm:pt modelId="{472BE594-0999-4CC1-902B-98F2AD781708}" type="pres">
      <dgm:prSet presAssocID="{19C3A181-E64A-4283-AA5D-D0BAB0BA6F35}" presName="sibTrans" presStyleCnt="0"/>
      <dgm:spPr/>
    </dgm:pt>
    <dgm:pt modelId="{B7A44B02-43CF-424F-8586-E98959082288}" type="pres">
      <dgm:prSet presAssocID="{2DF9AEB6-FEF6-46C8-925E-7DED06FAF4A7}" presName="node" presStyleLbl="node1" presStyleIdx="1" presStyleCnt="5">
        <dgm:presLayoutVars>
          <dgm:bulletEnabled val="1"/>
        </dgm:presLayoutVars>
      </dgm:prSet>
      <dgm:spPr/>
    </dgm:pt>
    <dgm:pt modelId="{F86F2A95-4557-42D6-8AC4-E7DF8EE4F770}" type="pres">
      <dgm:prSet presAssocID="{962103AA-20D3-4592-878A-916231B57E1C}" presName="sibTrans" presStyleCnt="0"/>
      <dgm:spPr/>
    </dgm:pt>
    <dgm:pt modelId="{5534617C-7BC4-44E3-B5F3-5FF593E9344A}" type="pres">
      <dgm:prSet presAssocID="{326E5D24-A07C-4DED-B1ED-AD67B09AC60C}" presName="node" presStyleLbl="node1" presStyleIdx="2" presStyleCnt="5">
        <dgm:presLayoutVars>
          <dgm:bulletEnabled val="1"/>
        </dgm:presLayoutVars>
      </dgm:prSet>
      <dgm:spPr/>
    </dgm:pt>
    <dgm:pt modelId="{4C2A400F-1A8F-4BDE-AFF7-F3008B3F8AC6}" type="pres">
      <dgm:prSet presAssocID="{0C17BF32-AF1E-4161-8DA8-4B78F0239504}" presName="sibTrans" presStyleCnt="0"/>
      <dgm:spPr/>
    </dgm:pt>
    <dgm:pt modelId="{A89262A2-9FAC-49D2-9435-E585E3BD48EB}" type="pres">
      <dgm:prSet presAssocID="{5AF55187-52C7-4828-ADF0-A67A7AAD9977}" presName="node" presStyleLbl="node1" presStyleIdx="3" presStyleCnt="5">
        <dgm:presLayoutVars>
          <dgm:bulletEnabled val="1"/>
        </dgm:presLayoutVars>
      </dgm:prSet>
      <dgm:spPr/>
    </dgm:pt>
    <dgm:pt modelId="{AB2449E6-9827-4E72-9309-C000C5015AEB}" type="pres">
      <dgm:prSet presAssocID="{7C2DA102-327C-43FB-A8C3-4A5AB4EAC8F9}" presName="sibTrans" presStyleCnt="0"/>
      <dgm:spPr/>
    </dgm:pt>
    <dgm:pt modelId="{72C1BD5D-501E-497F-9D46-592B9621B736}" type="pres">
      <dgm:prSet presAssocID="{0670104D-9AAF-41A1-88D6-8AF5D7D0F074}" presName="node" presStyleLbl="node1" presStyleIdx="4" presStyleCnt="5">
        <dgm:presLayoutVars>
          <dgm:bulletEnabled val="1"/>
        </dgm:presLayoutVars>
      </dgm:prSet>
      <dgm:spPr/>
    </dgm:pt>
  </dgm:ptLst>
  <dgm:cxnLst>
    <dgm:cxn modelId="{C3E25D26-C890-4905-BD14-6B5DF87A805C}" srcId="{8FB4E548-EFC0-4EF6-A786-00FFE61A654F}" destId="{5AF55187-52C7-4828-ADF0-A67A7AAD9977}" srcOrd="3" destOrd="0" parTransId="{2718A9CF-AE7E-4A2D-9E7B-C496343CBD38}" sibTransId="{7C2DA102-327C-43FB-A8C3-4A5AB4EAC8F9}"/>
    <dgm:cxn modelId="{F98A2E41-B3E8-4BEE-BF68-781866AC15FA}" srcId="{8FB4E548-EFC0-4EF6-A786-00FFE61A654F}" destId="{584084D0-67D1-4B78-873B-7A4E56CF5CAE}" srcOrd="0" destOrd="0" parTransId="{5DCAAF1B-48B0-4D3C-B423-0FE78EF8E7AB}" sibTransId="{19C3A181-E64A-4283-AA5D-D0BAB0BA6F35}"/>
    <dgm:cxn modelId="{45DF3841-F421-48F5-9C7A-B3D052CC45C6}" type="presOf" srcId="{2DF9AEB6-FEF6-46C8-925E-7DED06FAF4A7}" destId="{B7A44B02-43CF-424F-8586-E98959082288}" srcOrd="0" destOrd="0" presId="urn:microsoft.com/office/officeart/2005/8/layout/default"/>
    <dgm:cxn modelId="{A70E2589-C38E-4449-B31C-40DE2240824D}" type="presOf" srcId="{584084D0-67D1-4B78-873B-7A4E56CF5CAE}" destId="{77A58950-D9D8-4725-8C72-6F7CEA1DEE5A}" srcOrd="0" destOrd="0" presId="urn:microsoft.com/office/officeart/2005/8/layout/default"/>
    <dgm:cxn modelId="{57A1009A-660F-456B-AE7C-C7DAB28DB924}" type="presOf" srcId="{0670104D-9AAF-41A1-88D6-8AF5D7D0F074}" destId="{72C1BD5D-501E-497F-9D46-592B9621B736}" srcOrd="0" destOrd="0" presId="urn:microsoft.com/office/officeart/2005/8/layout/default"/>
    <dgm:cxn modelId="{FF52C39D-83E5-4B53-B641-8C63D31C3408}" type="presOf" srcId="{5AF55187-52C7-4828-ADF0-A67A7AAD9977}" destId="{A89262A2-9FAC-49D2-9435-E585E3BD48EB}" srcOrd="0" destOrd="0" presId="urn:microsoft.com/office/officeart/2005/8/layout/default"/>
    <dgm:cxn modelId="{959C2FB8-D557-4312-B2B6-ED227855CACA}" type="presOf" srcId="{8FB4E548-EFC0-4EF6-A786-00FFE61A654F}" destId="{B74FC1C9-2BF0-4BD1-AA9F-36A634889936}" srcOrd="0" destOrd="0" presId="urn:microsoft.com/office/officeart/2005/8/layout/default"/>
    <dgm:cxn modelId="{FB7D9DD4-16B3-46B5-A1DB-0241CD2AC611}" srcId="{8FB4E548-EFC0-4EF6-A786-00FFE61A654F}" destId="{2DF9AEB6-FEF6-46C8-925E-7DED06FAF4A7}" srcOrd="1" destOrd="0" parTransId="{D9047CB8-C8A7-42E1-A400-F922FF593D80}" sibTransId="{962103AA-20D3-4592-878A-916231B57E1C}"/>
    <dgm:cxn modelId="{8DAB9BDA-06C9-4B8D-A9BD-0F264F729EE7}" type="presOf" srcId="{326E5D24-A07C-4DED-B1ED-AD67B09AC60C}" destId="{5534617C-7BC4-44E3-B5F3-5FF593E9344A}" srcOrd="0" destOrd="0" presId="urn:microsoft.com/office/officeart/2005/8/layout/default"/>
    <dgm:cxn modelId="{AE1D5AE8-9317-41DF-B8BA-892162304F5B}" srcId="{8FB4E548-EFC0-4EF6-A786-00FFE61A654F}" destId="{326E5D24-A07C-4DED-B1ED-AD67B09AC60C}" srcOrd="2" destOrd="0" parTransId="{2D3D2C1F-82AA-4585-9A8F-8272A8989802}" sibTransId="{0C17BF32-AF1E-4161-8DA8-4B78F0239504}"/>
    <dgm:cxn modelId="{7FA4D3FF-EDFB-45BE-8BF6-FB681D949399}" srcId="{8FB4E548-EFC0-4EF6-A786-00FFE61A654F}" destId="{0670104D-9AAF-41A1-88D6-8AF5D7D0F074}" srcOrd="4" destOrd="0" parTransId="{78D9EBD7-ADFC-44EE-B27D-DF88FB86C9A0}" sibTransId="{849EE83C-B9AC-4798-8549-0A9E1A978C29}"/>
    <dgm:cxn modelId="{1106F36E-B1DC-40D2-9E0C-CBD36E92C631}" type="presParOf" srcId="{B74FC1C9-2BF0-4BD1-AA9F-36A634889936}" destId="{77A58950-D9D8-4725-8C72-6F7CEA1DEE5A}" srcOrd="0" destOrd="0" presId="urn:microsoft.com/office/officeart/2005/8/layout/default"/>
    <dgm:cxn modelId="{756BC7C3-E8BF-442F-96E7-544E0B00060A}" type="presParOf" srcId="{B74FC1C9-2BF0-4BD1-AA9F-36A634889936}" destId="{472BE594-0999-4CC1-902B-98F2AD781708}" srcOrd="1" destOrd="0" presId="urn:microsoft.com/office/officeart/2005/8/layout/default"/>
    <dgm:cxn modelId="{70D99324-D6A0-4D01-99BD-DB7B4F8C8985}" type="presParOf" srcId="{B74FC1C9-2BF0-4BD1-AA9F-36A634889936}" destId="{B7A44B02-43CF-424F-8586-E98959082288}" srcOrd="2" destOrd="0" presId="urn:microsoft.com/office/officeart/2005/8/layout/default"/>
    <dgm:cxn modelId="{CDF24BA9-E220-4921-94AF-5FFA8B8ABD7B}" type="presParOf" srcId="{B74FC1C9-2BF0-4BD1-AA9F-36A634889936}" destId="{F86F2A95-4557-42D6-8AC4-E7DF8EE4F770}" srcOrd="3" destOrd="0" presId="urn:microsoft.com/office/officeart/2005/8/layout/default"/>
    <dgm:cxn modelId="{1BDE718E-2A34-4093-A839-53E9F9730A17}" type="presParOf" srcId="{B74FC1C9-2BF0-4BD1-AA9F-36A634889936}" destId="{5534617C-7BC4-44E3-B5F3-5FF593E9344A}" srcOrd="4" destOrd="0" presId="urn:microsoft.com/office/officeart/2005/8/layout/default"/>
    <dgm:cxn modelId="{9AD8A2C4-90BA-4E36-975C-F43EF73B7D15}" type="presParOf" srcId="{B74FC1C9-2BF0-4BD1-AA9F-36A634889936}" destId="{4C2A400F-1A8F-4BDE-AFF7-F3008B3F8AC6}" srcOrd="5" destOrd="0" presId="urn:microsoft.com/office/officeart/2005/8/layout/default"/>
    <dgm:cxn modelId="{E811AC5E-5B0F-4DB3-BE25-F9FB4CB6BE4A}" type="presParOf" srcId="{B74FC1C9-2BF0-4BD1-AA9F-36A634889936}" destId="{A89262A2-9FAC-49D2-9435-E585E3BD48EB}" srcOrd="6" destOrd="0" presId="urn:microsoft.com/office/officeart/2005/8/layout/default"/>
    <dgm:cxn modelId="{3407B6A5-72B3-4666-B10B-D634A9F5A64F}" type="presParOf" srcId="{B74FC1C9-2BF0-4BD1-AA9F-36A634889936}" destId="{AB2449E6-9827-4E72-9309-C000C5015AEB}" srcOrd="7" destOrd="0" presId="urn:microsoft.com/office/officeart/2005/8/layout/default"/>
    <dgm:cxn modelId="{2728080A-93C0-400E-BC76-98DB52B25894}" type="presParOf" srcId="{B74FC1C9-2BF0-4BD1-AA9F-36A634889936}" destId="{72C1BD5D-501E-497F-9D46-592B9621B736}" srcOrd="8"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375956B-7142-45B3-8DE5-D244F09C1DB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CA"/>
        </a:p>
      </dgm:t>
    </dgm:pt>
    <dgm:pt modelId="{3D0063A0-12EA-40A0-A193-DC84EA6DDD82}">
      <dgm:prSet custT="1"/>
      <dgm:spPr>
        <a:solidFill>
          <a:srgbClr val="D56E48"/>
        </a:solidFill>
        <a:ln w="12700" cap="flat" cmpd="sng" algn="ctr">
          <a:solidFill>
            <a:prstClr val="white">
              <a:hueOff val="0"/>
              <a:satOff val="0"/>
              <a:lumOff val="0"/>
              <a:alphaOff val="0"/>
            </a:prstClr>
          </a:solidFill>
          <a:prstDash val="solid"/>
          <a:miter lim="800000"/>
        </a:ln>
        <a:effectLst/>
      </dgm:spPr>
      <dgm:t>
        <a:bodyPr/>
        <a:lstStyle/>
        <a:p>
          <a:pPr marL="0" lvl="0" indent="0" algn="l" defTabSz="755650">
            <a:lnSpc>
              <a:spcPct val="90000"/>
            </a:lnSpc>
            <a:spcBef>
              <a:spcPct val="0"/>
            </a:spcBef>
            <a:spcAft>
              <a:spcPct val="35000"/>
            </a:spcAft>
            <a:buNone/>
          </a:pPr>
          <a:r>
            <a:rPr lang="en-CA" sz="1700" kern="1200" dirty="0">
              <a:latin typeface="Montserrat" panose="00000500000000000000" pitchFamily="2" charset="0"/>
              <a:cs typeface="Mongolian Baiti" panose="03000500000000000000" pitchFamily="66" charset="0"/>
            </a:rPr>
            <a:t>Start with a clear vision, business value, and feasibility check; define a focused MVP to manage scope.</a:t>
          </a:r>
          <a:endParaRPr lang="en-US" sz="1700" kern="1200" dirty="0">
            <a:solidFill>
              <a:prstClr val="white"/>
            </a:solidFill>
            <a:latin typeface="Montserrat" panose="00000500000000000000" pitchFamily="2" charset="0"/>
            <a:ea typeface="+mn-ea"/>
            <a:cs typeface="Mongolian Baiti" panose="03000500000000000000" pitchFamily="66" charset="0"/>
          </a:endParaRPr>
        </a:p>
      </dgm:t>
    </dgm:pt>
    <dgm:pt modelId="{831904A0-31D8-4E59-8F41-71621E1BF54F}" type="parTrans" cxnId="{E9BC4F38-FA5E-49F7-9A84-027A05A8D24B}">
      <dgm:prSet/>
      <dgm:spPr/>
      <dgm:t>
        <a:bodyPr/>
        <a:lstStyle/>
        <a:p>
          <a:endParaRPr lang="en-CA">
            <a:latin typeface="Montserrat" panose="00000500000000000000" pitchFamily="2" charset="0"/>
          </a:endParaRPr>
        </a:p>
      </dgm:t>
    </dgm:pt>
    <dgm:pt modelId="{A763E8AD-2D63-4B7D-A002-8FB0CC90A87C}" type="sibTrans" cxnId="{E9BC4F38-FA5E-49F7-9A84-027A05A8D24B}">
      <dgm:prSet/>
      <dgm:spPr/>
      <dgm:t>
        <a:bodyPr/>
        <a:lstStyle/>
        <a:p>
          <a:endParaRPr lang="en-CA">
            <a:latin typeface="Montserrat" panose="00000500000000000000" pitchFamily="2" charset="0"/>
          </a:endParaRPr>
        </a:p>
      </dgm:t>
    </dgm:pt>
    <dgm:pt modelId="{7C0B7925-B8E6-4D83-A771-AFF376A01456}">
      <dgm:prSet custT="1"/>
      <dgm:spPr>
        <a:solidFill>
          <a:srgbClr val="D56E48"/>
        </a:solidFill>
        <a:ln w="12700" cap="flat" cmpd="sng" algn="ctr">
          <a:solidFill>
            <a:prstClr val="white">
              <a:hueOff val="0"/>
              <a:satOff val="0"/>
              <a:lumOff val="0"/>
              <a:alphaOff val="0"/>
            </a:prstClr>
          </a:solidFill>
          <a:prstDash val="solid"/>
          <a:miter lim="800000"/>
        </a:ln>
        <a:effectLst/>
      </dgm:spPr>
      <dgm:t>
        <a:bodyPr spcFirstLastPara="0" vert="horz" wrap="square" lIns="64770" tIns="64770" rIns="64770" bIns="64770" numCol="1" spcCol="1270" anchor="ctr" anchorCtr="0"/>
        <a:lstStyle/>
        <a:p>
          <a:pPr marL="0" lvl="0" indent="0" algn="l" defTabSz="755650">
            <a:lnSpc>
              <a:spcPct val="90000"/>
            </a:lnSpc>
            <a:spcBef>
              <a:spcPct val="0"/>
            </a:spcBef>
            <a:spcAft>
              <a:spcPct val="35000"/>
            </a:spcAft>
            <a:buNone/>
          </a:pPr>
          <a:r>
            <a:rPr lang="en-CA" sz="1700" kern="1200">
              <a:solidFill>
                <a:prstClr val="white"/>
              </a:solidFill>
              <a:latin typeface="Montserrat" panose="00000500000000000000" pitchFamily="2" charset="0"/>
              <a:ea typeface="+mn-ea"/>
              <a:cs typeface="Mongolian Baiti" panose="03000500000000000000" pitchFamily="66" charset="0"/>
            </a:rPr>
            <a:t>Use SMART goals across model (e.g., accuracy), system (e.g., latency), and business (e.g., retention) levels.</a:t>
          </a:r>
        </a:p>
      </dgm:t>
    </dgm:pt>
    <dgm:pt modelId="{62810088-9E55-4E25-AE05-D3E0D02B779A}" type="parTrans" cxnId="{185CC645-BA29-48D2-ABB4-3C41444721FE}">
      <dgm:prSet/>
      <dgm:spPr/>
      <dgm:t>
        <a:bodyPr/>
        <a:lstStyle/>
        <a:p>
          <a:endParaRPr lang="en-CA"/>
        </a:p>
      </dgm:t>
    </dgm:pt>
    <dgm:pt modelId="{C983CECC-66EA-443A-A3E9-14D714EB15F0}" type="sibTrans" cxnId="{185CC645-BA29-48D2-ABB4-3C41444721FE}">
      <dgm:prSet/>
      <dgm:spPr/>
      <dgm:t>
        <a:bodyPr/>
        <a:lstStyle/>
        <a:p>
          <a:endParaRPr lang="en-CA"/>
        </a:p>
      </dgm:t>
    </dgm:pt>
    <dgm:pt modelId="{3450A9AA-7BAC-4CB4-8F25-63D93BFD5D51}">
      <dgm:prSet custT="1"/>
      <dgm:spPr>
        <a:solidFill>
          <a:srgbClr val="D56E48"/>
        </a:solidFill>
        <a:ln w="12700" cap="flat" cmpd="sng" algn="ctr">
          <a:solidFill>
            <a:prstClr val="white">
              <a:hueOff val="0"/>
              <a:satOff val="0"/>
              <a:lumOff val="0"/>
              <a:alphaOff val="0"/>
            </a:prstClr>
          </a:solidFill>
          <a:prstDash val="solid"/>
          <a:miter lim="800000"/>
        </a:ln>
        <a:effectLst/>
      </dgm:spPr>
      <dgm:t>
        <a:bodyPr spcFirstLastPara="0" vert="horz" wrap="square" lIns="64770" tIns="64770" rIns="64770" bIns="64770" numCol="1" spcCol="1270" anchor="ctr" anchorCtr="0"/>
        <a:lstStyle/>
        <a:p>
          <a:pPr marL="0" lvl="0" indent="0" algn="l" defTabSz="755650">
            <a:lnSpc>
              <a:spcPct val="90000"/>
            </a:lnSpc>
            <a:spcBef>
              <a:spcPct val="0"/>
            </a:spcBef>
            <a:spcAft>
              <a:spcPct val="35000"/>
            </a:spcAft>
            <a:buNone/>
          </a:pPr>
          <a:r>
            <a:rPr lang="en-CA" sz="1700" kern="1200">
              <a:solidFill>
                <a:prstClr val="white"/>
              </a:solidFill>
              <a:latin typeface="Montserrat" panose="00000500000000000000" pitchFamily="2" charset="0"/>
              <a:ea typeface="+mn-ea"/>
              <a:cs typeface="Mongolian Baiti" panose="03000500000000000000" pitchFamily="66" charset="0"/>
            </a:rPr>
            <a:t>Assign key roles: product managers, data scientists, ML engineers, MLOps, and domain experts.</a:t>
          </a:r>
        </a:p>
      </dgm:t>
    </dgm:pt>
    <dgm:pt modelId="{593DAA21-79CD-4A1C-B99F-5F135F05B5F7}" type="parTrans" cxnId="{A8B7F3EE-6D25-4BC7-ADC7-DDFB28BFDD45}">
      <dgm:prSet/>
      <dgm:spPr/>
      <dgm:t>
        <a:bodyPr/>
        <a:lstStyle/>
        <a:p>
          <a:endParaRPr lang="en-CA"/>
        </a:p>
      </dgm:t>
    </dgm:pt>
    <dgm:pt modelId="{B89E26E2-2B66-4D35-ACDC-B745F721EE0E}" type="sibTrans" cxnId="{A8B7F3EE-6D25-4BC7-ADC7-DDFB28BFDD45}">
      <dgm:prSet/>
      <dgm:spPr/>
      <dgm:t>
        <a:bodyPr/>
        <a:lstStyle/>
        <a:p>
          <a:endParaRPr lang="en-CA"/>
        </a:p>
      </dgm:t>
    </dgm:pt>
    <dgm:pt modelId="{92441623-F8CB-4363-BA92-F6F7515E0702}">
      <dgm:prSet custT="1"/>
      <dgm:spPr>
        <a:solidFill>
          <a:srgbClr val="D56E48"/>
        </a:solidFill>
        <a:ln w="12700" cap="flat" cmpd="sng" algn="ctr">
          <a:solidFill>
            <a:prstClr val="white">
              <a:hueOff val="0"/>
              <a:satOff val="0"/>
              <a:lumOff val="0"/>
              <a:alphaOff val="0"/>
            </a:prstClr>
          </a:solidFill>
          <a:prstDash val="solid"/>
          <a:miter lim="800000"/>
        </a:ln>
        <a:effectLst/>
      </dgm:spPr>
      <dgm:t>
        <a:bodyPr spcFirstLastPara="0" vert="horz" wrap="square" lIns="64770" tIns="64770" rIns="64770" bIns="64770" numCol="1" spcCol="1270" anchor="ctr" anchorCtr="0"/>
        <a:lstStyle/>
        <a:p>
          <a:pPr marL="0" lvl="0" indent="0" algn="l" defTabSz="755650">
            <a:lnSpc>
              <a:spcPct val="90000"/>
            </a:lnSpc>
            <a:spcBef>
              <a:spcPct val="0"/>
            </a:spcBef>
            <a:spcAft>
              <a:spcPct val="35000"/>
            </a:spcAft>
            <a:buNone/>
          </a:pPr>
          <a:r>
            <a:rPr lang="en-CA" sz="1700" kern="1200" dirty="0">
              <a:solidFill>
                <a:prstClr val="white"/>
              </a:solidFill>
              <a:latin typeface="Montserrat" panose="00000500000000000000" pitchFamily="2" charset="0"/>
              <a:ea typeface="+mn-ea"/>
              <a:cs typeface="Mongolian Baiti" panose="03000500000000000000" pitchFamily="66" charset="0"/>
            </a:rPr>
            <a:t>Prefer Agile or Hybrid methods for flexibility; use SAFe to scale across teams.</a:t>
          </a:r>
        </a:p>
      </dgm:t>
    </dgm:pt>
    <dgm:pt modelId="{E8F6306D-0B22-4ED1-A87E-398D32408FDD}" type="parTrans" cxnId="{4035FF5F-24C4-4DD4-A0A4-148F8BA68FD2}">
      <dgm:prSet/>
      <dgm:spPr/>
      <dgm:t>
        <a:bodyPr/>
        <a:lstStyle/>
        <a:p>
          <a:endParaRPr lang="en-CA"/>
        </a:p>
      </dgm:t>
    </dgm:pt>
    <dgm:pt modelId="{B0FC51BE-3F47-457F-AB2E-6069DA380D18}" type="sibTrans" cxnId="{4035FF5F-24C4-4DD4-A0A4-148F8BA68FD2}">
      <dgm:prSet/>
      <dgm:spPr/>
      <dgm:t>
        <a:bodyPr/>
        <a:lstStyle/>
        <a:p>
          <a:endParaRPr lang="en-CA"/>
        </a:p>
      </dgm:t>
    </dgm:pt>
    <dgm:pt modelId="{3D4C56D2-D677-4F99-BF9E-C6FCB834278F}">
      <dgm:prSet custT="1"/>
      <dgm:spPr>
        <a:solidFill>
          <a:srgbClr val="D56E48"/>
        </a:solidFill>
        <a:ln w="12700" cap="flat" cmpd="sng" algn="ctr">
          <a:solidFill>
            <a:prstClr val="white">
              <a:hueOff val="0"/>
              <a:satOff val="0"/>
              <a:lumOff val="0"/>
              <a:alphaOff val="0"/>
            </a:prstClr>
          </a:solidFill>
          <a:prstDash val="solid"/>
          <a:miter lim="800000"/>
        </a:ln>
        <a:effectLst/>
      </dgm:spPr>
      <dgm:t>
        <a:bodyPr spcFirstLastPara="0" vert="horz" wrap="square" lIns="64770" tIns="64770" rIns="64770" bIns="64770" numCol="1" spcCol="1270" anchor="ctr" anchorCtr="0"/>
        <a:lstStyle/>
        <a:p>
          <a:pPr marL="0" lvl="0" indent="0" algn="l" defTabSz="755650">
            <a:lnSpc>
              <a:spcPct val="90000"/>
            </a:lnSpc>
            <a:spcBef>
              <a:spcPct val="0"/>
            </a:spcBef>
            <a:spcAft>
              <a:spcPct val="35000"/>
            </a:spcAft>
            <a:buNone/>
          </a:pPr>
          <a:r>
            <a:rPr lang="en-CA" sz="1700" kern="1200" dirty="0">
              <a:solidFill>
                <a:prstClr val="white"/>
              </a:solidFill>
              <a:latin typeface="Montserrat" panose="00000500000000000000" pitchFamily="2" charset="0"/>
              <a:ea typeface="+mn-ea"/>
              <a:cs typeface="Mongolian Baiti" panose="03000500000000000000" pitchFamily="66" charset="0"/>
            </a:rPr>
            <a:t>Budget carefully and plan for risks like data quality, bias, and compliance.</a:t>
          </a:r>
        </a:p>
      </dgm:t>
    </dgm:pt>
    <dgm:pt modelId="{0B4BFAAD-DA00-4801-B704-202518F00889}" type="parTrans" cxnId="{5327831F-05C3-4663-A1A6-8A01452AD1B2}">
      <dgm:prSet/>
      <dgm:spPr/>
      <dgm:t>
        <a:bodyPr/>
        <a:lstStyle/>
        <a:p>
          <a:endParaRPr lang="en-CA"/>
        </a:p>
      </dgm:t>
    </dgm:pt>
    <dgm:pt modelId="{743D7080-77CA-4517-8C6F-4EC7CEDD84A8}" type="sibTrans" cxnId="{5327831F-05C3-4663-A1A6-8A01452AD1B2}">
      <dgm:prSet/>
      <dgm:spPr/>
      <dgm:t>
        <a:bodyPr/>
        <a:lstStyle/>
        <a:p>
          <a:endParaRPr lang="en-CA"/>
        </a:p>
      </dgm:t>
    </dgm:pt>
    <dgm:pt modelId="{D0CCD457-7D44-40F6-A1E5-BE2FB793C746}" type="pres">
      <dgm:prSet presAssocID="{E375956B-7142-45B3-8DE5-D244F09C1DB8}" presName="linear" presStyleCnt="0">
        <dgm:presLayoutVars>
          <dgm:animLvl val="lvl"/>
          <dgm:resizeHandles val="exact"/>
        </dgm:presLayoutVars>
      </dgm:prSet>
      <dgm:spPr/>
    </dgm:pt>
    <dgm:pt modelId="{F127AF12-6782-499A-8EFD-D8BB796B5895}" type="pres">
      <dgm:prSet presAssocID="{3D0063A0-12EA-40A0-A193-DC84EA6DDD82}" presName="parentText" presStyleLbl="node1" presStyleIdx="0" presStyleCnt="5">
        <dgm:presLayoutVars>
          <dgm:chMax val="0"/>
          <dgm:bulletEnabled val="1"/>
        </dgm:presLayoutVars>
      </dgm:prSet>
      <dgm:spPr>
        <a:xfrm>
          <a:off x="0" y="4053236"/>
          <a:ext cx="9545815" cy="934830"/>
        </a:xfrm>
        <a:prstGeom prst="roundRect">
          <a:avLst/>
        </a:prstGeom>
      </dgm:spPr>
    </dgm:pt>
    <dgm:pt modelId="{C4FFBEC2-468E-4063-AAC1-63DDC855CA3B}" type="pres">
      <dgm:prSet presAssocID="{A763E8AD-2D63-4B7D-A002-8FB0CC90A87C}" presName="spacer" presStyleCnt="0"/>
      <dgm:spPr/>
    </dgm:pt>
    <dgm:pt modelId="{8350E2B7-98A5-4698-AE20-B8B9E3078ABB}" type="pres">
      <dgm:prSet presAssocID="{7C0B7925-B8E6-4D83-A771-AFF376A01456}" presName="parentText" presStyleLbl="node1" presStyleIdx="1" presStyleCnt="5">
        <dgm:presLayoutVars>
          <dgm:chMax val="0"/>
          <dgm:bulletEnabled val="1"/>
        </dgm:presLayoutVars>
      </dgm:prSet>
      <dgm:spPr>
        <a:xfrm>
          <a:off x="0" y="1066990"/>
          <a:ext cx="9545815" cy="898560"/>
        </a:xfrm>
        <a:prstGeom prst="roundRect">
          <a:avLst/>
        </a:prstGeom>
      </dgm:spPr>
    </dgm:pt>
    <dgm:pt modelId="{FC0CF680-5199-4416-AEB4-1AC63166368E}" type="pres">
      <dgm:prSet presAssocID="{C983CECC-66EA-443A-A3E9-14D714EB15F0}" presName="spacer" presStyleCnt="0"/>
      <dgm:spPr/>
    </dgm:pt>
    <dgm:pt modelId="{29340F4A-9AEC-4E14-B0E3-3C267431BFFB}" type="pres">
      <dgm:prSet presAssocID="{3450A9AA-7BAC-4CB4-8F25-63D93BFD5D51}" presName="parentText" presStyleLbl="node1" presStyleIdx="2" presStyleCnt="5">
        <dgm:presLayoutVars>
          <dgm:chMax val="0"/>
          <dgm:bulletEnabled val="1"/>
        </dgm:presLayoutVars>
      </dgm:prSet>
      <dgm:spPr>
        <a:xfrm>
          <a:off x="0" y="2103791"/>
          <a:ext cx="9545815" cy="898560"/>
        </a:xfrm>
        <a:prstGeom prst="roundRect">
          <a:avLst/>
        </a:prstGeom>
      </dgm:spPr>
    </dgm:pt>
    <dgm:pt modelId="{5EB1BBBC-E4C4-40D3-B080-E98338262F3C}" type="pres">
      <dgm:prSet presAssocID="{B89E26E2-2B66-4D35-ACDC-B745F721EE0E}" presName="spacer" presStyleCnt="0"/>
      <dgm:spPr/>
    </dgm:pt>
    <dgm:pt modelId="{677DDDE2-8DD8-422E-9A88-4FA2A00AC870}" type="pres">
      <dgm:prSet presAssocID="{92441623-F8CB-4363-BA92-F6F7515E0702}" presName="parentText" presStyleLbl="node1" presStyleIdx="3" presStyleCnt="5">
        <dgm:presLayoutVars>
          <dgm:chMax val="0"/>
          <dgm:bulletEnabled val="1"/>
        </dgm:presLayoutVars>
      </dgm:prSet>
      <dgm:spPr>
        <a:xfrm>
          <a:off x="0" y="3140591"/>
          <a:ext cx="9545815" cy="898560"/>
        </a:xfrm>
        <a:prstGeom prst="roundRect">
          <a:avLst/>
        </a:prstGeom>
      </dgm:spPr>
    </dgm:pt>
    <dgm:pt modelId="{1341E8E8-8F6B-4BBE-82CE-8C31A0E6375B}" type="pres">
      <dgm:prSet presAssocID="{B0FC51BE-3F47-457F-AB2E-6069DA380D18}" presName="spacer" presStyleCnt="0"/>
      <dgm:spPr/>
    </dgm:pt>
    <dgm:pt modelId="{1BB9FB31-8821-4519-9EDC-0C3D8BC4707A}" type="pres">
      <dgm:prSet presAssocID="{3D4C56D2-D677-4F99-BF9E-C6FCB834278F}" presName="parentText" presStyleLbl="node1" presStyleIdx="4" presStyleCnt="5">
        <dgm:presLayoutVars>
          <dgm:chMax val="0"/>
          <dgm:bulletEnabled val="1"/>
        </dgm:presLayoutVars>
      </dgm:prSet>
      <dgm:spPr>
        <a:xfrm>
          <a:off x="0" y="4177391"/>
          <a:ext cx="9545815" cy="898560"/>
        </a:xfrm>
        <a:prstGeom prst="roundRect">
          <a:avLst/>
        </a:prstGeom>
      </dgm:spPr>
    </dgm:pt>
  </dgm:ptLst>
  <dgm:cxnLst>
    <dgm:cxn modelId="{DC1C810B-6E7F-428E-809E-1C85342AFEB1}" type="presOf" srcId="{3450A9AA-7BAC-4CB4-8F25-63D93BFD5D51}" destId="{29340F4A-9AEC-4E14-B0E3-3C267431BFFB}" srcOrd="0" destOrd="0" presId="urn:microsoft.com/office/officeart/2005/8/layout/vList2"/>
    <dgm:cxn modelId="{5327831F-05C3-4663-A1A6-8A01452AD1B2}" srcId="{E375956B-7142-45B3-8DE5-D244F09C1DB8}" destId="{3D4C56D2-D677-4F99-BF9E-C6FCB834278F}" srcOrd="4" destOrd="0" parTransId="{0B4BFAAD-DA00-4801-B704-202518F00889}" sibTransId="{743D7080-77CA-4517-8C6F-4EC7CEDD84A8}"/>
    <dgm:cxn modelId="{84FCDA2D-52E6-4676-8DC4-1452811827AD}" type="presOf" srcId="{3D4C56D2-D677-4F99-BF9E-C6FCB834278F}" destId="{1BB9FB31-8821-4519-9EDC-0C3D8BC4707A}" srcOrd="0" destOrd="0" presId="urn:microsoft.com/office/officeart/2005/8/layout/vList2"/>
    <dgm:cxn modelId="{E9BC4F38-FA5E-49F7-9A84-027A05A8D24B}" srcId="{E375956B-7142-45B3-8DE5-D244F09C1DB8}" destId="{3D0063A0-12EA-40A0-A193-DC84EA6DDD82}" srcOrd="0" destOrd="0" parTransId="{831904A0-31D8-4E59-8F41-71621E1BF54F}" sibTransId="{A763E8AD-2D63-4B7D-A002-8FB0CC90A87C}"/>
    <dgm:cxn modelId="{185CC645-BA29-48D2-ABB4-3C41444721FE}" srcId="{E375956B-7142-45B3-8DE5-D244F09C1DB8}" destId="{7C0B7925-B8E6-4D83-A771-AFF376A01456}" srcOrd="1" destOrd="0" parTransId="{62810088-9E55-4E25-AE05-D3E0D02B779A}" sibTransId="{C983CECC-66EA-443A-A3E9-14D714EB15F0}"/>
    <dgm:cxn modelId="{4035FF5F-24C4-4DD4-A0A4-148F8BA68FD2}" srcId="{E375956B-7142-45B3-8DE5-D244F09C1DB8}" destId="{92441623-F8CB-4363-BA92-F6F7515E0702}" srcOrd="3" destOrd="0" parTransId="{E8F6306D-0B22-4ED1-A87E-398D32408FDD}" sibTransId="{B0FC51BE-3F47-457F-AB2E-6069DA380D18}"/>
    <dgm:cxn modelId="{7BF81C6D-3309-48BA-95A0-0C06DB6359BE}" type="presOf" srcId="{3D0063A0-12EA-40A0-A193-DC84EA6DDD82}" destId="{F127AF12-6782-499A-8EFD-D8BB796B5895}" srcOrd="0" destOrd="0" presId="urn:microsoft.com/office/officeart/2005/8/layout/vList2"/>
    <dgm:cxn modelId="{2334A0B9-8EDC-47A9-86DA-45A792C8F7A4}" type="presOf" srcId="{E375956B-7142-45B3-8DE5-D244F09C1DB8}" destId="{D0CCD457-7D44-40F6-A1E5-BE2FB793C746}" srcOrd="0" destOrd="0" presId="urn:microsoft.com/office/officeart/2005/8/layout/vList2"/>
    <dgm:cxn modelId="{C29E0CBF-A221-481C-AC14-6D82D2D82DAE}" type="presOf" srcId="{7C0B7925-B8E6-4D83-A771-AFF376A01456}" destId="{8350E2B7-98A5-4698-AE20-B8B9E3078ABB}" srcOrd="0" destOrd="0" presId="urn:microsoft.com/office/officeart/2005/8/layout/vList2"/>
    <dgm:cxn modelId="{EEED40E9-3D4D-4C3E-83D2-731BB669E8A7}" type="presOf" srcId="{92441623-F8CB-4363-BA92-F6F7515E0702}" destId="{677DDDE2-8DD8-422E-9A88-4FA2A00AC870}" srcOrd="0" destOrd="0" presId="urn:microsoft.com/office/officeart/2005/8/layout/vList2"/>
    <dgm:cxn modelId="{A8B7F3EE-6D25-4BC7-ADC7-DDFB28BFDD45}" srcId="{E375956B-7142-45B3-8DE5-D244F09C1DB8}" destId="{3450A9AA-7BAC-4CB4-8F25-63D93BFD5D51}" srcOrd="2" destOrd="0" parTransId="{593DAA21-79CD-4A1C-B99F-5F135F05B5F7}" sibTransId="{B89E26E2-2B66-4D35-ACDC-B745F721EE0E}"/>
    <dgm:cxn modelId="{88AAAB8D-4A98-4964-BDE1-1CEFFC972C57}" type="presParOf" srcId="{D0CCD457-7D44-40F6-A1E5-BE2FB793C746}" destId="{F127AF12-6782-499A-8EFD-D8BB796B5895}" srcOrd="0" destOrd="0" presId="urn:microsoft.com/office/officeart/2005/8/layout/vList2"/>
    <dgm:cxn modelId="{08B604E9-8234-4A2B-9760-535786486CDF}" type="presParOf" srcId="{D0CCD457-7D44-40F6-A1E5-BE2FB793C746}" destId="{C4FFBEC2-468E-4063-AAC1-63DDC855CA3B}" srcOrd="1" destOrd="0" presId="urn:microsoft.com/office/officeart/2005/8/layout/vList2"/>
    <dgm:cxn modelId="{1C9EBDC3-639E-4C0A-9203-F181F6D7008B}" type="presParOf" srcId="{D0CCD457-7D44-40F6-A1E5-BE2FB793C746}" destId="{8350E2B7-98A5-4698-AE20-B8B9E3078ABB}" srcOrd="2" destOrd="0" presId="urn:microsoft.com/office/officeart/2005/8/layout/vList2"/>
    <dgm:cxn modelId="{BA93EA97-BCEC-4845-8736-B3A9211B35DD}" type="presParOf" srcId="{D0CCD457-7D44-40F6-A1E5-BE2FB793C746}" destId="{FC0CF680-5199-4416-AEB4-1AC63166368E}" srcOrd="3" destOrd="0" presId="urn:microsoft.com/office/officeart/2005/8/layout/vList2"/>
    <dgm:cxn modelId="{9F6D23C9-1889-4311-8C93-1388B7C43C68}" type="presParOf" srcId="{D0CCD457-7D44-40F6-A1E5-BE2FB793C746}" destId="{29340F4A-9AEC-4E14-B0E3-3C267431BFFB}" srcOrd="4" destOrd="0" presId="urn:microsoft.com/office/officeart/2005/8/layout/vList2"/>
    <dgm:cxn modelId="{FD969BC8-BD20-4482-9653-7EBD3B7523E5}" type="presParOf" srcId="{D0CCD457-7D44-40F6-A1E5-BE2FB793C746}" destId="{5EB1BBBC-E4C4-40D3-B080-E98338262F3C}" srcOrd="5" destOrd="0" presId="urn:microsoft.com/office/officeart/2005/8/layout/vList2"/>
    <dgm:cxn modelId="{50760866-79CE-454D-9381-0183ADEDFACB}" type="presParOf" srcId="{D0CCD457-7D44-40F6-A1E5-BE2FB793C746}" destId="{677DDDE2-8DD8-422E-9A88-4FA2A00AC870}" srcOrd="6" destOrd="0" presId="urn:microsoft.com/office/officeart/2005/8/layout/vList2"/>
    <dgm:cxn modelId="{0402931C-48F4-44D7-B2CC-2C732B3AABB8}" type="presParOf" srcId="{D0CCD457-7D44-40F6-A1E5-BE2FB793C746}" destId="{1341E8E8-8F6B-4BBE-82CE-8C31A0E6375B}" srcOrd="7" destOrd="0" presId="urn:microsoft.com/office/officeart/2005/8/layout/vList2"/>
    <dgm:cxn modelId="{C46CD4E5-BEDE-47DC-85B1-B3A3C3EDBE77}" type="presParOf" srcId="{D0CCD457-7D44-40F6-A1E5-BE2FB793C746}" destId="{1BB9FB31-8821-4519-9EDC-0C3D8BC4707A}" srcOrd="8" destOrd="0" presId="urn:microsoft.com/office/officeart/2005/8/layout/vList2"/>
  </dgm:cxnLst>
  <dgm:bg>
    <a:noFill/>
  </dgm:bg>
  <dgm:whole>
    <a:ln>
      <a:noFill/>
    </a:ln>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197BF8-3E74-4E92-90E4-3E2E45C5C2A3}">
      <dsp:nvSpPr>
        <dsp:cNvPr id="0" name=""/>
        <dsp:cNvSpPr/>
      </dsp:nvSpPr>
      <dsp:spPr>
        <a:xfrm rot="5400000">
          <a:off x="305999" y="3357374"/>
          <a:ext cx="914726" cy="1522083"/>
        </a:xfrm>
        <a:prstGeom prst="corner">
          <a:avLst>
            <a:gd name="adj1" fmla="val 16120"/>
            <a:gd name="adj2" fmla="val 1611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D5D9AB6-EEDD-4BD3-977C-305469BA0261}">
      <dsp:nvSpPr>
        <dsp:cNvPr id="0" name=""/>
        <dsp:cNvSpPr/>
      </dsp:nvSpPr>
      <dsp:spPr>
        <a:xfrm>
          <a:off x="153309" y="3812150"/>
          <a:ext cx="1374145" cy="1204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CA" sz="1400" b="1" kern="1200" dirty="0">
              <a:latin typeface="Montserrat" panose="00000500000000000000" pitchFamily="2" charset="0"/>
            </a:rPr>
            <a:t>Step 1. Problem Scoping</a:t>
          </a:r>
        </a:p>
        <a:p>
          <a:pPr marL="0" lvl="0" indent="0" algn="l" defTabSz="622300">
            <a:lnSpc>
              <a:spcPct val="90000"/>
            </a:lnSpc>
            <a:spcBef>
              <a:spcPct val="0"/>
            </a:spcBef>
            <a:spcAft>
              <a:spcPct val="35000"/>
            </a:spcAft>
            <a:buNone/>
          </a:pPr>
          <a:r>
            <a:rPr lang="en-CA" sz="1400" kern="1200" dirty="0">
              <a:latin typeface="Montserrat" panose="00000500000000000000" pitchFamily="2" charset="0"/>
            </a:rPr>
            <a:t>Define the business problem &amp; objectives. Use the 4Ws (Who, What, Where, Why) to understand context &amp; expected outcomes.</a:t>
          </a:r>
          <a:endParaRPr lang="en-CA" sz="1400" b="1" kern="1200" dirty="0">
            <a:latin typeface="Montserrat" panose="00000500000000000000" pitchFamily="2" charset="0"/>
          </a:endParaRPr>
        </a:p>
      </dsp:txBody>
      <dsp:txXfrm>
        <a:off x="153309" y="3812150"/>
        <a:ext cx="1374145" cy="1204519"/>
      </dsp:txXfrm>
    </dsp:sp>
    <dsp:sp modelId="{AC2D6AEA-9B05-42E9-A026-B81090D337F0}">
      <dsp:nvSpPr>
        <dsp:cNvPr id="0" name=""/>
        <dsp:cNvSpPr/>
      </dsp:nvSpPr>
      <dsp:spPr>
        <a:xfrm>
          <a:off x="1268182" y="3245317"/>
          <a:ext cx="259272" cy="259272"/>
        </a:xfrm>
        <a:prstGeom prst="triangle">
          <a:avLst>
            <a:gd name="adj" fmla="val 10000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3D4270-609E-4AA3-8271-F23E953621C9}">
      <dsp:nvSpPr>
        <dsp:cNvPr id="0" name=""/>
        <dsp:cNvSpPr/>
      </dsp:nvSpPr>
      <dsp:spPr>
        <a:xfrm rot="5400000">
          <a:off x="1988222" y="2941107"/>
          <a:ext cx="914726" cy="1522083"/>
        </a:xfrm>
        <a:prstGeom prst="corner">
          <a:avLst>
            <a:gd name="adj1" fmla="val 16120"/>
            <a:gd name="adj2" fmla="val 1611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5DD54A-DED1-4D82-A0BC-A3D0CAA2A87F}">
      <dsp:nvSpPr>
        <dsp:cNvPr id="0" name=""/>
        <dsp:cNvSpPr/>
      </dsp:nvSpPr>
      <dsp:spPr>
        <a:xfrm>
          <a:off x="1835532" y="3395882"/>
          <a:ext cx="1374145" cy="1204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CA" sz="1400" b="1" kern="1200" dirty="0">
              <a:latin typeface="Montserrat" panose="00000500000000000000" pitchFamily="2" charset="0"/>
            </a:rPr>
            <a:t>Step 2. Data Acquisition</a:t>
          </a:r>
        </a:p>
        <a:p>
          <a:pPr marL="0" lvl="0" indent="0" algn="l" defTabSz="622300">
            <a:lnSpc>
              <a:spcPct val="90000"/>
            </a:lnSpc>
            <a:spcBef>
              <a:spcPct val="0"/>
            </a:spcBef>
            <a:spcAft>
              <a:spcPct val="35000"/>
            </a:spcAft>
            <a:buNone/>
          </a:pPr>
          <a:r>
            <a:rPr lang="en-CA" sz="1400" kern="1200" dirty="0">
              <a:latin typeface="Montserrat" panose="00000500000000000000" pitchFamily="2" charset="0"/>
            </a:rPr>
            <a:t>Gather relevant data from internal and/or external sources. This includes structured &amp; unstructured data collection through APIs, databases, sensors, etc.</a:t>
          </a:r>
          <a:endParaRPr lang="en-CA" sz="1400" b="1" kern="1200" dirty="0">
            <a:latin typeface="Montserrat" panose="00000500000000000000" pitchFamily="2" charset="0"/>
          </a:endParaRPr>
        </a:p>
      </dsp:txBody>
      <dsp:txXfrm>
        <a:off x="1835532" y="3395882"/>
        <a:ext cx="1374145" cy="1204519"/>
      </dsp:txXfrm>
    </dsp:sp>
    <dsp:sp modelId="{ED2C80C3-84F6-4288-A9C8-4B9770720D7E}">
      <dsp:nvSpPr>
        <dsp:cNvPr id="0" name=""/>
        <dsp:cNvSpPr/>
      </dsp:nvSpPr>
      <dsp:spPr>
        <a:xfrm>
          <a:off x="2950405" y="2829049"/>
          <a:ext cx="259272" cy="259272"/>
        </a:xfrm>
        <a:prstGeom prst="triangle">
          <a:avLst>
            <a:gd name="adj" fmla="val 10000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738D62-8D5E-4D03-AD82-3EB35A4AAC42}">
      <dsp:nvSpPr>
        <dsp:cNvPr id="0" name=""/>
        <dsp:cNvSpPr/>
      </dsp:nvSpPr>
      <dsp:spPr>
        <a:xfrm rot="5400000">
          <a:off x="3670445" y="2524839"/>
          <a:ext cx="914726" cy="1522083"/>
        </a:xfrm>
        <a:prstGeom prst="corner">
          <a:avLst>
            <a:gd name="adj1" fmla="val 16120"/>
            <a:gd name="adj2" fmla="val 1611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489394-1C97-401A-8FE3-A80068DDF909}">
      <dsp:nvSpPr>
        <dsp:cNvPr id="0" name=""/>
        <dsp:cNvSpPr/>
      </dsp:nvSpPr>
      <dsp:spPr>
        <a:xfrm>
          <a:off x="3517754" y="2979614"/>
          <a:ext cx="1374145" cy="1204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CA" sz="1400" b="1" kern="1200" dirty="0">
              <a:latin typeface="Montserrat" panose="00000500000000000000" pitchFamily="2" charset="0"/>
            </a:rPr>
            <a:t>Step 3. Data Exploration</a:t>
          </a:r>
        </a:p>
        <a:p>
          <a:pPr marL="0" lvl="0" indent="0" algn="l" defTabSz="622300">
            <a:lnSpc>
              <a:spcPct val="90000"/>
            </a:lnSpc>
            <a:spcBef>
              <a:spcPct val="0"/>
            </a:spcBef>
            <a:spcAft>
              <a:spcPct val="35000"/>
            </a:spcAft>
            <a:buNone/>
          </a:pPr>
          <a:r>
            <a:rPr lang="en-CA" sz="1400" kern="1200" dirty="0">
              <a:latin typeface="Montserrat" panose="00000500000000000000" pitchFamily="2" charset="0"/>
            </a:rPr>
            <a:t>Analyze the data to understand patterns, identify outliers, handle missing values, &amp; perform feature engineering.</a:t>
          </a:r>
          <a:endParaRPr lang="en-CA" sz="1400" b="1" kern="1200" dirty="0">
            <a:latin typeface="Montserrat" panose="00000500000000000000" pitchFamily="2" charset="0"/>
          </a:endParaRPr>
        </a:p>
      </dsp:txBody>
      <dsp:txXfrm>
        <a:off x="3517754" y="2979614"/>
        <a:ext cx="1374145" cy="1204519"/>
      </dsp:txXfrm>
    </dsp:sp>
    <dsp:sp modelId="{51165B95-C9C3-4A89-8576-34A9B69B97F0}">
      <dsp:nvSpPr>
        <dsp:cNvPr id="0" name=""/>
        <dsp:cNvSpPr/>
      </dsp:nvSpPr>
      <dsp:spPr>
        <a:xfrm>
          <a:off x="4632627" y="2412782"/>
          <a:ext cx="259272" cy="259272"/>
        </a:xfrm>
        <a:prstGeom prst="triangle">
          <a:avLst>
            <a:gd name="adj" fmla="val 10000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897D56-0D3C-45BE-AC53-5C3B54B37B4E}">
      <dsp:nvSpPr>
        <dsp:cNvPr id="0" name=""/>
        <dsp:cNvSpPr/>
      </dsp:nvSpPr>
      <dsp:spPr>
        <a:xfrm rot="5400000">
          <a:off x="5352668" y="2108571"/>
          <a:ext cx="914726" cy="1522083"/>
        </a:xfrm>
        <a:prstGeom prst="corner">
          <a:avLst>
            <a:gd name="adj1" fmla="val 16120"/>
            <a:gd name="adj2" fmla="val 1611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7C5D4A-61CF-4DD5-8253-969280031ABA}">
      <dsp:nvSpPr>
        <dsp:cNvPr id="0" name=""/>
        <dsp:cNvSpPr/>
      </dsp:nvSpPr>
      <dsp:spPr>
        <a:xfrm>
          <a:off x="5199977" y="2563347"/>
          <a:ext cx="1374145" cy="1204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CA" sz="1400" b="1" kern="1200" dirty="0">
              <a:latin typeface="Montserrat" panose="00000500000000000000" pitchFamily="2" charset="0"/>
            </a:rPr>
            <a:t>Step 4. Modeling</a:t>
          </a:r>
        </a:p>
        <a:p>
          <a:pPr marL="0" lvl="0" indent="0" algn="l" defTabSz="622300">
            <a:lnSpc>
              <a:spcPct val="90000"/>
            </a:lnSpc>
            <a:spcBef>
              <a:spcPct val="0"/>
            </a:spcBef>
            <a:spcAft>
              <a:spcPct val="35000"/>
            </a:spcAft>
            <a:buNone/>
          </a:pPr>
          <a:r>
            <a:rPr lang="en-CA" sz="1400" kern="1200" dirty="0">
              <a:latin typeface="Montserrat" panose="00000500000000000000" pitchFamily="2" charset="0"/>
            </a:rPr>
            <a:t>Develop &amp; train AI models using selected algorithms. Fine-tune the model to improve accuracy &amp; performance.</a:t>
          </a:r>
        </a:p>
      </dsp:txBody>
      <dsp:txXfrm>
        <a:off x="5199977" y="2563347"/>
        <a:ext cx="1374145" cy="1204519"/>
      </dsp:txXfrm>
    </dsp:sp>
    <dsp:sp modelId="{6AEE8688-6329-4DE1-BA4F-B5954E8ECF79}">
      <dsp:nvSpPr>
        <dsp:cNvPr id="0" name=""/>
        <dsp:cNvSpPr/>
      </dsp:nvSpPr>
      <dsp:spPr>
        <a:xfrm>
          <a:off x="6314850" y="1996514"/>
          <a:ext cx="259272" cy="259272"/>
        </a:xfrm>
        <a:prstGeom prst="triangle">
          <a:avLst>
            <a:gd name="adj" fmla="val 10000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D45974-4D89-4002-89CF-37647622E151}">
      <dsp:nvSpPr>
        <dsp:cNvPr id="0" name=""/>
        <dsp:cNvSpPr/>
      </dsp:nvSpPr>
      <dsp:spPr>
        <a:xfrm rot="5400000">
          <a:off x="7034891" y="1692304"/>
          <a:ext cx="914726" cy="1522083"/>
        </a:xfrm>
        <a:prstGeom prst="corner">
          <a:avLst>
            <a:gd name="adj1" fmla="val 16120"/>
            <a:gd name="adj2" fmla="val 1611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3A5A5E-4524-4B31-93A4-3452ED550E07}">
      <dsp:nvSpPr>
        <dsp:cNvPr id="0" name=""/>
        <dsp:cNvSpPr/>
      </dsp:nvSpPr>
      <dsp:spPr>
        <a:xfrm>
          <a:off x="6882200" y="2147079"/>
          <a:ext cx="1374145" cy="1204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CA" sz="1400" b="1" kern="1200" dirty="0">
              <a:latin typeface="Montserrat" panose="00000500000000000000" pitchFamily="2" charset="0"/>
            </a:rPr>
            <a:t>Step 5. Model Evaluation</a:t>
          </a:r>
        </a:p>
        <a:p>
          <a:pPr marL="0" lvl="0" indent="0" algn="l" defTabSz="622300">
            <a:lnSpc>
              <a:spcPct val="90000"/>
            </a:lnSpc>
            <a:spcBef>
              <a:spcPct val="0"/>
            </a:spcBef>
            <a:spcAft>
              <a:spcPct val="35000"/>
            </a:spcAft>
            <a:buNone/>
          </a:pPr>
          <a:r>
            <a:rPr lang="en-CA" sz="1400" kern="1200" dirty="0">
              <a:latin typeface="Montserrat" panose="00000500000000000000" pitchFamily="2" charset="0"/>
            </a:rPr>
            <a:t>Assess model performance using metrics such as accuracy, precision, recall, F1-score, etc. This helps ensure the model is reliable and generalizable.</a:t>
          </a:r>
        </a:p>
      </dsp:txBody>
      <dsp:txXfrm>
        <a:off x="6882200" y="2147079"/>
        <a:ext cx="1374145" cy="1204519"/>
      </dsp:txXfrm>
    </dsp:sp>
    <dsp:sp modelId="{72DC2A12-A0E1-412E-AAF6-0B15046421EA}">
      <dsp:nvSpPr>
        <dsp:cNvPr id="0" name=""/>
        <dsp:cNvSpPr/>
      </dsp:nvSpPr>
      <dsp:spPr>
        <a:xfrm>
          <a:off x="7997073" y="1580246"/>
          <a:ext cx="259272" cy="259272"/>
        </a:xfrm>
        <a:prstGeom prst="triangle">
          <a:avLst>
            <a:gd name="adj" fmla="val 10000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7EAA430-4388-4C23-8BE4-9CC3DAB20E8B}">
      <dsp:nvSpPr>
        <dsp:cNvPr id="0" name=""/>
        <dsp:cNvSpPr/>
      </dsp:nvSpPr>
      <dsp:spPr>
        <a:xfrm rot="5400000">
          <a:off x="8717113" y="1276036"/>
          <a:ext cx="914726" cy="1522083"/>
        </a:xfrm>
        <a:prstGeom prst="corner">
          <a:avLst>
            <a:gd name="adj1" fmla="val 16120"/>
            <a:gd name="adj2" fmla="val 1611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6277B2-4FB3-49F7-B98B-B4B060F4B14C}">
      <dsp:nvSpPr>
        <dsp:cNvPr id="0" name=""/>
        <dsp:cNvSpPr/>
      </dsp:nvSpPr>
      <dsp:spPr>
        <a:xfrm>
          <a:off x="8564423" y="1730811"/>
          <a:ext cx="1374145" cy="1204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CA" sz="1400" b="1" kern="1200" dirty="0">
              <a:latin typeface="Montserrat" panose="00000500000000000000" pitchFamily="2" charset="0"/>
            </a:rPr>
            <a:t>Step 6. Deployment</a:t>
          </a:r>
        </a:p>
        <a:p>
          <a:pPr marL="0" lvl="0" indent="0" algn="l" defTabSz="622300">
            <a:lnSpc>
              <a:spcPct val="90000"/>
            </a:lnSpc>
            <a:spcBef>
              <a:spcPct val="0"/>
            </a:spcBef>
            <a:spcAft>
              <a:spcPct val="35000"/>
            </a:spcAft>
            <a:buNone/>
          </a:pPr>
          <a:r>
            <a:rPr lang="en-CA" sz="1400" kern="1200" dirty="0">
              <a:latin typeface="Montserrat" panose="00000500000000000000" pitchFamily="2" charset="0"/>
            </a:rPr>
            <a:t>Integrate the trained model into a production environment where it can be used by end users to generate predictions.</a:t>
          </a:r>
        </a:p>
      </dsp:txBody>
      <dsp:txXfrm>
        <a:off x="8564423" y="1730811"/>
        <a:ext cx="1374145" cy="1204519"/>
      </dsp:txXfrm>
    </dsp:sp>
    <dsp:sp modelId="{8D90BE74-BB9F-4ED4-9803-F3EBBE5A5D63}">
      <dsp:nvSpPr>
        <dsp:cNvPr id="0" name=""/>
        <dsp:cNvSpPr/>
      </dsp:nvSpPr>
      <dsp:spPr>
        <a:xfrm>
          <a:off x="9679296" y="1163979"/>
          <a:ext cx="259272" cy="259272"/>
        </a:xfrm>
        <a:prstGeom prst="triangle">
          <a:avLst>
            <a:gd name="adj" fmla="val 10000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393D578-8172-40CF-A411-ED368597F851}">
      <dsp:nvSpPr>
        <dsp:cNvPr id="0" name=""/>
        <dsp:cNvSpPr/>
      </dsp:nvSpPr>
      <dsp:spPr>
        <a:xfrm rot="5400000">
          <a:off x="10399336" y="859768"/>
          <a:ext cx="914726" cy="1522083"/>
        </a:xfrm>
        <a:prstGeom prst="corner">
          <a:avLst>
            <a:gd name="adj1" fmla="val 16120"/>
            <a:gd name="adj2" fmla="val 16110"/>
          </a:avLst>
        </a:prstGeom>
        <a:solidFill>
          <a:srgbClr val="D56E48"/>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E97963-BE5B-40A3-A1BF-195C7D44B9A3}">
      <dsp:nvSpPr>
        <dsp:cNvPr id="0" name=""/>
        <dsp:cNvSpPr/>
      </dsp:nvSpPr>
      <dsp:spPr>
        <a:xfrm>
          <a:off x="10246646" y="1314543"/>
          <a:ext cx="1374145" cy="1204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CA" sz="1400" b="1" kern="1200" dirty="0">
              <a:latin typeface="Montserrat" panose="00000500000000000000" pitchFamily="2" charset="0"/>
            </a:rPr>
            <a:t>Step 7. Maintenance &amp; Monitoring</a:t>
          </a:r>
        </a:p>
        <a:p>
          <a:pPr marL="0" lvl="0" indent="0" algn="l" defTabSz="622300">
            <a:lnSpc>
              <a:spcPct val="90000"/>
            </a:lnSpc>
            <a:spcBef>
              <a:spcPct val="0"/>
            </a:spcBef>
            <a:spcAft>
              <a:spcPct val="35000"/>
            </a:spcAft>
            <a:buNone/>
          </a:pPr>
          <a:r>
            <a:rPr lang="en-CA" sz="1400" kern="1200" dirty="0">
              <a:latin typeface="Montserrat" panose="00000500000000000000" pitchFamily="2" charset="0"/>
            </a:rPr>
            <a:t>Continuously monitor the model’s performance and retrain it as needed to ensure it adapts to new data and remains effective over time.</a:t>
          </a:r>
        </a:p>
      </dsp:txBody>
      <dsp:txXfrm>
        <a:off x="10246646" y="1314543"/>
        <a:ext cx="1374145" cy="12045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839E07-AEBB-4BE6-962A-91042BEBE5BF}">
      <dsp:nvSpPr>
        <dsp:cNvPr id="0" name=""/>
        <dsp:cNvSpPr/>
      </dsp:nvSpPr>
      <dsp:spPr>
        <a:xfrm>
          <a:off x="2618726" y="408624"/>
          <a:ext cx="3721294" cy="3721294"/>
        </a:xfrm>
        <a:prstGeom prst="pie">
          <a:avLst>
            <a:gd name="adj1" fmla="val 16200000"/>
            <a:gd name="adj2" fmla="val 1800000"/>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Planning</a:t>
          </a:r>
          <a:endParaRPr lang="en-CA" sz="1400" b="1" kern="1200" dirty="0">
            <a:latin typeface="Montserrat" panose="00000500000000000000" pitchFamily="2" charset="0"/>
          </a:endParaRPr>
        </a:p>
      </dsp:txBody>
      <dsp:txXfrm>
        <a:off x="4641958" y="1095292"/>
        <a:ext cx="1262582" cy="1240431"/>
      </dsp:txXfrm>
    </dsp:sp>
    <dsp:sp modelId="{F03A589B-1F92-455E-955F-8C1AC52CCE1D}">
      <dsp:nvSpPr>
        <dsp:cNvPr id="0" name=""/>
        <dsp:cNvSpPr/>
      </dsp:nvSpPr>
      <dsp:spPr>
        <a:xfrm>
          <a:off x="2617358" y="409785"/>
          <a:ext cx="3721294" cy="3721294"/>
        </a:xfrm>
        <a:prstGeom prst="pie">
          <a:avLst>
            <a:gd name="adj1" fmla="val 1800000"/>
            <a:gd name="adj2" fmla="val 9000000"/>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Coordination</a:t>
          </a:r>
          <a:endParaRPr lang="en-CA" sz="1400" b="1" kern="1200" dirty="0">
            <a:latin typeface="Montserrat" panose="00000500000000000000" pitchFamily="2" charset="0"/>
          </a:endParaRPr>
        </a:p>
      </dsp:txBody>
      <dsp:txXfrm>
        <a:off x="3636284" y="2757745"/>
        <a:ext cx="1683442" cy="1151829"/>
      </dsp:txXfrm>
    </dsp:sp>
    <dsp:sp modelId="{7A8235FE-553A-4AA4-9793-6ADDB5AFBE17}">
      <dsp:nvSpPr>
        <dsp:cNvPr id="0" name=""/>
        <dsp:cNvSpPr/>
      </dsp:nvSpPr>
      <dsp:spPr>
        <a:xfrm>
          <a:off x="2617358" y="409785"/>
          <a:ext cx="3721294" cy="3721294"/>
        </a:xfrm>
        <a:prstGeom prst="pie">
          <a:avLst>
            <a:gd name="adj1" fmla="val 9000000"/>
            <a:gd name="adj2" fmla="val 16200000"/>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Business Alignment</a:t>
          </a:r>
          <a:endParaRPr lang="en-CA" sz="1400" b="1" kern="1200" dirty="0">
            <a:latin typeface="Montserrat" panose="00000500000000000000" pitchFamily="2" charset="0"/>
          </a:endParaRPr>
        </a:p>
      </dsp:txBody>
      <dsp:txXfrm>
        <a:off x="3016068" y="1140754"/>
        <a:ext cx="1262582" cy="12404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5D8429-F719-4DB4-82BA-CF88462A5350}">
      <dsp:nvSpPr>
        <dsp:cNvPr id="0" name=""/>
        <dsp:cNvSpPr/>
      </dsp:nvSpPr>
      <dsp:spPr>
        <a:xfrm>
          <a:off x="0" y="1096935"/>
          <a:ext cx="3575191" cy="2145114"/>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b="1" kern="1200" dirty="0">
              <a:effectLst/>
              <a:latin typeface="Montserrat" panose="00000500000000000000" pitchFamily="2" charset="0"/>
              <a:ea typeface="Aptos" panose="020B0004020202020204" pitchFamily="34" charset="0"/>
              <a:cs typeface="Times New Roman" panose="02020603050405020304" pitchFamily="18" charset="0"/>
            </a:rPr>
            <a:t>Quantify Expected Business Value: </a:t>
          </a:r>
          <a:r>
            <a:rPr lang="en-CA" sz="1800" kern="1200" dirty="0">
              <a:effectLst/>
              <a:latin typeface="Montserrat" panose="00000500000000000000" pitchFamily="2" charset="0"/>
              <a:ea typeface="Aptos" panose="020B0004020202020204" pitchFamily="34" charset="0"/>
              <a:cs typeface="Times New Roman" panose="02020603050405020304" pitchFamily="18" charset="0"/>
            </a:rPr>
            <a:t>Estimate potential outcomes such as cost reduction (e.g., 15%), revenue growth (e.g., $1M annually), or time savings (e.g., 3,000 labor hours per year).</a:t>
          </a:r>
          <a:endParaRPr lang="en-CA" sz="1800" kern="1200" dirty="0">
            <a:latin typeface="Montserrat" panose="00000500000000000000" pitchFamily="2" charset="0"/>
          </a:endParaRPr>
        </a:p>
      </dsp:txBody>
      <dsp:txXfrm>
        <a:off x="0" y="1096935"/>
        <a:ext cx="3575191" cy="2145114"/>
      </dsp:txXfrm>
    </dsp:sp>
    <dsp:sp modelId="{FFBB0A9E-712F-4040-AD6F-AD565E03DCEA}">
      <dsp:nvSpPr>
        <dsp:cNvPr id="0" name=""/>
        <dsp:cNvSpPr/>
      </dsp:nvSpPr>
      <dsp:spPr>
        <a:xfrm>
          <a:off x="3932710" y="1096935"/>
          <a:ext cx="3575191" cy="2145114"/>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b="1" kern="1200" dirty="0">
              <a:effectLst/>
              <a:latin typeface="Montserrat" panose="00000500000000000000" pitchFamily="2" charset="0"/>
              <a:ea typeface="Aptos" panose="020B0004020202020204" pitchFamily="34" charset="0"/>
              <a:cs typeface="Times New Roman" panose="02020603050405020304" pitchFamily="18" charset="0"/>
            </a:rPr>
            <a:t>Align with Strategic Goals: </a:t>
          </a:r>
          <a:r>
            <a:rPr lang="en-CA" sz="1800" kern="1200" dirty="0">
              <a:effectLst/>
              <a:latin typeface="Montserrat" panose="00000500000000000000" pitchFamily="2" charset="0"/>
              <a:ea typeface="Aptos" panose="020B0004020202020204" pitchFamily="34" charset="0"/>
              <a:cs typeface="Times New Roman" panose="02020603050405020304" pitchFamily="18" charset="0"/>
            </a:rPr>
            <a:t>Ensure the project directly supports key business objectives such as improving customer retention, increasing operational efficiency, or unlocking new revenue streams.</a:t>
          </a:r>
        </a:p>
      </dsp:txBody>
      <dsp:txXfrm>
        <a:off x="3932710" y="1096935"/>
        <a:ext cx="3575191" cy="2145114"/>
      </dsp:txXfrm>
    </dsp:sp>
    <dsp:sp modelId="{B67550A5-9F4E-4717-83BC-320D9D85C207}">
      <dsp:nvSpPr>
        <dsp:cNvPr id="0" name=""/>
        <dsp:cNvSpPr/>
      </dsp:nvSpPr>
      <dsp:spPr>
        <a:xfrm>
          <a:off x="7865420" y="1096935"/>
          <a:ext cx="3575191" cy="2145114"/>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b="1" kern="1200" dirty="0">
              <a:effectLst/>
              <a:latin typeface="Montserrat" panose="00000500000000000000" pitchFamily="2" charset="0"/>
              <a:ea typeface="Aptos" panose="020B0004020202020204" pitchFamily="34" charset="0"/>
              <a:cs typeface="Times New Roman" panose="02020603050405020304" pitchFamily="18" charset="0"/>
            </a:rPr>
            <a:t>Define Clear Success Metrics: </a:t>
          </a:r>
          <a:r>
            <a:rPr lang="en-CA" sz="1800" kern="1200" dirty="0">
              <a:effectLst/>
              <a:latin typeface="Montserrat" panose="00000500000000000000" pitchFamily="2" charset="0"/>
              <a:ea typeface="Aptos" panose="020B0004020202020204" pitchFamily="34" charset="0"/>
              <a:cs typeface="Times New Roman" panose="02020603050405020304" pitchFamily="18" charset="0"/>
            </a:rPr>
            <a:t>Establish well-defined Key Performance Indicators (KPIs) to track performance and ROI.</a:t>
          </a:r>
        </a:p>
      </dsp:txBody>
      <dsp:txXfrm>
        <a:off x="7865420" y="1096935"/>
        <a:ext cx="3575191" cy="214511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25BF39-B901-4518-854E-2C577F7009C2}">
      <dsp:nvSpPr>
        <dsp:cNvPr id="0" name=""/>
        <dsp:cNvSpPr/>
      </dsp:nvSpPr>
      <dsp:spPr>
        <a:xfrm>
          <a:off x="998039" y="673"/>
          <a:ext cx="3566081" cy="2139648"/>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CA" sz="1700" b="1" kern="1200" dirty="0">
              <a:latin typeface="Montserrat" panose="00000500000000000000" pitchFamily="2" charset="0"/>
            </a:rPr>
            <a:t> Technical Feasibility: </a:t>
          </a:r>
          <a:r>
            <a:rPr lang="en-CA" sz="1700" kern="1200" dirty="0">
              <a:latin typeface="Montserrat" panose="00000500000000000000" pitchFamily="2" charset="0"/>
            </a:rPr>
            <a:t>Do we have the right tools and infrastructure (e.g., cloud, compute)?, Are the required AI models technically achievable given our use case?</a:t>
          </a:r>
        </a:p>
      </dsp:txBody>
      <dsp:txXfrm>
        <a:off x="998039" y="673"/>
        <a:ext cx="3566081" cy="2139648"/>
      </dsp:txXfrm>
    </dsp:sp>
    <dsp:sp modelId="{6DD4C9F4-38A6-4DA9-9836-614AF829B9E5}">
      <dsp:nvSpPr>
        <dsp:cNvPr id="0" name=""/>
        <dsp:cNvSpPr/>
      </dsp:nvSpPr>
      <dsp:spPr>
        <a:xfrm>
          <a:off x="4920729" y="673"/>
          <a:ext cx="3566081" cy="2139648"/>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CA" sz="1700" b="1" kern="1200" dirty="0">
              <a:latin typeface="Montserrat" panose="00000500000000000000" pitchFamily="2" charset="0"/>
            </a:rPr>
            <a:t>Organizational Readiness: </a:t>
          </a:r>
          <a:r>
            <a:rPr lang="en-CA" sz="1700" kern="1200" dirty="0">
              <a:latin typeface="Montserrat" panose="00000500000000000000" pitchFamily="2" charset="0"/>
            </a:rPr>
            <a:t>Do we have skilled personnel (data scientists, ML engineers)?</a:t>
          </a:r>
        </a:p>
      </dsp:txBody>
      <dsp:txXfrm>
        <a:off x="4920729" y="673"/>
        <a:ext cx="3566081" cy="2139648"/>
      </dsp:txXfrm>
    </dsp:sp>
    <dsp:sp modelId="{E028C94D-5B5F-4443-9C45-6D080A13328C}">
      <dsp:nvSpPr>
        <dsp:cNvPr id="0" name=""/>
        <dsp:cNvSpPr/>
      </dsp:nvSpPr>
      <dsp:spPr>
        <a:xfrm>
          <a:off x="998039" y="2496930"/>
          <a:ext cx="3566081" cy="2139648"/>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CA" sz="1700" b="1" kern="1200" dirty="0">
              <a:latin typeface="Montserrat" panose="00000500000000000000" pitchFamily="2" charset="0"/>
            </a:rPr>
            <a:t>Data Availability &amp; Quality: </a:t>
          </a:r>
          <a:r>
            <a:rPr lang="en-CA" sz="1700" kern="1200" dirty="0">
              <a:latin typeface="Montserrat" panose="00000500000000000000" pitchFamily="2" charset="0"/>
            </a:rPr>
            <a:t>Do we have access to the right data (historical, real-time, labeled)?, Is the data clean, complete, &amp; enough to train a model?</a:t>
          </a:r>
        </a:p>
      </dsp:txBody>
      <dsp:txXfrm>
        <a:off x="998039" y="2496930"/>
        <a:ext cx="3566081" cy="2139648"/>
      </dsp:txXfrm>
    </dsp:sp>
    <dsp:sp modelId="{D07FC4A7-3448-4987-BDA5-9FC6D533AFB8}">
      <dsp:nvSpPr>
        <dsp:cNvPr id="0" name=""/>
        <dsp:cNvSpPr/>
      </dsp:nvSpPr>
      <dsp:spPr>
        <a:xfrm>
          <a:off x="4920729" y="2496930"/>
          <a:ext cx="3566081" cy="2139648"/>
        </a:xfrm>
        <a:prstGeom prst="rect">
          <a:avLst/>
        </a:prstGeom>
        <a:solidFill>
          <a:schemeClr val="bg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CA" sz="1700" b="1" kern="1200" dirty="0">
              <a:latin typeface="Montserrat" panose="00000500000000000000" pitchFamily="2" charset="0"/>
            </a:rPr>
            <a:t>Cost &amp; Resource Constraints: </a:t>
          </a:r>
          <a:r>
            <a:rPr lang="en-CA" sz="1700" kern="1200" dirty="0">
              <a:latin typeface="Montserrat" panose="00000500000000000000" pitchFamily="2" charset="0"/>
            </a:rPr>
            <a:t>Can we deliver the project within the available budget and timeframe?, Are there tools we can leverage to reduce development costs (e.g., </a:t>
          </a:r>
          <a:r>
            <a:rPr lang="en-CA" sz="1700" kern="1200" dirty="0" err="1">
              <a:latin typeface="Montserrat" panose="00000500000000000000" pitchFamily="2" charset="0"/>
            </a:rPr>
            <a:t>AutoML</a:t>
          </a:r>
          <a:r>
            <a:rPr lang="en-CA" sz="1700" kern="1200" dirty="0">
              <a:latin typeface="Montserrat" panose="00000500000000000000" pitchFamily="2" charset="0"/>
            </a:rPr>
            <a:t>, pre-trained models)?</a:t>
          </a:r>
        </a:p>
      </dsp:txBody>
      <dsp:txXfrm>
        <a:off x="4920729" y="2496930"/>
        <a:ext cx="3566081" cy="213964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75B728-FC27-4F01-8F8B-C6FCA2850D70}">
      <dsp:nvSpPr>
        <dsp:cNvPr id="0" name=""/>
        <dsp:cNvSpPr/>
      </dsp:nvSpPr>
      <dsp:spPr>
        <a:xfrm>
          <a:off x="1615458" y="864"/>
          <a:ext cx="3074810" cy="1844886"/>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CA" sz="2400" b="0" kern="1200" dirty="0">
              <a:latin typeface="Montserrat" panose="00000500000000000000" pitchFamily="2" charset="0"/>
            </a:rPr>
            <a:t>1. Business &amp; Product Roles</a:t>
          </a:r>
        </a:p>
      </dsp:txBody>
      <dsp:txXfrm>
        <a:off x="1615458" y="864"/>
        <a:ext cx="3074810" cy="1844886"/>
      </dsp:txXfrm>
    </dsp:sp>
    <dsp:sp modelId="{5293BE1E-03F0-43FA-B129-B589923B7064}">
      <dsp:nvSpPr>
        <dsp:cNvPr id="0" name=""/>
        <dsp:cNvSpPr/>
      </dsp:nvSpPr>
      <dsp:spPr>
        <a:xfrm>
          <a:off x="4997749" y="864"/>
          <a:ext cx="3074810" cy="1844886"/>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it-IT" sz="2400" b="0" kern="1200">
              <a:latin typeface="Montserrat" panose="00000500000000000000" pitchFamily="2" charset="0"/>
            </a:rPr>
            <a:t>2. Data Science &amp; AI Roles</a:t>
          </a:r>
          <a:endParaRPr lang="en-CA" sz="2400" b="0" kern="1200" dirty="0">
            <a:latin typeface="Montserrat" panose="00000500000000000000" pitchFamily="2" charset="0"/>
          </a:endParaRPr>
        </a:p>
      </dsp:txBody>
      <dsp:txXfrm>
        <a:off x="4997749" y="864"/>
        <a:ext cx="3074810" cy="1844886"/>
      </dsp:txXfrm>
    </dsp:sp>
    <dsp:sp modelId="{0C3CD48D-BA5F-401E-8178-5766DB7F0EC3}">
      <dsp:nvSpPr>
        <dsp:cNvPr id="0" name=""/>
        <dsp:cNvSpPr/>
      </dsp:nvSpPr>
      <dsp:spPr>
        <a:xfrm>
          <a:off x="1615458" y="2153232"/>
          <a:ext cx="3074810" cy="1844886"/>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CA" sz="2400" b="0" kern="1200">
              <a:latin typeface="Montserrat" panose="00000500000000000000" pitchFamily="2" charset="0"/>
            </a:rPr>
            <a:t>3. Development &amp; Operations Roles</a:t>
          </a:r>
          <a:endParaRPr lang="en-CA" sz="2400" b="0" kern="1200" dirty="0">
            <a:latin typeface="Montserrat" panose="00000500000000000000" pitchFamily="2" charset="0"/>
          </a:endParaRPr>
        </a:p>
      </dsp:txBody>
      <dsp:txXfrm>
        <a:off x="1615458" y="2153232"/>
        <a:ext cx="3074810" cy="1844886"/>
      </dsp:txXfrm>
    </dsp:sp>
    <dsp:sp modelId="{8C196223-B7C7-44B0-BEF9-9C7948E3198A}">
      <dsp:nvSpPr>
        <dsp:cNvPr id="0" name=""/>
        <dsp:cNvSpPr/>
      </dsp:nvSpPr>
      <dsp:spPr>
        <a:xfrm>
          <a:off x="4997749" y="2153232"/>
          <a:ext cx="3074810" cy="1844886"/>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CA" sz="2400" b="0" kern="1200">
              <a:latin typeface="Montserrat" panose="00000500000000000000" pitchFamily="2" charset="0"/>
            </a:rPr>
            <a:t>4. Data Engineering Roles</a:t>
          </a:r>
          <a:endParaRPr lang="en-CA" sz="2400" b="0" kern="1200" dirty="0">
            <a:latin typeface="Montserrat" panose="00000500000000000000" pitchFamily="2" charset="0"/>
          </a:endParaRPr>
        </a:p>
      </dsp:txBody>
      <dsp:txXfrm>
        <a:off x="4997749" y="2153232"/>
        <a:ext cx="3074810" cy="184488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563EEE-1197-49E8-A6F4-E1F660945938}">
      <dsp:nvSpPr>
        <dsp:cNvPr id="0" name=""/>
        <dsp:cNvSpPr/>
      </dsp:nvSpPr>
      <dsp:spPr>
        <a:xfrm>
          <a:off x="779638" y="1587"/>
          <a:ext cx="3486257" cy="2091754"/>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latin typeface="Montserrat" panose="00000500000000000000" pitchFamily="2" charset="0"/>
            </a:rPr>
            <a:t>Uncertain and evolving requirements</a:t>
          </a:r>
          <a:r>
            <a:rPr lang="en-US" sz="1700" kern="1200" dirty="0">
              <a:latin typeface="Montserrat" panose="00000500000000000000" pitchFamily="2" charset="0"/>
            </a:rPr>
            <a:t>: </a:t>
          </a:r>
        </a:p>
        <a:p>
          <a:pPr marL="0" lvl="0" indent="0" algn="ctr" defTabSz="755650">
            <a:lnSpc>
              <a:spcPct val="90000"/>
            </a:lnSpc>
            <a:spcBef>
              <a:spcPct val="0"/>
            </a:spcBef>
            <a:spcAft>
              <a:spcPct val="35000"/>
            </a:spcAft>
            <a:buNone/>
          </a:pPr>
          <a:r>
            <a:rPr lang="en-US" sz="1700" kern="1200" dirty="0">
              <a:latin typeface="Montserrat" panose="00000500000000000000" pitchFamily="2" charset="0"/>
            </a:rPr>
            <a:t>AI project goals often shift based on data insights and model performance, making upfront planning difficult.</a:t>
          </a:r>
          <a:endParaRPr lang="en-CA" sz="1700" kern="1200" dirty="0">
            <a:latin typeface="Montserrat" panose="00000500000000000000" pitchFamily="2" charset="0"/>
          </a:endParaRPr>
        </a:p>
      </dsp:txBody>
      <dsp:txXfrm>
        <a:off x="779638" y="1587"/>
        <a:ext cx="3486257" cy="2091754"/>
      </dsp:txXfrm>
    </dsp:sp>
    <dsp:sp modelId="{4D28F683-3E2E-49F9-9FC7-583B983DC071}">
      <dsp:nvSpPr>
        <dsp:cNvPr id="0" name=""/>
        <dsp:cNvSpPr/>
      </dsp:nvSpPr>
      <dsp:spPr>
        <a:xfrm>
          <a:off x="4614520" y="1587"/>
          <a:ext cx="3486257" cy="2091754"/>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latin typeface="Montserrat" panose="00000500000000000000" pitchFamily="2" charset="0"/>
            </a:rPr>
            <a:t>Data as a core dependency</a:t>
          </a:r>
          <a:r>
            <a:rPr lang="en-US" sz="1700" kern="1200" dirty="0">
              <a:latin typeface="Montserrat" panose="00000500000000000000" pitchFamily="2" charset="0"/>
            </a:rPr>
            <a:t>: Success heavily depends on data availability, quality, and relevance.</a:t>
          </a:r>
        </a:p>
      </dsp:txBody>
      <dsp:txXfrm>
        <a:off x="4614520" y="1587"/>
        <a:ext cx="3486257" cy="2091754"/>
      </dsp:txXfrm>
    </dsp:sp>
    <dsp:sp modelId="{B47E7B98-79C8-41AA-A327-7C31F7B3358B}">
      <dsp:nvSpPr>
        <dsp:cNvPr id="0" name=""/>
        <dsp:cNvSpPr/>
      </dsp:nvSpPr>
      <dsp:spPr>
        <a:xfrm>
          <a:off x="779638" y="2441967"/>
          <a:ext cx="3486257" cy="2091754"/>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a:latin typeface="Montserrat" panose="00000500000000000000" pitchFamily="2" charset="0"/>
            </a:rPr>
            <a:t>Non-deterministic outcomes</a:t>
          </a:r>
          <a:r>
            <a:rPr lang="en-US" sz="1700" kern="1200">
              <a:latin typeface="Montserrat" panose="00000500000000000000" pitchFamily="2" charset="0"/>
            </a:rPr>
            <a:t>: Unlike traditional software, AI models may never reach perfect accuracy, requiring tolerance for probabilistic results.</a:t>
          </a:r>
        </a:p>
      </dsp:txBody>
      <dsp:txXfrm>
        <a:off x="779638" y="2441967"/>
        <a:ext cx="3486257" cy="2091754"/>
      </dsp:txXfrm>
    </dsp:sp>
    <dsp:sp modelId="{0EFAD58A-B3A1-485A-A693-2A5A303DE78A}">
      <dsp:nvSpPr>
        <dsp:cNvPr id="0" name=""/>
        <dsp:cNvSpPr/>
      </dsp:nvSpPr>
      <dsp:spPr>
        <a:xfrm>
          <a:off x="4614520" y="2441967"/>
          <a:ext cx="3486257" cy="2091754"/>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latin typeface="Montserrat" panose="00000500000000000000" pitchFamily="2" charset="0"/>
            </a:rPr>
            <a:t>Complex team collaboration</a:t>
          </a:r>
          <a:r>
            <a:rPr lang="en-US" sz="1700" kern="1200" dirty="0">
              <a:latin typeface="Montserrat" panose="00000500000000000000" pitchFamily="2" charset="0"/>
            </a:rPr>
            <a:t>: AI projects require cross-functional teams (data scientists, engineers, domain experts), making coordination and communication more challenging.</a:t>
          </a:r>
        </a:p>
      </dsp:txBody>
      <dsp:txXfrm>
        <a:off x="4614520" y="2441967"/>
        <a:ext cx="3486257" cy="209175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4FEE4C-39B7-4230-8785-F340F0ED036D}">
      <dsp:nvSpPr>
        <dsp:cNvPr id="0" name=""/>
        <dsp:cNvSpPr/>
      </dsp:nvSpPr>
      <dsp:spPr>
        <a:xfrm>
          <a:off x="861489" y="0"/>
          <a:ext cx="9763547" cy="3743863"/>
        </a:xfrm>
        <a:prstGeom prst="rightArrow">
          <a:avLst/>
        </a:prstGeom>
        <a:solidFill>
          <a:schemeClr val="bg1">
            <a:lumMod val="95000"/>
          </a:schemeClr>
        </a:solidFill>
        <a:ln>
          <a:noFill/>
        </a:ln>
        <a:effectLst/>
      </dsp:spPr>
      <dsp:style>
        <a:lnRef idx="0">
          <a:scrgbClr r="0" g="0" b="0"/>
        </a:lnRef>
        <a:fillRef idx="1">
          <a:scrgbClr r="0" g="0" b="0"/>
        </a:fillRef>
        <a:effectRef idx="0">
          <a:scrgbClr r="0" g="0" b="0"/>
        </a:effectRef>
        <a:fontRef idx="minor"/>
      </dsp:style>
    </dsp:sp>
    <dsp:sp modelId="{ED1442AE-F0CE-4C64-9629-EFE6350FCAFA}">
      <dsp:nvSpPr>
        <dsp:cNvPr id="0" name=""/>
        <dsp:cNvSpPr/>
      </dsp:nvSpPr>
      <dsp:spPr>
        <a:xfrm>
          <a:off x="140" y="1123158"/>
          <a:ext cx="1680914" cy="1497545"/>
        </a:xfrm>
        <a:prstGeom prst="round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CA" sz="1500" kern="1200" dirty="0">
              <a:latin typeface="Montserrat" panose="00000500000000000000" pitchFamily="2" charset="0"/>
            </a:rPr>
            <a:t>Requirements</a:t>
          </a:r>
        </a:p>
      </dsp:txBody>
      <dsp:txXfrm>
        <a:off x="73244" y="1196262"/>
        <a:ext cx="1534706" cy="1351337"/>
      </dsp:txXfrm>
    </dsp:sp>
    <dsp:sp modelId="{2D1B1E36-04BA-4C0D-9752-D41015028D54}">
      <dsp:nvSpPr>
        <dsp:cNvPr id="0" name=""/>
        <dsp:cNvSpPr/>
      </dsp:nvSpPr>
      <dsp:spPr>
        <a:xfrm>
          <a:off x="1961206" y="1123158"/>
          <a:ext cx="1680914" cy="1497545"/>
        </a:xfrm>
        <a:prstGeom prst="round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CA" sz="1500" kern="1200">
              <a:latin typeface="Montserrat" panose="00000500000000000000" pitchFamily="2" charset="0"/>
            </a:rPr>
            <a:t>Design</a:t>
          </a:r>
        </a:p>
      </dsp:txBody>
      <dsp:txXfrm>
        <a:off x="2034310" y="1196262"/>
        <a:ext cx="1534706" cy="1351337"/>
      </dsp:txXfrm>
    </dsp:sp>
    <dsp:sp modelId="{DFA20CCC-06FD-4E1A-BEA7-7DA3F710250A}">
      <dsp:nvSpPr>
        <dsp:cNvPr id="0" name=""/>
        <dsp:cNvSpPr/>
      </dsp:nvSpPr>
      <dsp:spPr>
        <a:xfrm>
          <a:off x="3922273" y="1123158"/>
          <a:ext cx="1680914" cy="1497545"/>
        </a:xfrm>
        <a:prstGeom prst="round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CA" sz="1500" kern="1200" dirty="0">
              <a:latin typeface="Montserrat" panose="00000500000000000000" pitchFamily="2" charset="0"/>
            </a:rPr>
            <a:t>Implement</a:t>
          </a:r>
        </a:p>
      </dsp:txBody>
      <dsp:txXfrm>
        <a:off x="3995377" y="1196262"/>
        <a:ext cx="1534706" cy="1351337"/>
      </dsp:txXfrm>
    </dsp:sp>
    <dsp:sp modelId="{BDB81A61-0D33-4B02-BD9B-5FCF35A5CB6F}">
      <dsp:nvSpPr>
        <dsp:cNvPr id="0" name=""/>
        <dsp:cNvSpPr/>
      </dsp:nvSpPr>
      <dsp:spPr>
        <a:xfrm>
          <a:off x="5883339" y="1123158"/>
          <a:ext cx="1680914" cy="1497545"/>
        </a:xfrm>
        <a:prstGeom prst="round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CA" sz="1500" kern="1200" dirty="0">
              <a:latin typeface="Montserrat" panose="00000500000000000000" pitchFamily="2" charset="0"/>
            </a:rPr>
            <a:t>Testing</a:t>
          </a:r>
        </a:p>
      </dsp:txBody>
      <dsp:txXfrm>
        <a:off x="5956443" y="1196262"/>
        <a:ext cx="1534706" cy="1351337"/>
      </dsp:txXfrm>
    </dsp:sp>
    <dsp:sp modelId="{5E40F5CA-F5CC-4F19-AACC-26749BE1E44B}">
      <dsp:nvSpPr>
        <dsp:cNvPr id="0" name=""/>
        <dsp:cNvSpPr/>
      </dsp:nvSpPr>
      <dsp:spPr>
        <a:xfrm>
          <a:off x="7844406" y="1123158"/>
          <a:ext cx="1680914" cy="1497545"/>
        </a:xfrm>
        <a:prstGeom prst="round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CA" sz="1500" kern="1200" dirty="0">
              <a:latin typeface="Montserrat" panose="00000500000000000000" pitchFamily="2" charset="0"/>
            </a:rPr>
            <a:t>Deployment</a:t>
          </a:r>
        </a:p>
      </dsp:txBody>
      <dsp:txXfrm>
        <a:off x="7917510" y="1196262"/>
        <a:ext cx="1534706" cy="1351337"/>
      </dsp:txXfrm>
    </dsp:sp>
    <dsp:sp modelId="{A952F637-AC9A-4CBC-A414-E372B899528C}">
      <dsp:nvSpPr>
        <dsp:cNvPr id="0" name=""/>
        <dsp:cNvSpPr/>
      </dsp:nvSpPr>
      <dsp:spPr>
        <a:xfrm>
          <a:off x="9805472" y="1123158"/>
          <a:ext cx="1680914" cy="1497545"/>
        </a:xfrm>
        <a:prstGeom prst="round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CA" sz="1500" kern="1200" dirty="0">
              <a:latin typeface="Montserrat" panose="00000500000000000000" pitchFamily="2" charset="0"/>
            </a:rPr>
            <a:t>Maintenance</a:t>
          </a:r>
        </a:p>
      </dsp:txBody>
      <dsp:txXfrm>
        <a:off x="9878576" y="1196262"/>
        <a:ext cx="1534706" cy="135133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71EEBC-3E21-47B4-9F3B-8B52E78B9E85}">
      <dsp:nvSpPr>
        <dsp:cNvPr id="0" name=""/>
        <dsp:cNvSpPr/>
      </dsp:nvSpPr>
      <dsp:spPr>
        <a:xfrm>
          <a:off x="0" y="1222703"/>
          <a:ext cx="3530210" cy="2118126"/>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CA" sz="1700" b="1" kern="1200" dirty="0">
              <a:latin typeface="Montserrat" panose="00000500000000000000" pitchFamily="2" charset="0"/>
            </a:rPr>
            <a:t>A. CRISP-DM </a:t>
          </a:r>
        </a:p>
        <a:p>
          <a:pPr marL="0" lvl="0" indent="0" algn="ctr" defTabSz="755650">
            <a:lnSpc>
              <a:spcPct val="90000"/>
            </a:lnSpc>
            <a:spcBef>
              <a:spcPct val="0"/>
            </a:spcBef>
            <a:spcAft>
              <a:spcPct val="35000"/>
            </a:spcAft>
            <a:buNone/>
          </a:pPr>
          <a:r>
            <a:rPr lang="en-CA" sz="1700" kern="1200" dirty="0">
              <a:latin typeface="Montserrat" panose="00000500000000000000" pitchFamily="2" charset="0"/>
            </a:rPr>
            <a:t>A classic data science methodology </a:t>
          </a:r>
        </a:p>
        <a:p>
          <a:pPr marL="0" lvl="0" indent="0" algn="ctr" defTabSz="755650">
            <a:lnSpc>
              <a:spcPct val="90000"/>
            </a:lnSpc>
            <a:spcBef>
              <a:spcPct val="0"/>
            </a:spcBef>
            <a:spcAft>
              <a:spcPct val="35000"/>
            </a:spcAft>
            <a:buNone/>
          </a:pPr>
          <a:r>
            <a:rPr lang="en-CA" sz="1700" kern="1200" dirty="0">
              <a:latin typeface="Montserrat" panose="00000500000000000000" pitchFamily="2" charset="0"/>
            </a:rPr>
            <a:t>Business understanding → Data understanding → Data preparation → Modeling → Evaluation → Deployment. </a:t>
          </a:r>
        </a:p>
      </dsp:txBody>
      <dsp:txXfrm>
        <a:off x="0" y="1222703"/>
        <a:ext cx="3530210" cy="2118126"/>
      </dsp:txXfrm>
    </dsp:sp>
    <dsp:sp modelId="{0634ABF7-4ABD-4418-A519-EF1EACC30BB1}">
      <dsp:nvSpPr>
        <dsp:cNvPr id="0" name=""/>
        <dsp:cNvSpPr/>
      </dsp:nvSpPr>
      <dsp:spPr>
        <a:xfrm>
          <a:off x="3883231" y="1222703"/>
          <a:ext cx="3530210" cy="2118126"/>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CA" sz="1700" b="1" kern="1200" dirty="0">
              <a:latin typeface="Montserrat" panose="00000500000000000000" pitchFamily="2" charset="0"/>
            </a:rPr>
            <a:t>B. Agile for AI </a:t>
          </a:r>
        </a:p>
        <a:p>
          <a:pPr marL="0" lvl="0" indent="0" algn="ctr" defTabSz="755650">
            <a:lnSpc>
              <a:spcPct val="90000"/>
            </a:lnSpc>
            <a:spcBef>
              <a:spcPct val="0"/>
            </a:spcBef>
            <a:spcAft>
              <a:spcPct val="35000"/>
            </a:spcAft>
            <a:buNone/>
          </a:pPr>
          <a:r>
            <a:rPr lang="en-CA" sz="1700" kern="1200" dirty="0">
              <a:latin typeface="Montserrat" panose="00000500000000000000" pitchFamily="2" charset="0"/>
            </a:rPr>
            <a:t>Modified Agile practices (e.g., sprints, stand-ups) tailored for iterative experimentation, rapid prototyping, and model tuning. Very common in AI/ML teams.</a:t>
          </a:r>
        </a:p>
      </dsp:txBody>
      <dsp:txXfrm>
        <a:off x="3883231" y="1222703"/>
        <a:ext cx="3530210" cy="2118126"/>
      </dsp:txXfrm>
    </dsp:sp>
    <dsp:sp modelId="{9E1E2A3A-92B3-4275-8A22-ED8BEEE5B602}">
      <dsp:nvSpPr>
        <dsp:cNvPr id="0" name=""/>
        <dsp:cNvSpPr/>
      </dsp:nvSpPr>
      <dsp:spPr>
        <a:xfrm>
          <a:off x="7766463" y="1222703"/>
          <a:ext cx="3530210" cy="2118126"/>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CA" sz="1700" b="1" kern="1200" dirty="0">
              <a:latin typeface="Montserrat" panose="00000500000000000000" pitchFamily="2" charset="0"/>
            </a:rPr>
            <a:t>C. Hybrid Approaches</a:t>
          </a:r>
        </a:p>
        <a:p>
          <a:pPr marL="0" lvl="0" indent="0" algn="ctr" defTabSz="755650">
            <a:lnSpc>
              <a:spcPct val="90000"/>
            </a:lnSpc>
            <a:spcBef>
              <a:spcPct val="0"/>
            </a:spcBef>
            <a:spcAft>
              <a:spcPct val="35000"/>
            </a:spcAft>
            <a:buNone/>
          </a:pPr>
          <a:r>
            <a:rPr lang="en-CA" sz="1700" b="1" kern="1200" dirty="0">
              <a:latin typeface="Montserrat" panose="00000500000000000000" pitchFamily="2" charset="0"/>
            </a:rPr>
            <a:t> </a:t>
          </a:r>
          <a:r>
            <a:rPr lang="en-CA" sz="1700" kern="1200" dirty="0">
              <a:latin typeface="Montserrat" panose="00000500000000000000" pitchFamily="2" charset="0"/>
            </a:rPr>
            <a:t>Combining traditional project management with Agile and CRISP-DM to adapt to evolving data and model needs. Helps bridge business goals and technical execution.</a:t>
          </a:r>
        </a:p>
      </dsp:txBody>
      <dsp:txXfrm>
        <a:off x="7766463" y="1222703"/>
        <a:ext cx="3530210" cy="211812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A21C6F-AD18-47E9-B182-89C2240033E9}">
      <dsp:nvSpPr>
        <dsp:cNvPr id="0" name=""/>
        <dsp:cNvSpPr/>
      </dsp:nvSpPr>
      <dsp:spPr>
        <a:xfrm>
          <a:off x="1210022" y="1122"/>
          <a:ext cx="2346145" cy="1407687"/>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Montserrat" panose="00000500000000000000" pitchFamily="2" charset="0"/>
            </a:rPr>
            <a:t>Short, iterative sprints</a:t>
          </a:r>
          <a:r>
            <a:rPr lang="en-US" sz="1600" kern="1200" dirty="0">
              <a:latin typeface="Montserrat" panose="00000500000000000000" pitchFamily="2" charset="0"/>
            </a:rPr>
            <a:t> to develop, test, and refine models.</a:t>
          </a:r>
          <a:endParaRPr lang="en-CA" sz="1600" kern="1200" dirty="0">
            <a:latin typeface="Montserrat" panose="00000500000000000000" pitchFamily="2" charset="0"/>
          </a:endParaRPr>
        </a:p>
      </dsp:txBody>
      <dsp:txXfrm>
        <a:off x="1210022" y="1122"/>
        <a:ext cx="2346145" cy="1407687"/>
      </dsp:txXfrm>
    </dsp:sp>
    <dsp:sp modelId="{C03CD6A3-BA67-4F9D-9D34-E0111BFC5B76}">
      <dsp:nvSpPr>
        <dsp:cNvPr id="0" name=""/>
        <dsp:cNvSpPr/>
      </dsp:nvSpPr>
      <dsp:spPr>
        <a:xfrm>
          <a:off x="3790782" y="1122"/>
          <a:ext cx="2346145" cy="1407687"/>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latin typeface="Montserrat" panose="00000500000000000000" pitchFamily="2" charset="0"/>
            </a:rPr>
            <a:t>Continuous collaboration</a:t>
          </a:r>
          <a:r>
            <a:rPr lang="en-US" sz="1600" kern="1200">
              <a:latin typeface="Montserrat" panose="00000500000000000000" pitchFamily="2" charset="0"/>
            </a:rPr>
            <a:t> between data scientists, engineers, and business teams.</a:t>
          </a:r>
        </a:p>
      </dsp:txBody>
      <dsp:txXfrm>
        <a:off x="3790782" y="1122"/>
        <a:ext cx="2346145" cy="1407687"/>
      </dsp:txXfrm>
    </dsp:sp>
    <dsp:sp modelId="{33228EF3-B22D-463C-9C13-B19354D93FC7}">
      <dsp:nvSpPr>
        <dsp:cNvPr id="0" name=""/>
        <dsp:cNvSpPr/>
      </dsp:nvSpPr>
      <dsp:spPr>
        <a:xfrm>
          <a:off x="1210022" y="1643423"/>
          <a:ext cx="2346145" cy="1407687"/>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latin typeface="Montserrat" panose="00000500000000000000" pitchFamily="2" charset="0"/>
            </a:rPr>
            <a:t>Fast feedback loops</a:t>
          </a:r>
          <a:r>
            <a:rPr lang="en-US" sz="1600" kern="1200">
              <a:latin typeface="Montserrat" panose="00000500000000000000" pitchFamily="2" charset="0"/>
            </a:rPr>
            <a:t> to validate models early and improve performance over time.</a:t>
          </a:r>
        </a:p>
      </dsp:txBody>
      <dsp:txXfrm>
        <a:off x="1210022" y="1643423"/>
        <a:ext cx="2346145" cy="1407687"/>
      </dsp:txXfrm>
    </dsp:sp>
    <dsp:sp modelId="{A818783E-CCD5-4237-9B9A-A28CD1E727D9}">
      <dsp:nvSpPr>
        <dsp:cNvPr id="0" name=""/>
        <dsp:cNvSpPr/>
      </dsp:nvSpPr>
      <dsp:spPr>
        <a:xfrm>
          <a:off x="3790782" y="1643423"/>
          <a:ext cx="2346145" cy="1407687"/>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latin typeface="Montserrat" panose="00000500000000000000" pitchFamily="2" charset="0"/>
            </a:rPr>
            <a:t>Flexibility</a:t>
          </a:r>
          <a:r>
            <a:rPr lang="en-US" sz="1600" kern="1200">
              <a:latin typeface="Montserrat" panose="00000500000000000000" pitchFamily="2" charset="0"/>
            </a:rPr>
            <a:t> to adjust the approach as new data or challenges emerge.</a:t>
          </a:r>
        </a:p>
      </dsp:txBody>
      <dsp:txXfrm>
        <a:off x="3790782" y="1643423"/>
        <a:ext cx="2346145" cy="140768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10B42E-E9A0-417A-8225-10F481A57ACF}">
      <dsp:nvSpPr>
        <dsp:cNvPr id="0" name=""/>
        <dsp:cNvSpPr/>
      </dsp:nvSpPr>
      <dsp:spPr>
        <a:xfrm>
          <a:off x="2649" y="450973"/>
          <a:ext cx="2102097" cy="1261258"/>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Alignment: </a:t>
          </a:r>
          <a:r>
            <a:rPr lang="en-US" sz="1400" kern="1200" dirty="0">
              <a:latin typeface="Montserrat" panose="00000500000000000000" pitchFamily="2" charset="0"/>
            </a:rPr>
            <a:t>Ensures all teams are working toward common strategic goals.</a:t>
          </a:r>
          <a:endParaRPr lang="en-CA" sz="1400" kern="1200" dirty="0">
            <a:latin typeface="Montserrat" panose="00000500000000000000" pitchFamily="2" charset="0"/>
          </a:endParaRPr>
        </a:p>
      </dsp:txBody>
      <dsp:txXfrm>
        <a:off x="2649" y="450973"/>
        <a:ext cx="2102097" cy="1261258"/>
      </dsp:txXfrm>
    </dsp:sp>
    <dsp:sp modelId="{FD2F13F7-E419-4FA7-83C9-DEF04EE63800}">
      <dsp:nvSpPr>
        <dsp:cNvPr id="0" name=""/>
        <dsp:cNvSpPr/>
      </dsp:nvSpPr>
      <dsp:spPr>
        <a:xfrm>
          <a:off x="2314956" y="450973"/>
          <a:ext cx="2102097" cy="1261258"/>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Faster Time-to-Market: </a:t>
          </a:r>
          <a:r>
            <a:rPr lang="en-US" sz="1400" kern="1200" dirty="0">
              <a:latin typeface="Montserrat" panose="00000500000000000000" pitchFamily="2" charset="0"/>
            </a:rPr>
            <a:t> Accelerates delivery of value through synchronized planning and execution.</a:t>
          </a:r>
        </a:p>
      </dsp:txBody>
      <dsp:txXfrm>
        <a:off x="2314956" y="450973"/>
        <a:ext cx="2102097" cy="1261258"/>
      </dsp:txXfrm>
    </dsp:sp>
    <dsp:sp modelId="{96C988B8-42C1-443D-803F-9C7F20688824}">
      <dsp:nvSpPr>
        <dsp:cNvPr id="0" name=""/>
        <dsp:cNvSpPr/>
      </dsp:nvSpPr>
      <dsp:spPr>
        <a:xfrm>
          <a:off x="4627263" y="450973"/>
          <a:ext cx="2102097" cy="1261258"/>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Increased Productivity: </a:t>
          </a:r>
          <a:r>
            <a:rPr lang="en-US" sz="1400" kern="1200" dirty="0">
              <a:latin typeface="Montserrat" panose="00000500000000000000" pitchFamily="2" charset="0"/>
            </a:rPr>
            <a:t> Streamlines processes and improves team efficiency.</a:t>
          </a:r>
        </a:p>
      </dsp:txBody>
      <dsp:txXfrm>
        <a:off x="4627263" y="450973"/>
        <a:ext cx="2102097" cy="1261258"/>
      </dsp:txXfrm>
    </dsp:sp>
    <dsp:sp modelId="{4A9BD7ED-F702-4114-8F8B-3136A02AD752}">
      <dsp:nvSpPr>
        <dsp:cNvPr id="0" name=""/>
        <dsp:cNvSpPr/>
      </dsp:nvSpPr>
      <dsp:spPr>
        <a:xfrm>
          <a:off x="6939570" y="450973"/>
          <a:ext cx="2102097" cy="1261258"/>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Improved Quality: </a:t>
          </a:r>
          <a:r>
            <a:rPr lang="en-US" sz="1400" kern="1200" dirty="0">
              <a:latin typeface="Montserrat" panose="00000500000000000000" pitchFamily="2" charset="0"/>
            </a:rPr>
            <a:t> Emphasizes built-in quality through continuous testing and integration.</a:t>
          </a:r>
        </a:p>
      </dsp:txBody>
      <dsp:txXfrm>
        <a:off x="6939570" y="450973"/>
        <a:ext cx="2102097" cy="1261258"/>
      </dsp:txXfrm>
    </dsp:sp>
    <dsp:sp modelId="{188AFCF2-6168-4185-BF15-30828022E544}">
      <dsp:nvSpPr>
        <dsp:cNvPr id="0" name=""/>
        <dsp:cNvSpPr/>
      </dsp:nvSpPr>
      <dsp:spPr>
        <a:xfrm>
          <a:off x="2649" y="1922441"/>
          <a:ext cx="2102097" cy="1261258"/>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Transparency: </a:t>
          </a:r>
          <a:r>
            <a:rPr lang="en-US" sz="1400" kern="1200" dirty="0">
              <a:latin typeface="Montserrat" panose="00000500000000000000" pitchFamily="2" charset="0"/>
            </a:rPr>
            <a:t>Provides visibility into work progress, dependencies, and risks.</a:t>
          </a:r>
        </a:p>
      </dsp:txBody>
      <dsp:txXfrm>
        <a:off x="2649" y="1922441"/>
        <a:ext cx="2102097" cy="1261258"/>
      </dsp:txXfrm>
    </dsp:sp>
    <dsp:sp modelId="{B283950B-1015-42EA-A048-D712DD9416C8}">
      <dsp:nvSpPr>
        <dsp:cNvPr id="0" name=""/>
        <dsp:cNvSpPr/>
      </dsp:nvSpPr>
      <dsp:spPr>
        <a:xfrm>
          <a:off x="2314956" y="1922441"/>
          <a:ext cx="2102097" cy="1261258"/>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b="1" kern="1200" dirty="0">
              <a:latin typeface="Montserrat" panose="00000500000000000000" pitchFamily="2" charset="0"/>
            </a:rPr>
            <a:t>Continuous Improvement: </a:t>
          </a:r>
          <a:r>
            <a:rPr lang="en-CA" sz="1400" kern="1200" dirty="0">
              <a:latin typeface="Montserrat" panose="00000500000000000000" pitchFamily="2" charset="0"/>
            </a:rPr>
            <a:t>Encourages regular reflection and process enhancement.</a:t>
          </a:r>
        </a:p>
      </dsp:txBody>
      <dsp:txXfrm>
        <a:off x="2314956" y="1922441"/>
        <a:ext cx="2102097" cy="1261258"/>
      </dsp:txXfrm>
    </dsp:sp>
    <dsp:sp modelId="{9C923C9B-8756-4AF1-B44D-05374425E536}">
      <dsp:nvSpPr>
        <dsp:cNvPr id="0" name=""/>
        <dsp:cNvSpPr/>
      </dsp:nvSpPr>
      <dsp:spPr>
        <a:xfrm>
          <a:off x="4627263" y="1922441"/>
          <a:ext cx="2102097" cy="1261258"/>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Enhanced Collaboration: </a:t>
          </a:r>
          <a:r>
            <a:rPr lang="en-US" sz="1400" kern="1200" dirty="0">
              <a:latin typeface="Montserrat" panose="00000500000000000000" pitchFamily="2" charset="0"/>
            </a:rPr>
            <a:t> Promotes cross-functional teamwork across the organization.</a:t>
          </a:r>
        </a:p>
      </dsp:txBody>
      <dsp:txXfrm>
        <a:off x="4627263" y="1922441"/>
        <a:ext cx="2102097" cy="1261258"/>
      </dsp:txXfrm>
    </dsp:sp>
    <dsp:sp modelId="{8C40480D-7675-4CA4-B42F-385C90D63803}">
      <dsp:nvSpPr>
        <dsp:cNvPr id="0" name=""/>
        <dsp:cNvSpPr/>
      </dsp:nvSpPr>
      <dsp:spPr>
        <a:xfrm>
          <a:off x="6939570" y="1922441"/>
          <a:ext cx="2102097" cy="1261258"/>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Better Risk Management: </a:t>
          </a:r>
          <a:r>
            <a:rPr lang="en-US" sz="1400" kern="1200" dirty="0">
              <a:latin typeface="Montserrat" panose="00000500000000000000" pitchFamily="2" charset="0"/>
            </a:rPr>
            <a:t>Identifies and mitigates risks early through cadence and synchronization.</a:t>
          </a:r>
        </a:p>
      </dsp:txBody>
      <dsp:txXfrm>
        <a:off x="6939570" y="1922441"/>
        <a:ext cx="2102097" cy="1261258"/>
      </dsp:txXfrm>
    </dsp:sp>
    <dsp:sp modelId="{4633365F-FFFE-4D93-959F-AD80371AAD9D}">
      <dsp:nvSpPr>
        <dsp:cNvPr id="0" name=""/>
        <dsp:cNvSpPr/>
      </dsp:nvSpPr>
      <dsp:spPr>
        <a:xfrm>
          <a:off x="2314956" y="3393909"/>
          <a:ext cx="2102097" cy="1261258"/>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Customer-Centric Delivery: </a:t>
          </a:r>
          <a:r>
            <a:rPr lang="en-US" sz="1400" kern="1200" dirty="0">
              <a:latin typeface="Montserrat" panose="00000500000000000000" pitchFamily="2" charset="0"/>
            </a:rPr>
            <a:t>Focuses on delivering value that meets customer needs.</a:t>
          </a:r>
        </a:p>
      </dsp:txBody>
      <dsp:txXfrm>
        <a:off x="2314956" y="3393909"/>
        <a:ext cx="2102097" cy="1261258"/>
      </dsp:txXfrm>
    </dsp:sp>
    <dsp:sp modelId="{F7FD9979-E2DB-46CF-ACA3-9992583B0F06}">
      <dsp:nvSpPr>
        <dsp:cNvPr id="0" name=""/>
        <dsp:cNvSpPr/>
      </dsp:nvSpPr>
      <dsp:spPr>
        <a:xfrm>
          <a:off x="4627263" y="3393909"/>
          <a:ext cx="2102097" cy="1261258"/>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b="1" kern="1200" dirty="0">
              <a:latin typeface="Montserrat" panose="00000500000000000000" pitchFamily="2" charset="0"/>
            </a:rPr>
            <a:t>Scalability:</a:t>
          </a:r>
          <a:r>
            <a:rPr lang="en-CA" sz="1400" kern="1200" dirty="0">
              <a:latin typeface="Montserrat" panose="00000500000000000000" pitchFamily="2" charset="0"/>
            </a:rPr>
            <a:t> Supports Agile implementation across large, complex enterprise environments.</a:t>
          </a:r>
        </a:p>
      </dsp:txBody>
      <dsp:txXfrm>
        <a:off x="4627263" y="3393909"/>
        <a:ext cx="2102097" cy="126125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CE2118-063A-47CA-97E2-C01ABED7B6FE}">
      <dsp:nvSpPr>
        <dsp:cNvPr id="0" name=""/>
        <dsp:cNvSpPr/>
      </dsp:nvSpPr>
      <dsp:spPr>
        <a:xfrm>
          <a:off x="0" y="169333"/>
          <a:ext cx="2539999" cy="1524000"/>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1BBFD1"/>
            </a:buClr>
            <a:buSzPts val="1800"/>
            <a:buNone/>
          </a:pPr>
          <a:r>
            <a:rPr lang="en-US" sz="1600" b="1" kern="1200" dirty="0">
              <a:solidFill>
                <a:schemeClr val="bg1"/>
              </a:solidFill>
              <a:latin typeface="Montserrat" panose="00000500000000000000" pitchFamily="2" charset="0"/>
              <a:ea typeface="Montserrat"/>
              <a:cs typeface="Montserrat"/>
              <a:sym typeface="Montserrat"/>
            </a:rPr>
            <a:t>Clear Business Vision &amp; Value Alignment:</a:t>
          </a:r>
          <a:r>
            <a:rPr lang="en-US" sz="1600" kern="1200" dirty="0">
              <a:solidFill>
                <a:schemeClr val="bg1"/>
              </a:solidFill>
              <a:latin typeface="Montserrat" panose="00000500000000000000" pitchFamily="2" charset="0"/>
              <a:ea typeface="Montserrat"/>
              <a:cs typeface="Montserrat"/>
              <a:sym typeface="Montserrat"/>
            </a:rPr>
            <a:t>  The "Why." AI must solve a real business problem and deliver measurable value.</a:t>
          </a:r>
          <a:endParaRPr lang="en-CA" sz="1600" kern="1200" dirty="0">
            <a:solidFill>
              <a:schemeClr val="bg1"/>
            </a:solidFill>
            <a:latin typeface="Montserrat" panose="00000500000000000000" pitchFamily="2" charset="0"/>
          </a:endParaRPr>
        </a:p>
      </dsp:txBody>
      <dsp:txXfrm>
        <a:off x="0" y="169333"/>
        <a:ext cx="2539999" cy="1524000"/>
      </dsp:txXfrm>
    </dsp:sp>
    <dsp:sp modelId="{618D537A-FEEA-4982-B9BF-1EA371CD9B96}">
      <dsp:nvSpPr>
        <dsp:cNvPr id="0" name=""/>
        <dsp:cNvSpPr/>
      </dsp:nvSpPr>
      <dsp:spPr>
        <a:xfrm>
          <a:off x="2794000" y="169333"/>
          <a:ext cx="2539999" cy="1524000"/>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kern="1200" dirty="0">
              <a:solidFill>
                <a:schemeClr val="bg1"/>
              </a:solidFill>
              <a:latin typeface="Montserrat" panose="00000500000000000000" pitchFamily="2" charset="0"/>
              <a:ea typeface="Montserrat"/>
              <a:cs typeface="Montserrat"/>
              <a:sym typeface="Montserrat"/>
            </a:rPr>
            <a:t>Data Quality, Availability &amp; Governance:</a:t>
          </a:r>
          <a:r>
            <a:rPr lang="en-CA" sz="1600" kern="1200" dirty="0">
              <a:solidFill>
                <a:schemeClr val="bg1"/>
              </a:solidFill>
              <a:latin typeface="Montserrat" panose="00000500000000000000" pitchFamily="2" charset="0"/>
              <a:ea typeface="Montserrat"/>
              <a:cs typeface="Montserrat"/>
              <a:sym typeface="Montserrat"/>
            </a:rPr>
            <a:t> </a:t>
          </a:r>
          <a:r>
            <a:rPr lang="en-US" sz="1600" kern="1200" dirty="0">
              <a:solidFill>
                <a:schemeClr val="bg1"/>
              </a:solidFill>
              <a:latin typeface="Montserrat" panose="00000500000000000000" pitchFamily="2" charset="0"/>
              <a:ea typeface="Montserrat"/>
              <a:cs typeface="Montserrat"/>
              <a:sym typeface="Montserrat"/>
            </a:rPr>
            <a:t>Data is the lifeblood. A robust data strategy is non-negotiable.</a:t>
          </a:r>
          <a:endParaRPr lang="en-CA" sz="1600" kern="1200" dirty="0">
            <a:solidFill>
              <a:schemeClr val="bg1"/>
            </a:solidFill>
            <a:latin typeface="Montserrat" panose="00000500000000000000" pitchFamily="2" charset="0"/>
            <a:ea typeface="Montserrat"/>
            <a:cs typeface="Montserrat"/>
            <a:sym typeface="Montserrat"/>
          </a:endParaRPr>
        </a:p>
      </dsp:txBody>
      <dsp:txXfrm>
        <a:off x="2794000" y="169333"/>
        <a:ext cx="2539999" cy="1524000"/>
      </dsp:txXfrm>
    </dsp:sp>
    <dsp:sp modelId="{B74D2078-2115-486E-BC12-E2DC0CACFFDE}">
      <dsp:nvSpPr>
        <dsp:cNvPr id="0" name=""/>
        <dsp:cNvSpPr/>
      </dsp:nvSpPr>
      <dsp:spPr>
        <a:xfrm>
          <a:off x="5587999" y="169333"/>
          <a:ext cx="2539999" cy="1524000"/>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kern="1200">
              <a:solidFill>
                <a:schemeClr val="bg1"/>
              </a:solidFill>
              <a:latin typeface="Montserrat" panose="00000500000000000000" pitchFamily="2" charset="0"/>
              <a:ea typeface="Montserrat"/>
              <a:cs typeface="Montserrat"/>
              <a:sym typeface="Montserrat"/>
            </a:rPr>
            <a:t>Realistic Expectations &amp; Iterative Progress:</a:t>
          </a:r>
          <a:r>
            <a:rPr lang="en-CA" sz="1600" kern="1200">
              <a:solidFill>
                <a:schemeClr val="bg1"/>
              </a:solidFill>
              <a:latin typeface="Montserrat" panose="00000500000000000000" pitchFamily="2" charset="0"/>
              <a:ea typeface="Montserrat"/>
              <a:cs typeface="Montserrat"/>
              <a:sym typeface="Montserrat"/>
            </a:rPr>
            <a:t> </a:t>
          </a:r>
          <a:r>
            <a:rPr lang="en-US" sz="1600" kern="1200">
              <a:solidFill>
                <a:schemeClr val="bg1"/>
              </a:solidFill>
              <a:latin typeface="Montserrat" panose="00000500000000000000" pitchFamily="2" charset="0"/>
              <a:ea typeface="Montserrat"/>
              <a:cs typeface="Montserrat"/>
              <a:sym typeface="Montserrat"/>
            </a:rPr>
            <a:t>AI is not magic. Start small, iterate, and manage expectations.</a:t>
          </a:r>
          <a:endParaRPr lang="en-CA" sz="1600" kern="1200" dirty="0">
            <a:solidFill>
              <a:schemeClr val="bg1"/>
            </a:solidFill>
            <a:latin typeface="Montserrat" panose="00000500000000000000" pitchFamily="2" charset="0"/>
            <a:ea typeface="Montserrat"/>
            <a:cs typeface="Montserrat"/>
            <a:sym typeface="Montserrat"/>
          </a:endParaRPr>
        </a:p>
      </dsp:txBody>
      <dsp:txXfrm>
        <a:off x="5587999" y="169333"/>
        <a:ext cx="2539999" cy="1524000"/>
      </dsp:txXfrm>
    </dsp:sp>
    <dsp:sp modelId="{ED2CE8BF-3ED2-41A1-9A79-A957BA7B3AB7}">
      <dsp:nvSpPr>
        <dsp:cNvPr id="0" name=""/>
        <dsp:cNvSpPr/>
      </dsp:nvSpPr>
      <dsp:spPr>
        <a:xfrm>
          <a:off x="0" y="1947333"/>
          <a:ext cx="2539999" cy="1524000"/>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bg1"/>
              </a:solidFill>
              <a:latin typeface="Montserrat" panose="00000500000000000000" pitchFamily="2" charset="0"/>
              <a:ea typeface="Montserrat"/>
              <a:cs typeface="Montserrat"/>
              <a:sym typeface="Montserrat"/>
            </a:rPr>
            <a:t>Skilled Multidisciplinary Team &amp; Strong Leadership: </a:t>
          </a:r>
          <a:r>
            <a:rPr lang="en-US" sz="1600" kern="1200" dirty="0">
              <a:solidFill>
                <a:schemeClr val="bg1"/>
              </a:solidFill>
              <a:latin typeface="Montserrat" panose="00000500000000000000" pitchFamily="2" charset="0"/>
              <a:ea typeface="Montserrat"/>
              <a:cs typeface="Montserrat"/>
              <a:sym typeface="Montserrat"/>
            </a:rPr>
            <a:t>The "Who." Diverse expertise is crucial.</a:t>
          </a:r>
          <a:endParaRPr lang="en-US" sz="1600" b="1" kern="1200" dirty="0">
            <a:solidFill>
              <a:schemeClr val="bg1"/>
            </a:solidFill>
            <a:latin typeface="Montserrat" panose="00000500000000000000" pitchFamily="2" charset="0"/>
            <a:ea typeface="Montserrat"/>
            <a:cs typeface="Montserrat"/>
            <a:sym typeface="Montserrat"/>
          </a:endParaRPr>
        </a:p>
      </dsp:txBody>
      <dsp:txXfrm>
        <a:off x="0" y="1947333"/>
        <a:ext cx="2539999" cy="1524000"/>
      </dsp:txXfrm>
    </dsp:sp>
    <dsp:sp modelId="{B985339F-8CEF-4904-A02D-072AC84269A9}">
      <dsp:nvSpPr>
        <dsp:cNvPr id="0" name=""/>
        <dsp:cNvSpPr/>
      </dsp:nvSpPr>
      <dsp:spPr>
        <a:xfrm>
          <a:off x="2794000" y="1947333"/>
          <a:ext cx="2539999" cy="1524000"/>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kern="1200" dirty="0">
              <a:solidFill>
                <a:schemeClr val="bg1"/>
              </a:solidFill>
              <a:latin typeface="Montserrat" panose="00000500000000000000" pitchFamily="2" charset="0"/>
              <a:ea typeface="Montserrat"/>
              <a:cs typeface="Montserrat"/>
              <a:sym typeface="Montserrat"/>
            </a:rPr>
            <a:t>Effective Stakeholder Management &amp; Communication:</a:t>
          </a:r>
          <a:r>
            <a:rPr lang="en-CA" sz="1600" kern="1200" dirty="0">
              <a:solidFill>
                <a:schemeClr val="bg1"/>
              </a:solidFill>
              <a:latin typeface="Montserrat" panose="00000500000000000000" pitchFamily="2" charset="0"/>
              <a:ea typeface="Montserrat"/>
              <a:cs typeface="Montserrat"/>
              <a:sym typeface="Montserrat"/>
            </a:rPr>
            <a:t> </a:t>
          </a:r>
          <a:r>
            <a:rPr lang="en-US" sz="1600" kern="1200" dirty="0">
              <a:solidFill>
                <a:schemeClr val="bg1"/>
              </a:solidFill>
              <a:latin typeface="Montserrat" panose="00000500000000000000" pitchFamily="2" charset="0"/>
              <a:ea typeface="Montserrat"/>
              <a:cs typeface="Montserrat"/>
              <a:sym typeface="Montserrat"/>
            </a:rPr>
            <a:t>Keeping everyone informed and aligned.</a:t>
          </a:r>
          <a:endParaRPr lang="en-CA" sz="1600" kern="1200" dirty="0">
            <a:solidFill>
              <a:schemeClr val="bg1"/>
            </a:solidFill>
            <a:latin typeface="Montserrat" panose="00000500000000000000" pitchFamily="2" charset="0"/>
            <a:ea typeface="Montserrat"/>
            <a:cs typeface="Montserrat"/>
            <a:sym typeface="Montserrat"/>
          </a:endParaRPr>
        </a:p>
      </dsp:txBody>
      <dsp:txXfrm>
        <a:off x="2794000" y="1947333"/>
        <a:ext cx="2539999" cy="1524000"/>
      </dsp:txXfrm>
    </dsp:sp>
    <dsp:sp modelId="{AF42AA41-4CD9-4820-8B15-B261CC645C69}">
      <dsp:nvSpPr>
        <dsp:cNvPr id="0" name=""/>
        <dsp:cNvSpPr/>
      </dsp:nvSpPr>
      <dsp:spPr>
        <a:xfrm>
          <a:off x="5587999" y="1947333"/>
          <a:ext cx="2539999" cy="1524000"/>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kern="1200">
              <a:solidFill>
                <a:schemeClr val="bg1"/>
              </a:solidFill>
              <a:latin typeface="Montserrat" panose="00000500000000000000" pitchFamily="2" charset="0"/>
              <a:ea typeface="Montserrat"/>
              <a:cs typeface="Montserrat"/>
              <a:sym typeface="Montserrat"/>
            </a:rPr>
            <a:t>Robust MLOps &amp; Deployment Strategy:</a:t>
          </a:r>
          <a:r>
            <a:rPr lang="en-CA" sz="1600" kern="1200">
              <a:solidFill>
                <a:schemeClr val="bg1"/>
              </a:solidFill>
              <a:latin typeface="Montserrat" panose="00000500000000000000" pitchFamily="2" charset="0"/>
              <a:ea typeface="Montserrat"/>
              <a:cs typeface="Montserrat"/>
              <a:sym typeface="Montserrat"/>
            </a:rPr>
            <a:t> </a:t>
          </a:r>
          <a:r>
            <a:rPr lang="en-US" sz="1600" kern="1200">
              <a:solidFill>
                <a:schemeClr val="bg1"/>
              </a:solidFill>
              <a:latin typeface="Montserrat" panose="00000500000000000000" pitchFamily="2" charset="0"/>
              <a:ea typeface="Montserrat"/>
              <a:cs typeface="Montserrat"/>
              <a:sym typeface="Montserrat"/>
            </a:rPr>
            <a:t>Moving from prototype to production reliably and scalably.</a:t>
          </a:r>
          <a:endParaRPr lang="en-CA" sz="1600" kern="1200" dirty="0">
            <a:solidFill>
              <a:schemeClr val="bg1"/>
            </a:solidFill>
            <a:latin typeface="Montserrat" panose="00000500000000000000" pitchFamily="2" charset="0"/>
            <a:ea typeface="Montserrat"/>
            <a:cs typeface="Montserrat"/>
            <a:sym typeface="Montserrat"/>
          </a:endParaRPr>
        </a:p>
      </dsp:txBody>
      <dsp:txXfrm>
        <a:off x="5587999" y="1947333"/>
        <a:ext cx="2539999" cy="1524000"/>
      </dsp:txXfrm>
    </dsp:sp>
    <dsp:sp modelId="{9F5671E8-CE14-443C-B8C2-CAB0A572CEA7}">
      <dsp:nvSpPr>
        <dsp:cNvPr id="0" name=""/>
        <dsp:cNvSpPr/>
      </dsp:nvSpPr>
      <dsp:spPr>
        <a:xfrm>
          <a:off x="2794000" y="3725333"/>
          <a:ext cx="2539999" cy="1524000"/>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kern="1200" dirty="0">
              <a:solidFill>
                <a:schemeClr val="bg1"/>
              </a:solidFill>
              <a:latin typeface="Montserrat" panose="00000500000000000000" pitchFamily="2" charset="0"/>
              <a:ea typeface="Montserrat"/>
              <a:cs typeface="Montserrat"/>
              <a:sym typeface="Montserrat"/>
            </a:rPr>
            <a:t>Ethical Considerations &amp; Responsible AI:</a:t>
          </a:r>
          <a:r>
            <a:rPr lang="en-CA" sz="1600" kern="1200" dirty="0">
              <a:solidFill>
                <a:schemeClr val="bg1"/>
              </a:solidFill>
              <a:latin typeface="Montserrat" panose="00000500000000000000" pitchFamily="2" charset="0"/>
              <a:ea typeface="Montserrat"/>
              <a:cs typeface="Montserrat"/>
              <a:sym typeface="Montserrat"/>
            </a:rPr>
            <a:t>  </a:t>
          </a:r>
          <a:r>
            <a:rPr lang="en-US" sz="1600" kern="1200" dirty="0">
              <a:solidFill>
                <a:schemeClr val="bg1"/>
              </a:solidFill>
              <a:latin typeface="Montserrat" panose="00000500000000000000" pitchFamily="2" charset="0"/>
              <a:ea typeface="Montserrat"/>
              <a:cs typeface="Montserrat"/>
              <a:sym typeface="Montserrat"/>
            </a:rPr>
            <a:t>Building trust and mitigating societal risks</a:t>
          </a:r>
          <a:endParaRPr lang="en-CA" sz="1600" kern="1200" dirty="0">
            <a:solidFill>
              <a:schemeClr val="bg1"/>
            </a:solidFill>
            <a:latin typeface="Montserrat" panose="00000500000000000000" pitchFamily="2" charset="0"/>
            <a:ea typeface="Montserrat"/>
            <a:cs typeface="Montserrat"/>
            <a:sym typeface="Montserrat"/>
          </a:endParaRPr>
        </a:p>
      </dsp:txBody>
      <dsp:txXfrm>
        <a:off x="2794000" y="3725333"/>
        <a:ext cx="2539999" cy="152400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017136-DB63-4C96-99D5-C15DF2B0EBEB}">
      <dsp:nvSpPr>
        <dsp:cNvPr id="0" name=""/>
        <dsp:cNvSpPr/>
      </dsp:nvSpPr>
      <dsp:spPr>
        <a:xfrm>
          <a:off x="1173054" y="915"/>
          <a:ext cx="2415980" cy="1449588"/>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kern="1200" dirty="0">
              <a:latin typeface="Montserrat" panose="00000500000000000000" pitchFamily="2" charset="0"/>
            </a:rPr>
            <a:t>Scoping &amp; Planning:</a:t>
          </a:r>
        </a:p>
        <a:p>
          <a:pPr marL="0" lvl="0" indent="0" algn="ctr" defTabSz="711200">
            <a:lnSpc>
              <a:spcPct val="90000"/>
            </a:lnSpc>
            <a:spcBef>
              <a:spcPct val="0"/>
            </a:spcBef>
            <a:spcAft>
              <a:spcPct val="35000"/>
            </a:spcAft>
            <a:buNone/>
          </a:pPr>
          <a:r>
            <a:rPr lang="en-US" sz="1600" b="0" kern="1200" dirty="0">
              <a:latin typeface="Montserrat" panose="00000500000000000000" pitchFamily="2" charset="0"/>
            </a:rPr>
            <a:t>Stakeholder workshops, consultant fees, feasibility studies</a:t>
          </a:r>
        </a:p>
      </dsp:txBody>
      <dsp:txXfrm>
        <a:off x="1173054" y="915"/>
        <a:ext cx="2415980" cy="1449588"/>
      </dsp:txXfrm>
    </dsp:sp>
    <dsp:sp modelId="{07A5AB6F-89DE-4DA0-B151-E58BADBF0E37}">
      <dsp:nvSpPr>
        <dsp:cNvPr id="0" name=""/>
        <dsp:cNvSpPr/>
      </dsp:nvSpPr>
      <dsp:spPr>
        <a:xfrm>
          <a:off x="3830633" y="915"/>
          <a:ext cx="2415980" cy="1449588"/>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0" kern="1200" dirty="0">
              <a:latin typeface="Montserrat" panose="00000500000000000000" pitchFamily="2" charset="0"/>
            </a:rPr>
            <a:t>Data Strategy	:</a:t>
          </a:r>
        </a:p>
        <a:p>
          <a:pPr marL="0" lvl="0" indent="0" algn="ctr" defTabSz="711200">
            <a:lnSpc>
              <a:spcPct val="90000"/>
            </a:lnSpc>
            <a:spcBef>
              <a:spcPct val="0"/>
            </a:spcBef>
            <a:spcAft>
              <a:spcPct val="35000"/>
            </a:spcAft>
            <a:buNone/>
          </a:pPr>
          <a:r>
            <a:rPr lang="en-CA" sz="1600" b="0" kern="1200" dirty="0">
              <a:latin typeface="Montserrat" panose="00000500000000000000" pitchFamily="2" charset="0"/>
            </a:rPr>
            <a:t>Data acquisition, cleaning, labeling, storage</a:t>
          </a:r>
        </a:p>
      </dsp:txBody>
      <dsp:txXfrm>
        <a:off x="3830633" y="915"/>
        <a:ext cx="2415980" cy="1449588"/>
      </dsp:txXfrm>
    </dsp:sp>
    <dsp:sp modelId="{1D5C8E40-78B6-4164-B14B-D1DAB306E689}">
      <dsp:nvSpPr>
        <dsp:cNvPr id="0" name=""/>
        <dsp:cNvSpPr/>
      </dsp:nvSpPr>
      <dsp:spPr>
        <a:xfrm>
          <a:off x="6488211" y="915"/>
          <a:ext cx="2415980" cy="1449588"/>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kern="1200" dirty="0">
              <a:latin typeface="Montserrat" panose="00000500000000000000" pitchFamily="2" charset="0"/>
            </a:rPr>
            <a:t>Model Development:</a:t>
          </a:r>
        </a:p>
        <a:p>
          <a:pPr marL="0" lvl="0" indent="0" algn="ctr" defTabSz="711200">
            <a:lnSpc>
              <a:spcPct val="90000"/>
            </a:lnSpc>
            <a:spcBef>
              <a:spcPct val="0"/>
            </a:spcBef>
            <a:spcAft>
              <a:spcPct val="35000"/>
            </a:spcAft>
            <a:buNone/>
          </a:pPr>
          <a:r>
            <a:rPr lang="en-US" sz="1600" b="0" kern="1200" dirty="0">
              <a:latin typeface="Montserrat" panose="00000500000000000000" pitchFamily="2" charset="0"/>
            </a:rPr>
            <a:t>Cloud compute (GPUs, TPUs), ML engineers, ML tools</a:t>
          </a:r>
        </a:p>
      </dsp:txBody>
      <dsp:txXfrm>
        <a:off x="6488211" y="915"/>
        <a:ext cx="2415980" cy="1449588"/>
      </dsp:txXfrm>
    </dsp:sp>
    <dsp:sp modelId="{DB31E441-0E87-429A-B871-099D6678722F}">
      <dsp:nvSpPr>
        <dsp:cNvPr id="0" name=""/>
        <dsp:cNvSpPr/>
      </dsp:nvSpPr>
      <dsp:spPr>
        <a:xfrm>
          <a:off x="1173054" y="1692101"/>
          <a:ext cx="2415980" cy="1449588"/>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kern="1200" dirty="0">
              <a:latin typeface="Montserrat" panose="00000500000000000000" pitchFamily="2" charset="0"/>
            </a:rPr>
            <a:t>Experimentation &amp; Validation:	</a:t>
          </a:r>
        </a:p>
        <a:p>
          <a:pPr marL="0" lvl="0" indent="0" algn="ctr" defTabSz="711200">
            <a:lnSpc>
              <a:spcPct val="90000"/>
            </a:lnSpc>
            <a:spcBef>
              <a:spcPct val="0"/>
            </a:spcBef>
            <a:spcAft>
              <a:spcPct val="35000"/>
            </a:spcAft>
            <a:buNone/>
          </a:pPr>
          <a:r>
            <a:rPr lang="en-US" sz="1600" b="0" kern="1200" dirty="0" err="1">
              <a:latin typeface="Montserrat" panose="00000500000000000000" pitchFamily="2" charset="0"/>
            </a:rPr>
            <a:t>MLOps</a:t>
          </a:r>
          <a:r>
            <a:rPr lang="en-US" sz="1600" b="0" kern="1200" dirty="0">
              <a:latin typeface="Montserrat" panose="00000500000000000000" pitchFamily="2" charset="0"/>
            </a:rPr>
            <a:t> tools, test datasets, model evaluation</a:t>
          </a:r>
        </a:p>
      </dsp:txBody>
      <dsp:txXfrm>
        <a:off x="1173054" y="1692101"/>
        <a:ext cx="2415980" cy="1449588"/>
      </dsp:txXfrm>
    </dsp:sp>
    <dsp:sp modelId="{B1D2A83F-D2CA-4010-BCD4-7F96066EF646}">
      <dsp:nvSpPr>
        <dsp:cNvPr id="0" name=""/>
        <dsp:cNvSpPr/>
      </dsp:nvSpPr>
      <dsp:spPr>
        <a:xfrm>
          <a:off x="3830633" y="1692101"/>
          <a:ext cx="2415980" cy="1449588"/>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kern="1200" dirty="0">
              <a:latin typeface="Montserrat" panose="00000500000000000000" pitchFamily="2" charset="0"/>
            </a:rPr>
            <a:t>Deployment &amp; Integration:	</a:t>
          </a:r>
        </a:p>
        <a:p>
          <a:pPr marL="0" lvl="0" indent="0" algn="ctr" defTabSz="711200">
            <a:lnSpc>
              <a:spcPct val="90000"/>
            </a:lnSpc>
            <a:spcBef>
              <a:spcPct val="0"/>
            </a:spcBef>
            <a:spcAft>
              <a:spcPct val="35000"/>
            </a:spcAft>
            <a:buNone/>
          </a:pPr>
          <a:r>
            <a:rPr lang="en-US" sz="1600" b="0" kern="1200" dirty="0">
              <a:latin typeface="Montserrat" panose="00000500000000000000" pitchFamily="2" charset="0"/>
            </a:rPr>
            <a:t>API hosting, backend integration, cloud DevOps</a:t>
          </a:r>
        </a:p>
      </dsp:txBody>
      <dsp:txXfrm>
        <a:off x="3830633" y="1692101"/>
        <a:ext cx="2415980" cy="1449588"/>
      </dsp:txXfrm>
    </dsp:sp>
    <dsp:sp modelId="{FEC0E453-61D9-4F5F-A4ED-BB0C5CA1F995}">
      <dsp:nvSpPr>
        <dsp:cNvPr id="0" name=""/>
        <dsp:cNvSpPr/>
      </dsp:nvSpPr>
      <dsp:spPr>
        <a:xfrm>
          <a:off x="6488211" y="1692101"/>
          <a:ext cx="2415980" cy="1449588"/>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kern="1200" dirty="0">
              <a:latin typeface="Montserrat" panose="00000500000000000000" pitchFamily="2" charset="0"/>
            </a:rPr>
            <a:t>Monitoring &amp; Maintenance:</a:t>
          </a:r>
        </a:p>
        <a:p>
          <a:pPr marL="0" lvl="0" indent="0" algn="ctr" defTabSz="711200">
            <a:lnSpc>
              <a:spcPct val="90000"/>
            </a:lnSpc>
            <a:spcBef>
              <a:spcPct val="0"/>
            </a:spcBef>
            <a:spcAft>
              <a:spcPct val="35000"/>
            </a:spcAft>
            <a:buNone/>
          </a:pPr>
          <a:r>
            <a:rPr lang="en-US" sz="1600" b="0" kern="1200" dirty="0">
              <a:latin typeface="Montserrat" panose="00000500000000000000" pitchFamily="2" charset="0"/>
            </a:rPr>
            <a:t>Logging, retraining cycles, system uptime, support</a:t>
          </a:r>
        </a:p>
      </dsp:txBody>
      <dsp:txXfrm>
        <a:off x="6488211" y="1692101"/>
        <a:ext cx="2415980" cy="144958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A58950-D9D8-4725-8C72-6F7CEA1DEE5A}">
      <dsp:nvSpPr>
        <dsp:cNvPr id="0" name=""/>
        <dsp:cNvSpPr/>
      </dsp:nvSpPr>
      <dsp:spPr>
        <a:xfrm>
          <a:off x="1173054" y="915"/>
          <a:ext cx="2415980" cy="1449588"/>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latin typeface="Montserrat" panose="00000500000000000000" pitchFamily="2" charset="0"/>
            </a:rPr>
            <a:t>Infrastructure: Cloud (AWS, Azure, GCP), storage, bandwidth.</a:t>
          </a:r>
        </a:p>
      </dsp:txBody>
      <dsp:txXfrm>
        <a:off x="1173054" y="915"/>
        <a:ext cx="2415980" cy="1449588"/>
      </dsp:txXfrm>
    </dsp:sp>
    <dsp:sp modelId="{B7A44B02-43CF-424F-8586-E98959082288}">
      <dsp:nvSpPr>
        <dsp:cNvPr id="0" name=""/>
        <dsp:cNvSpPr/>
      </dsp:nvSpPr>
      <dsp:spPr>
        <a:xfrm>
          <a:off x="3830633" y="915"/>
          <a:ext cx="2415980" cy="1449588"/>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a:latin typeface="Montserrat" panose="00000500000000000000" pitchFamily="2" charset="0"/>
            </a:rPr>
            <a:t>Human Resources: Engineers, data scientists, PMs, analysts.</a:t>
          </a:r>
        </a:p>
      </dsp:txBody>
      <dsp:txXfrm>
        <a:off x="3830633" y="915"/>
        <a:ext cx="2415980" cy="1449588"/>
      </dsp:txXfrm>
    </dsp:sp>
    <dsp:sp modelId="{5534617C-7BC4-44E3-B5F3-5FF593E9344A}">
      <dsp:nvSpPr>
        <dsp:cNvPr id="0" name=""/>
        <dsp:cNvSpPr/>
      </dsp:nvSpPr>
      <dsp:spPr>
        <a:xfrm>
          <a:off x="6488211" y="915"/>
          <a:ext cx="2415980" cy="1449588"/>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a:latin typeface="Montserrat" panose="00000500000000000000" pitchFamily="2" charset="0"/>
            </a:rPr>
            <a:t>Software/Tools: SaaS platforms, annotation tools, IDEs.</a:t>
          </a:r>
        </a:p>
      </dsp:txBody>
      <dsp:txXfrm>
        <a:off x="6488211" y="915"/>
        <a:ext cx="2415980" cy="1449588"/>
      </dsp:txXfrm>
    </dsp:sp>
    <dsp:sp modelId="{A89262A2-9FAC-49D2-9435-E585E3BD48EB}">
      <dsp:nvSpPr>
        <dsp:cNvPr id="0" name=""/>
        <dsp:cNvSpPr/>
      </dsp:nvSpPr>
      <dsp:spPr>
        <a:xfrm>
          <a:off x="2501843" y="1692101"/>
          <a:ext cx="2415980" cy="1449588"/>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a:latin typeface="Montserrat" panose="00000500000000000000" pitchFamily="2" charset="0"/>
            </a:rPr>
            <a:t>Data: Licenses, external datasets, labeling services.</a:t>
          </a:r>
        </a:p>
      </dsp:txBody>
      <dsp:txXfrm>
        <a:off x="2501843" y="1692101"/>
        <a:ext cx="2415980" cy="1449588"/>
      </dsp:txXfrm>
    </dsp:sp>
    <dsp:sp modelId="{72C1BD5D-501E-497F-9D46-592B9621B736}">
      <dsp:nvSpPr>
        <dsp:cNvPr id="0" name=""/>
        <dsp:cNvSpPr/>
      </dsp:nvSpPr>
      <dsp:spPr>
        <a:xfrm>
          <a:off x="5159422" y="1692101"/>
          <a:ext cx="2415980" cy="1449588"/>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CA" sz="1800" kern="1200" dirty="0">
              <a:latin typeface="Montserrat" panose="00000500000000000000" pitchFamily="2" charset="0"/>
            </a:rPr>
            <a:t>Ongoing Operations: Maintenance, security, updates.</a:t>
          </a:r>
        </a:p>
      </dsp:txBody>
      <dsp:txXfrm>
        <a:off x="5159422" y="1692101"/>
        <a:ext cx="2415980" cy="144958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27AF12-6782-499A-8EFD-D8BB796B5895}">
      <dsp:nvSpPr>
        <dsp:cNvPr id="0" name=""/>
        <dsp:cNvSpPr/>
      </dsp:nvSpPr>
      <dsp:spPr>
        <a:xfrm>
          <a:off x="0" y="19443"/>
          <a:ext cx="9705916" cy="767520"/>
        </a:xfrm>
        <a:prstGeom prst="roundRect">
          <a:avLst/>
        </a:prstGeom>
        <a:solidFill>
          <a:srgbClr val="D56E48"/>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CA" sz="1700" kern="1200" dirty="0">
              <a:latin typeface="Montserrat" panose="00000500000000000000" pitchFamily="2" charset="0"/>
              <a:cs typeface="Mongolian Baiti" panose="03000500000000000000" pitchFamily="66" charset="0"/>
            </a:rPr>
            <a:t>Start with a clear vision, business value, and feasibility check; define a focused MVP to manage scope.</a:t>
          </a:r>
          <a:endParaRPr lang="en-US" sz="1700" kern="1200" dirty="0">
            <a:solidFill>
              <a:prstClr val="white"/>
            </a:solidFill>
            <a:latin typeface="Montserrat" panose="00000500000000000000" pitchFamily="2" charset="0"/>
            <a:ea typeface="+mn-ea"/>
            <a:cs typeface="Mongolian Baiti" panose="03000500000000000000" pitchFamily="66" charset="0"/>
          </a:endParaRPr>
        </a:p>
      </dsp:txBody>
      <dsp:txXfrm>
        <a:off x="37467" y="56910"/>
        <a:ext cx="9630982" cy="692586"/>
      </dsp:txXfrm>
    </dsp:sp>
    <dsp:sp modelId="{8350E2B7-98A5-4698-AE20-B8B9E3078ABB}">
      <dsp:nvSpPr>
        <dsp:cNvPr id="0" name=""/>
        <dsp:cNvSpPr/>
      </dsp:nvSpPr>
      <dsp:spPr>
        <a:xfrm>
          <a:off x="0" y="905044"/>
          <a:ext cx="9705916" cy="767520"/>
        </a:xfrm>
        <a:prstGeom prst="roundRect">
          <a:avLst/>
        </a:prstGeom>
        <a:solidFill>
          <a:srgbClr val="D56E48"/>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CA" sz="1700" kern="1200">
              <a:solidFill>
                <a:prstClr val="white"/>
              </a:solidFill>
              <a:latin typeface="Montserrat" panose="00000500000000000000" pitchFamily="2" charset="0"/>
              <a:ea typeface="+mn-ea"/>
              <a:cs typeface="Mongolian Baiti" panose="03000500000000000000" pitchFamily="66" charset="0"/>
            </a:rPr>
            <a:t>Use SMART goals across model (e.g., accuracy), system (e.g., latency), and business (e.g., retention) levels.</a:t>
          </a:r>
        </a:p>
      </dsp:txBody>
      <dsp:txXfrm>
        <a:off x="37467" y="942511"/>
        <a:ext cx="9630982" cy="692586"/>
      </dsp:txXfrm>
    </dsp:sp>
    <dsp:sp modelId="{29340F4A-9AEC-4E14-B0E3-3C267431BFFB}">
      <dsp:nvSpPr>
        <dsp:cNvPr id="0" name=""/>
        <dsp:cNvSpPr/>
      </dsp:nvSpPr>
      <dsp:spPr>
        <a:xfrm>
          <a:off x="0" y="1790644"/>
          <a:ext cx="9705916" cy="767520"/>
        </a:xfrm>
        <a:prstGeom prst="roundRect">
          <a:avLst/>
        </a:prstGeom>
        <a:solidFill>
          <a:srgbClr val="D56E48"/>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CA" sz="1700" kern="1200">
              <a:solidFill>
                <a:prstClr val="white"/>
              </a:solidFill>
              <a:latin typeface="Montserrat" panose="00000500000000000000" pitchFamily="2" charset="0"/>
              <a:ea typeface="+mn-ea"/>
              <a:cs typeface="Mongolian Baiti" panose="03000500000000000000" pitchFamily="66" charset="0"/>
            </a:rPr>
            <a:t>Assign key roles: product managers, data scientists, ML engineers, MLOps, and domain experts.</a:t>
          </a:r>
        </a:p>
      </dsp:txBody>
      <dsp:txXfrm>
        <a:off x="37467" y="1828111"/>
        <a:ext cx="9630982" cy="692586"/>
      </dsp:txXfrm>
    </dsp:sp>
    <dsp:sp modelId="{677DDDE2-8DD8-422E-9A88-4FA2A00AC870}">
      <dsp:nvSpPr>
        <dsp:cNvPr id="0" name=""/>
        <dsp:cNvSpPr/>
      </dsp:nvSpPr>
      <dsp:spPr>
        <a:xfrm>
          <a:off x="0" y="2676244"/>
          <a:ext cx="9705916" cy="767520"/>
        </a:xfrm>
        <a:prstGeom prst="roundRect">
          <a:avLst/>
        </a:prstGeom>
        <a:solidFill>
          <a:srgbClr val="D56E48"/>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CA" sz="1700" kern="1200" dirty="0">
              <a:solidFill>
                <a:prstClr val="white"/>
              </a:solidFill>
              <a:latin typeface="Montserrat" panose="00000500000000000000" pitchFamily="2" charset="0"/>
              <a:ea typeface="+mn-ea"/>
              <a:cs typeface="Mongolian Baiti" panose="03000500000000000000" pitchFamily="66" charset="0"/>
            </a:rPr>
            <a:t>Prefer Agile or Hybrid methods for flexibility; use SAFe to scale across teams.</a:t>
          </a:r>
        </a:p>
      </dsp:txBody>
      <dsp:txXfrm>
        <a:off x="37467" y="2713711"/>
        <a:ext cx="9630982" cy="692586"/>
      </dsp:txXfrm>
    </dsp:sp>
    <dsp:sp modelId="{1BB9FB31-8821-4519-9EDC-0C3D8BC4707A}">
      <dsp:nvSpPr>
        <dsp:cNvPr id="0" name=""/>
        <dsp:cNvSpPr/>
      </dsp:nvSpPr>
      <dsp:spPr>
        <a:xfrm>
          <a:off x="0" y="3561844"/>
          <a:ext cx="9705916" cy="767520"/>
        </a:xfrm>
        <a:prstGeom prst="roundRect">
          <a:avLst/>
        </a:prstGeom>
        <a:solidFill>
          <a:srgbClr val="D56E48"/>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CA" sz="1700" kern="1200" dirty="0">
              <a:solidFill>
                <a:prstClr val="white"/>
              </a:solidFill>
              <a:latin typeface="Montserrat" panose="00000500000000000000" pitchFamily="2" charset="0"/>
              <a:ea typeface="+mn-ea"/>
              <a:cs typeface="Mongolian Baiti" panose="03000500000000000000" pitchFamily="66" charset="0"/>
            </a:rPr>
            <a:t>Budget carefully and plan for risks like data quality, bias, and compliance.</a:t>
          </a:r>
        </a:p>
      </dsp:txBody>
      <dsp:txXfrm>
        <a:off x="37467" y="3599311"/>
        <a:ext cx="9630982" cy="692586"/>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C911D1-6589-4D4A-810A-D1CB24D30600}" type="datetimeFigureOut">
              <a:rPr lang="en-US" smtClean="0"/>
              <a:t>7/12/26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234E27-21C0-AB42-9720-9468F68AD70E}" type="slidenum">
              <a:rPr lang="en-US" smtClean="0"/>
              <a:t>‹#›</a:t>
            </a:fld>
            <a:endParaRPr lang="en-US"/>
          </a:p>
        </p:txBody>
      </p:sp>
    </p:spTree>
    <p:extLst>
      <p:ext uri="{BB962C8B-B14F-4D97-AF65-F5344CB8AC3E}">
        <p14:creationId xmlns:p14="http://schemas.microsoft.com/office/powerpoint/2010/main" val="3315157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55ea8b0119_0_1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5" name="Google Shape;245;g355ea8b0119_0_1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55ea8b0119_0_1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g355ea8b0119_0_1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55ea8b0119_0_1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6" name="Google Shape;286;g355ea8b0119_0_1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55ea8b0119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2" name="Google Shape;302;g355ea8b0119_0_1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a:extLst>
            <a:ext uri="{FF2B5EF4-FFF2-40B4-BE49-F238E27FC236}">
              <a16:creationId xmlns:a16="http://schemas.microsoft.com/office/drawing/2014/main" id="{CD290D19-908D-26EE-1FBB-BF6F2C1716AF}"/>
            </a:ext>
          </a:extLst>
        </p:cNvPr>
        <p:cNvGrpSpPr/>
        <p:nvPr/>
      </p:nvGrpSpPr>
      <p:grpSpPr>
        <a:xfrm>
          <a:off x="0" y="0"/>
          <a:ext cx="0" cy="0"/>
          <a:chOff x="0" y="0"/>
          <a:chExt cx="0" cy="0"/>
        </a:xfrm>
      </p:grpSpPr>
      <p:sp>
        <p:nvSpPr>
          <p:cNvPr id="256" name="Google Shape;256;g355ea8b0119_0_127:notes">
            <a:extLst>
              <a:ext uri="{FF2B5EF4-FFF2-40B4-BE49-F238E27FC236}">
                <a16:creationId xmlns:a16="http://schemas.microsoft.com/office/drawing/2014/main" id="{6690CA2C-4409-85F5-C891-853E732A08D0}"/>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g355ea8b0119_0_127:notes">
            <a:extLst>
              <a:ext uri="{FF2B5EF4-FFF2-40B4-BE49-F238E27FC236}">
                <a16:creationId xmlns:a16="http://schemas.microsoft.com/office/drawing/2014/main" id="{B620BFCC-EFB8-D4E3-9D75-D28D02F47AE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0895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a:extLst>
            <a:ext uri="{FF2B5EF4-FFF2-40B4-BE49-F238E27FC236}">
              <a16:creationId xmlns:a16="http://schemas.microsoft.com/office/drawing/2014/main" id="{32368296-0DBF-4440-A8E9-A9F36AFDE062}"/>
            </a:ext>
          </a:extLst>
        </p:cNvPr>
        <p:cNvGrpSpPr/>
        <p:nvPr/>
      </p:nvGrpSpPr>
      <p:grpSpPr>
        <a:xfrm>
          <a:off x="0" y="0"/>
          <a:ext cx="0" cy="0"/>
          <a:chOff x="0" y="0"/>
          <a:chExt cx="0" cy="0"/>
        </a:xfrm>
      </p:grpSpPr>
      <p:sp>
        <p:nvSpPr>
          <p:cNvPr id="256" name="Google Shape;256;g355ea8b0119_0_127:notes">
            <a:extLst>
              <a:ext uri="{FF2B5EF4-FFF2-40B4-BE49-F238E27FC236}">
                <a16:creationId xmlns:a16="http://schemas.microsoft.com/office/drawing/2014/main" id="{98DC6AB7-145C-BFD0-8E2F-A60BBDD0528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g355ea8b0119_0_127:notes">
            <a:extLst>
              <a:ext uri="{FF2B5EF4-FFF2-40B4-BE49-F238E27FC236}">
                <a16:creationId xmlns:a16="http://schemas.microsoft.com/office/drawing/2014/main" id="{E5458D81-9727-0C31-B369-C31135C95A6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23079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a:extLst>
            <a:ext uri="{FF2B5EF4-FFF2-40B4-BE49-F238E27FC236}">
              <a16:creationId xmlns:a16="http://schemas.microsoft.com/office/drawing/2014/main" id="{F1B6FF45-7747-04A2-67DB-B752521668CD}"/>
            </a:ext>
          </a:extLst>
        </p:cNvPr>
        <p:cNvGrpSpPr/>
        <p:nvPr/>
      </p:nvGrpSpPr>
      <p:grpSpPr>
        <a:xfrm>
          <a:off x="0" y="0"/>
          <a:ext cx="0" cy="0"/>
          <a:chOff x="0" y="0"/>
          <a:chExt cx="0" cy="0"/>
        </a:xfrm>
      </p:grpSpPr>
      <p:sp>
        <p:nvSpPr>
          <p:cNvPr id="256" name="Google Shape;256;g355ea8b0119_0_127:notes">
            <a:extLst>
              <a:ext uri="{FF2B5EF4-FFF2-40B4-BE49-F238E27FC236}">
                <a16:creationId xmlns:a16="http://schemas.microsoft.com/office/drawing/2014/main" id="{3BAD0FD3-1751-FFD5-2061-D81465F9572E}"/>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g355ea8b0119_0_127:notes">
            <a:extLst>
              <a:ext uri="{FF2B5EF4-FFF2-40B4-BE49-F238E27FC236}">
                <a16:creationId xmlns:a16="http://schemas.microsoft.com/office/drawing/2014/main" id="{394BC53A-4D52-7AF0-A1F0-882300B52C4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974270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a:extLst>
            <a:ext uri="{FF2B5EF4-FFF2-40B4-BE49-F238E27FC236}">
              <a16:creationId xmlns:a16="http://schemas.microsoft.com/office/drawing/2014/main" id="{F73EEED0-3B1B-970B-2B85-45CFB795F439}"/>
            </a:ext>
          </a:extLst>
        </p:cNvPr>
        <p:cNvGrpSpPr/>
        <p:nvPr/>
      </p:nvGrpSpPr>
      <p:grpSpPr>
        <a:xfrm>
          <a:off x="0" y="0"/>
          <a:ext cx="0" cy="0"/>
          <a:chOff x="0" y="0"/>
          <a:chExt cx="0" cy="0"/>
        </a:xfrm>
      </p:grpSpPr>
      <p:sp>
        <p:nvSpPr>
          <p:cNvPr id="256" name="Google Shape;256;g355ea8b0119_0_127:notes">
            <a:extLst>
              <a:ext uri="{FF2B5EF4-FFF2-40B4-BE49-F238E27FC236}">
                <a16:creationId xmlns:a16="http://schemas.microsoft.com/office/drawing/2014/main" id="{B6F7EE74-13A8-C46E-30DA-72C7BD66B1F2}"/>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g355ea8b0119_0_127:notes">
            <a:extLst>
              <a:ext uri="{FF2B5EF4-FFF2-40B4-BE49-F238E27FC236}">
                <a16:creationId xmlns:a16="http://schemas.microsoft.com/office/drawing/2014/main" id="{F4A8773F-7680-6C2F-E81D-E5692F2E48B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867616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a:extLst>
            <a:ext uri="{FF2B5EF4-FFF2-40B4-BE49-F238E27FC236}">
              <a16:creationId xmlns:a16="http://schemas.microsoft.com/office/drawing/2014/main" id="{5D6A47D0-2587-C08C-01E9-B1F9ED9F989F}"/>
            </a:ext>
          </a:extLst>
        </p:cNvPr>
        <p:cNvGrpSpPr/>
        <p:nvPr/>
      </p:nvGrpSpPr>
      <p:grpSpPr>
        <a:xfrm>
          <a:off x="0" y="0"/>
          <a:ext cx="0" cy="0"/>
          <a:chOff x="0" y="0"/>
          <a:chExt cx="0" cy="0"/>
        </a:xfrm>
      </p:grpSpPr>
      <p:sp>
        <p:nvSpPr>
          <p:cNvPr id="386" name="Google Shape;386;g355ea8b0119_0_226:notes">
            <a:extLst>
              <a:ext uri="{FF2B5EF4-FFF2-40B4-BE49-F238E27FC236}">
                <a16:creationId xmlns:a16="http://schemas.microsoft.com/office/drawing/2014/main" id="{E414EA1B-D920-2EA7-8074-5214B1536C8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7" name="Google Shape;387;g355ea8b0119_0_226:notes">
            <a:extLst>
              <a:ext uri="{FF2B5EF4-FFF2-40B4-BE49-F238E27FC236}">
                <a16:creationId xmlns:a16="http://schemas.microsoft.com/office/drawing/2014/main" id="{FC2FDF8B-0974-141B-8A3A-9D6E7C9DD1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081592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a:extLst>
            <a:ext uri="{FF2B5EF4-FFF2-40B4-BE49-F238E27FC236}">
              <a16:creationId xmlns:a16="http://schemas.microsoft.com/office/drawing/2014/main" id="{F2C2E7EB-D525-06BF-A7C5-F8564E94FCC4}"/>
            </a:ext>
          </a:extLst>
        </p:cNvPr>
        <p:cNvGrpSpPr/>
        <p:nvPr/>
      </p:nvGrpSpPr>
      <p:grpSpPr>
        <a:xfrm>
          <a:off x="0" y="0"/>
          <a:ext cx="0" cy="0"/>
          <a:chOff x="0" y="0"/>
          <a:chExt cx="0" cy="0"/>
        </a:xfrm>
      </p:grpSpPr>
      <p:sp>
        <p:nvSpPr>
          <p:cNvPr id="386" name="Google Shape;386;g355ea8b0119_0_226:notes">
            <a:extLst>
              <a:ext uri="{FF2B5EF4-FFF2-40B4-BE49-F238E27FC236}">
                <a16:creationId xmlns:a16="http://schemas.microsoft.com/office/drawing/2014/main" id="{5FD0CEBA-BA0E-2D6A-2320-4FBF82B45AB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7" name="Google Shape;387;g355ea8b0119_0_226:notes">
            <a:extLst>
              <a:ext uri="{FF2B5EF4-FFF2-40B4-BE49-F238E27FC236}">
                <a16:creationId xmlns:a16="http://schemas.microsoft.com/office/drawing/2014/main" id="{70794CFD-AB7E-DF86-6811-DB95461D05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82422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355ea8b0119_0_2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7" name="Google Shape;387;g355ea8b0119_0_2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55ea8b0119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2" name="Google Shape;362;g355ea8b0119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355ea8b0119_0_2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2" name="Google Shape;372;g355ea8b0119_0_2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a:extLst>
            <a:ext uri="{FF2B5EF4-FFF2-40B4-BE49-F238E27FC236}">
              <a16:creationId xmlns:a16="http://schemas.microsoft.com/office/drawing/2014/main" id="{954E4C86-DD8F-2CFA-630E-276D63463F63}"/>
            </a:ext>
          </a:extLst>
        </p:cNvPr>
        <p:cNvGrpSpPr/>
        <p:nvPr/>
      </p:nvGrpSpPr>
      <p:grpSpPr>
        <a:xfrm>
          <a:off x="0" y="0"/>
          <a:ext cx="0" cy="0"/>
          <a:chOff x="0" y="0"/>
          <a:chExt cx="0" cy="0"/>
        </a:xfrm>
      </p:grpSpPr>
      <p:sp>
        <p:nvSpPr>
          <p:cNvPr id="371" name="Google Shape;371;g355ea8b0119_0_215:notes">
            <a:extLst>
              <a:ext uri="{FF2B5EF4-FFF2-40B4-BE49-F238E27FC236}">
                <a16:creationId xmlns:a16="http://schemas.microsoft.com/office/drawing/2014/main" id="{062599A0-CBC9-51E6-8D9C-6F02CAF27C1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2" name="Google Shape;372;g355ea8b0119_0_215:notes">
            <a:extLst>
              <a:ext uri="{FF2B5EF4-FFF2-40B4-BE49-F238E27FC236}">
                <a16:creationId xmlns:a16="http://schemas.microsoft.com/office/drawing/2014/main" id="{22698B97-60D6-6B5A-44C9-CFCD4A4800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59512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a:extLst>
            <a:ext uri="{FF2B5EF4-FFF2-40B4-BE49-F238E27FC236}">
              <a16:creationId xmlns:a16="http://schemas.microsoft.com/office/drawing/2014/main" id="{D9015601-D82B-DEB9-BB0C-C569916A8A75}"/>
            </a:ext>
          </a:extLst>
        </p:cNvPr>
        <p:cNvGrpSpPr/>
        <p:nvPr/>
      </p:nvGrpSpPr>
      <p:grpSpPr>
        <a:xfrm>
          <a:off x="0" y="0"/>
          <a:ext cx="0" cy="0"/>
          <a:chOff x="0" y="0"/>
          <a:chExt cx="0" cy="0"/>
        </a:xfrm>
      </p:grpSpPr>
      <p:sp>
        <p:nvSpPr>
          <p:cNvPr id="371" name="Google Shape;371;g355ea8b0119_0_215:notes">
            <a:extLst>
              <a:ext uri="{FF2B5EF4-FFF2-40B4-BE49-F238E27FC236}">
                <a16:creationId xmlns:a16="http://schemas.microsoft.com/office/drawing/2014/main" id="{947E8C71-5EED-6FF8-7E60-C9D814589CAE}"/>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2" name="Google Shape;372;g355ea8b0119_0_215:notes">
            <a:extLst>
              <a:ext uri="{FF2B5EF4-FFF2-40B4-BE49-F238E27FC236}">
                <a16:creationId xmlns:a16="http://schemas.microsoft.com/office/drawing/2014/main" id="{58CF928E-6E6E-70C7-E893-9427D7F92E2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821998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a:extLst>
            <a:ext uri="{FF2B5EF4-FFF2-40B4-BE49-F238E27FC236}">
              <a16:creationId xmlns:a16="http://schemas.microsoft.com/office/drawing/2014/main" id="{544E0402-48BB-CE12-27AF-DE5354192164}"/>
            </a:ext>
          </a:extLst>
        </p:cNvPr>
        <p:cNvGrpSpPr/>
        <p:nvPr/>
      </p:nvGrpSpPr>
      <p:grpSpPr>
        <a:xfrm>
          <a:off x="0" y="0"/>
          <a:ext cx="0" cy="0"/>
          <a:chOff x="0" y="0"/>
          <a:chExt cx="0" cy="0"/>
        </a:xfrm>
      </p:grpSpPr>
      <p:sp>
        <p:nvSpPr>
          <p:cNvPr id="371" name="Google Shape;371;g355ea8b0119_0_215:notes">
            <a:extLst>
              <a:ext uri="{FF2B5EF4-FFF2-40B4-BE49-F238E27FC236}">
                <a16:creationId xmlns:a16="http://schemas.microsoft.com/office/drawing/2014/main" id="{C70B9747-0E2C-A90B-E240-870D0892CD2E}"/>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2" name="Google Shape;372;g355ea8b0119_0_215:notes">
            <a:extLst>
              <a:ext uri="{FF2B5EF4-FFF2-40B4-BE49-F238E27FC236}">
                <a16:creationId xmlns:a16="http://schemas.microsoft.com/office/drawing/2014/main" id="{6B354517-344A-1977-2D99-71BBC6D858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4151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a:extLst>
            <a:ext uri="{FF2B5EF4-FFF2-40B4-BE49-F238E27FC236}">
              <a16:creationId xmlns:a16="http://schemas.microsoft.com/office/drawing/2014/main" id="{4CAE390F-4168-E758-3E58-CF2A48226EB5}"/>
            </a:ext>
          </a:extLst>
        </p:cNvPr>
        <p:cNvGrpSpPr/>
        <p:nvPr/>
      </p:nvGrpSpPr>
      <p:grpSpPr>
        <a:xfrm>
          <a:off x="0" y="0"/>
          <a:ext cx="0" cy="0"/>
          <a:chOff x="0" y="0"/>
          <a:chExt cx="0" cy="0"/>
        </a:xfrm>
      </p:grpSpPr>
      <p:sp>
        <p:nvSpPr>
          <p:cNvPr id="371" name="Google Shape;371;g355ea8b0119_0_215:notes">
            <a:extLst>
              <a:ext uri="{FF2B5EF4-FFF2-40B4-BE49-F238E27FC236}">
                <a16:creationId xmlns:a16="http://schemas.microsoft.com/office/drawing/2014/main" id="{91F9F410-C069-2DC9-714C-EC2E7EC25749}"/>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2" name="Google Shape;372;g355ea8b0119_0_215:notes">
            <a:extLst>
              <a:ext uri="{FF2B5EF4-FFF2-40B4-BE49-F238E27FC236}">
                <a16:creationId xmlns:a16="http://schemas.microsoft.com/office/drawing/2014/main" id="{77D232D1-218D-FF7D-7824-1500E0A3237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871464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a:extLst>
            <a:ext uri="{FF2B5EF4-FFF2-40B4-BE49-F238E27FC236}">
              <a16:creationId xmlns:a16="http://schemas.microsoft.com/office/drawing/2014/main" id="{61AA4373-AEFF-BA2E-8A8E-A4FEB53ABF16}"/>
            </a:ext>
          </a:extLst>
        </p:cNvPr>
        <p:cNvGrpSpPr/>
        <p:nvPr/>
      </p:nvGrpSpPr>
      <p:grpSpPr>
        <a:xfrm>
          <a:off x="0" y="0"/>
          <a:ext cx="0" cy="0"/>
          <a:chOff x="0" y="0"/>
          <a:chExt cx="0" cy="0"/>
        </a:xfrm>
      </p:grpSpPr>
      <p:sp>
        <p:nvSpPr>
          <p:cNvPr id="371" name="Google Shape;371;g355ea8b0119_0_215:notes">
            <a:extLst>
              <a:ext uri="{FF2B5EF4-FFF2-40B4-BE49-F238E27FC236}">
                <a16:creationId xmlns:a16="http://schemas.microsoft.com/office/drawing/2014/main" id="{27572441-680D-5C3C-3932-8156BFAC9DE2}"/>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2" name="Google Shape;372;g355ea8b0119_0_215:notes">
            <a:extLst>
              <a:ext uri="{FF2B5EF4-FFF2-40B4-BE49-F238E27FC236}">
                <a16:creationId xmlns:a16="http://schemas.microsoft.com/office/drawing/2014/main" id="{586395AC-B8F3-C25F-21B6-211BEB0B0C0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848818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a:extLst>
            <a:ext uri="{FF2B5EF4-FFF2-40B4-BE49-F238E27FC236}">
              <a16:creationId xmlns:a16="http://schemas.microsoft.com/office/drawing/2014/main" id="{5DDDF0DA-D4EA-36F3-7B4B-CD5018EAD42C}"/>
            </a:ext>
          </a:extLst>
        </p:cNvPr>
        <p:cNvGrpSpPr/>
        <p:nvPr/>
      </p:nvGrpSpPr>
      <p:grpSpPr>
        <a:xfrm>
          <a:off x="0" y="0"/>
          <a:ext cx="0" cy="0"/>
          <a:chOff x="0" y="0"/>
          <a:chExt cx="0" cy="0"/>
        </a:xfrm>
      </p:grpSpPr>
      <p:sp>
        <p:nvSpPr>
          <p:cNvPr id="386" name="Google Shape;386;g355ea8b0119_0_226:notes">
            <a:extLst>
              <a:ext uri="{FF2B5EF4-FFF2-40B4-BE49-F238E27FC236}">
                <a16:creationId xmlns:a16="http://schemas.microsoft.com/office/drawing/2014/main" id="{C31A2929-F907-3A42-8C2D-232DE4D5C6A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7" name="Google Shape;387;g355ea8b0119_0_226:notes">
            <a:extLst>
              <a:ext uri="{FF2B5EF4-FFF2-40B4-BE49-F238E27FC236}">
                <a16:creationId xmlns:a16="http://schemas.microsoft.com/office/drawing/2014/main" id="{A8B6FAD5-1429-5D41-4B8C-8B1DEECBC67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431345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355ea8b0119_0_2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2" name="Google Shape;412;g355ea8b0119_0_2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a:extLst>
            <a:ext uri="{FF2B5EF4-FFF2-40B4-BE49-F238E27FC236}">
              <a16:creationId xmlns:a16="http://schemas.microsoft.com/office/drawing/2014/main" id="{46520219-CF18-6C47-459A-85BC0F75222F}"/>
            </a:ext>
          </a:extLst>
        </p:cNvPr>
        <p:cNvGrpSpPr/>
        <p:nvPr/>
      </p:nvGrpSpPr>
      <p:grpSpPr>
        <a:xfrm>
          <a:off x="0" y="0"/>
          <a:ext cx="0" cy="0"/>
          <a:chOff x="0" y="0"/>
          <a:chExt cx="0" cy="0"/>
        </a:xfrm>
      </p:grpSpPr>
      <p:sp>
        <p:nvSpPr>
          <p:cNvPr id="386" name="Google Shape;386;g355ea8b0119_0_226:notes">
            <a:extLst>
              <a:ext uri="{FF2B5EF4-FFF2-40B4-BE49-F238E27FC236}">
                <a16:creationId xmlns:a16="http://schemas.microsoft.com/office/drawing/2014/main" id="{6ECCD6B5-4BBD-41C2-1AA5-765D7542C454}"/>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7" name="Google Shape;387;g355ea8b0119_0_226:notes">
            <a:extLst>
              <a:ext uri="{FF2B5EF4-FFF2-40B4-BE49-F238E27FC236}">
                <a16:creationId xmlns:a16="http://schemas.microsoft.com/office/drawing/2014/main" id="{0197C6AE-0E62-D921-32E2-EDEBEC75D2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369293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a:extLst>
            <a:ext uri="{FF2B5EF4-FFF2-40B4-BE49-F238E27FC236}">
              <a16:creationId xmlns:a16="http://schemas.microsoft.com/office/drawing/2014/main" id="{40C42A72-80ED-5ED4-9131-B3B81A7EE676}"/>
            </a:ext>
          </a:extLst>
        </p:cNvPr>
        <p:cNvGrpSpPr/>
        <p:nvPr/>
      </p:nvGrpSpPr>
      <p:grpSpPr>
        <a:xfrm>
          <a:off x="0" y="0"/>
          <a:ext cx="0" cy="0"/>
          <a:chOff x="0" y="0"/>
          <a:chExt cx="0" cy="0"/>
        </a:xfrm>
      </p:grpSpPr>
      <p:sp>
        <p:nvSpPr>
          <p:cNvPr id="386" name="Google Shape;386;g355ea8b0119_0_226:notes">
            <a:extLst>
              <a:ext uri="{FF2B5EF4-FFF2-40B4-BE49-F238E27FC236}">
                <a16:creationId xmlns:a16="http://schemas.microsoft.com/office/drawing/2014/main" id="{32E80C62-5183-68F3-44A5-FF45ADC4690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7" name="Google Shape;387;g355ea8b0119_0_226:notes">
            <a:extLst>
              <a:ext uri="{FF2B5EF4-FFF2-40B4-BE49-F238E27FC236}">
                <a16:creationId xmlns:a16="http://schemas.microsoft.com/office/drawing/2014/main" id="{849F1A3C-0C7F-BD1E-C735-26F06004F69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15356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a:extLst>
            <a:ext uri="{FF2B5EF4-FFF2-40B4-BE49-F238E27FC236}">
              <a16:creationId xmlns:a16="http://schemas.microsoft.com/office/drawing/2014/main" id="{9800B928-DA42-7451-FEFD-F1726320E51E}"/>
            </a:ext>
          </a:extLst>
        </p:cNvPr>
        <p:cNvGrpSpPr/>
        <p:nvPr/>
      </p:nvGrpSpPr>
      <p:grpSpPr>
        <a:xfrm>
          <a:off x="0" y="0"/>
          <a:ext cx="0" cy="0"/>
          <a:chOff x="0" y="0"/>
          <a:chExt cx="0" cy="0"/>
        </a:xfrm>
      </p:grpSpPr>
      <p:sp>
        <p:nvSpPr>
          <p:cNvPr id="386" name="Google Shape;386;g355ea8b0119_0_226:notes">
            <a:extLst>
              <a:ext uri="{FF2B5EF4-FFF2-40B4-BE49-F238E27FC236}">
                <a16:creationId xmlns:a16="http://schemas.microsoft.com/office/drawing/2014/main" id="{98B87F40-14CA-41B5-18F4-18C0B33A6194}"/>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7" name="Google Shape;387;g355ea8b0119_0_226:notes">
            <a:extLst>
              <a:ext uri="{FF2B5EF4-FFF2-40B4-BE49-F238E27FC236}">
                <a16:creationId xmlns:a16="http://schemas.microsoft.com/office/drawing/2014/main" id="{58B4EB30-4FF5-EA9E-188C-DE3CF5A0A3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375984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6ED6F-859A-B746-837E-C5D978EC30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6CAE93-A6A2-054F-8C31-54E8ABF6AE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8ADB13-4A11-2643-B65C-065BE17739F2}"/>
              </a:ext>
            </a:extLst>
          </p:cNvPr>
          <p:cNvSpPr>
            <a:spLocks noGrp="1"/>
          </p:cNvSpPr>
          <p:nvPr>
            <p:ph type="dt" sz="half" idx="10"/>
          </p:nvPr>
        </p:nvSpPr>
        <p:spPr/>
        <p:txBody>
          <a:bodyPr/>
          <a:lstStyle/>
          <a:p>
            <a:fld id="{FD8C779B-2DF9-41ED-BDF6-094A96BB5831}" type="datetime1">
              <a:rPr lang="en-US" smtClean="0"/>
              <a:t>7/12/26</a:t>
            </a:fld>
            <a:endParaRPr lang="en-US"/>
          </a:p>
        </p:txBody>
      </p:sp>
      <p:sp>
        <p:nvSpPr>
          <p:cNvPr id="5" name="Footer Placeholder 4">
            <a:extLst>
              <a:ext uri="{FF2B5EF4-FFF2-40B4-BE49-F238E27FC236}">
                <a16:creationId xmlns:a16="http://schemas.microsoft.com/office/drawing/2014/main" id="{3F68DD79-905B-054B-B597-6AB72529A68D}"/>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3FDD4DF4-5AD9-8C41-9C38-63470B32845E}"/>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05137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F93AB-04A1-834E-A498-C252C11131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8534D4-4817-FF44-8044-9A872518BEF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EB8C4A-8264-ED4C-B758-FA62E7CC38F6}"/>
              </a:ext>
            </a:extLst>
          </p:cNvPr>
          <p:cNvSpPr>
            <a:spLocks noGrp="1"/>
          </p:cNvSpPr>
          <p:nvPr>
            <p:ph type="dt" sz="half" idx="10"/>
          </p:nvPr>
        </p:nvSpPr>
        <p:spPr/>
        <p:txBody>
          <a:bodyPr/>
          <a:lstStyle/>
          <a:p>
            <a:fld id="{CEC83053-3D74-4D22-89B3-9024BA4F287F}" type="datetime1">
              <a:rPr lang="en-US" smtClean="0"/>
              <a:t>7/12/26</a:t>
            </a:fld>
            <a:endParaRPr lang="en-US"/>
          </a:p>
        </p:txBody>
      </p:sp>
      <p:sp>
        <p:nvSpPr>
          <p:cNvPr id="5" name="Footer Placeholder 4">
            <a:extLst>
              <a:ext uri="{FF2B5EF4-FFF2-40B4-BE49-F238E27FC236}">
                <a16:creationId xmlns:a16="http://schemas.microsoft.com/office/drawing/2014/main" id="{878AE0D2-BE66-FF45-B7B1-F69E22F06CE9}"/>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49FB4184-A60F-6246-8A9A-79DD6FECEA19}"/>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715104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A2D0B-A98C-6E4C-9A34-47981F0C23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55EE8E-C392-5E47-ADCB-A446128CAD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6B14B18-53C2-D548-8CFF-5D7097F07978}"/>
              </a:ext>
            </a:extLst>
          </p:cNvPr>
          <p:cNvSpPr>
            <a:spLocks noGrp="1"/>
          </p:cNvSpPr>
          <p:nvPr>
            <p:ph type="dt" sz="half" idx="10"/>
          </p:nvPr>
        </p:nvSpPr>
        <p:spPr/>
        <p:txBody>
          <a:bodyPr/>
          <a:lstStyle/>
          <a:p>
            <a:fld id="{37A6BCF6-84B7-49AA-A69F-35D95B9487C2}" type="datetime1">
              <a:rPr lang="en-US" smtClean="0"/>
              <a:t>7/12/26</a:t>
            </a:fld>
            <a:endParaRPr lang="en-US"/>
          </a:p>
        </p:txBody>
      </p:sp>
      <p:sp>
        <p:nvSpPr>
          <p:cNvPr id="5" name="Footer Placeholder 4">
            <a:extLst>
              <a:ext uri="{FF2B5EF4-FFF2-40B4-BE49-F238E27FC236}">
                <a16:creationId xmlns:a16="http://schemas.microsoft.com/office/drawing/2014/main" id="{1710654B-C8C3-F647-BDFC-BE54D2B2895E}"/>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BCD63980-622B-334C-9137-9A86615196EB}"/>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4006580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92288-ED8B-E34E-BAB6-1D26157B90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6AE68A-CA3F-9948-9F78-46C13FEE829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1E62E7-8BD2-264E-A470-F8E73C9D6FE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423621-D1A0-D241-B666-A457ACCAB3EB}"/>
              </a:ext>
            </a:extLst>
          </p:cNvPr>
          <p:cNvSpPr>
            <a:spLocks noGrp="1"/>
          </p:cNvSpPr>
          <p:nvPr>
            <p:ph type="dt" sz="half" idx="10"/>
          </p:nvPr>
        </p:nvSpPr>
        <p:spPr/>
        <p:txBody>
          <a:bodyPr/>
          <a:lstStyle/>
          <a:p>
            <a:fld id="{DFF119D7-9FF6-460F-A484-0C02884C819E}" type="datetime1">
              <a:rPr lang="en-US" smtClean="0"/>
              <a:t>7/12/26</a:t>
            </a:fld>
            <a:endParaRPr lang="en-US"/>
          </a:p>
        </p:txBody>
      </p:sp>
      <p:sp>
        <p:nvSpPr>
          <p:cNvPr id="6" name="Footer Placeholder 5">
            <a:extLst>
              <a:ext uri="{FF2B5EF4-FFF2-40B4-BE49-F238E27FC236}">
                <a16:creationId xmlns:a16="http://schemas.microsoft.com/office/drawing/2014/main" id="{D5769F7B-BD42-C44E-AA35-681E6A1C40A4}"/>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BA17368C-62E4-C243-98AE-B5BC9B4F3F09}"/>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3288102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8A85E-7345-A641-A78E-CFCE6B479C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EA13C7-3C24-DC40-8DAD-E16482E601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CF90715-8982-4245-AC34-4AFC280BDFC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4CC337-7A68-B44F-A75F-2EAED4C8CC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24BF17B-E9E2-5A4F-9564-4E8671A7A27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6DA4340-16C5-D64A-954E-D207165B5D6E}"/>
              </a:ext>
            </a:extLst>
          </p:cNvPr>
          <p:cNvSpPr>
            <a:spLocks noGrp="1"/>
          </p:cNvSpPr>
          <p:nvPr>
            <p:ph type="dt" sz="half" idx="10"/>
          </p:nvPr>
        </p:nvSpPr>
        <p:spPr/>
        <p:txBody>
          <a:bodyPr/>
          <a:lstStyle/>
          <a:p>
            <a:fld id="{00D3F2F9-9F59-4926-81E1-5AE7B5F13616}" type="datetime1">
              <a:rPr lang="en-US" smtClean="0"/>
              <a:t>7/12/26</a:t>
            </a:fld>
            <a:endParaRPr lang="en-US"/>
          </a:p>
        </p:txBody>
      </p:sp>
      <p:sp>
        <p:nvSpPr>
          <p:cNvPr id="8" name="Footer Placeholder 7">
            <a:extLst>
              <a:ext uri="{FF2B5EF4-FFF2-40B4-BE49-F238E27FC236}">
                <a16:creationId xmlns:a16="http://schemas.microsoft.com/office/drawing/2014/main" id="{5B44C0C9-507A-DC40-9896-CAA4CCBF98F5}"/>
              </a:ext>
            </a:extLst>
          </p:cNvPr>
          <p:cNvSpPr>
            <a:spLocks noGrp="1"/>
          </p:cNvSpPr>
          <p:nvPr>
            <p:ph type="ftr" sz="quarter" idx="11"/>
          </p:nvPr>
        </p:nvSpPr>
        <p:spPr/>
        <p:txBody>
          <a:bodyPr/>
          <a:lstStyle/>
          <a:p>
            <a:r>
              <a:rPr lang="en-US"/>
              <a:t>Dr. Ryan Ahmed @Stemplicity</a:t>
            </a:r>
          </a:p>
        </p:txBody>
      </p:sp>
      <p:sp>
        <p:nvSpPr>
          <p:cNvPr id="9" name="Slide Number Placeholder 8">
            <a:extLst>
              <a:ext uri="{FF2B5EF4-FFF2-40B4-BE49-F238E27FC236}">
                <a16:creationId xmlns:a16="http://schemas.microsoft.com/office/drawing/2014/main" id="{B4C3C304-57C8-6848-8E40-051A6BFA3F85}"/>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770995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31005-2F0C-3F41-8F0D-B94FF1E86A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6EC46B-9591-7147-B23E-808DFCDBEEE0}"/>
              </a:ext>
            </a:extLst>
          </p:cNvPr>
          <p:cNvSpPr>
            <a:spLocks noGrp="1"/>
          </p:cNvSpPr>
          <p:nvPr>
            <p:ph type="dt" sz="half" idx="10"/>
          </p:nvPr>
        </p:nvSpPr>
        <p:spPr/>
        <p:txBody>
          <a:bodyPr/>
          <a:lstStyle/>
          <a:p>
            <a:fld id="{2425E9FE-B00F-4787-941B-81F5C60BF956}" type="datetime1">
              <a:rPr lang="en-US" smtClean="0"/>
              <a:t>7/12/26</a:t>
            </a:fld>
            <a:endParaRPr lang="en-US"/>
          </a:p>
        </p:txBody>
      </p:sp>
      <p:sp>
        <p:nvSpPr>
          <p:cNvPr id="4" name="Footer Placeholder 3">
            <a:extLst>
              <a:ext uri="{FF2B5EF4-FFF2-40B4-BE49-F238E27FC236}">
                <a16:creationId xmlns:a16="http://schemas.microsoft.com/office/drawing/2014/main" id="{41A8438C-4B28-CC47-9F0D-D243C05972C5}"/>
              </a:ext>
            </a:extLst>
          </p:cNvPr>
          <p:cNvSpPr>
            <a:spLocks noGrp="1"/>
          </p:cNvSpPr>
          <p:nvPr>
            <p:ph type="ftr" sz="quarter" idx="11"/>
          </p:nvPr>
        </p:nvSpPr>
        <p:spPr/>
        <p:txBody>
          <a:bodyPr/>
          <a:lstStyle/>
          <a:p>
            <a:r>
              <a:rPr lang="en-US"/>
              <a:t>Dr. Ryan Ahmed @Stemplicity</a:t>
            </a:r>
          </a:p>
        </p:txBody>
      </p:sp>
      <p:sp>
        <p:nvSpPr>
          <p:cNvPr id="5" name="Slide Number Placeholder 4">
            <a:extLst>
              <a:ext uri="{FF2B5EF4-FFF2-40B4-BE49-F238E27FC236}">
                <a16:creationId xmlns:a16="http://schemas.microsoft.com/office/drawing/2014/main" id="{55C64186-1092-3244-AA0C-4F8C98ECF00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3357577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81ABCA-C9B4-2C4E-A11A-21473A2C36B2}"/>
              </a:ext>
            </a:extLst>
          </p:cNvPr>
          <p:cNvSpPr>
            <a:spLocks noGrp="1"/>
          </p:cNvSpPr>
          <p:nvPr>
            <p:ph type="dt" sz="half" idx="10"/>
          </p:nvPr>
        </p:nvSpPr>
        <p:spPr/>
        <p:txBody>
          <a:bodyPr/>
          <a:lstStyle/>
          <a:p>
            <a:fld id="{A83063A8-27AB-4485-9BAB-385A926DB554}" type="datetime1">
              <a:rPr lang="en-US" smtClean="0"/>
              <a:t>7/12/26</a:t>
            </a:fld>
            <a:endParaRPr lang="en-US"/>
          </a:p>
        </p:txBody>
      </p:sp>
      <p:sp>
        <p:nvSpPr>
          <p:cNvPr id="3" name="Footer Placeholder 2">
            <a:extLst>
              <a:ext uri="{FF2B5EF4-FFF2-40B4-BE49-F238E27FC236}">
                <a16:creationId xmlns:a16="http://schemas.microsoft.com/office/drawing/2014/main" id="{C628B611-5E83-0843-977C-16E1A2E894CA}"/>
              </a:ext>
            </a:extLst>
          </p:cNvPr>
          <p:cNvSpPr>
            <a:spLocks noGrp="1"/>
          </p:cNvSpPr>
          <p:nvPr>
            <p:ph type="ftr" sz="quarter" idx="11"/>
          </p:nvPr>
        </p:nvSpPr>
        <p:spPr/>
        <p:txBody>
          <a:bodyPr/>
          <a:lstStyle/>
          <a:p>
            <a:r>
              <a:rPr lang="en-US"/>
              <a:t>Dr. Ryan Ahmed @Stemplicity</a:t>
            </a:r>
          </a:p>
        </p:txBody>
      </p:sp>
      <p:sp>
        <p:nvSpPr>
          <p:cNvPr id="4" name="Slide Number Placeholder 3">
            <a:extLst>
              <a:ext uri="{FF2B5EF4-FFF2-40B4-BE49-F238E27FC236}">
                <a16:creationId xmlns:a16="http://schemas.microsoft.com/office/drawing/2014/main" id="{1A6D3613-5124-BA4D-9CAB-52053A73DB72}"/>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327342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D5775-3C65-984A-BA3D-74F6AA5404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876B8A-7DF2-254A-A58A-3F781F1A70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7C9F2F-598A-9444-B48C-6BA9400EF9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EFA619B-B04E-A94F-B294-EE523AB822EB}"/>
              </a:ext>
            </a:extLst>
          </p:cNvPr>
          <p:cNvSpPr>
            <a:spLocks noGrp="1"/>
          </p:cNvSpPr>
          <p:nvPr>
            <p:ph type="dt" sz="half" idx="10"/>
          </p:nvPr>
        </p:nvSpPr>
        <p:spPr/>
        <p:txBody>
          <a:bodyPr/>
          <a:lstStyle/>
          <a:p>
            <a:fld id="{B91EE9DF-0ED6-4B61-A1FD-8DD75280FE01}" type="datetime1">
              <a:rPr lang="en-US" smtClean="0"/>
              <a:t>7/12/26</a:t>
            </a:fld>
            <a:endParaRPr lang="en-US"/>
          </a:p>
        </p:txBody>
      </p:sp>
      <p:sp>
        <p:nvSpPr>
          <p:cNvPr id="6" name="Footer Placeholder 5">
            <a:extLst>
              <a:ext uri="{FF2B5EF4-FFF2-40B4-BE49-F238E27FC236}">
                <a16:creationId xmlns:a16="http://schemas.microsoft.com/office/drawing/2014/main" id="{F218418F-6D05-564F-ACAC-0CE18B415C47}"/>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2652FA7B-E334-F841-9F55-8FE3994F670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547199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20FD-C21B-F942-933E-C7F1539AEB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0509F0-CB84-8346-88EC-B60FAB2391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2B07D7-B626-4245-8DB7-641F9BE45C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9192CF3-BF8E-CC45-AFD1-29BF788849AD}"/>
              </a:ext>
            </a:extLst>
          </p:cNvPr>
          <p:cNvSpPr>
            <a:spLocks noGrp="1"/>
          </p:cNvSpPr>
          <p:nvPr>
            <p:ph type="dt" sz="half" idx="10"/>
          </p:nvPr>
        </p:nvSpPr>
        <p:spPr/>
        <p:txBody>
          <a:bodyPr/>
          <a:lstStyle/>
          <a:p>
            <a:fld id="{0C6B4C01-5047-4D04-A79D-6D96B1DB76E2}" type="datetime1">
              <a:rPr lang="en-US" smtClean="0"/>
              <a:t>7/12/26</a:t>
            </a:fld>
            <a:endParaRPr lang="en-US"/>
          </a:p>
        </p:txBody>
      </p:sp>
      <p:sp>
        <p:nvSpPr>
          <p:cNvPr id="6" name="Footer Placeholder 5">
            <a:extLst>
              <a:ext uri="{FF2B5EF4-FFF2-40B4-BE49-F238E27FC236}">
                <a16:creationId xmlns:a16="http://schemas.microsoft.com/office/drawing/2014/main" id="{91BEEA5E-B447-2945-A61F-23F43D1BAE5F}"/>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4E03110A-1EF4-4E47-BC27-95CCC22DB031}"/>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4041563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94858-278B-D14B-9123-9451D8F7BB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98E07C-511F-3A43-84A6-1011012918C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B27FEB-35FC-E245-9B8A-12B959651942}"/>
              </a:ext>
            </a:extLst>
          </p:cNvPr>
          <p:cNvSpPr>
            <a:spLocks noGrp="1"/>
          </p:cNvSpPr>
          <p:nvPr>
            <p:ph type="dt" sz="half" idx="10"/>
          </p:nvPr>
        </p:nvSpPr>
        <p:spPr/>
        <p:txBody>
          <a:bodyPr/>
          <a:lstStyle/>
          <a:p>
            <a:fld id="{2050BBC8-E478-43C9-A4F1-EDD4F72015DC}" type="datetime1">
              <a:rPr lang="en-US" smtClean="0"/>
              <a:t>7/12/26</a:t>
            </a:fld>
            <a:endParaRPr lang="en-US"/>
          </a:p>
        </p:txBody>
      </p:sp>
      <p:sp>
        <p:nvSpPr>
          <p:cNvPr id="5" name="Footer Placeholder 4">
            <a:extLst>
              <a:ext uri="{FF2B5EF4-FFF2-40B4-BE49-F238E27FC236}">
                <a16:creationId xmlns:a16="http://schemas.microsoft.com/office/drawing/2014/main" id="{06777081-9459-C64F-895D-A9A37C0D0BB7}"/>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1FAC1E24-D886-5444-8983-468379B78FD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66370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7F08AD-56F2-8141-B3EC-B0792780C2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A58ED-0A7F-F541-B86D-470505704EB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82861A-7351-3846-BCB0-C5618DA092CE}"/>
              </a:ext>
            </a:extLst>
          </p:cNvPr>
          <p:cNvSpPr>
            <a:spLocks noGrp="1"/>
          </p:cNvSpPr>
          <p:nvPr>
            <p:ph type="dt" sz="half" idx="10"/>
          </p:nvPr>
        </p:nvSpPr>
        <p:spPr/>
        <p:txBody>
          <a:bodyPr/>
          <a:lstStyle/>
          <a:p>
            <a:fld id="{04321BB6-29D9-437A-B4EB-C48447ACC5C8}" type="datetime1">
              <a:rPr lang="en-US" smtClean="0"/>
              <a:t>7/12/26</a:t>
            </a:fld>
            <a:endParaRPr lang="en-US"/>
          </a:p>
        </p:txBody>
      </p:sp>
      <p:sp>
        <p:nvSpPr>
          <p:cNvPr id="5" name="Footer Placeholder 4">
            <a:extLst>
              <a:ext uri="{FF2B5EF4-FFF2-40B4-BE49-F238E27FC236}">
                <a16:creationId xmlns:a16="http://schemas.microsoft.com/office/drawing/2014/main" id="{BAA1FD98-D553-4C46-941B-9CF2C56A19FE}"/>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BABD676D-8472-4F4A-A337-CF5E8C495173}"/>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977303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B070BF-9A90-A245-B77A-28DCF3E4E9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9F1332-889D-FA43-A51D-33C48B35BB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27FC81-D9EE-0347-B9BA-8E603587AC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729903-C382-4170-95C6-7F2CD4702B84}" type="datetime1">
              <a:rPr lang="en-US" smtClean="0"/>
              <a:t>7/12/26</a:t>
            </a:fld>
            <a:endParaRPr lang="en-US"/>
          </a:p>
        </p:txBody>
      </p:sp>
      <p:sp>
        <p:nvSpPr>
          <p:cNvPr id="5" name="Footer Placeholder 4">
            <a:extLst>
              <a:ext uri="{FF2B5EF4-FFF2-40B4-BE49-F238E27FC236}">
                <a16:creationId xmlns:a16="http://schemas.microsoft.com/office/drawing/2014/main" id="{F7CC4954-DDAB-064F-B985-8986B1132B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Ryan Ahmed @Stemplicity</a:t>
            </a:r>
          </a:p>
        </p:txBody>
      </p:sp>
      <p:sp>
        <p:nvSpPr>
          <p:cNvPr id="6" name="Slide Number Placeholder 5">
            <a:extLst>
              <a:ext uri="{FF2B5EF4-FFF2-40B4-BE49-F238E27FC236}">
                <a16:creationId xmlns:a16="http://schemas.microsoft.com/office/drawing/2014/main" id="{E670476A-2C89-5D4A-A893-BDE0768995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AA372C-9768-B740-91C6-444FA6615483}" type="slidenum">
              <a:rPr lang="en-US" smtClean="0"/>
              <a:t>‹#›</a:t>
            </a:fld>
            <a:endParaRPr lang="en-US"/>
          </a:p>
        </p:txBody>
      </p:sp>
    </p:spTree>
    <p:extLst>
      <p:ext uri="{BB962C8B-B14F-4D97-AF65-F5344CB8AC3E}">
        <p14:creationId xmlns:p14="http://schemas.microsoft.com/office/powerpoint/2010/main" val="259871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png"/><Relationship Id="rId7" Type="http://schemas.openxmlformats.org/officeDocument/2006/relationships/diagramColors" Target="../diagrams/colors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9.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png"/><Relationship Id="rId7" Type="http://schemas.openxmlformats.org/officeDocument/2006/relationships/diagramColors" Target="../diagrams/colors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indeed.com/cmp/Lattice-6/jobs?jk=5e803e3e68aeb306&amp;start=0"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www.indeed.com/jobs?q=ai+researcher&amp;l=&amp;from=searchOnDesktopSerp&amp;vjk=a38bbe0988da5717"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www.indeed.com/jobs?q=data+scientist&amp;l=&amp;from=searchOnDesktopSerp%2Cwhatautocomplete%2CwhatautocompleteSourceStandard&amp;vjk=28a94977251f9247" TargetMode="Externa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www.indeed.com/jobs?q=data+engineer&amp;l=&amp;from=searchOnDesktopSerp&amp;vjk=c6e68d6152bab6fb&amp;advn=7114382197951501" TargetMode="Externa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2.png"/><Relationship Id="rId7" Type="http://schemas.openxmlformats.org/officeDocument/2006/relationships/diagramColors" Target="../diagrams/colors8.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2.png"/><Relationship Id="rId7" Type="http://schemas.openxmlformats.org/officeDocument/2006/relationships/diagramColors" Target="../diagrams/colors9.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8" Type="http://schemas.openxmlformats.org/officeDocument/2006/relationships/hyperlink" Target="https://framework.scaledagile.com/#essential" TargetMode="External"/><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2.png"/><Relationship Id="rId7" Type="http://schemas.openxmlformats.org/officeDocument/2006/relationships/diagramColors" Target="../diagrams/colors12.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68.xml.rels><?xml version="1.0" encoding="UTF-8" standalone="yes"?>
<Relationships xmlns="http://schemas.openxmlformats.org/package/2006/relationships"><Relationship Id="rId8" Type="http://schemas.microsoft.com/office/2007/relationships/diagramDrawing" Target="../diagrams/drawing13.xml"/><Relationship Id="rId3" Type="http://schemas.openxmlformats.org/officeDocument/2006/relationships/image" Target="../media/image2.png"/><Relationship Id="rId7" Type="http://schemas.openxmlformats.org/officeDocument/2006/relationships/diagramColors" Target="../diagrams/colors13.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QuickStyle" Target="../diagrams/quickStyle13.xml"/><Relationship Id="rId5" Type="http://schemas.openxmlformats.org/officeDocument/2006/relationships/diagramLayout" Target="../diagrams/layout13.xml"/><Relationship Id="rId4" Type="http://schemas.openxmlformats.org/officeDocument/2006/relationships/diagramData" Target="../diagrams/data13.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s://www.forbes.com/sites/katharinabuchholz/2024/08/23/the-extreme-cost-of-training-ai-models/"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8" Type="http://schemas.microsoft.com/office/2007/relationships/diagramDrawing" Target="../diagrams/drawing14.xml"/><Relationship Id="rId3" Type="http://schemas.openxmlformats.org/officeDocument/2006/relationships/image" Target="../media/image14.png"/><Relationship Id="rId7" Type="http://schemas.openxmlformats.org/officeDocument/2006/relationships/diagramColors" Target="../diagrams/colors14.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QuickStyle" Target="../diagrams/quickStyle14.xml"/><Relationship Id="rId5" Type="http://schemas.openxmlformats.org/officeDocument/2006/relationships/diagramLayout" Target="../diagrams/layout14.xml"/><Relationship Id="rId4" Type="http://schemas.openxmlformats.org/officeDocument/2006/relationships/diagramData" Target="../diagrams/data1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AF529F-B86A-83C8-478E-307AC30917EC}"/>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8C403872-6FAD-0F11-5844-575593A583D8}"/>
              </a:ext>
            </a:extLst>
          </p:cNvPr>
          <p:cNvSpPr/>
          <p:nvPr/>
        </p:nvSpPr>
        <p:spPr>
          <a:xfrm>
            <a:off x="293914" y="83563"/>
            <a:ext cx="6477822" cy="2554545"/>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AI PROJECT MANAGEMENT, INCEPTION AND PLANNING</a:t>
            </a:r>
          </a:p>
        </p:txBody>
      </p:sp>
    </p:spTree>
    <p:extLst>
      <p:ext uri="{BB962C8B-B14F-4D97-AF65-F5344CB8AC3E}">
        <p14:creationId xmlns:p14="http://schemas.microsoft.com/office/powerpoint/2010/main" val="2270711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1B7DB-BCBE-A828-1B29-59CE5F636A5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0A00F3E-34E9-EDA7-FF70-CABCEB35A8F1}"/>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3DFC6366-2BB7-A9D3-A415-8E7549D97677}"/>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0E58780E-F02C-56A3-8190-61E4FCAF2B2A}"/>
              </a:ext>
            </a:extLst>
          </p:cNvPr>
          <p:cNvSpPr/>
          <p:nvPr/>
        </p:nvSpPr>
        <p:spPr>
          <a:xfrm>
            <a:off x="293914" y="793804"/>
            <a:ext cx="5578566" cy="707886"/>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MODULE AGENDA</a:t>
            </a:r>
          </a:p>
        </p:txBody>
      </p:sp>
    </p:spTree>
    <p:extLst>
      <p:ext uri="{BB962C8B-B14F-4D97-AF65-F5344CB8AC3E}">
        <p14:creationId xmlns:p14="http://schemas.microsoft.com/office/powerpoint/2010/main" val="2266313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655F7-D3CE-503A-06B0-415EBF4A470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44BE74D-72DE-1ECA-0B68-A8F5C0DF6356}"/>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DF172E0F-F674-1396-8D50-B98BB01F2670}"/>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Module Agenda</a:t>
            </a:r>
          </a:p>
        </p:txBody>
      </p:sp>
      <p:sp>
        <p:nvSpPr>
          <p:cNvPr id="8" name="Content Placeholder 2">
            <a:extLst>
              <a:ext uri="{FF2B5EF4-FFF2-40B4-BE49-F238E27FC236}">
                <a16:creationId xmlns:a16="http://schemas.microsoft.com/office/drawing/2014/main" id="{E7468BAF-A973-AA5C-D975-66C02CF521C8}"/>
              </a:ext>
            </a:extLst>
          </p:cNvPr>
          <p:cNvSpPr>
            <a:spLocks noGrp="1"/>
          </p:cNvSpPr>
          <p:nvPr>
            <p:ph idx="1"/>
          </p:nvPr>
        </p:nvSpPr>
        <p:spPr>
          <a:xfrm>
            <a:off x="378242" y="907669"/>
            <a:ext cx="10198759" cy="5228971"/>
          </a:xfrm>
        </p:spPr>
        <p:txBody>
          <a:bodyPr>
            <a:normAutofit/>
          </a:bodyPr>
          <a:lstStyle/>
          <a:p>
            <a:pPr>
              <a:buClr>
                <a:srgbClr val="1BBFD1"/>
              </a:buClr>
            </a:pPr>
            <a:r>
              <a:rPr lang="en-US" sz="1800" dirty="0">
                <a:latin typeface="Montserrat" panose="00000500000000000000" pitchFamily="2" charset="0"/>
              </a:rPr>
              <a:t>Defining AI Project Vision</a:t>
            </a:r>
          </a:p>
          <a:p>
            <a:pPr>
              <a:buClr>
                <a:srgbClr val="1BBFD1"/>
              </a:buClr>
            </a:pPr>
            <a:r>
              <a:rPr lang="en-US" sz="1800" dirty="0">
                <a:latin typeface="Montserrat" panose="00000500000000000000" pitchFamily="2" charset="0"/>
              </a:rPr>
              <a:t>Performing a Feasibility assessment &amp; defining the Scope</a:t>
            </a:r>
          </a:p>
          <a:p>
            <a:pPr>
              <a:buClr>
                <a:srgbClr val="1BBFD1"/>
              </a:buClr>
            </a:pPr>
            <a:r>
              <a:rPr lang="en-US" sz="1800" dirty="0">
                <a:latin typeface="Montserrat" panose="00000500000000000000" pitchFamily="2" charset="0"/>
              </a:rPr>
              <a:t>AI Project Metrics – Model, System, &amp; Business</a:t>
            </a:r>
          </a:p>
          <a:p>
            <a:pPr>
              <a:buClr>
                <a:srgbClr val="1BBFD1"/>
              </a:buClr>
            </a:pPr>
            <a:r>
              <a:rPr lang="en-US" sz="1800" dirty="0">
                <a:latin typeface="Montserrat" panose="00000500000000000000" pitchFamily="2" charset="0"/>
              </a:rPr>
              <a:t>Defining SMART Goals</a:t>
            </a:r>
          </a:p>
          <a:p>
            <a:pPr>
              <a:buClr>
                <a:srgbClr val="1BBFD1"/>
              </a:buClr>
            </a:pPr>
            <a:r>
              <a:rPr lang="en-US" sz="1800" dirty="0">
                <a:latin typeface="Montserrat" panose="00000500000000000000" pitchFamily="2" charset="0"/>
              </a:rPr>
              <a:t>Key Stakeholders, Roles and Responsibilities in AI Projects</a:t>
            </a:r>
          </a:p>
          <a:p>
            <a:pPr>
              <a:buClr>
                <a:srgbClr val="1BBFD1"/>
              </a:buClr>
            </a:pPr>
            <a:r>
              <a:rPr lang="en-US" sz="1800" dirty="0">
                <a:latin typeface="Montserrat" panose="00000500000000000000" pitchFamily="2" charset="0"/>
              </a:rPr>
              <a:t>Differences between Agile and Waterfall development</a:t>
            </a:r>
          </a:p>
          <a:p>
            <a:pPr>
              <a:buClr>
                <a:srgbClr val="1BBFD1"/>
              </a:buClr>
            </a:pPr>
            <a:r>
              <a:rPr lang="en-US" sz="1800" dirty="0">
                <a:latin typeface="Montserrat" panose="00000500000000000000" pitchFamily="2" charset="0"/>
              </a:rPr>
              <a:t>Scaled Agile Framework (SAFe)</a:t>
            </a:r>
          </a:p>
          <a:p>
            <a:pPr>
              <a:buClr>
                <a:srgbClr val="1BBFD1"/>
              </a:buClr>
            </a:pPr>
            <a:r>
              <a:rPr lang="en-US" sz="1800" dirty="0">
                <a:latin typeface="Montserrat" panose="00000500000000000000" pitchFamily="2" charset="0"/>
              </a:rPr>
              <a:t>Key Success Ingredients for AI Projects</a:t>
            </a:r>
          </a:p>
          <a:p>
            <a:pPr>
              <a:buClr>
                <a:srgbClr val="1BBFD1"/>
              </a:buClr>
            </a:pPr>
            <a:r>
              <a:rPr lang="en-US" sz="1800" dirty="0">
                <a:latin typeface="Montserrat" panose="00000500000000000000" pitchFamily="2" charset="0"/>
              </a:rPr>
              <a:t>Risks and Management Strategies</a:t>
            </a:r>
          </a:p>
          <a:p>
            <a:pPr>
              <a:buClr>
                <a:srgbClr val="1BBFD1"/>
              </a:buClr>
            </a:pPr>
            <a:r>
              <a:rPr lang="en-US" sz="1800" dirty="0">
                <a:latin typeface="Montserrat" panose="00000500000000000000" pitchFamily="2" charset="0"/>
              </a:rPr>
              <a:t>Budgeting and resource allocation </a:t>
            </a:r>
          </a:p>
          <a:p>
            <a:pPr>
              <a:buClr>
                <a:srgbClr val="1BBFD1"/>
              </a:buClr>
            </a:pPr>
            <a:endParaRPr lang="en-US" sz="1800" dirty="0">
              <a:latin typeface="Montserrat" panose="00000500000000000000" pitchFamily="2" charset="0"/>
            </a:endParaRPr>
          </a:p>
          <a:p>
            <a:pPr>
              <a:buClr>
                <a:srgbClr val="1BBFD1"/>
              </a:buClr>
            </a:pPr>
            <a:endParaRPr lang="en-US" sz="1800" dirty="0">
              <a:latin typeface="Montserrat" panose="00000500000000000000" pitchFamily="2" charset="0"/>
            </a:endParaRPr>
          </a:p>
        </p:txBody>
      </p:sp>
    </p:spTree>
    <p:extLst>
      <p:ext uri="{BB962C8B-B14F-4D97-AF65-F5344CB8AC3E}">
        <p14:creationId xmlns:p14="http://schemas.microsoft.com/office/powerpoint/2010/main" val="3419506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ECF56-85DB-88AC-6571-D53C907C06D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EF56111-AD76-C820-065C-D32408C40A6B}"/>
              </a:ext>
            </a:extLst>
          </p:cNvPr>
          <p:cNvPicPr>
            <a:picLocks noChangeAspect="1"/>
          </p:cNvPicPr>
          <p:nvPr/>
        </p:nvPicPr>
        <p:blipFill>
          <a:blip r:embed="rId2"/>
          <a:stretch>
            <a:fillRect/>
          </a:stretch>
        </p:blipFill>
        <p:spPr>
          <a:xfrm>
            <a:off x="-32773" y="0"/>
            <a:ext cx="12224773" cy="6858000"/>
          </a:xfrm>
          <a:prstGeom prst="rect">
            <a:avLst/>
          </a:prstGeom>
        </p:spPr>
      </p:pic>
      <p:sp>
        <p:nvSpPr>
          <p:cNvPr id="7" name="Прямоугольник 9">
            <a:extLst>
              <a:ext uri="{FF2B5EF4-FFF2-40B4-BE49-F238E27FC236}">
                <a16:creationId xmlns:a16="http://schemas.microsoft.com/office/drawing/2014/main" id="{83D32C2A-BD55-CD88-E7D8-6E67D0286D61}"/>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Recall the AI Project lifecycle</a:t>
            </a:r>
          </a:p>
        </p:txBody>
      </p:sp>
      <p:graphicFrame>
        <p:nvGraphicFramePr>
          <p:cNvPr id="10" name="Diagram 9">
            <a:extLst>
              <a:ext uri="{FF2B5EF4-FFF2-40B4-BE49-F238E27FC236}">
                <a16:creationId xmlns:a16="http://schemas.microsoft.com/office/drawing/2014/main" id="{C65080F0-ED25-E77E-8DA9-FE89885DF11F}"/>
              </a:ext>
            </a:extLst>
          </p:cNvPr>
          <p:cNvGraphicFramePr/>
          <p:nvPr/>
        </p:nvGraphicFramePr>
        <p:xfrm>
          <a:off x="263105" y="-396752"/>
          <a:ext cx="11623113" cy="61801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Rectangle: Rounded Corners 1">
            <a:extLst>
              <a:ext uri="{FF2B5EF4-FFF2-40B4-BE49-F238E27FC236}">
                <a16:creationId xmlns:a16="http://schemas.microsoft.com/office/drawing/2014/main" id="{C6A1FD15-6775-B77B-B95D-A822029D5FF3}"/>
              </a:ext>
            </a:extLst>
          </p:cNvPr>
          <p:cNvSpPr/>
          <p:nvPr/>
        </p:nvSpPr>
        <p:spPr>
          <a:xfrm>
            <a:off x="206800" y="1380226"/>
            <a:ext cx="1677418" cy="5253487"/>
          </a:xfrm>
          <a:prstGeom prst="roundRect">
            <a:avLst/>
          </a:prstGeom>
          <a:noFill/>
          <a:ln w="76200">
            <a:solidFill>
              <a:srgbClr val="0C175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noFill/>
            </a:endParaRPr>
          </a:p>
        </p:txBody>
      </p:sp>
      <p:sp>
        <p:nvSpPr>
          <p:cNvPr id="3" name="TextBox 2">
            <a:extLst>
              <a:ext uri="{FF2B5EF4-FFF2-40B4-BE49-F238E27FC236}">
                <a16:creationId xmlns:a16="http://schemas.microsoft.com/office/drawing/2014/main" id="{AD4B6236-9641-88D5-EA7B-C1DCFB998A21}"/>
              </a:ext>
            </a:extLst>
          </p:cNvPr>
          <p:cNvSpPr txBox="1"/>
          <p:nvPr/>
        </p:nvSpPr>
        <p:spPr>
          <a:xfrm>
            <a:off x="154722" y="898612"/>
            <a:ext cx="1680268" cy="461665"/>
          </a:xfrm>
          <a:prstGeom prst="rect">
            <a:avLst/>
          </a:prstGeom>
          <a:noFill/>
        </p:spPr>
        <p:txBody>
          <a:bodyPr wrap="none" rtlCol="0">
            <a:spAutoFit/>
          </a:bodyPr>
          <a:lstStyle/>
          <a:p>
            <a:r>
              <a:rPr lang="en-CA" sz="2400" dirty="0">
                <a:solidFill>
                  <a:srgbClr val="0C1752"/>
                </a:solidFill>
                <a:latin typeface="Montserrat" panose="00000500000000000000" pitchFamily="2" charset="0"/>
              </a:rPr>
              <a:t>Our focus</a:t>
            </a:r>
          </a:p>
        </p:txBody>
      </p:sp>
    </p:spTree>
    <p:extLst>
      <p:ext uri="{BB962C8B-B14F-4D97-AF65-F5344CB8AC3E}">
        <p14:creationId xmlns:p14="http://schemas.microsoft.com/office/powerpoint/2010/main" val="49739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graphicEl>
                                              <a:dgm id="{AC2D6AEA-9B05-42E9-A026-B81090D337F0}"/>
                                            </p:graphicEl>
                                          </p:spTgt>
                                        </p:tgtEl>
                                        <p:attrNameLst>
                                          <p:attrName>style.visibility</p:attrName>
                                        </p:attrNameLst>
                                      </p:cBhvr>
                                      <p:to>
                                        <p:strVal val="visible"/>
                                      </p:to>
                                    </p:set>
                                    <p:animEffect transition="in" filter="fade">
                                      <p:cBhvr>
                                        <p:cTn id="7" dur="500"/>
                                        <p:tgtEl>
                                          <p:spTgt spid="10">
                                            <p:graphicEl>
                                              <a:dgm id="{AC2D6AEA-9B05-42E9-A026-B81090D337F0}"/>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graphicEl>
                                              <a:dgm id="{A5197BF8-3E74-4E92-90E4-3E2E45C5C2A3}"/>
                                            </p:graphicEl>
                                          </p:spTgt>
                                        </p:tgtEl>
                                        <p:attrNameLst>
                                          <p:attrName>style.visibility</p:attrName>
                                        </p:attrNameLst>
                                      </p:cBhvr>
                                      <p:to>
                                        <p:strVal val="visible"/>
                                      </p:to>
                                    </p:set>
                                    <p:animEffect transition="in" filter="fade">
                                      <p:cBhvr>
                                        <p:cTn id="10" dur="500"/>
                                        <p:tgtEl>
                                          <p:spTgt spid="10">
                                            <p:graphicEl>
                                              <a:dgm id="{A5197BF8-3E74-4E92-90E4-3E2E45C5C2A3}"/>
                                            </p:graphic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graphicEl>
                                              <a:dgm id="{5D5D9AB6-EEDD-4BD3-977C-305469BA0261}"/>
                                            </p:graphicEl>
                                          </p:spTgt>
                                        </p:tgtEl>
                                        <p:attrNameLst>
                                          <p:attrName>style.visibility</p:attrName>
                                        </p:attrNameLst>
                                      </p:cBhvr>
                                      <p:to>
                                        <p:strVal val="visible"/>
                                      </p:to>
                                    </p:set>
                                    <p:animEffect transition="in" filter="fade">
                                      <p:cBhvr>
                                        <p:cTn id="13" dur="500"/>
                                        <p:tgtEl>
                                          <p:spTgt spid="10">
                                            <p:graphicEl>
                                              <a:dgm id="{5D5D9AB6-EEDD-4BD3-977C-305469BA0261}"/>
                                            </p:graphic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graphicEl>
                                              <a:dgm id="{A33D4270-609E-4AA3-8271-F23E953621C9}"/>
                                            </p:graphicEl>
                                          </p:spTgt>
                                        </p:tgtEl>
                                        <p:attrNameLst>
                                          <p:attrName>style.visibility</p:attrName>
                                        </p:attrNameLst>
                                      </p:cBhvr>
                                      <p:to>
                                        <p:strVal val="visible"/>
                                      </p:to>
                                    </p:set>
                                    <p:animEffect transition="in" filter="fade">
                                      <p:cBhvr>
                                        <p:cTn id="18" dur="500"/>
                                        <p:tgtEl>
                                          <p:spTgt spid="10">
                                            <p:graphicEl>
                                              <a:dgm id="{A33D4270-609E-4AA3-8271-F23E953621C9}"/>
                                            </p:graphic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graphicEl>
                                              <a:dgm id="{ED2C80C3-84F6-4288-A9C8-4B9770720D7E}"/>
                                            </p:graphicEl>
                                          </p:spTgt>
                                        </p:tgtEl>
                                        <p:attrNameLst>
                                          <p:attrName>style.visibility</p:attrName>
                                        </p:attrNameLst>
                                      </p:cBhvr>
                                      <p:to>
                                        <p:strVal val="visible"/>
                                      </p:to>
                                    </p:set>
                                    <p:animEffect transition="in" filter="fade">
                                      <p:cBhvr>
                                        <p:cTn id="21" dur="500"/>
                                        <p:tgtEl>
                                          <p:spTgt spid="10">
                                            <p:graphicEl>
                                              <a:dgm id="{ED2C80C3-84F6-4288-A9C8-4B9770720D7E}"/>
                                            </p:graphic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graphicEl>
                                              <a:dgm id="{855DD54A-DED1-4D82-A0BC-A3D0CAA2A87F}"/>
                                            </p:graphicEl>
                                          </p:spTgt>
                                        </p:tgtEl>
                                        <p:attrNameLst>
                                          <p:attrName>style.visibility</p:attrName>
                                        </p:attrNameLst>
                                      </p:cBhvr>
                                      <p:to>
                                        <p:strVal val="visible"/>
                                      </p:to>
                                    </p:set>
                                    <p:animEffect transition="in" filter="fade">
                                      <p:cBhvr>
                                        <p:cTn id="24" dur="500"/>
                                        <p:tgtEl>
                                          <p:spTgt spid="10">
                                            <p:graphicEl>
                                              <a:dgm id="{855DD54A-DED1-4D82-A0BC-A3D0CAA2A87F}"/>
                                            </p:graphic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graphicEl>
                                              <a:dgm id="{3D738D62-8D5E-4D03-AD82-3EB35A4AAC42}"/>
                                            </p:graphicEl>
                                          </p:spTgt>
                                        </p:tgtEl>
                                        <p:attrNameLst>
                                          <p:attrName>style.visibility</p:attrName>
                                        </p:attrNameLst>
                                      </p:cBhvr>
                                      <p:to>
                                        <p:strVal val="visible"/>
                                      </p:to>
                                    </p:set>
                                    <p:animEffect transition="in" filter="fade">
                                      <p:cBhvr>
                                        <p:cTn id="29" dur="500"/>
                                        <p:tgtEl>
                                          <p:spTgt spid="10">
                                            <p:graphicEl>
                                              <a:dgm id="{3D738D62-8D5E-4D03-AD82-3EB35A4AAC42}"/>
                                            </p:graphic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
                                            <p:graphicEl>
                                              <a:dgm id="{51165B95-C9C3-4A89-8576-34A9B69B97F0}"/>
                                            </p:graphicEl>
                                          </p:spTgt>
                                        </p:tgtEl>
                                        <p:attrNameLst>
                                          <p:attrName>style.visibility</p:attrName>
                                        </p:attrNameLst>
                                      </p:cBhvr>
                                      <p:to>
                                        <p:strVal val="visible"/>
                                      </p:to>
                                    </p:set>
                                    <p:animEffect transition="in" filter="fade">
                                      <p:cBhvr>
                                        <p:cTn id="32" dur="500"/>
                                        <p:tgtEl>
                                          <p:spTgt spid="10">
                                            <p:graphicEl>
                                              <a:dgm id="{51165B95-C9C3-4A89-8576-34A9B69B97F0}"/>
                                            </p:graphic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0">
                                            <p:graphicEl>
                                              <a:dgm id="{D9489394-1C97-401A-8FE3-A80068DDF909}"/>
                                            </p:graphicEl>
                                          </p:spTgt>
                                        </p:tgtEl>
                                        <p:attrNameLst>
                                          <p:attrName>style.visibility</p:attrName>
                                        </p:attrNameLst>
                                      </p:cBhvr>
                                      <p:to>
                                        <p:strVal val="visible"/>
                                      </p:to>
                                    </p:set>
                                    <p:animEffect transition="in" filter="fade">
                                      <p:cBhvr>
                                        <p:cTn id="35" dur="500"/>
                                        <p:tgtEl>
                                          <p:spTgt spid="10">
                                            <p:graphicEl>
                                              <a:dgm id="{D9489394-1C97-401A-8FE3-A80068DDF909}"/>
                                            </p:graphic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0">
                                            <p:graphicEl>
                                              <a:dgm id="{6AEE8688-6329-4DE1-BA4F-B5954E8ECF79}"/>
                                            </p:graphicEl>
                                          </p:spTgt>
                                        </p:tgtEl>
                                        <p:attrNameLst>
                                          <p:attrName>style.visibility</p:attrName>
                                        </p:attrNameLst>
                                      </p:cBhvr>
                                      <p:to>
                                        <p:strVal val="visible"/>
                                      </p:to>
                                    </p:set>
                                    <p:animEffect transition="in" filter="fade">
                                      <p:cBhvr>
                                        <p:cTn id="40" dur="500"/>
                                        <p:tgtEl>
                                          <p:spTgt spid="10">
                                            <p:graphicEl>
                                              <a:dgm id="{6AEE8688-6329-4DE1-BA4F-B5954E8ECF79}"/>
                                            </p:graphic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0">
                                            <p:graphicEl>
                                              <a:dgm id="{DF897D56-0D3C-45BE-AC53-5C3B54B37B4E}"/>
                                            </p:graphicEl>
                                          </p:spTgt>
                                        </p:tgtEl>
                                        <p:attrNameLst>
                                          <p:attrName>style.visibility</p:attrName>
                                        </p:attrNameLst>
                                      </p:cBhvr>
                                      <p:to>
                                        <p:strVal val="visible"/>
                                      </p:to>
                                    </p:set>
                                    <p:animEffect transition="in" filter="fade">
                                      <p:cBhvr>
                                        <p:cTn id="43" dur="500"/>
                                        <p:tgtEl>
                                          <p:spTgt spid="10">
                                            <p:graphicEl>
                                              <a:dgm id="{DF897D56-0D3C-45BE-AC53-5C3B54B37B4E}"/>
                                            </p:graphic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0">
                                            <p:graphicEl>
                                              <a:dgm id="{9B7C5D4A-61CF-4DD5-8253-969280031ABA}"/>
                                            </p:graphicEl>
                                          </p:spTgt>
                                        </p:tgtEl>
                                        <p:attrNameLst>
                                          <p:attrName>style.visibility</p:attrName>
                                        </p:attrNameLst>
                                      </p:cBhvr>
                                      <p:to>
                                        <p:strVal val="visible"/>
                                      </p:to>
                                    </p:set>
                                    <p:animEffect transition="in" filter="fade">
                                      <p:cBhvr>
                                        <p:cTn id="46" dur="500"/>
                                        <p:tgtEl>
                                          <p:spTgt spid="10">
                                            <p:graphicEl>
                                              <a:dgm id="{9B7C5D4A-61CF-4DD5-8253-969280031ABA}"/>
                                            </p:graphic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0">
                                            <p:graphicEl>
                                              <a:dgm id="{72DC2A12-A0E1-412E-AAF6-0B15046421EA}"/>
                                            </p:graphicEl>
                                          </p:spTgt>
                                        </p:tgtEl>
                                        <p:attrNameLst>
                                          <p:attrName>style.visibility</p:attrName>
                                        </p:attrNameLst>
                                      </p:cBhvr>
                                      <p:to>
                                        <p:strVal val="visible"/>
                                      </p:to>
                                    </p:set>
                                    <p:animEffect transition="in" filter="fade">
                                      <p:cBhvr>
                                        <p:cTn id="51" dur="500"/>
                                        <p:tgtEl>
                                          <p:spTgt spid="10">
                                            <p:graphicEl>
                                              <a:dgm id="{72DC2A12-A0E1-412E-AAF6-0B15046421EA}"/>
                                            </p:graphicEl>
                                          </p:spTgt>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0">
                                            <p:graphicEl>
                                              <a:dgm id="{FDD45974-4D89-4002-89CF-37647622E151}"/>
                                            </p:graphicEl>
                                          </p:spTgt>
                                        </p:tgtEl>
                                        <p:attrNameLst>
                                          <p:attrName>style.visibility</p:attrName>
                                        </p:attrNameLst>
                                      </p:cBhvr>
                                      <p:to>
                                        <p:strVal val="visible"/>
                                      </p:to>
                                    </p:set>
                                    <p:animEffect transition="in" filter="fade">
                                      <p:cBhvr>
                                        <p:cTn id="54" dur="500"/>
                                        <p:tgtEl>
                                          <p:spTgt spid="10">
                                            <p:graphicEl>
                                              <a:dgm id="{FDD45974-4D89-4002-89CF-37647622E151}"/>
                                            </p:graphic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0">
                                            <p:graphicEl>
                                              <a:dgm id="{383A5A5E-4524-4B31-93A4-3452ED550E07}"/>
                                            </p:graphicEl>
                                          </p:spTgt>
                                        </p:tgtEl>
                                        <p:attrNameLst>
                                          <p:attrName>style.visibility</p:attrName>
                                        </p:attrNameLst>
                                      </p:cBhvr>
                                      <p:to>
                                        <p:strVal val="visible"/>
                                      </p:to>
                                    </p:set>
                                    <p:animEffect transition="in" filter="fade">
                                      <p:cBhvr>
                                        <p:cTn id="57" dur="500"/>
                                        <p:tgtEl>
                                          <p:spTgt spid="10">
                                            <p:graphicEl>
                                              <a:dgm id="{383A5A5E-4524-4B31-93A4-3452ED550E07}"/>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0">
                                            <p:graphicEl>
                                              <a:dgm id="{A7EAA430-4388-4C23-8BE4-9CC3DAB20E8B}"/>
                                            </p:graphicEl>
                                          </p:spTgt>
                                        </p:tgtEl>
                                        <p:attrNameLst>
                                          <p:attrName>style.visibility</p:attrName>
                                        </p:attrNameLst>
                                      </p:cBhvr>
                                      <p:to>
                                        <p:strVal val="visible"/>
                                      </p:to>
                                    </p:set>
                                    <p:animEffect transition="in" filter="fade">
                                      <p:cBhvr>
                                        <p:cTn id="62" dur="500"/>
                                        <p:tgtEl>
                                          <p:spTgt spid="10">
                                            <p:graphicEl>
                                              <a:dgm id="{A7EAA430-4388-4C23-8BE4-9CC3DAB20E8B}"/>
                                            </p:graphicEl>
                                          </p:spTgt>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0">
                                            <p:graphicEl>
                                              <a:dgm id="{8D90BE74-BB9F-4ED4-9803-F3EBBE5A5D63}"/>
                                            </p:graphicEl>
                                          </p:spTgt>
                                        </p:tgtEl>
                                        <p:attrNameLst>
                                          <p:attrName>style.visibility</p:attrName>
                                        </p:attrNameLst>
                                      </p:cBhvr>
                                      <p:to>
                                        <p:strVal val="visible"/>
                                      </p:to>
                                    </p:set>
                                    <p:animEffect transition="in" filter="fade">
                                      <p:cBhvr>
                                        <p:cTn id="65" dur="500"/>
                                        <p:tgtEl>
                                          <p:spTgt spid="10">
                                            <p:graphicEl>
                                              <a:dgm id="{8D90BE74-BB9F-4ED4-9803-F3EBBE5A5D63}"/>
                                            </p:graphicEl>
                                          </p:spTgt>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0">
                                            <p:graphicEl>
                                              <a:dgm id="{D16277B2-4FB3-49F7-B98B-B4B060F4B14C}"/>
                                            </p:graphicEl>
                                          </p:spTgt>
                                        </p:tgtEl>
                                        <p:attrNameLst>
                                          <p:attrName>style.visibility</p:attrName>
                                        </p:attrNameLst>
                                      </p:cBhvr>
                                      <p:to>
                                        <p:strVal val="visible"/>
                                      </p:to>
                                    </p:set>
                                    <p:animEffect transition="in" filter="fade">
                                      <p:cBhvr>
                                        <p:cTn id="68" dur="500"/>
                                        <p:tgtEl>
                                          <p:spTgt spid="10">
                                            <p:graphicEl>
                                              <a:dgm id="{D16277B2-4FB3-49F7-B98B-B4B060F4B14C}"/>
                                            </p:graphic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10">
                                            <p:graphicEl>
                                              <a:dgm id="{2393D578-8172-40CF-A411-ED368597F851}"/>
                                            </p:graphicEl>
                                          </p:spTgt>
                                        </p:tgtEl>
                                        <p:attrNameLst>
                                          <p:attrName>style.visibility</p:attrName>
                                        </p:attrNameLst>
                                      </p:cBhvr>
                                      <p:to>
                                        <p:strVal val="visible"/>
                                      </p:to>
                                    </p:set>
                                    <p:animEffect transition="in" filter="fade">
                                      <p:cBhvr>
                                        <p:cTn id="73" dur="500"/>
                                        <p:tgtEl>
                                          <p:spTgt spid="10">
                                            <p:graphicEl>
                                              <a:dgm id="{2393D578-8172-40CF-A411-ED368597F851}"/>
                                            </p:graphic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0">
                                            <p:graphicEl>
                                              <a:dgm id="{9BE97963-BE5B-40A3-A1BF-195C7D44B9A3}"/>
                                            </p:graphicEl>
                                          </p:spTgt>
                                        </p:tgtEl>
                                        <p:attrNameLst>
                                          <p:attrName>style.visibility</p:attrName>
                                        </p:attrNameLst>
                                      </p:cBhvr>
                                      <p:to>
                                        <p:strVal val="visible"/>
                                      </p:to>
                                    </p:set>
                                    <p:animEffect transition="in" filter="fade">
                                      <p:cBhvr>
                                        <p:cTn id="76" dur="500"/>
                                        <p:tgtEl>
                                          <p:spTgt spid="10">
                                            <p:graphicEl>
                                              <a:dgm id="{9BE97963-BE5B-40A3-A1BF-195C7D44B9A3}"/>
                                            </p:graphic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
                                        </p:tgtEl>
                                        <p:attrNameLst>
                                          <p:attrName>style.visibility</p:attrName>
                                        </p:attrNameLst>
                                      </p:cBhvr>
                                      <p:to>
                                        <p:strVal val="visible"/>
                                      </p:to>
                                    </p:set>
                                    <p:animEffect transition="in" filter="fade">
                                      <p:cBhvr>
                                        <p:cTn id="81" dur="500"/>
                                        <p:tgtEl>
                                          <p:spTgt spid="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
                                        </p:tgtEl>
                                        <p:attrNameLst>
                                          <p:attrName>style.visibility</p:attrName>
                                        </p:attrNameLst>
                                      </p:cBhvr>
                                      <p:to>
                                        <p:strVal val="visible"/>
                                      </p:to>
                                    </p:set>
                                    <p:animEffect transition="in" filter="fade">
                                      <p:cBhvr>
                                        <p:cTn id="8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uiExpand="1">
        <p:bldSub>
          <a:bldDgm bld="one"/>
        </p:bldSub>
      </p:bldGraphic>
      <p:bldP spid="2" grpId="0" animBg="1"/>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12DED-13E6-E1CB-6975-81A0E73C6D1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C11AE29-F3C0-D6CD-0349-75AFCC7ED4E5}"/>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3E46F073-61B0-1448-13A4-C43F4FDF39E8}"/>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A32A3925-2BDA-83C0-670E-61736805DCE1}"/>
              </a:ext>
            </a:extLst>
          </p:cNvPr>
          <p:cNvSpPr/>
          <p:nvPr/>
        </p:nvSpPr>
        <p:spPr>
          <a:xfrm>
            <a:off x="293914" y="793804"/>
            <a:ext cx="5578566" cy="2554545"/>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DEFINING VISION, SCOPE &amp; FEASIBILITY ASSESSMENT</a:t>
            </a:r>
          </a:p>
        </p:txBody>
      </p:sp>
    </p:spTree>
    <p:extLst>
      <p:ext uri="{BB962C8B-B14F-4D97-AF65-F5344CB8AC3E}">
        <p14:creationId xmlns:p14="http://schemas.microsoft.com/office/powerpoint/2010/main" val="2033390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pic>
        <p:nvPicPr>
          <p:cNvPr id="102" name="Google Shape;102;p2"/>
          <p:cNvPicPr preferRelativeResize="0"/>
          <p:nvPr/>
        </p:nvPicPr>
        <p:blipFill rotWithShape="1">
          <a:blip r:embed="rId3">
            <a:alphaModFix/>
          </a:blip>
          <a:srcRect/>
          <a:stretch/>
        </p:blipFill>
        <p:spPr>
          <a:xfrm>
            <a:off x="3202" y="0"/>
            <a:ext cx="12224773" cy="6857999"/>
          </a:xfrm>
          <a:prstGeom prst="rect">
            <a:avLst/>
          </a:prstGeom>
          <a:noFill/>
          <a:ln>
            <a:noFill/>
          </a:ln>
        </p:spPr>
      </p:pic>
      <p:sp>
        <p:nvSpPr>
          <p:cNvPr id="105" name="Google Shape;105;p2"/>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106" name="Google Shape;106;p2"/>
          <p:cNvSpPr/>
          <p:nvPr/>
        </p:nvSpPr>
        <p:spPr>
          <a:xfrm>
            <a:off x="154722" y="90489"/>
            <a:ext cx="9827400" cy="461700"/>
          </a:xfrm>
          <a:prstGeom prst="rect">
            <a:avLst/>
          </a:prstGeom>
          <a:noFill/>
          <a:ln>
            <a:noFill/>
          </a:ln>
        </p:spPr>
        <p:txBody>
          <a:bodyPr spcFirstLastPara="1" wrap="square" lIns="91425" tIns="45700" rIns="91425" bIns="45700" anchor="t" anchorCtr="0">
            <a:noAutofit/>
          </a:bodyPr>
          <a:lstStyle/>
          <a:p>
            <a:pPr lvl="0">
              <a:buClr>
                <a:srgbClr val="000000"/>
              </a:buClr>
              <a:buSzPts val="2400"/>
            </a:pPr>
            <a:r>
              <a:rPr lang="en-US" sz="2400" dirty="0">
                <a:solidFill>
                  <a:schemeClr val="lt1"/>
                </a:solidFill>
                <a:latin typeface="Montserrat"/>
                <a:ea typeface="Montserrat"/>
                <a:cs typeface="Montserrat"/>
                <a:sym typeface="Montserrat"/>
              </a:rPr>
              <a:t>Introduction to Managing AI Projects</a:t>
            </a:r>
            <a:endParaRPr sz="1400" b="0" i="0" u="none" strike="noStrike" cap="none" dirty="0">
              <a:solidFill>
                <a:srgbClr val="000000"/>
              </a:solidFill>
              <a:latin typeface="Arial"/>
              <a:ea typeface="Arial"/>
              <a:cs typeface="Arial"/>
              <a:sym typeface="Arial"/>
            </a:endParaRPr>
          </a:p>
        </p:txBody>
      </p:sp>
      <p:sp>
        <p:nvSpPr>
          <p:cNvPr id="107" name="Google Shape;107;p2"/>
          <p:cNvSpPr txBox="1"/>
          <p:nvPr/>
        </p:nvSpPr>
        <p:spPr>
          <a:xfrm>
            <a:off x="124065" y="653671"/>
            <a:ext cx="11620345" cy="2800500"/>
          </a:xfrm>
          <a:prstGeom prst="rect">
            <a:avLst/>
          </a:prstGeom>
          <a:noFill/>
          <a:ln>
            <a:noFill/>
          </a:ln>
        </p:spPr>
        <p:txBody>
          <a:bodyPr spcFirstLastPara="1" wrap="square" lIns="91425" tIns="45700" rIns="91425" bIns="45700" anchor="t" anchorCtr="0">
            <a:normAutofit/>
          </a:bodyPr>
          <a:lstStyle/>
          <a:p>
            <a:pPr marL="285750" marR="0" lvl="0" indent="-285750" algn="l" rtl="0">
              <a:lnSpc>
                <a:spcPct val="150000"/>
              </a:lnSpc>
              <a:spcBef>
                <a:spcPts val="0"/>
              </a:spcBef>
              <a:spcAft>
                <a:spcPts val="0"/>
              </a:spcAft>
              <a:buClr>
                <a:srgbClr val="1BBFD1"/>
              </a:buClr>
              <a:buSzPts val="1800"/>
              <a:buFont typeface="Arial" panose="020B0604020202020204" pitchFamily="34" charset="0"/>
              <a:buChar char="•"/>
            </a:pPr>
            <a:r>
              <a:rPr lang="en-CA" sz="1600" dirty="0">
                <a:solidFill>
                  <a:schemeClr val="dk1"/>
                </a:solidFill>
                <a:latin typeface="Montserrat"/>
                <a:sym typeface="Montserrat"/>
              </a:rPr>
              <a:t>In this module, we will focus on project management fundamentals as they apply to AI projects.</a:t>
            </a:r>
            <a:endParaRPr sz="1600" dirty="0">
              <a:solidFill>
                <a:schemeClr val="dk1"/>
              </a:solidFill>
              <a:latin typeface="Montserrat"/>
              <a:sym typeface="Montserrat"/>
            </a:endParaRPr>
          </a:p>
          <a:p>
            <a:pPr marL="285750" lvl="0" indent="-285750" algn="l" rtl="0">
              <a:lnSpc>
                <a:spcPct val="150000"/>
              </a:lnSpc>
              <a:spcBef>
                <a:spcPts val="0"/>
              </a:spcBef>
              <a:spcAft>
                <a:spcPts val="0"/>
              </a:spcAft>
              <a:buClr>
                <a:srgbClr val="1BBFD1"/>
              </a:buClr>
              <a:buSzPts val="1800"/>
              <a:buFont typeface="Arial" panose="020B0604020202020204" pitchFamily="34" charset="0"/>
              <a:buChar char="•"/>
            </a:pPr>
            <a:r>
              <a:rPr lang="en-CA" sz="1600" dirty="0">
                <a:solidFill>
                  <a:schemeClr val="dk1"/>
                </a:solidFill>
                <a:latin typeface="Montserrat"/>
                <a:sym typeface="Montserrat"/>
              </a:rPr>
              <a:t>Successfully delivering an AI project is not just about algorithms and models; it requires careful planning, coordination, and alignment with business goals.</a:t>
            </a:r>
          </a:p>
          <a:p>
            <a:pPr marL="742950" lvl="1" indent="-285750">
              <a:lnSpc>
                <a:spcPct val="150000"/>
              </a:lnSpc>
              <a:buClr>
                <a:srgbClr val="1BBFD1"/>
              </a:buClr>
              <a:buSzPts val="1800"/>
              <a:buFont typeface="Arial" panose="020B0604020202020204" pitchFamily="34" charset="0"/>
              <a:buChar char="•"/>
            </a:pPr>
            <a:r>
              <a:rPr lang="en-US" sz="1600" b="1" dirty="0">
                <a:solidFill>
                  <a:schemeClr val="dk1"/>
                </a:solidFill>
                <a:latin typeface="Montserrat"/>
                <a:sym typeface="Montserrat"/>
              </a:rPr>
              <a:t>Planning: </a:t>
            </a:r>
            <a:r>
              <a:rPr lang="en-US" sz="1600" dirty="0">
                <a:solidFill>
                  <a:schemeClr val="dk1"/>
                </a:solidFill>
                <a:latin typeface="Montserrat"/>
                <a:sym typeface="Montserrat"/>
              </a:rPr>
              <a:t>Define scope, success metrics, and timelines.</a:t>
            </a:r>
          </a:p>
          <a:p>
            <a:pPr marL="742950" lvl="1" indent="-285750">
              <a:lnSpc>
                <a:spcPct val="150000"/>
              </a:lnSpc>
              <a:buClr>
                <a:srgbClr val="1BBFD1"/>
              </a:buClr>
              <a:buSzPts val="1800"/>
              <a:buFont typeface="Arial" panose="020B0604020202020204" pitchFamily="34" charset="0"/>
              <a:buChar char="•"/>
            </a:pPr>
            <a:r>
              <a:rPr lang="en-US" sz="1600" b="1" dirty="0">
                <a:solidFill>
                  <a:schemeClr val="dk1"/>
                </a:solidFill>
                <a:latin typeface="Montserrat"/>
                <a:sym typeface="Montserrat"/>
              </a:rPr>
              <a:t>Coordination: </a:t>
            </a:r>
            <a:r>
              <a:rPr lang="en-US" sz="1600" dirty="0">
                <a:solidFill>
                  <a:schemeClr val="dk1"/>
                </a:solidFill>
                <a:latin typeface="Montserrat"/>
                <a:sym typeface="Montserrat"/>
              </a:rPr>
              <a:t>Cross-functional communication and agile teams.</a:t>
            </a:r>
          </a:p>
          <a:p>
            <a:pPr marL="742950" lvl="1" indent="-285750">
              <a:lnSpc>
                <a:spcPct val="150000"/>
              </a:lnSpc>
              <a:buClr>
                <a:srgbClr val="1BBFD1"/>
              </a:buClr>
              <a:buSzPts val="1800"/>
              <a:buFont typeface="Arial" panose="020B0604020202020204" pitchFamily="34" charset="0"/>
              <a:buChar char="•"/>
            </a:pPr>
            <a:r>
              <a:rPr lang="en-US" sz="1600" b="1" dirty="0">
                <a:solidFill>
                  <a:schemeClr val="dk1"/>
                </a:solidFill>
                <a:latin typeface="Montserrat"/>
                <a:sym typeface="Montserrat"/>
              </a:rPr>
              <a:t>Business Alignment: </a:t>
            </a:r>
            <a:r>
              <a:rPr lang="en-US" sz="1600" dirty="0">
                <a:solidFill>
                  <a:schemeClr val="dk1"/>
                </a:solidFill>
                <a:latin typeface="Montserrat"/>
                <a:sym typeface="Montserrat"/>
              </a:rPr>
              <a:t>Ensure ROI, KPIs, and stakeholder buy-in.</a:t>
            </a:r>
          </a:p>
          <a:p>
            <a:pPr marL="285750" lvl="0" indent="-285750" algn="l" rtl="0">
              <a:lnSpc>
                <a:spcPct val="150000"/>
              </a:lnSpc>
              <a:spcBef>
                <a:spcPts val="0"/>
              </a:spcBef>
              <a:spcAft>
                <a:spcPts val="0"/>
              </a:spcAft>
              <a:buClr>
                <a:srgbClr val="1BBFD1"/>
              </a:buClr>
              <a:buSzPts val="1800"/>
              <a:buFont typeface="Arial" panose="020B0604020202020204" pitchFamily="34" charset="0"/>
              <a:buChar char="•"/>
            </a:pPr>
            <a:endParaRPr lang="en-CA" sz="1600" dirty="0">
              <a:solidFill>
                <a:schemeClr val="dk1"/>
              </a:solidFill>
              <a:latin typeface="Montserrat"/>
              <a:sym typeface="Montserrat"/>
            </a:endParaRPr>
          </a:p>
          <a:p>
            <a:pPr marL="285750" lvl="0" indent="-285750" algn="l" rtl="0">
              <a:lnSpc>
                <a:spcPct val="150000"/>
              </a:lnSpc>
              <a:spcBef>
                <a:spcPts val="0"/>
              </a:spcBef>
              <a:spcAft>
                <a:spcPts val="0"/>
              </a:spcAft>
              <a:buClr>
                <a:srgbClr val="1BBFD1"/>
              </a:buClr>
              <a:buSzPts val="1800"/>
              <a:buFont typeface="Arial" panose="020B0604020202020204" pitchFamily="34" charset="0"/>
              <a:buChar char="•"/>
            </a:pPr>
            <a:endParaRPr sz="1600" dirty="0">
              <a:solidFill>
                <a:schemeClr val="dk1"/>
              </a:solidFill>
              <a:latin typeface="Montserrat"/>
              <a:sym typeface="Montserrat"/>
            </a:endParaRPr>
          </a:p>
        </p:txBody>
      </p:sp>
      <p:graphicFrame>
        <p:nvGraphicFramePr>
          <p:cNvPr id="3" name="Diagram 2">
            <a:extLst>
              <a:ext uri="{FF2B5EF4-FFF2-40B4-BE49-F238E27FC236}">
                <a16:creationId xmlns:a16="http://schemas.microsoft.com/office/drawing/2014/main" id="{4679331C-2A1E-67EA-164D-5A770460B6B2}"/>
              </a:ext>
            </a:extLst>
          </p:cNvPr>
          <p:cNvGraphicFramePr/>
          <p:nvPr>
            <p:extLst>
              <p:ext uri="{D42A27DB-BD31-4B8C-83A1-F6EECF244321}">
                <p14:modId xmlns:p14="http://schemas.microsoft.com/office/powerpoint/2010/main" val="3165004461"/>
              </p:ext>
            </p:extLst>
          </p:nvPr>
        </p:nvGraphicFramePr>
        <p:xfrm>
          <a:off x="975125" y="2597582"/>
          <a:ext cx="9147835" cy="44301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DF839E07-AEBB-4BE6-962A-91042BEBE5BF}"/>
                                            </p:graphicEl>
                                          </p:spTgt>
                                        </p:tgtEl>
                                        <p:attrNameLst>
                                          <p:attrName>style.visibility</p:attrName>
                                        </p:attrNameLst>
                                      </p:cBhvr>
                                      <p:to>
                                        <p:strVal val="visible"/>
                                      </p:to>
                                    </p:set>
                                    <p:anim calcmode="lin" valueType="num">
                                      <p:cBhvr additive="base">
                                        <p:cTn id="7" dur="500" fill="hold"/>
                                        <p:tgtEl>
                                          <p:spTgt spid="3">
                                            <p:graphicEl>
                                              <a:dgm id="{DF839E07-AEBB-4BE6-962A-91042BEBE5BF}"/>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DF839E07-AEBB-4BE6-962A-91042BEBE5BF}"/>
                                            </p:graphicEl>
                                          </p:spTgt>
                                        </p:tgtEl>
                                        <p:attrNameLst>
                                          <p:attrName>ppt_y</p:attrName>
                                        </p:attrNameLst>
                                      </p:cBhvr>
                                      <p:tavLst>
                                        <p:tav tm="0">
                                          <p:val>
                                            <p:strVal val="1+#ppt_h/2"/>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107">
                                            <p:txEl>
                                              <p:pRg st="2" end="2"/>
                                            </p:txEl>
                                          </p:spTgt>
                                        </p:tgtEl>
                                        <p:attrNameLst>
                                          <p:attrName>style.visibility</p:attrName>
                                        </p:attrNameLst>
                                      </p:cBhvr>
                                      <p:to>
                                        <p:strVal val="visible"/>
                                      </p:to>
                                    </p:set>
                                    <p:animEffect transition="in" filter="fade">
                                      <p:cBhvr>
                                        <p:cTn id="11" dur="500"/>
                                        <p:tgtEl>
                                          <p:spTgt spid="107">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3">
                                            <p:graphicEl>
                                              <a:dgm id="{F03A589B-1F92-455E-955F-8C1AC52CCE1D}"/>
                                            </p:graphicEl>
                                          </p:spTgt>
                                        </p:tgtEl>
                                        <p:attrNameLst>
                                          <p:attrName>style.visibility</p:attrName>
                                        </p:attrNameLst>
                                      </p:cBhvr>
                                      <p:to>
                                        <p:strVal val="visible"/>
                                      </p:to>
                                    </p:set>
                                    <p:anim calcmode="lin" valueType="num">
                                      <p:cBhvr additive="base">
                                        <p:cTn id="16" dur="500" fill="hold"/>
                                        <p:tgtEl>
                                          <p:spTgt spid="3">
                                            <p:graphicEl>
                                              <a:dgm id="{F03A589B-1F92-455E-955F-8C1AC52CCE1D}"/>
                                            </p:graphic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graphicEl>
                                              <a:dgm id="{F03A589B-1F92-455E-955F-8C1AC52CCE1D}"/>
                                            </p:graphic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07">
                                            <p:txEl>
                                              <p:pRg st="3" end="3"/>
                                            </p:txEl>
                                          </p:spTgt>
                                        </p:tgtEl>
                                        <p:attrNameLst>
                                          <p:attrName>style.visibility</p:attrName>
                                        </p:attrNameLst>
                                      </p:cBhvr>
                                      <p:to>
                                        <p:strVal val="visible"/>
                                      </p:to>
                                    </p:set>
                                    <p:anim calcmode="lin" valueType="num">
                                      <p:cBhvr additive="base">
                                        <p:cTn id="20" dur="500" fill="hold"/>
                                        <p:tgtEl>
                                          <p:spTgt spid="107">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3">
                                            <p:graphicEl>
                                              <a:dgm id="{7A8235FE-553A-4AA4-9793-6ADDB5AFBE17}"/>
                                            </p:graphicEl>
                                          </p:spTgt>
                                        </p:tgtEl>
                                        <p:attrNameLst>
                                          <p:attrName>style.visibility</p:attrName>
                                        </p:attrNameLst>
                                      </p:cBhvr>
                                      <p:to>
                                        <p:strVal val="visible"/>
                                      </p:to>
                                    </p:set>
                                    <p:anim calcmode="lin" valueType="num">
                                      <p:cBhvr additive="base">
                                        <p:cTn id="26" dur="500" fill="hold"/>
                                        <p:tgtEl>
                                          <p:spTgt spid="3">
                                            <p:graphicEl>
                                              <a:dgm id="{7A8235FE-553A-4AA4-9793-6ADDB5AFBE17}"/>
                                            </p:graphic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graphicEl>
                                              <a:dgm id="{7A8235FE-553A-4AA4-9793-6ADDB5AFBE17}"/>
                                            </p:graphicEl>
                                          </p:spTgt>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107">
                                            <p:txEl>
                                              <p:pRg st="4" end="4"/>
                                            </p:txEl>
                                          </p:spTgt>
                                        </p:tgtEl>
                                        <p:attrNameLst>
                                          <p:attrName>style.visibility</p:attrName>
                                        </p:attrNameLst>
                                      </p:cBhvr>
                                      <p:to>
                                        <p:strVal val="visible"/>
                                      </p:to>
                                    </p:set>
                                    <p:anim calcmode="lin" valueType="num">
                                      <p:cBhvr additive="base">
                                        <p:cTn id="30" dur="500" fill="hold"/>
                                        <p:tgtEl>
                                          <p:spTgt spid="107">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0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47" name="Google Shape;247;g355ea8b0119_0_116"/>
          <p:cNvPicPr preferRelativeResize="0"/>
          <p:nvPr/>
        </p:nvPicPr>
        <p:blipFill rotWithShape="1">
          <a:blip r:embed="rId3">
            <a:alphaModFix/>
          </a:blip>
          <a:srcRect/>
          <a:stretch/>
        </p:blipFill>
        <p:spPr>
          <a:xfrm>
            <a:off x="3202" y="0"/>
            <a:ext cx="12224773" cy="6857999"/>
          </a:xfrm>
          <a:prstGeom prst="rect">
            <a:avLst/>
          </a:prstGeom>
          <a:noFill/>
          <a:ln>
            <a:noFill/>
          </a:ln>
        </p:spPr>
      </p:pic>
      <p:sp>
        <p:nvSpPr>
          <p:cNvPr id="250" name="Google Shape;250;g355ea8b0119_0_116"/>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251" name="Google Shape;251;g355ea8b0119_0_116"/>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a:solidFill>
                  <a:schemeClr val="lt1"/>
                </a:solidFill>
                <a:latin typeface="Montserrat"/>
                <a:ea typeface="Montserrat"/>
                <a:cs typeface="Montserrat"/>
                <a:sym typeface="Montserrat"/>
              </a:rPr>
              <a:t>Defining AI Project Vision: Your "North Star"</a:t>
            </a:r>
            <a:endParaRPr sz="1400" b="0" i="0" u="none" strike="noStrike" cap="none">
              <a:solidFill>
                <a:srgbClr val="000000"/>
              </a:solidFill>
              <a:latin typeface="Arial"/>
              <a:ea typeface="Arial"/>
              <a:cs typeface="Arial"/>
              <a:sym typeface="Arial"/>
            </a:endParaRPr>
          </a:p>
        </p:txBody>
      </p:sp>
      <p:sp>
        <p:nvSpPr>
          <p:cNvPr id="252" name="Google Shape;252;g355ea8b0119_0_116"/>
          <p:cNvSpPr txBox="1"/>
          <p:nvPr/>
        </p:nvSpPr>
        <p:spPr>
          <a:xfrm>
            <a:off x="134900" y="820570"/>
            <a:ext cx="11464500" cy="5106000"/>
          </a:xfrm>
          <a:prstGeom prst="rect">
            <a:avLst/>
          </a:prstGeom>
          <a:noFill/>
          <a:ln>
            <a:noFill/>
          </a:ln>
        </p:spPr>
        <p:txBody>
          <a:bodyPr spcFirstLastPara="1" wrap="square" lIns="91425" tIns="45700" rIns="91425" bIns="45700" anchor="t" anchorCtr="0">
            <a:normAutofit/>
          </a:bodyPr>
          <a:lstStyle/>
          <a:p>
            <a:pPr marL="400050" lvl="0" indent="-285750" algn="l" rtl="0">
              <a:spcBef>
                <a:spcPts val="1200"/>
              </a:spcBef>
              <a:spcAft>
                <a:spcPts val="0"/>
              </a:spcAft>
              <a:buClr>
                <a:srgbClr val="1BBFD1"/>
              </a:buClr>
              <a:buSzPts val="1800"/>
              <a:buFont typeface="Arial" panose="020B0604020202020204" pitchFamily="34" charset="0"/>
              <a:buChar char="•"/>
            </a:pPr>
            <a:r>
              <a:rPr lang="en-CA" sz="1800" dirty="0">
                <a:solidFill>
                  <a:schemeClr val="dk1"/>
                </a:solidFill>
                <a:latin typeface="Montserrat"/>
                <a:ea typeface="Montserrat"/>
                <a:cs typeface="Montserrat"/>
                <a:sym typeface="Montserrat"/>
              </a:rPr>
              <a:t>What does success look like? Clearly articulate the desired end-state.</a:t>
            </a:r>
            <a:endParaRPr sz="1800" dirty="0">
              <a:solidFill>
                <a:schemeClr val="dk1"/>
              </a:solidFill>
              <a:latin typeface="Montserrat"/>
              <a:ea typeface="Montserrat"/>
              <a:cs typeface="Montserrat"/>
              <a:sym typeface="Montserrat"/>
            </a:endParaRPr>
          </a:p>
          <a:p>
            <a:pPr marL="400050" lvl="0" indent="-285750" algn="l" rtl="0">
              <a:spcBef>
                <a:spcPts val="0"/>
              </a:spcBef>
              <a:spcAft>
                <a:spcPts val="0"/>
              </a:spcAft>
              <a:buClr>
                <a:srgbClr val="1BBFD1"/>
              </a:buClr>
              <a:buSzPts val="1800"/>
              <a:buFont typeface="Arial" panose="020B0604020202020204" pitchFamily="34" charset="0"/>
              <a:buChar char="•"/>
            </a:pPr>
            <a:r>
              <a:rPr lang="en-CA" sz="1800" dirty="0">
                <a:solidFill>
                  <a:schemeClr val="dk1"/>
                </a:solidFill>
                <a:latin typeface="Montserrat"/>
                <a:ea typeface="Montserrat"/>
                <a:cs typeface="Montserrat"/>
                <a:sym typeface="Montserrat"/>
              </a:rPr>
              <a:t>How will this AI initiative fundamentally improve or transform a part of the business?</a:t>
            </a:r>
            <a:endParaRPr sz="1800" dirty="0">
              <a:solidFill>
                <a:schemeClr val="dk1"/>
              </a:solidFill>
              <a:latin typeface="Montserrat"/>
              <a:ea typeface="Montserrat"/>
              <a:cs typeface="Montserrat"/>
              <a:sym typeface="Montserrat"/>
            </a:endParaRPr>
          </a:p>
          <a:p>
            <a:pPr marL="400050" lvl="0" indent="-285750" algn="l" rtl="0">
              <a:spcBef>
                <a:spcPts val="0"/>
              </a:spcBef>
              <a:spcAft>
                <a:spcPts val="0"/>
              </a:spcAft>
              <a:buClr>
                <a:srgbClr val="1BBFD1"/>
              </a:buClr>
              <a:buSzPts val="1800"/>
              <a:buFont typeface="Arial" panose="020B0604020202020204" pitchFamily="34" charset="0"/>
              <a:buChar char="•"/>
            </a:pPr>
            <a:r>
              <a:rPr lang="en-CA" sz="1800" dirty="0">
                <a:solidFill>
                  <a:schemeClr val="dk1"/>
                </a:solidFill>
                <a:latin typeface="Montserrat"/>
                <a:ea typeface="Montserrat"/>
                <a:cs typeface="Montserrat"/>
                <a:sym typeface="Montserrat"/>
              </a:rPr>
              <a:t>A strong vision guides all subsequent decisions and keeps the team focused.</a:t>
            </a:r>
            <a:endParaRPr sz="1800" dirty="0">
              <a:solidFill>
                <a:schemeClr val="dk1"/>
              </a:solidFill>
              <a:latin typeface="Montserrat"/>
              <a:ea typeface="Montserrat"/>
              <a:cs typeface="Montserrat"/>
              <a:sym typeface="Montserrat"/>
            </a:endParaRPr>
          </a:p>
          <a:p>
            <a:pPr marL="457200" lvl="0" indent="0" algn="l" rtl="0">
              <a:lnSpc>
                <a:spcPct val="150000"/>
              </a:lnSpc>
              <a:spcBef>
                <a:spcPts val="1200"/>
              </a:spcBef>
              <a:spcAft>
                <a:spcPts val="0"/>
              </a:spcAft>
              <a:buNone/>
            </a:pPr>
            <a:endParaRPr sz="1800" b="1" dirty="0">
              <a:solidFill>
                <a:schemeClr val="dk1"/>
              </a:solidFill>
              <a:latin typeface="Montserrat"/>
              <a:ea typeface="Montserrat"/>
              <a:cs typeface="Montserrat"/>
              <a:sym typeface="Montserrat"/>
            </a:endParaRPr>
          </a:p>
          <a:p>
            <a:pPr marL="457200" lvl="0" indent="0" algn="l" rtl="0">
              <a:lnSpc>
                <a:spcPct val="150000"/>
              </a:lnSpc>
              <a:spcBef>
                <a:spcPts val="1200"/>
              </a:spcBef>
              <a:spcAft>
                <a:spcPts val="0"/>
              </a:spcAft>
              <a:buNone/>
            </a:pPr>
            <a:endParaRPr sz="1800" b="1" dirty="0">
              <a:solidFill>
                <a:schemeClr val="dk1"/>
              </a:solidFill>
              <a:latin typeface="Montserrat"/>
              <a:ea typeface="Montserrat"/>
              <a:cs typeface="Montserrat"/>
              <a:sym typeface="Montserrat"/>
            </a:endParaRPr>
          </a:p>
          <a:p>
            <a:pPr marL="457200" lvl="0" indent="0" algn="l" rtl="0">
              <a:lnSpc>
                <a:spcPct val="115000"/>
              </a:lnSpc>
              <a:spcBef>
                <a:spcPts val="1200"/>
              </a:spcBef>
              <a:spcAft>
                <a:spcPts val="0"/>
              </a:spcAft>
              <a:buNone/>
            </a:pPr>
            <a:endParaRPr sz="1800" b="1" dirty="0">
              <a:solidFill>
                <a:schemeClr val="dk1"/>
              </a:solidFill>
              <a:latin typeface="Montserrat"/>
              <a:ea typeface="Montserrat"/>
              <a:cs typeface="Montserrat"/>
              <a:sym typeface="Montserrat"/>
            </a:endParaRPr>
          </a:p>
          <a:p>
            <a:pPr marL="457200" lvl="0" indent="0" algn="l" rtl="0">
              <a:lnSpc>
                <a:spcPct val="115000"/>
              </a:lnSpc>
              <a:spcBef>
                <a:spcPts val="1200"/>
              </a:spcBef>
              <a:spcAft>
                <a:spcPts val="0"/>
              </a:spcAft>
              <a:buNone/>
            </a:pPr>
            <a:endParaRPr sz="1800" b="1" dirty="0">
              <a:solidFill>
                <a:schemeClr val="dk1"/>
              </a:solidFill>
              <a:latin typeface="Montserrat"/>
              <a:ea typeface="Montserrat"/>
              <a:cs typeface="Montserrat"/>
              <a:sym typeface="Montserrat"/>
            </a:endParaRPr>
          </a:p>
          <a:p>
            <a:pPr marL="457200" lvl="0" indent="0" algn="l" rtl="0">
              <a:lnSpc>
                <a:spcPct val="150000"/>
              </a:lnSpc>
              <a:spcBef>
                <a:spcPts val="1200"/>
              </a:spcBef>
              <a:spcAft>
                <a:spcPts val="0"/>
              </a:spcAft>
              <a:buNone/>
            </a:pPr>
            <a:endParaRPr sz="1800" b="1" dirty="0">
              <a:solidFill>
                <a:schemeClr val="dk1"/>
              </a:solidFill>
              <a:latin typeface="Montserrat"/>
              <a:ea typeface="Montserrat"/>
              <a:cs typeface="Montserrat"/>
              <a:sym typeface="Montserrat"/>
            </a:endParaRPr>
          </a:p>
        </p:txBody>
      </p:sp>
      <p:pic>
        <p:nvPicPr>
          <p:cNvPr id="3" name="Picture 2" descr="A person standing on a mountain with a shining star above&#10;&#10;AI-generated content may be incorrect.">
            <a:extLst>
              <a:ext uri="{FF2B5EF4-FFF2-40B4-BE49-F238E27FC236}">
                <a16:creationId xmlns:a16="http://schemas.microsoft.com/office/drawing/2014/main" id="{7F136BC2-05D8-BFF1-4D03-A27234CB1889}"/>
              </a:ext>
            </a:extLst>
          </p:cNvPr>
          <p:cNvPicPr>
            <a:picLocks noChangeAspect="1"/>
          </p:cNvPicPr>
          <p:nvPr/>
        </p:nvPicPr>
        <p:blipFill>
          <a:blip r:embed="rId4"/>
          <a:stretch>
            <a:fillRect/>
          </a:stretch>
        </p:blipFill>
        <p:spPr>
          <a:xfrm>
            <a:off x="3505821" y="2103499"/>
            <a:ext cx="4010891" cy="401089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pic>
        <p:nvPicPr>
          <p:cNvPr id="259" name="Google Shape;259;g355ea8b0119_0_127"/>
          <p:cNvPicPr preferRelativeResize="0"/>
          <p:nvPr/>
        </p:nvPicPr>
        <p:blipFill rotWithShape="1">
          <a:blip r:embed="rId3">
            <a:alphaModFix/>
          </a:blip>
          <a:srcRect/>
          <a:stretch/>
        </p:blipFill>
        <p:spPr>
          <a:xfrm>
            <a:off x="3202" y="0"/>
            <a:ext cx="12224773" cy="6857999"/>
          </a:xfrm>
          <a:prstGeom prst="rect">
            <a:avLst/>
          </a:prstGeom>
          <a:noFill/>
          <a:ln>
            <a:noFill/>
          </a:ln>
        </p:spPr>
      </p:pic>
      <p:sp>
        <p:nvSpPr>
          <p:cNvPr id="263" name="Google Shape;263;g355ea8b0119_0_127"/>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Business Value Assessment: Why this Project?</a:t>
            </a:r>
            <a:endParaRPr sz="1400" b="0" i="0" u="none" strike="noStrike" cap="none" dirty="0">
              <a:solidFill>
                <a:srgbClr val="000000"/>
              </a:solidFill>
              <a:latin typeface="Arial"/>
              <a:ea typeface="Arial"/>
              <a:cs typeface="Arial"/>
              <a:sym typeface="Arial"/>
            </a:endParaRPr>
          </a:p>
        </p:txBody>
      </p:sp>
      <p:sp>
        <p:nvSpPr>
          <p:cNvPr id="7" name="TextBox 6">
            <a:extLst>
              <a:ext uri="{FF2B5EF4-FFF2-40B4-BE49-F238E27FC236}">
                <a16:creationId xmlns:a16="http://schemas.microsoft.com/office/drawing/2014/main" id="{5BB1479D-C3D2-8A0E-D852-92AD94C90A65}"/>
              </a:ext>
            </a:extLst>
          </p:cNvPr>
          <p:cNvSpPr txBox="1"/>
          <p:nvPr/>
        </p:nvSpPr>
        <p:spPr>
          <a:xfrm>
            <a:off x="1580560" y="2423219"/>
            <a:ext cx="8301037" cy="395173"/>
          </a:xfrm>
          <a:prstGeom prst="rect">
            <a:avLst/>
          </a:prstGeom>
          <a:noFill/>
        </p:spPr>
        <p:txBody>
          <a:bodyPr wrap="square">
            <a:spAutoFit/>
          </a:bodyPr>
          <a:lstStyle/>
          <a:p>
            <a:pPr>
              <a:lnSpc>
                <a:spcPct val="115000"/>
              </a:lnSpc>
              <a:spcAft>
                <a:spcPts val="800"/>
              </a:spcAft>
              <a:buNone/>
            </a:pPr>
            <a:r>
              <a:rPr lang="en-CA" sz="1800" kern="100" dirty="0">
                <a:effectLst/>
                <a:latin typeface="Aptos" panose="020B0004020202020204" pitchFamily="34" charset="0"/>
                <a:ea typeface="Aptos" panose="020B0004020202020204" pitchFamily="34" charset="0"/>
                <a:cs typeface="Times New Roman" panose="02020603050405020304" pitchFamily="18" charset="0"/>
              </a:rPr>
              <a:t> </a:t>
            </a:r>
          </a:p>
        </p:txBody>
      </p:sp>
      <p:graphicFrame>
        <p:nvGraphicFramePr>
          <p:cNvPr id="8" name="Diagram 7">
            <a:extLst>
              <a:ext uri="{FF2B5EF4-FFF2-40B4-BE49-F238E27FC236}">
                <a16:creationId xmlns:a16="http://schemas.microsoft.com/office/drawing/2014/main" id="{550CE37A-E03F-18D7-008C-2EBCE513CED9}"/>
              </a:ext>
            </a:extLst>
          </p:cNvPr>
          <p:cNvGraphicFramePr/>
          <p:nvPr>
            <p:extLst>
              <p:ext uri="{D42A27DB-BD31-4B8C-83A1-F6EECF244321}">
                <p14:modId xmlns:p14="http://schemas.microsoft.com/office/powerpoint/2010/main" val="2013186767"/>
              </p:ext>
            </p:extLst>
          </p:nvPr>
        </p:nvGraphicFramePr>
        <p:xfrm>
          <a:off x="375694" y="1084740"/>
          <a:ext cx="11440612" cy="43389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TextBox 9">
            <a:extLst>
              <a:ext uri="{FF2B5EF4-FFF2-40B4-BE49-F238E27FC236}">
                <a16:creationId xmlns:a16="http://schemas.microsoft.com/office/drawing/2014/main" id="{476329DD-B3EE-7A0E-474A-18C2B0D426E0}"/>
              </a:ext>
            </a:extLst>
          </p:cNvPr>
          <p:cNvSpPr txBox="1"/>
          <p:nvPr/>
        </p:nvSpPr>
        <p:spPr>
          <a:xfrm>
            <a:off x="158788" y="919131"/>
            <a:ext cx="11440612" cy="923330"/>
          </a:xfrm>
          <a:prstGeom prst="rect">
            <a:avLst/>
          </a:prstGeom>
          <a:noFill/>
        </p:spPr>
        <p:txBody>
          <a:bodyPr wrap="square">
            <a:spAutoFit/>
          </a:bodyPr>
          <a:lstStyle/>
          <a:p>
            <a:pPr marL="285750" indent="-285750">
              <a:buFont typeface="Arial" panose="020B0604020202020204" pitchFamily="34" charset="0"/>
              <a:buChar char="•"/>
            </a:pPr>
            <a:r>
              <a:rPr lang="en-US" dirty="0">
                <a:latin typeface="Montserrat" panose="00000500000000000000" pitchFamily="2" charset="0"/>
              </a:rPr>
              <a:t>Before deploying resources to any AI project, the first step is to ensure strategic alignment and measurable impact by answering a key question: </a:t>
            </a:r>
            <a:r>
              <a:rPr lang="en-US" b="1" i="1" dirty="0">
                <a:latin typeface="Montserrat" panose="00000500000000000000" pitchFamily="2" charset="0"/>
              </a:rPr>
              <a:t>Why this project?</a:t>
            </a:r>
          </a:p>
          <a:p>
            <a:pPr marL="285750" indent="-285750">
              <a:buFont typeface="Arial" panose="020B0604020202020204" pitchFamily="34" charset="0"/>
              <a:buChar char="•"/>
            </a:pPr>
            <a:r>
              <a:rPr lang="en-US" dirty="0">
                <a:latin typeface="Montserrat" panose="00000500000000000000" pitchFamily="2" charset="0"/>
              </a:rPr>
              <a:t>Leadership should clearly identify the following key pillars: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graphicEl>
                                              <a:dgm id="{0C5D8429-F719-4DB4-82BA-CF88462A5350}"/>
                                            </p:graphicEl>
                                          </p:spTgt>
                                        </p:tgtEl>
                                        <p:attrNameLst>
                                          <p:attrName>style.visibility</p:attrName>
                                        </p:attrNameLst>
                                      </p:cBhvr>
                                      <p:to>
                                        <p:strVal val="visible"/>
                                      </p:to>
                                    </p:set>
                                    <p:animEffect transition="in" filter="fade">
                                      <p:cBhvr>
                                        <p:cTn id="7" dur="500"/>
                                        <p:tgtEl>
                                          <p:spTgt spid="8">
                                            <p:graphicEl>
                                              <a:dgm id="{0C5D8429-F719-4DB4-82BA-CF88462A5350}"/>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graphicEl>
                                              <a:dgm id="{FFBB0A9E-712F-4040-AD6F-AD565E03DCEA}"/>
                                            </p:graphicEl>
                                          </p:spTgt>
                                        </p:tgtEl>
                                        <p:attrNameLst>
                                          <p:attrName>style.visibility</p:attrName>
                                        </p:attrNameLst>
                                      </p:cBhvr>
                                      <p:to>
                                        <p:strVal val="visible"/>
                                      </p:to>
                                    </p:set>
                                    <p:animEffect transition="in" filter="fade">
                                      <p:cBhvr>
                                        <p:cTn id="12" dur="500"/>
                                        <p:tgtEl>
                                          <p:spTgt spid="8">
                                            <p:graphicEl>
                                              <a:dgm id="{FFBB0A9E-712F-4040-AD6F-AD565E03DCEA}"/>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graphicEl>
                                              <a:dgm id="{B67550A5-9F4E-4717-83BC-320D9D85C207}"/>
                                            </p:graphicEl>
                                          </p:spTgt>
                                        </p:tgtEl>
                                        <p:attrNameLst>
                                          <p:attrName>style.visibility</p:attrName>
                                        </p:attrNameLst>
                                      </p:cBhvr>
                                      <p:to>
                                        <p:strVal val="visible"/>
                                      </p:to>
                                    </p:set>
                                    <p:animEffect transition="in" filter="fade">
                                      <p:cBhvr>
                                        <p:cTn id="17" dur="500"/>
                                        <p:tgtEl>
                                          <p:spTgt spid="8">
                                            <p:graphicEl>
                                              <a:dgm id="{B67550A5-9F4E-4717-83BC-320D9D85C207}"/>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one"/>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pic>
        <p:nvPicPr>
          <p:cNvPr id="288" name="Google Shape;288;g355ea8b0119_0_138"/>
          <p:cNvPicPr preferRelativeResize="0"/>
          <p:nvPr/>
        </p:nvPicPr>
        <p:blipFill rotWithShape="1">
          <a:blip r:embed="rId3">
            <a:alphaModFix/>
          </a:blip>
          <a:srcRect/>
          <a:stretch/>
        </p:blipFill>
        <p:spPr>
          <a:xfrm>
            <a:off x="3202" y="0"/>
            <a:ext cx="12224773" cy="6857999"/>
          </a:xfrm>
          <a:prstGeom prst="rect">
            <a:avLst/>
          </a:prstGeom>
          <a:noFill/>
          <a:ln>
            <a:noFill/>
          </a:ln>
        </p:spPr>
      </p:pic>
      <p:sp>
        <p:nvSpPr>
          <p:cNvPr id="291" name="Google Shape;291;g355ea8b0119_0_138"/>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292" name="Google Shape;292;g355ea8b0119_0_138"/>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latin typeface="Montserrat"/>
                <a:ea typeface="Montserrat"/>
                <a:cs typeface="Montserrat"/>
                <a:sym typeface="Montserrat"/>
              </a:rPr>
              <a:t>Feasibility Assessment: Can We Deliver This AI Project?</a:t>
            </a:r>
            <a:endParaRPr lang="en-US" sz="14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F846034D-6C34-AAC1-BE2D-8D5FACC35499}"/>
              </a:ext>
            </a:extLst>
          </p:cNvPr>
          <p:cNvSpPr txBox="1"/>
          <p:nvPr/>
        </p:nvSpPr>
        <p:spPr>
          <a:xfrm>
            <a:off x="242887" y="715700"/>
            <a:ext cx="11646387" cy="1707519"/>
          </a:xfrm>
          <a:prstGeom prst="rect">
            <a:avLst/>
          </a:prstGeom>
          <a:noFill/>
          <a:ln>
            <a:noFill/>
          </a:ln>
        </p:spPr>
        <p:txBody>
          <a:bodyPr spcFirstLastPara="1" wrap="square" lIns="91425" tIns="45700" rIns="91425" bIns="45700" anchor="t" anchorCtr="0">
            <a:normAutofit/>
          </a:bodyPr>
          <a:lstStyle>
            <a:defPPr>
              <a:defRPr lang="en-US"/>
            </a:defPPr>
            <a:lvl1pPr marL="400050" lvl="0" indent="-285750">
              <a:lnSpc>
                <a:spcPct val="150000"/>
              </a:lnSpc>
              <a:spcBef>
                <a:spcPts val="1200"/>
              </a:spcBef>
              <a:spcAft>
                <a:spcPts val="0"/>
              </a:spcAft>
              <a:buClr>
                <a:srgbClr val="1BBFD1"/>
              </a:buClr>
              <a:buSzPts val="1800"/>
              <a:buFont typeface="Arial" panose="020B0604020202020204" pitchFamily="34" charset="0"/>
              <a:buChar char="•"/>
              <a:defRPr>
                <a:solidFill>
                  <a:schemeClr val="dk1"/>
                </a:solidFill>
                <a:latin typeface="Montserrat"/>
                <a:ea typeface="Montserrat"/>
                <a:cs typeface="Montserrat"/>
              </a:defRPr>
            </a:lvl1pPr>
          </a:lstStyle>
          <a:p>
            <a:pPr>
              <a:lnSpc>
                <a:spcPct val="100000"/>
              </a:lnSpc>
            </a:pPr>
            <a:r>
              <a:rPr lang="en-US" dirty="0"/>
              <a:t>Before moving forward, leadership must assess whether the AI project is feasible from technical, organizational, and data perspectives. </a:t>
            </a:r>
            <a:endParaRPr lang="en-CA" dirty="0"/>
          </a:p>
        </p:txBody>
      </p:sp>
      <p:graphicFrame>
        <p:nvGraphicFramePr>
          <p:cNvPr id="4" name="Diagram 3">
            <a:extLst>
              <a:ext uri="{FF2B5EF4-FFF2-40B4-BE49-F238E27FC236}">
                <a16:creationId xmlns:a16="http://schemas.microsoft.com/office/drawing/2014/main" id="{12462885-F552-551E-25D3-03BD5B912292}"/>
              </a:ext>
            </a:extLst>
          </p:cNvPr>
          <p:cNvGraphicFramePr/>
          <p:nvPr>
            <p:extLst>
              <p:ext uri="{D42A27DB-BD31-4B8C-83A1-F6EECF244321}">
                <p14:modId xmlns:p14="http://schemas.microsoft.com/office/powerpoint/2010/main" val="1887175802"/>
              </p:ext>
            </p:extLst>
          </p:nvPr>
        </p:nvGraphicFramePr>
        <p:xfrm>
          <a:off x="-55996" y="1697347"/>
          <a:ext cx="9484850" cy="463725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graphicEl>
                                              <a:dgm id="{2B25BF39-B901-4518-854E-2C577F7009C2}"/>
                                            </p:graphicEl>
                                          </p:spTgt>
                                        </p:tgtEl>
                                        <p:attrNameLst>
                                          <p:attrName>style.visibility</p:attrName>
                                        </p:attrNameLst>
                                      </p:cBhvr>
                                      <p:to>
                                        <p:strVal val="visible"/>
                                      </p:to>
                                    </p:set>
                                    <p:animEffect transition="in" filter="fade">
                                      <p:cBhvr>
                                        <p:cTn id="7" dur="500"/>
                                        <p:tgtEl>
                                          <p:spTgt spid="4">
                                            <p:graphicEl>
                                              <a:dgm id="{2B25BF39-B901-4518-854E-2C577F7009C2}"/>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graphicEl>
                                              <a:dgm id="{6DD4C9F4-38A6-4DA9-9836-614AF829B9E5}"/>
                                            </p:graphicEl>
                                          </p:spTgt>
                                        </p:tgtEl>
                                        <p:attrNameLst>
                                          <p:attrName>style.visibility</p:attrName>
                                        </p:attrNameLst>
                                      </p:cBhvr>
                                      <p:to>
                                        <p:strVal val="visible"/>
                                      </p:to>
                                    </p:set>
                                    <p:animEffect transition="in" filter="fade">
                                      <p:cBhvr>
                                        <p:cTn id="12" dur="500"/>
                                        <p:tgtEl>
                                          <p:spTgt spid="4">
                                            <p:graphicEl>
                                              <a:dgm id="{6DD4C9F4-38A6-4DA9-9836-614AF829B9E5}"/>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graphicEl>
                                              <a:dgm id="{E028C94D-5B5F-4443-9C45-6D080A13328C}"/>
                                            </p:graphicEl>
                                          </p:spTgt>
                                        </p:tgtEl>
                                        <p:attrNameLst>
                                          <p:attrName>style.visibility</p:attrName>
                                        </p:attrNameLst>
                                      </p:cBhvr>
                                      <p:to>
                                        <p:strVal val="visible"/>
                                      </p:to>
                                    </p:set>
                                    <p:animEffect transition="in" filter="fade">
                                      <p:cBhvr>
                                        <p:cTn id="17" dur="500"/>
                                        <p:tgtEl>
                                          <p:spTgt spid="4">
                                            <p:graphicEl>
                                              <a:dgm id="{E028C94D-5B5F-4443-9C45-6D080A13328C}"/>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graphicEl>
                                              <a:dgm id="{D07FC4A7-3448-4987-BDA5-9FC6D533AFB8}"/>
                                            </p:graphicEl>
                                          </p:spTgt>
                                        </p:tgtEl>
                                        <p:attrNameLst>
                                          <p:attrName>style.visibility</p:attrName>
                                        </p:attrNameLst>
                                      </p:cBhvr>
                                      <p:to>
                                        <p:strVal val="visible"/>
                                      </p:to>
                                    </p:set>
                                    <p:animEffect transition="in" filter="fade">
                                      <p:cBhvr>
                                        <p:cTn id="22" dur="500"/>
                                        <p:tgtEl>
                                          <p:spTgt spid="4">
                                            <p:graphicEl>
                                              <a:dgm id="{D07FC4A7-3448-4987-BDA5-9FC6D533AFB8}"/>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pic>
        <p:nvPicPr>
          <p:cNvPr id="304" name="Google Shape;304;g355ea8b0119_0_149"/>
          <p:cNvPicPr preferRelativeResize="0"/>
          <p:nvPr/>
        </p:nvPicPr>
        <p:blipFill rotWithShape="1">
          <a:blip r:embed="rId3">
            <a:alphaModFix/>
          </a:blip>
          <a:srcRect/>
          <a:stretch/>
        </p:blipFill>
        <p:spPr>
          <a:xfrm>
            <a:off x="3202" y="0"/>
            <a:ext cx="12224773" cy="6857999"/>
          </a:xfrm>
          <a:prstGeom prst="rect">
            <a:avLst/>
          </a:prstGeom>
          <a:noFill/>
          <a:ln>
            <a:noFill/>
          </a:ln>
        </p:spPr>
      </p:pic>
      <p:sp>
        <p:nvSpPr>
          <p:cNvPr id="307" name="Google Shape;307;g355ea8b0119_0_149"/>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308" name="Google Shape;308;g355ea8b0119_0_149"/>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Defining AI Project Scope</a:t>
            </a:r>
            <a:endParaRPr sz="1400" b="0" i="0" u="none" strike="noStrike" cap="none" dirty="0">
              <a:solidFill>
                <a:srgbClr val="000000"/>
              </a:solidFill>
              <a:latin typeface="Arial"/>
              <a:ea typeface="Arial"/>
              <a:cs typeface="Arial"/>
              <a:sym typeface="Arial"/>
            </a:endParaRPr>
          </a:p>
        </p:txBody>
      </p:sp>
      <p:sp>
        <p:nvSpPr>
          <p:cNvPr id="309" name="Google Shape;309;g355ea8b0119_0_149"/>
          <p:cNvSpPr txBox="1"/>
          <p:nvPr/>
        </p:nvSpPr>
        <p:spPr>
          <a:xfrm>
            <a:off x="54197" y="614296"/>
            <a:ext cx="8480203" cy="5106000"/>
          </a:xfrm>
          <a:prstGeom prst="rect">
            <a:avLst/>
          </a:prstGeom>
          <a:noFill/>
          <a:ln>
            <a:noFill/>
          </a:ln>
        </p:spPr>
        <p:txBody>
          <a:bodyPr spcFirstLastPara="1" wrap="square" lIns="91425" tIns="45700" rIns="91425" bIns="45700" anchor="t" anchorCtr="0">
            <a:normAutofit/>
          </a:bodyPr>
          <a:lstStyle>
            <a:defPPr>
              <a:defRPr lang="en-US"/>
            </a:defPPr>
            <a:lvl1pPr marL="400050" lvl="0" indent="-285750">
              <a:lnSpc>
                <a:spcPct val="100000"/>
              </a:lnSpc>
              <a:spcBef>
                <a:spcPts val="1200"/>
              </a:spcBef>
              <a:spcAft>
                <a:spcPts val="0"/>
              </a:spcAft>
              <a:buClr>
                <a:srgbClr val="1BBFD1"/>
              </a:buClr>
              <a:buSzPts val="1800"/>
              <a:buFont typeface="Arial" panose="020B0604020202020204" pitchFamily="34" charset="0"/>
              <a:buChar char="•"/>
              <a:defRPr>
                <a:solidFill>
                  <a:schemeClr val="dk1"/>
                </a:solidFill>
                <a:latin typeface="Montserrat"/>
                <a:ea typeface="Montserrat"/>
                <a:cs typeface="Montserrat"/>
              </a:defRPr>
            </a:lvl1pPr>
          </a:lstStyle>
          <a:p>
            <a:r>
              <a:rPr lang="en-US" sz="1600" dirty="0"/>
              <a:t>It is critical to outline what the project will and will not deliver to manage expectations and avoid scope creep. </a:t>
            </a:r>
          </a:p>
          <a:p>
            <a:r>
              <a:rPr lang="en-US" sz="1600" dirty="0"/>
              <a:t>Adopt a Minimum Viable Product (MVP) approach, focusing first on delivering core functionality that demonstrates value. </a:t>
            </a:r>
          </a:p>
          <a:p>
            <a:r>
              <a:rPr lang="en-US" sz="1600" dirty="0"/>
              <a:t>As data understanding and insights evolve, revisit and validate the scope to ensure continued alignment with project goals and stakeholder needs.</a:t>
            </a:r>
          </a:p>
          <a:p>
            <a:r>
              <a:rPr lang="en-US" sz="1600" b="1" i="1" dirty="0"/>
              <a:t>Example: Self-Driving Car MVP</a:t>
            </a:r>
            <a:br>
              <a:rPr lang="en-US" sz="1600" b="1" dirty="0"/>
            </a:br>
            <a:endParaRPr sz="1600" b="1" dirty="0">
              <a:sym typeface="Montserrat"/>
            </a:endParaRPr>
          </a:p>
          <a:p>
            <a:endParaRPr sz="1600" dirty="0">
              <a:sym typeface="Montserrat"/>
            </a:endParaRPr>
          </a:p>
          <a:p>
            <a:endParaRPr sz="1600" dirty="0">
              <a:sym typeface="Montserrat"/>
            </a:endParaRPr>
          </a:p>
          <a:p>
            <a:endParaRPr sz="1600" dirty="0">
              <a:sym typeface="Montserrat"/>
            </a:endParaRPr>
          </a:p>
          <a:p>
            <a:endParaRPr sz="1600" dirty="0">
              <a:sym typeface="Montserrat"/>
            </a:endParaRPr>
          </a:p>
          <a:p>
            <a:endParaRPr sz="1600" dirty="0">
              <a:sym typeface="Montserrat"/>
            </a:endParaRPr>
          </a:p>
        </p:txBody>
      </p:sp>
      <p:sp>
        <p:nvSpPr>
          <p:cNvPr id="4" name="Oval 3">
            <a:extLst>
              <a:ext uri="{FF2B5EF4-FFF2-40B4-BE49-F238E27FC236}">
                <a16:creationId xmlns:a16="http://schemas.microsoft.com/office/drawing/2014/main" id="{222F459A-FC0E-DF40-A0DF-512FDF3EA4C5}"/>
              </a:ext>
            </a:extLst>
          </p:cNvPr>
          <p:cNvSpPr/>
          <p:nvPr/>
        </p:nvSpPr>
        <p:spPr>
          <a:xfrm>
            <a:off x="288413" y="3099679"/>
            <a:ext cx="3600000" cy="3600000"/>
          </a:xfrm>
          <a:prstGeom prst="ellipse">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Montserrat" panose="00000500000000000000" pitchFamily="2" charset="0"/>
              </a:rPr>
              <a:t>In Scope (MVP – Highway Driving)</a:t>
            </a:r>
          </a:p>
          <a:p>
            <a:pPr algn="ctr"/>
            <a:endParaRPr lang="en-US" b="1" dirty="0">
              <a:latin typeface="Montserrat" panose="00000500000000000000" pitchFamily="2" charset="0"/>
            </a:endParaRPr>
          </a:p>
          <a:p>
            <a:pPr algn="ctr">
              <a:lnSpc>
                <a:spcPct val="115000"/>
              </a:lnSpc>
              <a:spcAft>
                <a:spcPts val="800"/>
              </a:spcAft>
              <a:buNone/>
            </a:pPr>
            <a:r>
              <a:rPr lang="en-CA" sz="1200" i="1" kern="100" dirty="0">
                <a:effectLst/>
                <a:latin typeface="Montserrat" panose="00000500000000000000" pitchFamily="2" charset="0"/>
                <a:ea typeface="Aptos" panose="020B0004020202020204" pitchFamily="34" charset="0"/>
                <a:cs typeface="Times New Roman" panose="02020603050405020304" pitchFamily="18" charset="0"/>
              </a:rPr>
              <a:t>Lane keeping on highways</a:t>
            </a:r>
          </a:p>
          <a:p>
            <a:pPr algn="ctr">
              <a:lnSpc>
                <a:spcPct val="115000"/>
              </a:lnSpc>
              <a:spcAft>
                <a:spcPts val="800"/>
              </a:spcAft>
              <a:buNone/>
            </a:pPr>
            <a:r>
              <a:rPr lang="en-CA" sz="1200" i="1" kern="100" dirty="0">
                <a:effectLst/>
                <a:latin typeface="Montserrat" panose="00000500000000000000" pitchFamily="2" charset="0"/>
                <a:ea typeface="Aptos" panose="020B0004020202020204" pitchFamily="34" charset="0"/>
                <a:cs typeface="Times New Roman" panose="02020603050405020304" pitchFamily="18" charset="0"/>
              </a:rPr>
              <a:t>Adaptive cruise control</a:t>
            </a:r>
          </a:p>
          <a:p>
            <a:pPr algn="ctr">
              <a:lnSpc>
                <a:spcPct val="115000"/>
              </a:lnSpc>
              <a:spcAft>
                <a:spcPts val="800"/>
              </a:spcAft>
              <a:buNone/>
            </a:pPr>
            <a:r>
              <a:rPr lang="en-CA" sz="1200" i="1" kern="100" dirty="0">
                <a:effectLst/>
                <a:latin typeface="Montserrat" panose="00000500000000000000" pitchFamily="2" charset="0"/>
                <a:ea typeface="Aptos" panose="020B0004020202020204" pitchFamily="34" charset="0"/>
                <a:cs typeface="Times New Roman" panose="02020603050405020304" pitchFamily="18" charset="0"/>
              </a:rPr>
              <a:t>Automatic lane changes in clear conditions</a:t>
            </a:r>
          </a:p>
          <a:p>
            <a:pPr algn="ctr">
              <a:lnSpc>
                <a:spcPct val="115000"/>
              </a:lnSpc>
              <a:spcAft>
                <a:spcPts val="800"/>
              </a:spcAft>
              <a:buNone/>
            </a:pPr>
            <a:r>
              <a:rPr lang="en-CA" sz="1200" i="1" kern="100" dirty="0">
                <a:effectLst/>
                <a:latin typeface="Montserrat" panose="00000500000000000000" pitchFamily="2" charset="0"/>
                <a:ea typeface="Aptos" panose="020B0004020202020204" pitchFamily="34" charset="0"/>
                <a:cs typeface="Times New Roman" panose="02020603050405020304" pitchFamily="18" charset="0"/>
              </a:rPr>
              <a:t>Operating in daylight and good weather</a:t>
            </a:r>
          </a:p>
        </p:txBody>
      </p:sp>
      <p:sp>
        <p:nvSpPr>
          <p:cNvPr id="5" name="Oval 4">
            <a:extLst>
              <a:ext uri="{FF2B5EF4-FFF2-40B4-BE49-F238E27FC236}">
                <a16:creationId xmlns:a16="http://schemas.microsoft.com/office/drawing/2014/main" id="{C464B584-A42C-DFBF-B899-AA0E70B8654C}"/>
              </a:ext>
            </a:extLst>
          </p:cNvPr>
          <p:cNvSpPr/>
          <p:nvPr/>
        </p:nvSpPr>
        <p:spPr>
          <a:xfrm>
            <a:off x="3913911" y="3085961"/>
            <a:ext cx="3600000" cy="3600000"/>
          </a:xfrm>
          <a:prstGeom prst="ellipse">
            <a:avLst/>
          </a:prstGeom>
          <a:solidFill>
            <a:srgbClr val="D56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Montserrat" panose="00000500000000000000" pitchFamily="2" charset="0"/>
              </a:rPr>
              <a:t>Out of Scope (Future Phases):</a:t>
            </a:r>
          </a:p>
          <a:p>
            <a:pPr algn="ctr"/>
            <a:endParaRPr lang="en-US" b="1" dirty="0">
              <a:latin typeface="Montserrat" panose="00000500000000000000" pitchFamily="2" charset="0"/>
            </a:endParaRPr>
          </a:p>
          <a:p>
            <a:pPr algn="ctr"/>
            <a:r>
              <a:rPr lang="en-US" sz="1100" i="1" dirty="0">
                <a:latin typeface="Montserrat" panose="00000500000000000000" pitchFamily="2" charset="0"/>
              </a:rPr>
              <a:t>Urban driving (e.g., traffic lights, pedestrians, intersections)</a:t>
            </a:r>
          </a:p>
          <a:p>
            <a:pPr algn="ctr"/>
            <a:endParaRPr lang="en-US" sz="1100" i="1" dirty="0">
              <a:latin typeface="Montserrat" panose="00000500000000000000" pitchFamily="2" charset="0"/>
            </a:endParaRPr>
          </a:p>
          <a:p>
            <a:pPr algn="ctr"/>
            <a:r>
              <a:rPr lang="en-US" sz="1100" i="1" dirty="0">
                <a:latin typeface="Montserrat" panose="00000500000000000000" pitchFamily="2" charset="0"/>
              </a:rPr>
              <a:t>Complex weather conditions (e.g., snow, heavy rain, fog)</a:t>
            </a:r>
          </a:p>
          <a:p>
            <a:pPr algn="ctr"/>
            <a:endParaRPr lang="en-US" sz="1100" i="1" dirty="0">
              <a:latin typeface="Montserrat" panose="00000500000000000000" pitchFamily="2" charset="0"/>
            </a:endParaRPr>
          </a:p>
          <a:p>
            <a:pPr algn="ctr"/>
            <a:r>
              <a:rPr lang="en-US" sz="1100" i="1" dirty="0">
                <a:latin typeface="Montserrat" panose="00000500000000000000" pitchFamily="2" charset="0"/>
              </a:rPr>
              <a:t>Construction zones and unstructured environments</a:t>
            </a:r>
          </a:p>
          <a:p>
            <a:pPr algn="ctr"/>
            <a:endParaRPr lang="en-US" sz="1100" i="1" dirty="0">
              <a:latin typeface="Montserrat" panose="00000500000000000000" pitchFamily="2" charset="0"/>
            </a:endParaRPr>
          </a:p>
          <a:p>
            <a:pPr algn="ctr"/>
            <a:r>
              <a:rPr lang="en-US" sz="1100" i="1" dirty="0">
                <a:latin typeface="Montserrat" panose="00000500000000000000" pitchFamily="2" charset="0"/>
              </a:rPr>
              <a:t>Nighttime driving with limited visibility</a:t>
            </a:r>
          </a:p>
        </p:txBody>
      </p:sp>
      <p:pic>
        <p:nvPicPr>
          <p:cNvPr id="7" name="Picture 6" descr="A car driving on a highway&#10;&#10;AI-generated content may be incorrect.">
            <a:extLst>
              <a:ext uri="{FF2B5EF4-FFF2-40B4-BE49-F238E27FC236}">
                <a16:creationId xmlns:a16="http://schemas.microsoft.com/office/drawing/2014/main" id="{C3CE8595-8E47-A112-8AAD-88CF496B6D10}"/>
              </a:ext>
            </a:extLst>
          </p:cNvPr>
          <p:cNvPicPr>
            <a:picLocks noChangeAspect="1"/>
          </p:cNvPicPr>
          <p:nvPr/>
        </p:nvPicPr>
        <p:blipFill>
          <a:blip r:embed="rId4"/>
          <a:srcRect b="23056"/>
          <a:stretch/>
        </p:blipFill>
        <p:spPr>
          <a:xfrm>
            <a:off x="8487920" y="907670"/>
            <a:ext cx="3425767" cy="263593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09">
                                            <p:txEl>
                                              <p:pRg st="3" end="3"/>
                                            </p:txEl>
                                          </p:spTgt>
                                        </p:tgtEl>
                                        <p:attrNameLst>
                                          <p:attrName>style.visibility</p:attrName>
                                        </p:attrNameLst>
                                      </p:cBhvr>
                                      <p:to>
                                        <p:strVal val="visible"/>
                                      </p:to>
                                    </p:set>
                                    <p:animEffect transition="in" filter="fade">
                                      <p:cBhvr>
                                        <p:cTn id="11" dur="500"/>
                                        <p:tgtEl>
                                          <p:spTgt spid="309">
                                            <p:txEl>
                                              <p:pRg st="3" end="3"/>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4ABB6-F2A5-AC9C-544F-93E82D19F0F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516E01-FFA3-7F44-49BC-79E6528B502E}"/>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308890BE-06C3-DABF-CCA1-93A3DBD401CF}"/>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77F28405-E530-9FA9-C643-551B9EBE2459}"/>
              </a:ext>
            </a:extLst>
          </p:cNvPr>
          <p:cNvSpPr/>
          <p:nvPr/>
        </p:nvSpPr>
        <p:spPr>
          <a:xfrm>
            <a:off x="293914" y="793804"/>
            <a:ext cx="5578566"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PRACTICE OPPORTUNITY</a:t>
            </a:r>
          </a:p>
        </p:txBody>
      </p:sp>
    </p:spTree>
    <p:extLst>
      <p:ext uri="{BB962C8B-B14F-4D97-AF65-F5344CB8AC3E}">
        <p14:creationId xmlns:p14="http://schemas.microsoft.com/office/powerpoint/2010/main" val="29709955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C501F-B687-DF4F-6694-54BB8189F15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7268A05-6475-BF16-A57A-DD35185AB012}"/>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2CB8E283-DB1F-8A69-BA81-A701612FF2CB}"/>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a:t>
            </a:r>
          </a:p>
        </p:txBody>
      </p:sp>
      <p:pic>
        <p:nvPicPr>
          <p:cNvPr id="3" name="Picture 2">
            <a:extLst>
              <a:ext uri="{FF2B5EF4-FFF2-40B4-BE49-F238E27FC236}">
                <a16:creationId xmlns:a16="http://schemas.microsoft.com/office/drawing/2014/main" id="{A295884B-FDCA-4FC2-2464-A853B8E66B0C}"/>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934522" y="1962897"/>
            <a:ext cx="3206725" cy="2537445"/>
          </a:xfrm>
          <a:prstGeom prst="rect">
            <a:avLst/>
          </a:prstGeom>
        </p:spPr>
      </p:pic>
      <p:sp>
        <p:nvSpPr>
          <p:cNvPr id="12" name="TextBox 11">
            <a:extLst>
              <a:ext uri="{FF2B5EF4-FFF2-40B4-BE49-F238E27FC236}">
                <a16:creationId xmlns:a16="http://schemas.microsoft.com/office/drawing/2014/main" id="{00BE06CC-92E9-642D-4ACF-C2A1D956B618}"/>
              </a:ext>
            </a:extLst>
          </p:cNvPr>
          <p:cNvSpPr txBox="1"/>
          <p:nvPr/>
        </p:nvSpPr>
        <p:spPr>
          <a:xfrm>
            <a:off x="300038" y="894476"/>
            <a:ext cx="8634484" cy="4994188"/>
          </a:xfrm>
          <a:prstGeom prst="rect">
            <a:avLst/>
          </a:prstGeom>
          <a:noFill/>
        </p:spPr>
        <p:txBody>
          <a:bodyPr wrap="square">
            <a:spAutoFit/>
          </a:bodyPr>
          <a:lstStyle>
            <a:defPPr>
              <a:defRPr lang="en-US"/>
            </a:defPPr>
            <a:lvl1pPr marL="285750" indent="-285750">
              <a:buFont typeface="Arial" panose="020B0604020202020204" pitchFamily="34" charset="0"/>
              <a:buChar char="•"/>
              <a:defRPr>
                <a:latin typeface="Montserrat" panose="00000500000000000000" pitchFamily="2" charset="0"/>
              </a:defRPr>
            </a:lvl1pPr>
          </a:lstStyle>
          <a:p>
            <a:pPr marL="0" indent="0">
              <a:buNone/>
            </a:pPr>
            <a:r>
              <a:rPr lang="en-US" sz="1400" b="1" dirty="0"/>
              <a:t>Background</a:t>
            </a:r>
            <a:endParaRPr lang="en-US" sz="1400" dirty="0"/>
          </a:p>
          <a:p>
            <a:pPr>
              <a:lnSpc>
                <a:spcPct val="115000"/>
              </a:lnSpc>
              <a:spcAft>
                <a:spcPts val="800"/>
              </a:spcAft>
            </a:pPr>
            <a:r>
              <a:rPr lang="en-CA" sz="1400" dirty="0"/>
              <a:t>UnitedHealth Group is one of the largest health insurance providers in North America. The company processes over 10 million claims yearly, with rising concerns about fraudulent activity, especially in dental and outpatient claims. Leadership wants to implement an AI model to automatically flag potentially fraudulent claims for human review, helping reduce unnecessary payouts and speed up claims processing.</a:t>
            </a:r>
          </a:p>
          <a:p>
            <a:pPr>
              <a:lnSpc>
                <a:spcPct val="115000"/>
              </a:lnSpc>
              <a:spcAft>
                <a:spcPts val="800"/>
              </a:spcAft>
            </a:pPr>
            <a:r>
              <a:rPr lang="en-CA" sz="1400" dirty="0"/>
              <a:t>The data science team at UnitedHealth Group is small (2 data analysts and 1 software engineer), but the company has budgeted for hiring one external AI consultant to support the MVP phase. UnitedHealth Group already stores its claims data in a cloud database (</a:t>
            </a:r>
            <a:r>
              <a:rPr lang="en-CA" sz="1400" dirty="0" err="1"/>
              <a:t>BigQuery</a:t>
            </a:r>
            <a:r>
              <a:rPr lang="en-CA" sz="1400" dirty="0"/>
              <a:t>) and uses Google Cloud tools like </a:t>
            </a:r>
            <a:r>
              <a:rPr lang="en-CA" sz="1400" dirty="0" err="1"/>
              <a:t>AutoML</a:t>
            </a:r>
            <a:r>
              <a:rPr lang="en-CA" sz="1400" dirty="0"/>
              <a:t> and Vertex AI for analytics. Historical claim data includes structured fields such as: Type of procedure, Date of service, Claimed amount, Provider ID, and Region. The leadership team aims to launch a prototype in 6 months, starting with the most frequent and least complex claims.</a:t>
            </a:r>
            <a:endParaRPr lang="en-US" sz="1400" dirty="0"/>
          </a:p>
          <a:p>
            <a:r>
              <a:rPr lang="en-US" sz="1400" dirty="0"/>
              <a:t>You are part of a team tasked with evaluating the feasibility of this AI project and defining its initial scope before the company invests resources.</a:t>
            </a:r>
          </a:p>
          <a:p>
            <a:pPr marL="0" indent="0">
              <a:buNone/>
            </a:pPr>
            <a:endParaRPr lang="en-US" sz="1400" dirty="0"/>
          </a:p>
          <a:p>
            <a:pPr marL="0" indent="0">
              <a:buNone/>
            </a:pPr>
            <a:r>
              <a:rPr lang="en-US" sz="1400" b="1" dirty="0"/>
              <a:t>Your Tasks</a:t>
            </a:r>
          </a:p>
          <a:p>
            <a:r>
              <a:rPr lang="en-US" sz="1400" dirty="0"/>
              <a:t>Assess whether the project is technically and organizationally feasible.</a:t>
            </a:r>
          </a:p>
          <a:p>
            <a:r>
              <a:rPr lang="en-US" sz="1400" dirty="0"/>
              <a:t>Define what the AI system should focus on in its first version (MVP) and what should be left for future phases.</a:t>
            </a:r>
          </a:p>
        </p:txBody>
      </p:sp>
    </p:spTree>
    <p:extLst>
      <p:ext uri="{BB962C8B-B14F-4D97-AF65-F5344CB8AC3E}">
        <p14:creationId xmlns:p14="http://schemas.microsoft.com/office/powerpoint/2010/main" val="1076032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01EFF-94F8-ED68-29FE-C3AE882A02E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E66122F-DE41-FB4C-321B-86A64DFF57F1}"/>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F643C514-A22F-5FB2-7497-C810AA488CAB}"/>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 Solution</a:t>
            </a:r>
          </a:p>
        </p:txBody>
      </p:sp>
      <p:graphicFrame>
        <p:nvGraphicFramePr>
          <p:cNvPr id="3" name="Table 2">
            <a:extLst>
              <a:ext uri="{FF2B5EF4-FFF2-40B4-BE49-F238E27FC236}">
                <a16:creationId xmlns:a16="http://schemas.microsoft.com/office/drawing/2014/main" id="{EE746699-D16F-05F9-E06E-55668737B865}"/>
              </a:ext>
            </a:extLst>
          </p:cNvPr>
          <p:cNvGraphicFramePr>
            <a:graphicFrameLocks noGrp="1"/>
          </p:cNvGraphicFramePr>
          <p:nvPr>
            <p:extLst>
              <p:ext uri="{D42A27DB-BD31-4B8C-83A1-F6EECF244321}">
                <p14:modId xmlns:p14="http://schemas.microsoft.com/office/powerpoint/2010/main" val="3463306167"/>
              </p:ext>
            </p:extLst>
          </p:nvPr>
        </p:nvGraphicFramePr>
        <p:xfrm>
          <a:off x="222250" y="972625"/>
          <a:ext cx="11387183" cy="2810564"/>
        </p:xfrm>
        <a:graphic>
          <a:graphicData uri="http://schemas.openxmlformats.org/drawingml/2006/table">
            <a:tbl>
              <a:tblPr/>
              <a:tblGrid>
                <a:gridCol w="2762392">
                  <a:extLst>
                    <a:ext uri="{9D8B030D-6E8A-4147-A177-3AD203B41FA5}">
                      <a16:colId xmlns:a16="http://schemas.microsoft.com/office/drawing/2014/main" val="1205293282"/>
                    </a:ext>
                  </a:extLst>
                </a:gridCol>
                <a:gridCol w="1036084">
                  <a:extLst>
                    <a:ext uri="{9D8B030D-6E8A-4147-A177-3AD203B41FA5}">
                      <a16:colId xmlns:a16="http://schemas.microsoft.com/office/drawing/2014/main" val="2180543990"/>
                    </a:ext>
                  </a:extLst>
                </a:gridCol>
                <a:gridCol w="7588707">
                  <a:extLst>
                    <a:ext uri="{9D8B030D-6E8A-4147-A177-3AD203B41FA5}">
                      <a16:colId xmlns:a16="http://schemas.microsoft.com/office/drawing/2014/main" val="3452380334"/>
                    </a:ext>
                  </a:extLst>
                </a:gridCol>
              </a:tblGrid>
              <a:tr h="183353">
                <a:tc>
                  <a:txBody>
                    <a:bodyPr/>
                    <a:lstStyle/>
                    <a:p>
                      <a:r>
                        <a:rPr lang="en-CA" sz="1400" b="1">
                          <a:latin typeface="Montserrat" panose="00000500000000000000" pitchFamily="2" charset="0"/>
                        </a:rPr>
                        <a:t>Pillar</a:t>
                      </a:r>
                      <a:endParaRPr lang="en-CA" sz="1400">
                        <a:latin typeface="Montserrat" panose="00000500000000000000" pitchFamily="2" charset="0"/>
                      </a:endParaRPr>
                    </a:p>
                  </a:txBody>
                  <a:tcPr marL="70183" marR="70183" marT="35091" marB="35091" anchor="ctr">
                    <a:lnL>
                      <a:noFill/>
                    </a:lnL>
                    <a:lnR>
                      <a:noFill/>
                    </a:lnR>
                    <a:lnT>
                      <a:noFill/>
                    </a:lnT>
                    <a:lnB>
                      <a:noFill/>
                    </a:lnB>
                    <a:noFill/>
                  </a:tcPr>
                </a:tc>
                <a:tc>
                  <a:txBody>
                    <a:bodyPr/>
                    <a:lstStyle/>
                    <a:p>
                      <a:r>
                        <a:rPr lang="en-CA" sz="1400" b="1">
                          <a:latin typeface="Montserrat" panose="00000500000000000000" pitchFamily="2" charset="0"/>
                        </a:rPr>
                        <a:t>Feasible?</a:t>
                      </a:r>
                      <a:endParaRPr lang="en-CA" sz="1400">
                        <a:latin typeface="Montserrat" panose="00000500000000000000" pitchFamily="2" charset="0"/>
                      </a:endParaRPr>
                    </a:p>
                  </a:txBody>
                  <a:tcPr marL="70183" marR="70183" marT="35091" marB="35091" anchor="ctr">
                    <a:lnL>
                      <a:noFill/>
                    </a:lnL>
                    <a:lnR>
                      <a:noFill/>
                    </a:lnR>
                    <a:lnT>
                      <a:noFill/>
                    </a:lnT>
                    <a:lnB>
                      <a:noFill/>
                    </a:lnB>
                    <a:noFill/>
                  </a:tcPr>
                </a:tc>
                <a:tc>
                  <a:txBody>
                    <a:bodyPr/>
                    <a:lstStyle/>
                    <a:p>
                      <a:r>
                        <a:rPr lang="en-CA" sz="1400" b="1">
                          <a:latin typeface="Montserrat" panose="00000500000000000000" pitchFamily="2" charset="0"/>
                        </a:rPr>
                        <a:t>Reasoning</a:t>
                      </a:r>
                      <a:endParaRPr lang="en-CA" sz="1400">
                        <a:latin typeface="Montserrat" panose="00000500000000000000" pitchFamily="2" charset="0"/>
                      </a:endParaRPr>
                    </a:p>
                  </a:txBody>
                  <a:tcPr marL="70183" marR="70183" marT="35091" marB="35091" anchor="ctr">
                    <a:lnL>
                      <a:noFill/>
                    </a:lnL>
                    <a:lnR>
                      <a:noFill/>
                    </a:lnR>
                    <a:lnT>
                      <a:noFill/>
                    </a:lnT>
                    <a:lnB>
                      <a:noFill/>
                    </a:lnB>
                    <a:noFill/>
                  </a:tcPr>
                </a:tc>
                <a:extLst>
                  <a:ext uri="{0D108BD9-81ED-4DB2-BD59-A6C34878D82A}">
                    <a16:rowId xmlns:a16="http://schemas.microsoft.com/office/drawing/2014/main" val="931041007"/>
                  </a:ext>
                </a:extLst>
              </a:tr>
              <a:tr h="597263">
                <a:tc>
                  <a:txBody>
                    <a:bodyPr/>
                    <a:lstStyle/>
                    <a:p>
                      <a:r>
                        <a:rPr lang="en-CA" sz="1400" b="1">
                          <a:latin typeface="Montserrat" panose="00000500000000000000" pitchFamily="2" charset="0"/>
                        </a:rPr>
                        <a:t>Technical Feasibility</a:t>
                      </a:r>
                      <a:endParaRPr lang="en-CA" sz="1400">
                        <a:latin typeface="Montserrat" panose="00000500000000000000" pitchFamily="2" charset="0"/>
                      </a:endParaRPr>
                    </a:p>
                  </a:txBody>
                  <a:tcPr marL="70183" marR="70183" marT="35091" marB="35091" anchor="ctr">
                    <a:lnL>
                      <a:noFill/>
                    </a:lnL>
                    <a:lnR>
                      <a:noFill/>
                    </a:lnR>
                    <a:lnT>
                      <a:noFill/>
                    </a:lnT>
                    <a:lnB>
                      <a:noFill/>
                    </a:lnB>
                    <a:noFill/>
                  </a:tcPr>
                </a:tc>
                <a:tc>
                  <a:txBody>
                    <a:bodyPr/>
                    <a:lstStyle/>
                    <a:p>
                      <a:r>
                        <a:rPr lang="en-CA" sz="1400" dirty="0">
                          <a:latin typeface="Montserrat" panose="00000500000000000000" pitchFamily="2" charset="0"/>
                        </a:rPr>
                        <a:t>Yes</a:t>
                      </a:r>
                    </a:p>
                  </a:txBody>
                  <a:tcPr marL="70183" marR="70183" marT="35091" marB="35091" anchor="ctr">
                    <a:lnL>
                      <a:noFill/>
                    </a:lnL>
                    <a:lnR>
                      <a:noFill/>
                    </a:lnR>
                    <a:lnT>
                      <a:noFill/>
                    </a:lnT>
                    <a:lnB>
                      <a:noFill/>
                    </a:lnB>
                    <a:noFill/>
                  </a:tcPr>
                </a:tc>
                <a:tc>
                  <a:txBody>
                    <a:bodyPr/>
                    <a:lstStyle/>
                    <a:p>
                      <a:r>
                        <a:rPr lang="en-US" sz="1400" dirty="0">
                          <a:latin typeface="Montserrat" panose="00000500000000000000" pitchFamily="2" charset="0"/>
                        </a:rPr>
                        <a:t>UnitedHealth Group uses Google Cloud, </a:t>
                      </a:r>
                      <a:r>
                        <a:rPr lang="en-US" sz="1400" dirty="0" err="1">
                          <a:latin typeface="Montserrat" panose="00000500000000000000" pitchFamily="2" charset="0"/>
                        </a:rPr>
                        <a:t>BigQuery</a:t>
                      </a:r>
                      <a:r>
                        <a:rPr lang="en-US" sz="1400" dirty="0">
                          <a:latin typeface="Montserrat" panose="00000500000000000000" pitchFamily="2" charset="0"/>
                        </a:rPr>
                        <a:t>, and </a:t>
                      </a:r>
                      <a:r>
                        <a:rPr lang="en-US" sz="1400" dirty="0" err="1">
                          <a:latin typeface="Montserrat" panose="00000500000000000000" pitchFamily="2" charset="0"/>
                        </a:rPr>
                        <a:t>AutoML</a:t>
                      </a:r>
                      <a:r>
                        <a:rPr lang="en-US" sz="1400" dirty="0">
                          <a:latin typeface="Montserrat" panose="00000500000000000000" pitchFamily="2" charset="0"/>
                        </a:rPr>
                        <a:t>; sufficient for building a fraud detection prototype using structured data.</a:t>
                      </a:r>
                    </a:p>
                  </a:txBody>
                  <a:tcPr marL="70183" marR="70183" marT="35091" marB="35091" anchor="ctr">
                    <a:lnL>
                      <a:noFill/>
                    </a:lnL>
                    <a:lnR>
                      <a:noFill/>
                    </a:lnR>
                    <a:lnT>
                      <a:noFill/>
                    </a:lnT>
                    <a:lnB>
                      <a:noFill/>
                    </a:lnB>
                    <a:noFill/>
                  </a:tcPr>
                </a:tc>
                <a:extLst>
                  <a:ext uri="{0D108BD9-81ED-4DB2-BD59-A6C34878D82A}">
                    <a16:rowId xmlns:a16="http://schemas.microsoft.com/office/drawing/2014/main" val="796065157"/>
                  </a:ext>
                </a:extLst>
              </a:tr>
              <a:tr h="597263">
                <a:tc>
                  <a:txBody>
                    <a:bodyPr/>
                    <a:lstStyle/>
                    <a:p>
                      <a:r>
                        <a:rPr lang="en-CA" sz="1400" b="1">
                          <a:latin typeface="Montserrat" panose="00000500000000000000" pitchFamily="2" charset="0"/>
                        </a:rPr>
                        <a:t>Organizational Readiness</a:t>
                      </a:r>
                      <a:endParaRPr lang="en-CA" sz="1400">
                        <a:latin typeface="Montserrat" panose="00000500000000000000" pitchFamily="2" charset="0"/>
                      </a:endParaRPr>
                    </a:p>
                  </a:txBody>
                  <a:tcPr marL="70183" marR="70183" marT="35091" marB="35091" anchor="ctr">
                    <a:lnL>
                      <a:noFill/>
                    </a:lnL>
                    <a:lnR>
                      <a:noFill/>
                    </a:lnR>
                    <a:lnT>
                      <a:noFill/>
                    </a:lnT>
                    <a:lnB>
                      <a:noFill/>
                    </a:lnB>
                    <a:noFill/>
                  </a:tcPr>
                </a:tc>
                <a:tc>
                  <a:txBody>
                    <a:bodyPr/>
                    <a:lstStyle/>
                    <a:p>
                      <a:r>
                        <a:rPr lang="en-CA" sz="1400" dirty="0">
                          <a:latin typeface="Montserrat" panose="00000500000000000000" pitchFamily="2" charset="0"/>
                        </a:rPr>
                        <a:t>Partially</a:t>
                      </a:r>
                    </a:p>
                  </a:txBody>
                  <a:tcPr marL="70183" marR="70183" marT="35091" marB="35091" anchor="ctr">
                    <a:lnL>
                      <a:noFill/>
                    </a:lnL>
                    <a:lnR>
                      <a:noFill/>
                    </a:lnR>
                    <a:lnT>
                      <a:noFill/>
                    </a:lnT>
                    <a:lnB>
                      <a:noFill/>
                    </a:lnB>
                    <a:noFill/>
                  </a:tcPr>
                </a:tc>
                <a:tc>
                  <a:txBody>
                    <a:bodyPr/>
                    <a:lstStyle/>
                    <a:p>
                      <a:r>
                        <a:rPr lang="en-US" sz="1400" dirty="0">
                          <a:latin typeface="Montserrat" panose="00000500000000000000" pitchFamily="2" charset="0"/>
                        </a:rPr>
                        <a:t>The internal team is small, but support from an external AI consultant makes an MVP feasible. More hiring would be needed for full deployment.</a:t>
                      </a:r>
                    </a:p>
                  </a:txBody>
                  <a:tcPr marL="70183" marR="70183" marT="35091" marB="35091" anchor="ctr">
                    <a:lnL>
                      <a:noFill/>
                    </a:lnL>
                    <a:lnR>
                      <a:noFill/>
                    </a:lnR>
                    <a:lnT>
                      <a:noFill/>
                    </a:lnT>
                    <a:lnB>
                      <a:noFill/>
                    </a:lnB>
                    <a:noFill/>
                  </a:tcPr>
                </a:tc>
                <a:extLst>
                  <a:ext uri="{0D108BD9-81ED-4DB2-BD59-A6C34878D82A}">
                    <a16:rowId xmlns:a16="http://schemas.microsoft.com/office/drawing/2014/main" val="639854559"/>
                  </a:ext>
                </a:extLst>
              </a:tr>
              <a:tr h="735233">
                <a:tc>
                  <a:txBody>
                    <a:bodyPr/>
                    <a:lstStyle/>
                    <a:p>
                      <a:r>
                        <a:rPr lang="en-CA" sz="1400" b="1">
                          <a:latin typeface="Montserrat" panose="00000500000000000000" pitchFamily="2" charset="0"/>
                        </a:rPr>
                        <a:t>Data Availability &amp; Quality</a:t>
                      </a:r>
                      <a:endParaRPr lang="en-CA" sz="1400">
                        <a:latin typeface="Montserrat" panose="00000500000000000000" pitchFamily="2" charset="0"/>
                      </a:endParaRPr>
                    </a:p>
                  </a:txBody>
                  <a:tcPr marL="70183" marR="70183" marT="35091" marB="35091" anchor="ctr">
                    <a:lnL>
                      <a:noFill/>
                    </a:lnL>
                    <a:lnR>
                      <a:noFill/>
                    </a:lnR>
                    <a:lnT>
                      <a:noFill/>
                    </a:lnT>
                    <a:lnB>
                      <a:noFill/>
                    </a:lnB>
                    <a:noFill/>
                  </a:tcPr>
                </a:tc>
                <a:tc>
                  <a:txBody>
                    <a:bodyPr/>
                    <a:lstStyle/>
                    <a:p>
                      <a:r>
                        <a:rPr lang="en-CA" sz="1400" dirty="0">
                          <a:latin typeface="Montserrat" panose="00000500000000000000" pitchFamily="2" charset="0"/>
                        </a:rPr>
                        <a:t>Yes</a:t>
                      </a:r>
                    </a:p>
                  </a:txBody>
                  <a:tcPr marL="70183" marR="70183" marT="35091" marB="35091" anchor="ctr">
                    <a:lnL>
                      <a:noFill/>
                    </a:lnL>
                    <a:lnR>
                      <a:noFill/>
                    </a:lnR>
                    <a:lnT>
                      <a:noFill/>
                    </a:lnT>
                    <a:lnB>
                      <a:noFill/>
                    </a:lnB>
                    <a:noFill/>
                  </a:tcPr>
                </a:tc>
                <a:tc>
                  <a:txBody>
                    <a:bodyPr/>
                    <a:lstStyle/>
                    <a:p>
                      <a:r>
                        <a:rPr lang="en-US" sz="1400" dirty="0">
                          <a:latin typeface="Montserrat" panose="00000500000000000000" pitchFamily="2" charset="0"/>
                        </a:rPr>
                        <a:t>The company has labeled historical structured data (procedure code, amount, approval outcome), which is clean and stored in a modern cloud system.</a:t>
                      </a:r>
                    </a:p>
                  </a:txBody>
                  <a:tcPr marL="70183" marR="70183" marT="35091" marB="35091" anchor="ctr">
                    <a:lnL>
                      <a:noFill/>
                    </a:lnL>
                    <a:lnR>
                      <a:noFill/>
                    </a:lnR>
                    <a:lnT>
                      <a:noFill/>
                    </a:lnT>
                    <a:lnB>
                      <a:noFill/>
                    </a:lnB>
                    <a:noFill/>
                  </a:tcPr>
                </a:tc>
                <a:extLst>
                  <a:ext uri="{0D108BD9-81ED-4DB2-BD59-A6C34878D82A}">
                    <a16:rowId xmlns:a16="http://schemas.microsoft.com/office/drawing/2014/main" val="2488455873"/>
                  </a:ext>
                </a:extLst>
              </a:tr>
              <a:tr h="597263">
                <a:tc>
                  <a:txBody>
                    <a:bodyPr/>
                    <a:lstStyle/>
                    <a:p>
                      <a:r>
                        <a:rPr lang="en-CA" sz="1400" b="1">
                          <a:latin typeface="Montserrat" panose="00000500000000000000" pitchFamily="2" charset="0"/>
                        </a:rPr>
                        <a:t>Cost &amp; Resource Constraints</a:t>
                      </a:r>
                      <a:endParaRPr lang="en-CA" sz="1400">
                        <a:latin typeface="Montserrat" panose="00000500000000000000" pitchFamily="2" charset="0"/>
                      </a:endParaRPr>
                    </a:p>
                  </a:txBody>
                  <a:tcPr marL="70183" marR="70183" marT="35091" marB="35091" anchor="ctr">
                    <a:lnL>
                      <a:noFill/>
                    </a:lnL>
                    <a:lnR>
                      <a:noFill/>
                    </a:lnR>
                    <a:lnT>
                      <a:noFill/>
                    </a:lnT>
                    <a:lnB>
                      <a:noFill/>
                    </a:lnB>
                    <a:noFill/>
                  </a:tcPr>
                </a:tc>
                <a:tc>
                  <a:txBody>
                    <a:bodyPr/>
                    <a:lstStyle/>
                    <a:p>
                      <a:r>
                        <a:rPr lang="en-CA" sz="1400" dirty="0">
                          <a:latin typeface="Montserrat" panose="00000500000000000000" pitchFamily="2" charset="0"/>
                        </a:rPr>
                        <a:t> Yes</a:t>
                      </a:r>
                    </a:p>
                  </a:txBody>
                  <a:tcPr marL="70183" marR="70183" marT="35091" marB="35091" anchor="ctr">
                    <a:lnL>
                      <a:noFill/>
                    </a:lnL>
                    <a:lnR>
                      <a:noFill/>
                    </a:lnR>
                    <a:lnT>
                      <a:noFill/>
                    </a:lnT>
                    <a:lnB>
                      <a:noFill/>
                    </a:lnB>
                    <a:noFill/>
                  </a:tcPr>
                </a:tc>
                <a:tc>
                  <a:txBody>
                    <a:bodyPr/>
                    <a:lstStyle/>
                    <a:p>
                      <a:r>
                        <a:rPr lang="en-US" sz="1400" dirty="0">
                          <a:latin typeface="Montserrat" panose="00000500000000000000" pitchFamily="2" charset="0"/>
                        </a:rPr>
                        <a:t>The project is scoped to 6 months, leveraging existing tools (</a:t>
                      </a:r>
                      <a:r>
                        <a:rPr lang="en-US" sz="1400" dirty="0" err="1">
                          <a:latin typeface="Montserrat" panose="00000500000000000000" pitchFamily="2" charset="0"/>
                        </a:rPr>
                        <a:t>AutoML</a:t>
                      </a:r>
                      <a:r>
                        <a:rPr lang="en-US" sz="1400" dirty="0">
                          <a:latin typeface="Montserrat" panose="00000500000000000000" pitchFamily="2" charset="0"/>
                        </a:rPr>
                        <a:t>) and an external consultant. This is realistic for a Phase 1 MVP.</a:t>
                      </a:r>
                    </a:p>
                  </a:txBody>
                  <a:tcPr marL="70183" marR="70183" marT="35091" marB="35091" anchor="ctr">
                    <a:lnL>
                      <a:noFill/>
                    </a:lnL>
                    <a:lnR>
                      <a:noFill/>
                    </a:lnR>
                    <a:lnT>
                      <a:noFill/>
                    </a:lnT>
                    <a:lnB>
                      <a:noFill/>
                    </a:lnB>
                    <a:noFill/>
                  </a:tcPr>
                </a:tc>
                <a:extLst>
                  <a:ext uri="{0D108BD9-81ED-4DB2-BD59-A6C34878D82A}">
                    <a16:rowId xmlns:a16="http://schemas.microsoft.com/office/drawing/2014/main" val="2305060421"/>
                  </a:ext>
                </a:extLst>
              </a:tr>
            </a:tbl>
          </a:graphicData>
        </a:graphic>
      </p:graphicFrame>
    </p:spTree>
    <p:extLst>
      <p:ext uri="{BB962C8B-B14F-4D97-AF65-F5344CB8AC3E}">
        <p14:creationId xmlns:p14="http://schemas.microsoft.com/office/powerpoint/2010/main" val="1419595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AAF01-A153-9F6C-B304-1900A57F8BF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EB3EC3A-8C0A-1B2A-2107-21E9A24147E5}"/>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C23C2C2A-002D-C216-4F57-D910326BD563}"/>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 Solution</a:t>
            </a:r>
          </a:p>
        </p:txBody>
      </p:sp>
      <p:graphicFrame>
        <p:nvGraphicFramePr>
          <p:cNvPr id="2" name="Table 1">
            <a:extLst>
              <a:ext uri="{FF2B5EF4-FFF2-40B4-BE49-F238E27FC236}">
                <a16:creationId xmlns:a16="http://schemas.microsoft.com/office/drawing/2014/main" id="{CF22C173-8F05-AA50-93AA-E1DD93E19FB3}"/>
              </a:ext>
            </a:extLst>
          </p:cNvPr>
          <p:cNvGraphicFramePr>
            <a:graphicFrameLocks noGrp="1"/>
          </p:cNvGraphicFramePr>
          <p:nvPr>
            <p:extLst>
              <p:ext uri="{D42A27DB-BD31-4B8C-83A1-F6EECF244321}">
                <p14:modId xmlns:p14="http://schemas.microsoft.com/office/powerpoint/2010/main" val="1407203432"/>
              </p:ext>
            </p:extLst>
          </p:nvPr>
        </p:nvGraphicFramePr>
        <p:xfrm>
          <a:off x="686910" y="1118394"/>
          <a:ext cx="10762140" cy="1828800"/>
        </p:xfrm>
        <a:graphic>
          <a:graphicData uri="http://schemas.openxmlformats.org/drawingml/2006/table">
            <a:tbl>
              <a:tblPr>
                <a:tableStyleId>{3B4B98B0-60AC-42C2-AFA5-B58CD77FA1E5}</a:tableStyleId>
              </a:tblPr>
              <a:tblGrid>
                <a:gridCol w="5205890">
                  <a:extLst>
                    <a:ext uri="{9D8B030D-6E8A-4147-A177-3AD203B41FA5}">
                      <a16:colId xmlns:a16="http://schemas.microsoft.com/office/drawing/2014/main" val="2524693917"/>
                    </a:ext>
                  </a:extLst>
                </a:gridCol>
                <a:gridCol w="5556250">
                  <a:extLst>
                    <a:ext uri="{9D8B030D-6E8A-4147-A177-3AD203B41FA5}">
                      <a16:colId xmlns:a16="http://schemas.microsoft.com/office/drawing/2014/main" val="3699217392"/>
                    </a:ext>
                  </a:extLst>
                </a:gridCol>
              </a:tblGrid>
              <a:tr h="0">
                <a:tc>
                  <a:txBody>
                    <a:bodyPr/>
                    <a:lstStyle/>
                    <a:p>
                      <a:r>
                        <a:rPr lang="en-CA" sz="1400" b="1" dirty="0">
                          <a:latin typeface="Montserrat" panose="00000500000000000000" pitchFamily="2" charset="0"/>
                        </a:rPr>
                        <a:t>In Scope (Phase 1 - MVP)</a:t>
                      </a:r>
                    </a:p>
                  </a:txBody>
                  <a:tcPr anchor="ctr"/>
                </a:tc>
                <a:tc>
                  <a:txBody>
                    <a:bodyPr/>
                    <a:lstStyle/>
                    <a:p>
                      <a:r>
                        <a:rPr lang="en-US" sz="1400" b="1" dirty="0">
                          <a:latin typeface="Montserrat" panose="00000500000000000000" pitchFamily="2" charset="0"/>
                        </a:rPr>
                        <a:t>Out of Scope (Future Phases)</a:t>
                      </a:r>
                    </a:p>
                  </a:txBody>
                  <a:tcPr anchor="ctr"/>
                </a:tc>
                <a:extLst>
                  <a:ext uri="{0D108BD9-81ED-4DB2-BD59-A6C34878D82A}">
                    <a16:rowId xmlns:a16="http://schemas.microsoft.com/office/drawing/2014/main" val="3420678043"/>
                  </a:ext>
                </a:extLst>
              </a:tr>
              <a:tr h="0">
                <a:tc>
                  <a:txBody>
                    <a:bodyPr/>
                    <a:lstStyle/>
                    <a:p>
                      <a:r>
                        <a:rPr lang="en-US" sz="1400" b="0" dirty="0">
                          <a:latin typeface="Montserrat" panose="00000500000000000000" pitchFamily="2" charset="0"/>
                        </a:rPr>
                        <a:t>Focus on dental and outpatient claims</a:t>
                      </a:r>
                    </a:p>
                  </a:txBody>
                  <a:tcPr anchor="ctr"/>
                </a:tc>
                <a:tc>
                  <a:txBody>
                    <a:bodyPr/>
                    <a:lstStyle/>
                    <a:p>
                      <a:r>
                        <a:rPr lang="en-US" sz="1400" b="0" dirty="0">
                          <a:latin typeface="Montserrat" panose="00000500000000000000" pitchFamily="2" charset="0"/>
                        </a:rPr>
                        <a:t>Complex claims such as surgical</a:t>
                      </a:r>
                    </a:p>
                  </a:txBody>
                  <a:tcPr anchor="ctr"/>
                </a:tc>
                <a:extLst>
                  <a:ext uri="{0D108BD9-81ED-4DB2-BD59-A6C34878D82A}">
                    <a16:rowId xmlns:a16="http://schemas.microsoft.com/office/drawing/2014/main" val="1766419524"/>
                  </a:ext>
                </a:extLst>
              </a:tr>
              <a:tr h="0">
                <a:tc>
                  <a:txBody>
                    <a:bodyPr/>
                    <a:lstStyle/>
                    <a:p>
                      <a:r>
                        <a:rPr lang="en-US" sz="1400" b="0" dirty="0">
                          <a:latin typeface="Montserrat" panose="00000500000000000000" pitchFamily="2" charset="0"/>
                        </a:rPr>
                        <a:t>Use only structured data (e.g., procedure code, cost)</a:t>
                      </a:r>
                    </a:p>
                  </a:txBody>
                  <a:tcPr anchor="ctr"/>
                </a:tc>
                <a:tc>
                  <a:txBody>
                    <a:bodyPr/>
                    <a:lstStyle/>
                    <a:p>
                      <a:r>
                        <a:rPr lang="en-US" sz="1400" b="0">
                          <a:latin typeface="Montserrat" panose="00000500000000000000" pitchFamily="2" charset="0"/>
                        </a:rPr>
                        <a:t>No use of scanned documents or unstructured notes</a:t>
                      </a:r>
                    </a:p>
                  </a:txBody>
                  <a:tcPr anchor="ctr"/>
                </a:tc>
                <a:extLst>
                  <a:ext uri="{0D108BD9-81ED-4DB2-BD59-A6C34878D82A}">
                    <a16:rowId xmlns:a16="http://schemas.microsoft.com/office/drawing/2014/main" val="3549581129"/>
                  </a:ext>
                </a:extLst>
              </a:tr>
              <a:tr h="0">
                <a:tc>
                  <a:txBody>
                    <a:bodyPr/>
                    <a:lstStyle/>
                    <a:p>
                      <a:r>
                        <a:rPr lang="en-US" sz="1400" b="0" dirty="0">
                          <a:latin typeface="Montserrat" panose="00000500000000000000" pitchFamily="2" charset="0"/>
                        </a:rPr>
                        <a:t>Model flags suspicious claims for manual review only</a:t>
                      </a:r>
                    </a:p>
                  </a:txBody>
                  <a:tcPr anchor="ctr"/>
                </a:tc>
                <a:tc>
                  <a:txBody>
                    <a:bodyPr/>
                    <a:lstStyle/>
                    <a:p>
                      <a:r>
                        <a:rPr lang="en-US" sz="1400" b="0" dirty="0">
                          <a:latin typeface="Montserrat" panose="00000500000000000000" pitchFamily="2" charset="0"/>
                        </a:rPr>
                        <a:t>No autonomous approvals or rejections of claims</a:t>
                      </a:r>
                    </a:p>
                  </a:txBody>
                  <a:tcPr anchor="ctr"/>
                </a:tc>
                <a:extLst>
                  <a:ext uri="{0D108BD9-81ED-4DB2-BD59-A6C34878D82A}">
                    <a16:rowId xmlns:a16="http://schemas.microsoft.com/office/drawing/2014/main" val="2977673733"/>
                  </a:ext>
                </a:extLst>
              </a:tr>
              <a:tr h="0">
                <a:tc>
                  <a:txBody>
                    <a:bodyPr/>
                    <a:lstStyle/>
                    <a:p>
                      <a:r>
                        <a:rPr lang="en-US" sz="1400" b="0" dirty="0">
                          <a:latin typeface="Montserrat" panose="00000500000000000000" pitchFamily="2" charset="0"/>
                        </a:rPr>
                        <a:t>Leverage </a:t>
                      </a:r>
                      <a:r>
                        <a:rPr lang="en-US" sz="1400" b="0" dirty="0" err="1">
                          <a:latin typeface="Montserrat" panose="00000500000000000000" pitchFamily="2" charset="0"/>
                        </a:rPr>
                        <a:t>AutoML</a:t>
                      </a:r>
                      <a:r>
                        <a:rPr lang="en-US" sz="1400" b="0" dirty="0">
                          <a:latin typeface="Montserrat" panose="00000500000000000000" pitchFamily="2" charset="0"/>
                        </a:rPr>
                        <a:t> for model development</a:t>
                      </a:r>
                    </a:p>
                  </a:txBody>
                  <a:tcPr anchor="ctr"/>
                </a:tc>
                <a:tc>
                  <a:txBody>
                    <a:bodyPr/>
                    <a:lstStyle/>
                    <a:p>
                      <a:r>
                        <a:rPr lang="en-US" sz="1400" b="0" dirty="0">
                          <a:latin typeface="Montserrat" panose="00000500000000000000" pitchFamily="2" charset="0"/>
                        </a:rPr>
                        <a:t>No custom model building experimentation</a:t>
                      </a:r>
                    </a:p>
                  </a:txBody>
                  <a:tcPr anchor="ctr"/>
                </a:tc>
                <a:extLst>
                  <a:ext uri="{0D108BD9-81ED-4DB2-BD59-A6C34878D82A}">
                    <a16:rowId xmlns:a16="http://schemas.microsoft.com/office/drawing/2014/main" val="4082444098"/>
                  </a:ext>
                </a:extLst>
              </a:tr>
              <a:tr h="0">
                <a:tc>
                  <a:txBody>
                    <a:bodyPr/>
                    <a:lstStyle/>
                    <a:p>
                      <a:r>
                        <a:rPr lang="en-US" sz="1400" b="0" dirty="0">
                          <a:latin typeface="Montserrat" panose="00000500000000000000" pitchFamily="2" charset="0"/>
                        </a:rPr>
                        <a:t>Weekly batch predictions for claims</a:t>
                      </a:r>
                    </a:p>
                  </a:txBody>
                  <a:tcPr anchor="ctr"/>
                </a:tc>
                <a:tc>
                  <a:txBody>
                    <a:bodyPr/>
                    <a:lstStyle/>
                    <a:p>
                      <a:r>
                        <a:rPr lang="en-US" sz="1400" b="0" dirty="0">
                          <a:latin typeface="Montserrat" panose="00000500000000000000" pitchFamily="2" charset="0"/>
                        </a:rPr>
                        <a:t>No real-time scoring or streaming data integration</a:t>
                      </a:r>
                    </a:p>
                  </a:txBody>
                  <a:tcPr anchor="ctr"/>
                </a:tc>
                <a:extLst>
                  <a:ext uri="{0D108BD9-81ED-4DB2-BD59-A6C34878D82A}">
                    <a16:rowId xmlns:a16="http://schemas.microsoft.com/office/drawing/2014/main" val="1199647615"/>
                  </a:ext>
                </a:extLst>
              </a:tr>
            </a:tbl>
          </a:graphicData>
        </a:graphic>
      </p:graphicFrame>
    </p:spTree>
    <p:extLst>
      <p:ext uri="{BB962C8B-B14F-4D97-AF65-F5344CB8AC3E}">
        <p14:creationId xmlns:p14="http://schemas.microsoft.com/office/powerpoint/2010/main" val="2055942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3A191-578A-9AD9-CF34-B4CCC121BB6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7250EAB-1D06-93FD-4072-6D32AC2A080D}"/>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212AFA5-80BE-DBF9-ECCC-4FD09D82BF74}"/>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DEE79229-A800-0246-3FC0-FE2CC96C522B}"/>
              </a:ext>
            </a:extLst>
          </p:cNvPr>
          <p:cNvSpPr/>
          <p:nvPr/>
        </p:nvSpPr>
        <p:spPr>
          <a:xfrm>
            <a:off x="293914" y="793804"/>
            <a:ext cx="5941786" cy="2554545"/>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AI PROJECT SUCCESS METRICS: MODEL, SYSTEM, &amp; BUSINESS</a:t>
            </a:r>
          </a:p>
        </p:txBody>
      </p:sp>
    </p:spTree>
    <p:extLst>
      <p:ext uri="{BB962C8B-B14F-4D97-AF65-F5344CB8AC3E}">
        <p14:creationId xmlns:p14="http://schemas.microsoft.com/office/powerpoint/2010/main" val="3836246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8">
          <a:extLst>
            <a:ext uri="{FF2B5EF4-FFF2-40B4-BE49-F238E27FC236}">
              <a16:creationId xmlns:a16="http://schemas.microsoft.com/office/drawing/2014/main" id="{D175263D-C953-850D-8300-CE86D1744885}"/>
            </a:ext>
          </a:extLst>
        </p:cNvPr>
        <p:cNvGrpSpPr/>
        <p:nvPr/>
      </p:nvGrpSpPr>
      <p:grpSpPr>
        <a:xfrm>
          <a:off x="0" y="0"/>
          <a:ext cx="0" cy="0"/>
          <a:chOff x="0" y="0"/>
          <a:chExt cx="0" cy="0"/>
        </a:xfrm>
      </p:grpSpPr>
      <p:pic>
        <p:nvPicPr>
          <p:cNvPr id="259" name="Google Shape;259;g355ea8b0119_0_127">
            <a:extLst>
              <a:ext uri="{FF2B5EF4-FFF2-40B4-BE49-F238E27FC236}">
                <a16:creationId xmlns:a16="http://schemas.microsoft.com/office/drawing/2014/main" id="{0F8B720D-8BC4-5D1A-4D8C-D36739134667}"/>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sp>
        <p:nvSpPr>
          <p:cNvPr id="263" name="Google Shape;263;g355ea8b0119_0_127">
            <a:extLst>
              <a:ext uri="{FF2B5EF4-FFF2-40B4-BE49-F238E27FC236}">
                <a16:creationId xmlns:a16="http://schemas.microsoft.com/office/drawing/2014/main" id="{4446B3E1-3F49-EAE4-2074-4BFF9D21526F}"/>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Arial"/>
                <a:cs typeface="Arial"/>
                <a:sym typeface="Montserrat"/>
              </a:rPr>
              <a:t>AI Projects SMART Goals</a:t>
            </a:r>
            <a:endParaRPr sz="1400" b="0" i="0" u="none" strike="noStrike" cap="none" dirty="0">
              <a:solidFill>
                <a:srgbClr val="000000"/>
              </a:solidFill>
              <a:latin typeface="Arial"/>
              <a:ea typeface="Arial"/>
              <a:cs typeface="Arial"/>
              <a:sym typeface="Arial"/>
            </a:endParaRPr>
          </a:p>
        </p:txBody>
      </p:sp>
      <p:sp>
        <p:nvSpPr>
          <p:cNvPr id="17" name="TextBox 16">
            <a:extLst>
              <a:ext uri="{FF2B5EF4-FFF2-40B4-BE49-F238E27FC236}">
                <a16:creationId xmlns:a16="http://schemas.microsoft.com/office/drawing/2014/main" id="{8650B44A-D2E8-B913-8053-C73F2A41AB2E}"/>
              </a:ext>
            </a:extLst>
          </p:cNvPr>
          <p:cNvSpPr txBox="1"/>
          <p:nvPr/>
        </p:nvSpPr>
        <p:spPr>
          <a:xfrm>
            <a:off x="168106" y="1000487"/>
            <a:ext cx="11516801" cy="646331"/>
          </a:xfrm>
          <a:prstGeom prst="rect">
            <a:avLst/>
          </a:prstGeom>
          <a:noFill/>
        </p:spPr>
        <p:txBody>
          <a:bodyPr wrap="square">
            <a:spAutoFit/>
          </a:bodyPr>
          <a:lstStyle/>
          <a:p>
            <a:pPr marL="285750" indent="-285750">
              <a:buFont typeface="Arial" panose="020B0604020202020204" pitchFamily="34" charset="0"/>
              <a:buChar char="•"/>
            </a:pPr>
            <a:r>
              <a:rPr lang="en-US" dirty="0">
                <a:latin typeface="Montserrat" panose="00000500000000000000" pitchFamily="2" charset="0"/>
              </a:rPr>
              <a:t>In AI projects, success metrics should follow the SMART criteria and be aligned with business, system, and model-level goals.</a:t>
            </a:r>
            <a:endParaRPr lang="en-CA" dirty="0">
              <a:latin typeface="Montserrat" panose="00000500000000000000" pitchFamily="2" charset="0"/>
            </a:endParaRPr>
          </a:p>
        </p:txBody>
      </p:sp>
      <p:sp>
        <p:nvSpPr>
          <p:cNvPr id="18" name="Shape 288">
            <a:extLst>
              <a:ext uri="{FF2B5EF4-FFF2-40B4-BE49-F238E27FC236}">
                <a16:creationId xmlns:a16="http://schemas.microsoft.com/office/drawing/2014/main" id="{70AA9DB1-5184-3413-22F2-3239CCA33689}"/>
              </a:ext>
            </a:extLst>
          </p:cNvPr>
          <p:cNvSpPr/>
          <p:nvPr/>
        </p:nvSpPr>
        <p:spPr>
          <a:xfrm>
            <a:off x="568870" y="2450932"/>
            <a:ext cx="1620000" cy="1620000"/>
          </a:xfrm>
          <a:prstGeom prst="ellipse">
            <a:avLst/>
          </a:prstGeom>
          <a:solidFill>
            <a:srgbClr val="0C1752"/>
          </a:solidFill>
          <a:ln w="12700">
            <a:miter lim="400000"/>
          </a:ln>
        </p:spPr>
        <p:txBody>
          <a:bodyPr lIns="19050" tIns="19050" rIns="19050" bIns="19050" anchor="ctr"/>
          <a:lstStyle/>
          <a:p>
            <a:pPr algn="ctr" defTabSz="171459" hangingPunct="0">
              <a:defRPr sz="1600">
                <a:solidFill>
                  <a:srgbClr val="FFFFFF"/>
                </a:solidFill>
                <a:effectLst>
                  <a:outerShdw blurRad="38100" dist="12700" dir="5400000" rotWithShape="0">
                    <a:srgbClr val="000000">
                      <a:alpha val="50000"/>
                    </a:srgbClr>
                  </a:outerShdw>
                </a:effectLst>
              </a:defRPr>
            </a:pPr>
            <a:endParaRPr sz="1200" kern="0" dirty="0">
              <a:solidFill>
                <a:srgbClr val="FFFFFF"/>
              </a:solidFill>
              <a:effectLst>
                <a:outerShdw blurRad="38100" dist="12700" dir="5400000" rotWithShape="0">
                  <a:srgbClr val="000000">
                    <a:alpha val="50000"/>
                  </a:srgbClr>
                </a:outerShdw>
              </a:effectLst>
              <a:latin typeface="Montserrat" panose="00000500000000000000" pitchFamily="2" charset="0"/>
              <a:ea typeface="Arial"/>
              <a:cs typeface="Arial"/>
              <a:sym typeface="Helvetica Neue UltraLight"/>
            </a:endParaRPr>
          </a:p>
        </p:txBody>
      </p:sp>
      <p:sp>
        <p:nvSpPr>
          <p:cNvPr id="19" name="Shape 289">
            <a:extLst>
              <a:ext uri="{FF2B5EF4-FFF2-40B4-BE49-F238E27FC236}">
                <a16:creationId xmlns:a16="http://schemas.microsoft.com/office/drawing/2014/main" id="{FD9F181E-B161-2F7B-F12E-E050E49B7978}"/>
              </a:ext>
            </a:extLst>
          </p:cNvPr>
          <p:cNvSpPr/>
          <p:nvPr/>
        </p:nvSpPr>
        <p:spPr>
          <a:xfrm>
            <a:off x="2898860" y="2449884"/>
            <a:ext cx="1620000" cy="1620000"/>
          </a:xfrm>
          <a:prstGeom prst="ellipse">
            <a:avLst/>
          </a:prstGeom>
          <a:solidFill>
            <a:srgbClr val="11CCDD"/>
          </a:solidFill>
          <a:ln w="12700">
            <a:miter lim="400000"/>
          </a:ln>
        </p:spPr>
        <p:txBody>
          <a:bodyPr lIns="19050" tIns="19050" rIns="19050" bIns="19050" anchor="ctr"/>
          <a:lstStyle/>
          <a:p>
            <a:pPr algn="ctr" defTabSz="171459" hangingPunct="0">
              <a:defRPr sz="1600">
                <a:solidFill>
                  <a:srgbClr val="FFFFFF"/>
                </a:solidFill>
                <a:effectLst>
                  <a:outerShdw blurRad="38100" dist="12700" dir="5400000" rotWithShape="0">
                    <a:srgbClr val="000000">
                      <a:alpha val="50000"/>
                    </a:srgbClr>
                  </a:outerShdw>
                </a:effectLst>
              </a:defRPr>
            </a:pPr>
            <a:endParaRPr sz="1200" kern="0" dirty="0">
              <a:solidFill>
                <a:srgbClr val="FFFFFF"/>
              </a:solidFill>
              <a:effectLst>
                <a:outerShdw blurRad="38100" dist="12700" dir="5400000" rotWithShape="0">
                  <a:srgbClr val="000000">
                    <a:alpha val="50000"/>
                  </a:srgbClr>
                </a:outerShdw>
              </a:effectLst>
              <a:latin typeface="Montserrat" panose="00000500000000000000" pitchFamily="2" charset="0"/>
              <a:ea typeface="Arial"/>
              <a:cs typeface="Arial"/>
              <a:sym typeface="Helvetica Neue UltraLight"/>
            </a:endParaRPr>
          </a:p>
        </p:txBody>
      </p:sp>
      <p:sp>
        <p:nvSpPr>
          <p:cNvPr id="20" name="Shape 290">
            <a:extLst>
              <a:ext uri="{FF2B5EF4-FFF2-40B4-BE49-F238E27FC236}">
                <a16:creationId xmlns:a16="http://schemas.microsoft.com/office/drawing/2014/main" id="{57AB47F8-7DA8-D918-C38F-395D2B19B34C}"/>
              </a:ext>
            </a:extLst>
          </p:cNvPr>
          <p:cNvSpPr/>
          <p:nvPr/>
        </p:nvSpPr>
        <p:spPr>
          <a:xfrm>
            <a:off x="7647754" y="2450932"/>
            <a:ext cx="1620000" cy="1620000"/>
          </a:xfrm>
          <a:prstGeom prst="ellipse">
            <a:avLst/>
          </a:prstGeom>
          <a:solidFill>
            <a:srgbClr val="D56E48"/>
          </a:solidFill>
          <a:ln w="12700">
            <a:miter lim="400000"/>
          </a:ln>
        </p:spPr>
        <p:txBody>
          <a:bodyPr lIns="19050" tIns="19050" rIns="19050" bIns="19050" anchor="ctr"/>
          <a:lstStyle/>
          <a:p>
            <a:pPr algn="ctr" defTabSz="171459" hangingPunct="0">
              <a:defRPr sz="1600">
                <a:solidFill>
                  <a:srgbClr val="FFFFFF"/>
                </a:solidFill>
                <a:effectLst>
                  <a:outerShdw blurRad="38100" dist="12700" dir="5400000" rotWithShape="0">
                    <a:srgbClr val="000000">
                      <a:alpha val="50000"/>
                    </a:srgbClr>
                  </a:outerShdw>
                </a:effectLst>
              </a:defRPr>
            </a:pPr>
            <a:endParaRPr sz="1200" kern="0" dirty="0">
              <a:solidFill>
                <a:srgbClr val="D56E48"/>
              </a:solidFill>
              <a:effectLst>
                <a:outerShdw blurRad="38100" dist="12700" dir="5400000" rotWithShape="0">
                  <a:srgbClr val="000000">
                    <a:alpha val="50000"/>
                  </a:srgbClr>
                </a:outerShdw>
              </a:effectLst>
              <a:latin typeface="Montserrat" panose="00000500000000000000" pitchFamily="2" charset="0"/>
              <a:ea typeface="Arial"/>
              <a:cs typeface="Arial"/>
              <a:sym typeface="Helvetica Neue UltraLight"/>
            </a:endParaRPr>
          </a:p>
        </p:txBody>
      </p:sp>
      <p:sp>
        <p:nvSpPr>
          <p:cNvPr id="23" name="TextBox 22">
            <a:extLst>
              <a:ext uri="{FF2B5EF4-FFF2-40B4-BE49-F238E27FC236}">
                <a16:creationId xmlns:a16="http://schemas.microsoft.com/office/drawing/2014/main" id="{62249280-FC1A-F42F-F7E9-B200908E9C9E}"/>
              </a:ext>
            </a:extLst>
          </p:cNvPr>
          <p:cNvSpPr txBox="1"/>
          <p:nvPr/>
        </p:nvSpPr>
        <p:spPr>
          <a:xfrm>
            <a:off x="432625" y="3039231"/>
            <a:ext cx="1892490" cy="382138"/>
          </a:xfrm>
          <a:prstGeom prst="rect">
            <a:avLst/>
          </a:prstGeom>
          <a:noFill/>
        </p:spPr>
        <p:txBody>
          <a:bodyPr wrap="square" rtlCol="0" anchor="ctr">
            <a:noAutofit/>
          </a:bodyPr>
          <a:lstStyle/>
          <a:p>
            <a:pPr algn="ctr" defTabSz="914446">
              <a:lnSpc>
                <a:spcPct val="130000"/>
              </a:lnSpc>
              <a:spcBef>
                <a:spcPts val="400"/>
              </a:spcBef>
              <a:spcAft>
                <a:spcPts val="800"/>
              </a:spcAft>
              <a:buClr>
                <a:srgbClr val="0B8ECC"/>
              </a:buClr>
            </a:pPr>
            <a:r>
              <a:rPr lang="en-US" b="1" dirty="0">
                <a:solidFill>
                  <a:srgbClr val="FFFFFF"/>
                </a:solidFill>
                <a:latin typeface="Montserrat" panose="00000500000000000000" pitchFamily="2" charset="0"/>
              </a:rPr>
              <a:t>Specific</a:t>
            </a:r>
          </a:p>
        </p:txBody>
      </p:sp>
      <p:sp>
        <p:nvSpPr>
          <p:cNvPr id="24" name="TextBox 23">
            <a:extLst>
              <a:ext uri="{FF2B5EF4-FFF2-40B4-BE49-F238E27FC236}">
                <a16:creationId xmlns:a16="http://schemas.microsoft.com/office/drawing/2014/main" id="{2353F135-0F01-0E8F-D42B-DBE2A7BD8F64}"/>
              </a:ext>
            </a:extLst>
          </p:cNvPr>
          <p:cNvSpPr txBox="1"/>
          <p:nvPr/>
        </p:nvSpPr>
        <p:spPr>
          <a:xfrm>
            <a:off x="2746022" y="2986583"/>
            <a:ext cx="1892490" cy="382138"/>
          </a:xfrm>
          <a:prstGeom prst="rect">
            <a:avLst/>
          </a:prstGeom>
          <a:noFill/>
        </p:spPr>
        <p:txBody>
          <a:bodyPr wrap="square" rtlCol="0" anchor="ctr">
            <a:noAutofit/>
          </a:bodyPr>
          <a:lstStyle/>
          <a:p>
            <a:pPr algn="ctr" defTabSz="914446">
              <a:lnSpc>
                <a:spcPct val="130000"/>
              </a:lnSpc>
              <a:spcBef>
                <a:spcPts val="400"/>
              </a:spcBef>
              <a:spcAft>
                <a:spcPts val="800"/>
              </a:spcAft>
              <a:buClr>
                <a:srgbClr val="0B8ECC"/>
              </a:buClr>
            </a:pPr>
            <a:r>
              <a:rPr lang="en-US" b="1" dirty="0">
                <a:solidFill>
                  <a:srgbClr val="FFFFFF"/>
                </a:solidFill>
                <a:latin typeface="Montserrat" panose="00000500000000000000" pitchFamily="2" charset="0"/>
              </a:rPr>
              <a:t>Measurable</a:t>
            </a:r>
          </a:p>
        </p:txBody>
      </p:sp>
      <p:sp>
        <p:nvSpPr>
          <p:cNvPr id="25" name="TextBox 24">
            <a:extLst>
              <a:ext uri="{FF2B5EF4-FFF2-40B4-BE49-F238E27FC236}">
                <a16:creationId xmlns:a16="http://schemas.microsoft.com/office/drawing/2014/main" id="{0FFCCCA9-FD72-10F7-759B-17D001121B57}"/>
              </a:ext>
            </a:extLst>
          </p:cNvPr>
          <p:cNvSpPr txBox="1"/>
          <p:nvPr/>
        </p:nvSpPr>
        <p:spPr>
          <a:xfrm>
            <a:off x="7486018" y="2986583"/>
            <a:ext cx="1892490" cy="382138"/>
          </a:xfrm>
          <a:prstGeom prst="rect">
            <a:avLst/>
          </a:prstGeom>
          <a:noFill/>
        </p:spPr>
        <p:txBody>
          <a:bodyPr wrap="square" rtlCol="0" anchor="ctr">
            <a:noAutofit/>
          </a:bodyPr>
          <a:lstStyle/>
          <a:p>
            <a:pPr algn="ctr" defTabSz="914446">
              <a:lnSpc>
                <a:spcPct val="130000"/>
              </a:lnSpc>
              <a:spcBef>
                <a:spcPts val="400"/>
              </a:spcBef>
              <a:spcAft>
                <a:spcPts val="800"/>
              </a:spcAft>
              <a:buClr>
                <a:srgbClr val="0B8ECC"/>
              </a:buClr>
            </a:pPr>
            <a:r>
              <a:rPr lang="en-US" b="1" dirty="0">
                <a:solidFill>
                  <a:srgbClr val="FFFFFF"/>
                </a:solidFill>
                <a:latin typeface="Montserrat" panose="00000500000000000000" pitchFamily="2" charset="0"/>
              </a:rPr>
              <a:t>Relevant</a:t>
            </a:r>
          </a:p>
        </p:txBody>
      </p:sp>
      <p:sp>
        <p:nvSpPr>
          <p:cNvPr id="29" name="Shape 290">
            <a:extLst>
              <a:ext uri="{FF2B5EF4-FFF2-40B4-BE49-F238E27FC236}">
                <a16:creationId xmlns:a16="http://schemas.microsoft.com/office/drawing/2014/main" id="{9B614BED-CC2A-B62A-8FB1-8DBC76CCEFE3}"/>
              </a:ext>
            </a:extLst>
          </p:cNvPr>
          <p:cNvSpPr/>
          <p:nvPr/>
        </p:nvSpPr>
        <p:spPr>
          <a:xfrm>
            <a:off x="9724295" y="2449884"/>
            <a:ext cx="1620000" cy="1620000"/>
          </a:xfrm>
          <a:prstGeom prst="ellipse">
            <a:avLst/>
          </a:prstGeom>
          <a:solidFill>
            <a:srgbClr val="0C1752"/>
          </a:solidFill>
          <a:ln w="12700">
            <a:miter lim="400000"/>
          </a:ln>
        </p:spPr>
        <p:txBody>
          <a:bodyPr lIns="19050" tIns="19050" rIns="19050" bIns="19050" anchor="ctr"/>
          <a:lstStyle/>
          <a:p>
            <a:pPr algn="ctr" defTabSz="171459" hangingPunct="0">
              <a:defRPr sz="1600">
                <a:solidFill>
                  <a:srgbClr val="FFFFFF"/>
                </a:solidFill>
                <a:effectLst>
                  <a:outerShdw blurRad="38100" dist="12700" dir="5400000" rotWithShape="0">
                    <a:srgbClr val="000000">
                      <a:alpha val="50000"/>
                    </a:srgbClr>
                  </a:outerShdw>
                </a:effectLst>
              </a:defRPr>
            </a:pPr>
            <a:endParaRPr sz="1200" kern="0" dirty="0">
              <a:solidFill>
                <a:srgbClr val="D56E48"/>
              </a:solidFill>
              <a:effectLst>
                <a:outerShdw blurRad="38100" dist="12700" dir="5400000" rotWithShape="0">
                  <a:srgbClr val="000000">
                    <a:alpha val="50000"/>
                  </a:srgbClr>
                </a:outerShdw>
              </a:effectLst>
              <a:latin typeface="Montserrat" panose="00000500000000000000" pitchFamily="2" charset="0"/>
              <a:ea typeface="Arial"/>
              <a:cs typeface="Arial"/>
              <a:sym typeface="Helvetica Neue UltraLight"/>
            </a:endParaRPr>
          </a:p>
        </p:txBody>
      </p:sp>
      <p:sp>
        <p:nvSpPr>
          <p:cNvPr id="30" name="TextBox 29">
            <a:extLst>
              <a:ext uri="{FF2B5EF4-FFF2-40B4-BE49-F238E27FC236}">
                <a16:creationId xmlns:a16="http://schemas.microsoft.com/office/drawing/2014/main" id="{A078EBC2-B1B4-C5E2-C3AD-C397B6ECBAF5}"/>
              </a:ext>
            </a:extLst>
          </p:cNvPr>
          <p:cNvSpPr txBox="1"/>
          <p:nvPr/>
        </p:nvSpPr>
        <p:spPr>
          <a:xfrm>
            <a:off x="9588050" y="3013216"/>
            <a:ext cx="1892490" cy="382138"/>
          </a:xfrm>
          <a:prstGeom prst="rect">
            <a:avLst/>
          </a:prstGeom>
          <a:noFill/>
        </p:spPr>
        <p:txBody>
          <a:bodyPr wrap="square" rtlCol="0" anchor="ctr">
            <a:noAutofit/>
          </a:bodyPr>
          <a:lstStyle/>
          <a:p>
            <a:pPr algn="ctr" defTabSz="914446">
              <a:lnSpc>
                <a:spcPct val="130000"/>
              </a:lnSpc>
              <a:spcBef>
                <a:spcPts val="400"/>
              </a:spcBef>
              <a:spcAft>
                <a:spcPts val="800"/>
              </a:spcAft>
              <a:buClr>
                <a:srgbClr val="0B8ECC"/>
              </a:buClr>
            </a:pPr>
            <a:r>
              <a:rPr lang="en-US" b="1" dirty="0">
                <a:solidFill>
                  <a:srgbClr val="FFFFFF"/>
                </a:solidFill>
                <a:latin typeface="Montserrat" panose="00000500000000000000" pitchFamily="2" charset="0"/>
              </a:rPr>
              <a:t>Time-Bound</a:t>
            </a:r>
          </a:p>
        </p:txBody>
      </p:sp>
      <p:sp>
        <p:nvSpPr>
          <p:cNvPr id="31" name="Shape 290">
            <a:extLst>
              <a:ext uri="{FF2B5EF4-FFF2-40B4-BE49-F238E27FC236}">
                <a16:creationId xmlns:a16="http://schemas.microsoft.com/office/drawing/2014/main" id="{2B0AE67A-9CD0-FE4A-5285-A6DDFE563C27}"/>
              </a:ext>
            </a:extLst>
          </p:cNvPr>
          <p:cNvSpPr/>
          <p:nvPr/>
        </p:nvSpPr>
        <p:spPr>
          <a:xfrm>
            <a:off x="5242901" y="2449884"/>
            <a:ext cx="1620000" cy="1620000"/>
          </a:xfrm>
          <a:prstGeom prst="ellipse">
            <a:avLst/>
          </a:prstGeom>
          <a:solidFill>
            <a:schemeClr val="bg1">
              <a:lumMod val="65000"/>
            </a:schemeClr>
          </a:solidFill>
          <a:ln w="12700">
            <a:miter lim="400000"/>
          </a:ln>
        </p:spPr>
        <p:txBody>
          <a:bodyPr lIns="19050" tIns="19050" rIns="19050" bIns="19050" anchor="ctr"/>
          <a:lstStyle/>
          <a:p>
            <a:pPr algn="ctr" defTabSz="171459" hangingPunct="0">
              <a:defRPr sz="1600">
                <a:solidFill>
                  <a:srgbClr val="FFFFFF"/>
                </a:solidFill>
                <a:effectLst>
                  <a:outerShdw blurRad="38100" dist="12700" dir="5400000" rotWithShape="0">
                    <a:srgbClr val="000000">
                      <a:alpha val="50000"/>
                    </a:srgbClr>
                  </a:outerShdw>
                </a:effectLst>
              </a:defRPr>
            </a:pPr>
            <a:endParaRPr sz="1200" kern="0" dirty="0">
              <a:solidFill>
                <a:srgbClr val="D56E48"/>
              </a:solidFill>
              <a:effectLst>
                <a:outerShdw blurRad="38100" dist="12700" dir="5400000" rotWithShape="0">
                  <a:srgbClr val="000000">
                    <a:alpha val="50000"/>
                  </a:srgbClr>
                </a:outerShdw>
              </a:effectLst>
              <a:latin typeface="Montserrat" panose="00000500000000000000" pitchFamily="2" charset="0"/>
              <a:ea typeface="Arial"/>
              <a:cs typeface="Arial"/>
              <a:sym typeface="Helvetica Neue UltraLight"/>
            </a:endParaRPr>
          </a:p>
        </p:txBody>
      </p:sp>
      <p:sp>
        <p:nvSpPr>
          <p:cNvPr id="32" name="TextBox 31">
            <a:extLst>
              <a:ext uri="{FF2B5EF4-FFF2-40B4-BE49-F238E27FC236}">
                <a16:creationId xmlns:a16="http://schemas.microsoft.com/office/drawing/2014/main" id="{91B8BE40-53F7-91C1-D81D-7A948422FA60}"/>
              </a:ext>
            </a:extLst>
          </p:cNvPr>
          <p:cNvSpPr txBox="1"/>
          <p:nvPr/>
        </p:nvSpPr>
        <p:spPr>
          <a:xfrm>
            <a:off x="5116020" y="2990018"/>
            <a:ext cx="1892490" cy="382138"/>
          </a:xfrm>
          <a:prstGeom prst="rect">
            <a:avLst/>
          </a:prstGeom>
          <a:noFill/>
        </p:spPr>
        <p:txBody>
          <a:bodyPr wrap="square" rtlCol="0" anchor="ctr">
            <a:noAutofit/>
          </a:bodyPr>
          <a:lstStyle/>
          <a:p>
            <a:pPr algn="ctr" defTabSz="914446">
              <a:lnSpc>
                <a:spcPct val="130000"/>
              </a:lnSpc>
              <a:spcBef>
                <a:spcPts val="400"/>
              </a:spcBef>
              <a:spcAft>
                <a:spcPts val="800"/>
              </a:spcAft>
              <a:buClr>
                <a:srgbClr val="0B8ECC"/>
              </a:buClr>
            </a:pPr>
            <a:r>
              <a:rPr lang="en-US" b="1" dirty="0">
                <a:solidFill>
                  <a:srgbClr val="FFFFFF"/>
                </a:solidFill>
                <a:latin typeface="Montserrat" panose="00000500000000000000" pitchFamily="2" charset="0"/>
              </a:rPr>
              <a:t>Achievable</a:t>
            </a:r>
          </a:p>
        </p:txBody>
      </p:sp>
    </p:spTree>
    <p:extLst>
      <p:ext uri="{BB962C8B-B14F-4D97-AF65-F5344CB8AC3E}">
        <p14:creationId xmlns:p14="http://schemas.microsoft.com/office/powerpoint/2010/main" val="3860056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ppt_x"/>
                                          </p:val>
                                        </p:tav>
                                        <p:tav tm="100000">
                                          <p:val>
                                            <p:strVal val="#ppt_x"/>
                                          </p:val>
                                        </p:tav>
                                      </p:tavLst>
                                    </p:anim>
                                    <p:anim calcmode="lin" valueType="num">
                                      <p:cBhvr additive="base">
                                        <p:cTn id="1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500" fill="hold"/>
                                        <p:tgtEl>
                                          <p:spTgt spid="19"/>
                                        </p:tgtEl>
                                        <p:attrNameLst>
                                          <p:attrName>ppt_x</p:attrName>
                                        </p:attrNameLst>
                                      </p:cBhvr>
                                      <p:tavLst>
                                        <p:tav tm="0">
                                          <p:val>
                                            <p:strVal val="#ppt_x"/>
                                          </p:val>
                                        </p:tav>
                                        <p:tav tm="100000">
                                          <p:val>
                                            <p:strVal val="#ppt_x"/>
                                          </p:val>
                                        </p:tav>
                                      </p:tavLst>
                                    </p:anim>
                                    <p:anim calcmode="lin" valueType="num">
                                      <p:cBhvr additive="base">
                                        <p:cTn id="1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anim calcmode="lin" valueType="num">
                                      <p:cBhvr additive="base">
                                        <p:cTn id="23" dur="500" fill="hold"/>
                                        <p:tgtEl>
                                          <p:spTgt spid="31"/>
                                        </p:tgtEl>
                                        <p:attrNameLst>
                                          <p:attrName>ppt_x</p:attrName>
                                        </p:attrNameLst>
                                      </p:cBhvr>
                                      <p:tavLst>
                                        <p:tav tm="0">
                                          <p:val>
                                            <p:strVal val="#ppt_x"/>
                                          </p:val>
                                        </p:tav>
                                        <p:tav tm="100000">
                                          <p:val>
                                            <p:strVal val="#ppt_x"/>
                                          </p:val>
                                        </p:tav>
                                      </p:tavLst>
                                    </p:anim>
                                    <p:anim calcmode="lin" valueType="num">
                                      <p:cBhvr additive="base">
                                        <p:cTn id="24" dur="500" fill="hold"/>
                                        <p:tgtEl>
                                          <p:spTgt spid="3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anim calcmode="lin" valueType="num">
                                      <p:cBhvr additive="base">
                                        <p:cTn id="27" dur="500" fill="hold"/>
                                        <p:tgtEl>
                                          <p:spTgt spid="32"/>
                                        </p:tgtEl>
                                        <p:attrNameLst>
                                          <p:attrName>ppt_x</p:attrName>
                                        </p:attrNameLst>
                                      </p:cBhvr>
                                      <p:tavLst>
                                        <p:tav tm="0">
                                          <p:val>
                                            <p:strVal val="#ppt_x"/>
                                          </p:val>
                                        </p:tav>
                                        <p:tav tm="100000">
                                          <p:val>
                                            <p:strVal val="#ppt_x"/>
                                          </p:val>
                                        </p:tav>
                                      </p:tavLst>
                                    </p:anim>
                                    <p:anim calcmode="lin" valueType="num">
                                      <p:cBhvr additive="base">
                                        <p:cTn id="28"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 calcmode="lin" valueType="num">
                                      <p:cBhvr additive="base">
                                        <p:cTn id="33" dur="500" fill="hold"/>
                                        <p:tgtEl>
                                          <p:spTgt spid="20"/>
                                        </p:tgtEl>
                                        <p:attrNameLst>
                                          <p:attrName>ppt_x</p:attrName>
                                        </p:attrNameLst>
                                      </p:cBhvr>
                                      <p:tavLst>
                                        <p:tav tm="0">
                                          <p:val>
                                            <p:strVal val="#ppt_x"/>
                                          </p:val>
                                        </p:tav>
                                        <p:tav tm="100000">
                                          <p:val>
                                            <p:strVal val="#ppt_x"/>
                                          </p:val>
                                        </p:tav>
                                      </p:tavLst>
                                    </p:anim>
                                    <p:anim calcmode="lin" valueType="num">
                                      <p:cBhvr additive="base">
                                        <p:cTn id="3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anim calcmode="lin" valueType="num">
                                      <p:cBhvr additive="base">
                                        <p:cTn id="39" dur="500" fill="hold"/>
                                        <p:tgtEl>
                                          <p:spTgt spid="29"/>
                                        </p:tgtEl>
                                        <p:attrNameLst>
                                          <p:attrName>ppt_x</p:attrName>
                                        </p:attrNameLst>
                                      </p:cBhvr>
                                      <p:tavLst>
                                        <p:tav tm="0">
                                          <p:val>
                                            <p:strVal val="#ppt_x"/>
                                          </p:val>
                                        </p:tav>
                                        <p:tav tm="100000">
                                          <p:val>
                                            <p:strVal val="#ppt_x"/>
                                          </p:val>
                                        </p:tav>
                                      </p:tavLst>
                                    </p:anim>
                                    <p:anim calcmode="lin" valueType="num">
                                      <p:cBhvr additive="base">
                                        <p:cTn id="40" dur="500" fill="hold"/>
                                        <p:tgtEl>
                                          <p:spTgt spid="29"/>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anim calcmode="lin" valueType="num">
                                      <p:cBhvr additive="base">
                                        <p:cTn id="43" dur="500" fill="hold"/>
                                        <p:tgtEl>
                                          <p:spTgt spid="30"/>
                                        </p:tgtEl>
                                        <p:attrNameLst>
                                          <p:attrName>ppt_x</p:attrName>
                                        </p:attrNameLst>
                                      </p:cBhvr>
                                      <p:tavLst>
                                        <p:tav tm="0">
                                          <p:val>
                                            <p:strVal val="#ppt_x"/>
                                          </p:val>
                                        </p:tav>
                                        <p:tav tm="100000">
                                          <p:val>
                                            <p:strVal val="#ppt_x"/>
                                          </p:val>
                                        </p:tav>
                                      </p:tavLst>
                                    </p:anim>
                                    <p:anim calcmode="lin" valueType="num">
                                      <p:cBhvr additive="base">
                                        <p:cTn id="44"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3" grpId="0"/>
      <p:bldP spid="29" grpId="0" animBg="1"/>
      <p:bldP spid="30" grpId="0"/>
      <p:bldP spid="31" grpId="0" animBg="1"/>
      <p:bldP spid="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8">
          <a:extLst>
            <a:ext uri="{FF2B5EF4-FFF2-40B4-BE49-F238E27FC236}">
              <a16:creationId xmlns:a16="http://schemas.microsoft.com/office/drawing/2014/main" id="{A73764B2-6F6A-582E-8390-69EFFA491BD6}"/>
            </a:ext>
          </a:extLst>
        </p:cNvPr>
        <p:cNvGrpSpPr/>
        <p:nvPr/>
      </p:nvGrpSpPr>
      <p:grpSpPr>
        <a:xfrm>
          <a:off x="0" y="0"/>
          <a:ext cx="0" cy="0"/>
          <a:chOff x="0" y="0"/>
          <a:chExt cx="0" cy="0"/>
        </a:xfrm>
      </p:grpSpPr>
      <p:pic>
        <p:nvPicPr>
          <p:cNvPr id="259" name="Google Shape;259;g355ea8b0119_0_127">
            <a:extLst>
              <a:ext uri="{FF2B5EF4-FFF2-40B4-BE49-F238E27FC236}">
                <a16:creationId xmlns:a16="http://schemas.microsoft.com/office/drawing/2014/main" id="{65E8D94A-6E3A-8710-EB40-695961D83518}"/>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sp>
        <p:nvSpPr>
          <p:cNvPr id="263" name="Google Shape;263;g355ea8b0119_0_127">
            <a:extLst>
              <a:ext uri="{FF2B5EF4-FFF2-40B4-BE49-F238E27FC236}">
                <a16:creationId xmlns:a16="http://schemas.microsoft.com/office/drawing/2014/main" id="{FFF6757D-EF3A-E7E9-D802-CDBE19DABB13}"/>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Arial"/>
                <a:cs typeface="Arial"/>
                <a:sym typeface="Montserrat"/>
              </a:rPr>
              <a:t>Example</a:t>
            </a:r>
            <a:endParaRPr sz="1400" b="0" i="0" u="none" strike="noStrike" cap="none" dirty="0">
              <a:solidFill>
                <a:srgbClr val="000000"/>
              </a:solidFill>
              <a:latin typeface="Arial"/>
              <a:ea typeface="Arial"/>
              <a:cs typeface="Arial"/>
              <a:sym typeface="Arial"/>
            </a:endParaRPr>
          </a:p>
        </p:txBody>
      </p:sp>
      <p:sp>
        <p:nvSpPr>
          <p:cNvPr id="34" name="TextBox 33">
            <a:extLst>
              <a:ext uri="{FF2B5EF4-FFF2-40B4-BE49-F238E27FC236}">
                <a16:creationId xmlns:a16="http://schemas.microsoft.com/office/drawing/2014/main" id="{BA36F6E7-EE3A-4462-D990-40EE368BCBB6}"/>
              </a:ext>
            </a:extLst>
          </p:cNvPr>
          <p:cNvSpPr txBox="1"/>
          <p:nvPr/>
        </p:nvSpPr>
        <p:spPr>
          <a:xfrm>
            <a:off x="213654" y="965917"/>
            <a:ext cx="11465169" cy="584775"/>
          </a:xfrm>
          <a:prstGeom prst="rect">
            <a:avLst/>
          </a:prstGeom>
          <a:noFill/>
        </p:spPr>
        <p:txBody>
          <a:bodyPr wrap="square">
            <a:spAutoFit/>
          </a:bodyPr>
          <a:lstStyle/>
          <a:p>
            <a:pPr marL="285750" indent="-285750">
              <a:buFont typeface="Arial" panose="020B0604020202020204" pitchFamily="34" charset="0"/>
              <a:buChar char="•"/>
            </a:pPr>
            <a:r>
              <a:rPr lang="en-US" sz="1600" b="1" i="1" dirty="0">
                <a:latin typeface="Montserrat" panose="00000500000000000000" pitchFamily="2" charset="0"/>
              </a:rPr>
              <a:t>Goal:</a:t>
            </a:r>
            <a:r>
              <a:rPr lang="en-US" sz="1600" i="1" dirty="0">
                <a:latin typeface="Montserrat" panose="00000500000000000000" pitchFamily="2" charset="0"/>
              </a:rPr>
              <a:t> Reduce average customer service response time by </a:t>
            </a:r>
            <a:r>
              <a:rPr lang="en-US" sz="1600" b="1" i="1" dirty="0">
                <a:latin typeface="Montserrat" panose="00000500000000000000" pitchFamily="2" charset="0"/>
              </a:rPr>
              <a:t>40%</a:t>
            </a:r>
            <a:r>
              <a:rPr lang="en-US" sz="1600" i="1" dirty="0">
                <a:latin typeface="Montserrat" panose="00000500000000000000" pitchFamily="2" charset="0"/>
              </a:rPr>
              <a:t> (from 5 minutes to 3 minutes) by </a:t>
            </a:r>
            <a:r>
              <a:rPr lang="en-US" sz="1600" b="1" i="1" dirty="0">
                <a:latin typeface="Montserrat" panose="00000500000000000000" pitchFamily="2" charset="0"/>
              </a:rPr>
              <a:t>deploying an AI-powered chatbot</a:t>
            </a:r>
            <a:r>
              <a:rPr lang="en-US" sz="1600" i="1" dirty="0">
                <a:latin typeface="Montserrat" panose="00000500000000000000" pitchFamily="2" charset="0"/>
              </a:rPr>
              <a:t> within </a:t>
            </a:r>
            <a:r>
              <a:rPr lang="en-US" sz="1600" b="1" i="1" dirty="0">
                <a:latin typeface="Montserrat" panose="00000500000000000000" pitchFamily="2" charset="0"/>
              </a:rPr>
              <a:t>3 months</a:t>
            </a:r>
            <a:r>
              <a:rPr lang="en-US" sz="1600" i="1" dirty="0">
                <a:latin typeface="Montserrat" panose="00000500000000000000" pitchFamily="2" charset="0"/>
              </a:rPr>
              <a:t>, while maintaining a </a:t>
            </a:r>
            <a:r>
              <a:rPr lang="en-US" sz="1600" b="1" i="1" dirty="0">
                <a:latin typeface="Montserrat" panose="00000500000000000000" pitchFamily="2" charset="0"/>
              </a:rPr>
              <a:t>customer satisfaction score above 85%</a:t>
            </a:r>
            <a:r>
              <a:rPr lang="en-US" sz="1600" i="1" dirty="0">
                <a:latin typeface="Montserrat" panose="00000500000000000000" pitchFamily="2" charset="0"/>
              </a:rPr>
              <a:t>.</a:t>
            </a:r>
            <a:endParaRPr lang="en-CA" sz="1600" i="1" dirty="0">
              <a:latin typeface="Montserrat" panose="00000500000000000000" pitchFamily="2" charset="0"/>
            </a:endParaRPr>
          </a:p>
        </p:txBody>
      </p:sp>
      <p:graphicFrame>
        <p:nvGraphicFramePr>
          <p:cNvPr id="35" name="Table 34">
            <a:extLst>
              <a:ext uri="{FF2B5EF4-FFF2-40B4-BE49-F238E27FC236}">
                <a16:creationId xmlns:a16="http://schemas.microsoft.com/office/drawing/2014/main" id="{C632AB24-952D-0C18-C81C-9D80DFFA66DE}"/>
              </a:ext>
            </a:extLst>
          </p:cNvPr>
          <p:cNvGraphicFramePr>
            <a:graphicFrameLocks noGrp="1"/>
          </p:cNvGraphicFramePr>
          <p:nvPr>
            <p:extLst>
              <p:ext uri="{D42A27DB-BD31-4B8C-83A1-F6EECF244321}">
                <p14:modId xmlns:p14="http://schemas.microsoft.com/office/powerpoint/2010/main" val="3900981329"/>
              </p:ext>
            </p:extLst>
          </p:nvPr>
        </p:nvGraphicFramePr>
        <p:xfrm>
          <a:off x="1644914" y="1966256"/>
          <a:ext cx="8602648" cy="2255520"/>
        </p:xfrm>
        <a:graphic>
          <a:graphicData uri="http://schemas.openxmlformats.org/drawingml/2006/table">
            <a:tbl>
              <a:tblPr>
                <a:tableStyleId>{3B4B98B0-60AC-42C2-AFA5-B58CD77FA1E5}</a:tableStyleId>
              </a:tblPr>
              <a:tblGrid>
                <a:gridCol w="1704592">
                  <a:extLst>
                    <a:ext uri="{9D8B030D-6E8A-4147-A177-3AD203B41FA5}">
                      <a16:colId xmlns:a16="http://schemas.microsoft.com/office/drawing/2014/main" val="1312279609"/>
                    </a:ext>
                  </a:extLst>
                </a:gridCol>
                <a:gridCol w="6898056">
                  <a:extLst>
                    <a:ext uri="{9D8B030D-6E8A-4147-A177-3AD203B41FA5}">
                      <a16:colId xmlns:a16="http://schemas.microsoft.com/office/drawing/2014/main" val="1362469190"/>
                    </a:ext>
                  </a:extLst>
                </a:gridCol>
              </a:tblGrid>
              <a:tr h="0">
                <a:tc>
                  <a:txBody>
                    <a:bodyPr/>
                    <a:lstStyle/>
                    <a:p>
                      <a:r>
                        <a:rPr lang="en-CA" sz="1400" b="1" dirty="0">
                          <a:latin typeface="Montserrat" panose="00000500000000000000" pitchFamily="2" charset="0"/>
                        </a:rPr>
                        <a:t>SMART Criterion</a:t>
                      </a:r>
                      <a:endParaRPr lang="en-CA" sz="1400" dirty="0">
                        <a:latin typeface="Montserrat" panose="00000500000000000000" pitchFamily="2" charset="0"/>
                      </a:endParaRPr>
                    </a:p>
                  </a:txBody>
                  <a:tcPr anchor="ctr"/>
                </a:tc>
                <a:tc>
                  <a:txBody>
                    <a:bodyPr/>
                    <a:lstStyle/>
                    <a:p>
                      <a:r>
                        <a:rPr lang="en-CA" sz="1400" b="1">
                          <a:latin typeface="Montserrat" panose="00000500000000000000" pitchFamily="2" charset="0"/>
                        </a:rPr>
                        <a:t>Explanation</a:t>
                      </a:r>
                      <a:endParaRPr lang="en-CA" sz="1400">
                        <a:latin typeface="Montserrat" panose="00000500000000000000" pitchFamily="2" charset="0"/>
                      </a:endParaRPr>
                    </a:p>
                  </a:txBody>
                  <a:tcPr anchor="ctr"/>
                </a:tc>
                <a:extLst>
                  <a:ext uri="{0D108BD9-81ED-4DB2-BD59-A6C34878D82A}">
                    <a16:rowId xmlns:a16="http://schemas.microsoft.com/office/drawing/2014/main" val="3905558060"/>
                  </a:ext>
                </a:extLst>
              </a:tr>
              <a:tr h="0">
                <a:tc>
                  <a:txBody>
                    <a:bodyPr/>
                    <a:lstStyle/>
                    <a:p>
                      <a:r>
                        <a:rPr lang="en-CA" sz="1400" b="1">
                          <a:latin typeface="Montserrat" panose="00000500000000000000" pitchFamily="2" charset="0"/>
                        </a:rPr>
                        <a:t>Specific</a:t>
                      </a:r>
                      <a:endParaRPr lang="en-CA" sz="1400">
                        <a:latin typeface="Montserrat" panose="00000500000000000000" pitchFamily="2" charset="0"/>
                      </a:endParaRPr>
                    </a:p>
                  </a:txBody>
                  <a:tcPr anchor="ctr"/>
                </a:tc>
                <a:tc>
                  <a:txBody>
                    <a:bodyPr/>
                    <a:lstStyle/>
                    <a:p>
                      <a:r>
                        <a:rPr lang="en-US" sz="1400" dirty="0">
                          <a:latin typeface="Montserrat" panose="00000500000000000000" pitchFamily="2" charset="0"/>
                        </a:rPr>
                        <a:t>Focused on reducing response time using a chatbot.</a:t>
                      </a:r>
                    </a:p>
                  </a:txBody>
                  <a:tcPr anchor="ctr"/>
                </a:tc>
                <a:extLst>
                  <a:ext uri="{0D108BD9-81ED-4DB2-BD59-A6C34878D82A}">
                    <a16:rowId xmlns:a16="http://schemas.microsoft.com/office/drawing/2014/main" val="2423074336"/>
                  </a:ext>
                </a:extLst>
              </a:tr>
              <a:tr h="0">
                <a:tc>
                  <a:txBody>
                    <a:bodyPr/>
                    <a:lstStyle/>
                    <a:p>
                      <a:r>
                        <a:rPr lang="en-CA" sz="1400" b="1">
                          <a:latin typeface="Montserrat" panose="00000500000000000000" pitchFamily="2" charset="0"/>
                        </a:rPr>
                        <a:t>Measurable</a:t>
                      </a:r>
                      <a:endParaRPr lang="en-CA" sz="1400">
                        <a:latin typeface="Montserrat" panose="00000500000000000000" pitchFamily="2" charset="0"/>
                      </a:endParaRPr>
                    </a:p>
                  </a:txBody>
                  <a:tcPr anchor="ctr"/>
                </a:tc>
                <a:tc>
                  <a:txBody>
                    <a:bodyPr/>
                    <a:lstStyle/>
                    <a:p>
                      <a:r>
                        <a:rPr lang="en-US" sz="1400" dirty="0">
                          <a:latin typeface="Montserrat" panose="00000500000000000000" pitchFamily="2" charset="0"/>
                        </a:rPr>
                        <a:t>40% reduction in response time and customer satisfaction score ≥ 85%.</a:t>
                      </a:r>
                    </a:p>
                  </a:txBody>
                  <a:tcPr anchor="ctr"/>
                </a:tc>
                <a:extLst>
                  <a:ext uri="{0D108BD9-81ED-4DB2-BD59-A6C34878D82A}">
                    <a16:rowId xmlns:a16="http://schemas.microsoft.com/office/drawing/2014/main" val="243757729"/>
                  </a:ext>
                </a:extLst>
              </a:tr>
              <a:tr h="0">
                <a:tc>
                  <a:txBody>
                    <a:bodyPr/>
                    <a:lstStyle/>
                    <a:p>
                      <a:r>
                        <a:rPr lang="en-CA" sz="1400" b="1">
                          <a:latin typeface="Montserrat" panose="00000500000000000000" pitchFamily="2" charset="0"/>
                        </a:rPr>
                        <a:t>Achievable</a:t>
                      </a:r>
                      <a:endParaRPr lang="en-CA" sz="1400">
                        <a:latin typeface="Montserrat" panose="00000500000000000000" pitchFamily="2" charset="0"/>
                      </a:endParaRPr>
                    </a:p>
                  </a:txBody>
                  <a:tcPr anchor="ctr"/>
                </a:tc>
                <a:tc>
                  <a:txBody>
                    <a:bodyPr/>
                    <a:lstStyle/>
                    <a:p>
                      <a:r>
                        <a:rPr lang="en-US" sz="1400" dirty="0">
                          <a:latin typeface="Montserrat" panose="00000500000000000000" pitchFamily="2" charset="0"/>
                        </a:rPr>
                        <a:t>Based on industry benchmarks and current capacity.</a:t>
                      </a:r>
                    </a:p>
                  </a:txBody>
                  <a:tcPr anchor="ctr"/>
                </a:tc>
                <a:extLst>
                  <a:ext uri="{0D108BD9-81ED-4DB2-BD59-A6C34878D82A}">
                    <a16:rowId xmlns:a16="http://schemas.microsoft.com/office/drawing/2014/main" val="831298745"/>
                  </a:ext>
                </a:extLst>
              </a:tr>
              <a:tr h="0">
                <a:tc>
                  <a:txBody>
                    <a:bodyPr/>
                    <a:lstStyle/>
                    <a:p>
                      <a:r>
                        <a:rPr lang="en-CA" sz="1400" b="1">
                          <a:latin typeface="Montserrat" panose="00000500000000000000" pitchFamily="2" charset="0"/>
                        </a:rPr>
                        <a:t>Relevant</a:t>
                      </a:r>
                      <a:endParaRPr lang="en-CA" sz="1400">
                        <a:latin typeface="Montserrat" panose="00000500000000000000" pitchFamily="2" charset="0"/>
                      </a:endParaRPr>
                    </a:p>
                  </a:txBody>
                  <a:tcPr anchor="ctr"/>
                </a:tc>
                <a:tc>
                  <a:txBody>
                    <a:bodyPr/>
                    <a:lstStyle/>
                    <a:p>
                      <a:r>
                        <a:rPr lang="en-US" sz="1400" dirty="0">
                          <a:latin typeface="Montserrat" panose="00000500000000000000" pitchFamily="2" charset="0"/>
                        </a:rPr>
                        <a:t>Aligns with business goals: improving user experience and reducing support costs.</a:t>
                      </a:r>
                    </a:p>
                  </a:txBody>
                  <a:tcPr anchor="ctr"/>
                </a:tc>
                <a:extLst>
                  <a:ext uri="{0D108BD9-81ED-4DB2-BD59-A6C34878D82A}">
                    <a16:rowId xmlns:a16="http://schemas.microsoft.com/office/drawing/2014/main" val="1538811839"/>
                  </a:ext>
                </a:extLst>
              </a:tr>
              <a:tr h="0">
                <a:tc>
                  <a:txBody>
                    <a:bodyPr/>
                    <a:lstStyle/>
                    <a:p>
                      <a:r>
                        <a:rPr lang="en-CA" sz="1400" b="1" dirty="0">
                          <a:latin typeface="Montserrat" panose="00000500000000000000" pitchFamily="2" charset="0"/>
                        </a:rPr>
                        <a:t>Time-bound</a:t>
                      </a:r>
                      <a:endParaRPr lang="en-CA" sz="1400" dirty="0">
                        <a:latin typeface="Montserrat" panose="00000500000000000000" pitchFamily="2" charset="0"/>
                      </a:endParaRPr>
                    </a:p>
                  </a:txBody>
                  <a:tcPr anchor="ctr"/>
                </a:tc>
                <a:tc>
                  <a:txBody>
                    <a:bodyPr/>
                    <a:lstStyle/>
                    <a:p>
                      <a:r>
                        <a:rPr lang="en-US" sz="1400" dirty="0">
                          <a:latin typeface="Montserrat" panose="00000500000000000000" pitchFamily="2" charset="0"/>
                        </a:rPr>
                        <a:t>Deadline set to 3 months.</a:t>
                      </a:r>
                    </a:p>
                  </a:txBody>
                  <a:tcPr anchor="ctr"/>
                </a:tc>
                <a:extLst>
                  <a:ext uri="{0D108BD9-81ED-4DB2-BD59-A6C34878D82A}">
                    <a16:rowId xmlns:a16="http://schemas.microsoft.com/office/drawing/2014/main" val="353370391"/>
                  </a:ext>
                </a:extLst>
              </a:tr>
            </a:tbl>
          </a:graphicData>
        </a:graphic>
      </p:graphicFrame>
    </p:spTree>
    <p:extLst>
      <p:ext uri="{BB962C8B-B14F-4D97-AF65-F5344CB8AC3E}">
        <p14:creationId xmlns:p14="http://schemas.microsoft.com/office/powerpoint/2010/main" val="41246437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8">
          <a:extLst>
            <a:ext uri="{FF2B5EF4-FFF2-40B4-BE49-F238E27FC236}">
              <a16:creationId xmlns:a16="http://schemas.microsoft.com/office/drawing/2014/main" id="{1BB6DF83-5192-67ED-F6AA-1E265C61BCE3}"/>
            </a:ext>
          </a:extLst>
        </p:cNvPr>
        <p:cNvGrpSpPr/>
        <p:nvPr/>
      </p:nvGrpSpPr>
      <p:grpSpPr>
        <a:xfrm>
          <a:off x="0" y="0"/>
          <a:ext cx="0" cy="0"/>
          <a:chOff x="0" y="0"/>
          <a:chExt cx="0" cy="0"/>
        </a:xfrm>
      </p:grpSpPr>
      <p:pic>
        <p:nvPicPr>
          <p:cNvPr id="259" name="Google Shape;259;g355ea8b0119_0_127">
            <a:extLst>
              <a:ext uri="{FF2B5EF4-FFF2-40B4-BE49-F238E27FC236}">
                <a16:creationId xmlns:a16="http://schemas.microsoft.com/office/drawing/2014/main" id="{07F26D62-9F7A-7BA5-9226-D44B70C158B6}"/>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sp>
        <p:nvSpPr>
          <p:cNvPr id="262" name="Google Shape;262;g355ea8b0119_0_127">
            <a:extLst>
              <a:ext uri="{FF2B5EF4-FFF2-40B4-BE49-F238E27FC236}">
                <a16:creationId xmlns:a16="http://schemas.microsoft.com/office/drawing/2014/main" id="{BAD19AD8-48D0-8E47-D80A-507E01652769}"/>
              </a:ext>
            </a:extLst>
          </p:cNvPr>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263" name="Google Shape;263;g355ea8b0119_0_127">
            <a:extLst>
              <a:ext uri="{FF2B5EF4-FFF2-40B4-BE49-F238E27FC236}">
                <a16:creationId xmlns:a16="http://schemas.microsoft.com/office/drawing/2014/main" id="{3B6862DD-2AC9-5DDD-4B85-1EB6161763B6}"/>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lt1"/>
                </a:solidFill>
                <a:latin typeface="Montserrat"/>
                <a:ea typeface="Montserrat"/>
                <a:cs typeface="Montserrat"/>
                <a:sym typeface="Montserrat"/>
              </a:rPr>
              <a:t>Three Levels of AI Success Metrics: Model, System, Business</a:t>
            </a:r>
            <a:endParaRPr lang="en-US" sz="1400" b="0" i="0" u="none" strike="noStrike" cap="none" dirty="0">
              <a:solidFill>
                <a:srgbClr val="000000"/>
              </a:solidFill>
              <a:latin typeface="Arial"/>
              <a:ea typeface="Arial"/>
              <a:cs typeface="Arial"/>
              <a:sym typeface="Arial"/>
            </a:endParaRPr>
          </a:p>
        </p:txBody>
      </p:sp>
      <p:sp>
        <p:nvSpPr>
          <p:cNvPr id="6" name="Rectangle: Rounded Corners 5">
            <a:extLst>
              <a:ext uri="{FF2B5EF4-FFF2-40B4-BE49-F238E27FC236}">
                <a16:creationId xmlns:a16="http://schemas.microsoft.com/office/drawing/2014/main" id="{7BC6DDA8-9466-6B54-9DCF-7D00879479C5}"/>
              </a:ext>
            </a:extLst>
          </p:cNvPr>
          <p:cNvSpPr/>
          <p:nvPr/>
        </p:nvSpPr>
        <p:spPr>
          <a:xfrm>
            <a:off x="248053" y="1144598"/>
            <a:ext cx="2186887" cy="1074261"/>
          </a:xfrm>
          <a:prstGeom prst="round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000" dirty="0">
                <a:latin typeface="Montserrat" panose="00000500000000000000" pitchFamily="2" charset="0"/>
              </a:rPr>
              <a:t>Model Quality Metrics</a:t>
            </a:r>
          </a:p>
        </p:txBody>
      </p:sp>
      <p:sp>
        <p:nvSpPr>
          <p:cNvPr id="7" name="Rectangle: Rounded Corners 6">
            <a:extLst>
              <a:ext uri="{FF2B5EF4-FFF2-40B4-BE49-F238E27FC236}">
                <a16:creationId xmlns:a16="http://schemas.microsoft.com/office/drawing/2014/main" id="{F9CEDD10-86B0-838F-C19C-18C68B5BA5D0}"/>
              </a:ext>
            </a:extLst>
          </p:cNvPr>
          <p:cNvSpPr/>
          <p:nvPr/>
        </p:nvSpPr>
        <p:spPr>
          <a:xfrm>
            <a:off x="3512209" y="1163780"/>
            <a:ext cx="2186887" cy="1074261"/>
          </a:xfrm>
          <a:prstGeom prst="roundRect">
            <a:avLst/>
          </a:prstGeom>
          <a:solidFill>
            <a:srgbClr val="D56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000" dirty="0">
                <a:latin typeface="Montserrat" panose="00000500000000000000" pitchFamily="2" charset="0"/>
              </a:rPr>
              <a:t>System Quality Metrics</a:t>
            </a:r>
          </a:p>
        </p:txBody>
      </p:sp>
      <p:sp>
        <p:nvSpPr>
          <p:cNvPr id="8" name="Rectangle: Rounded Corners 7">
            <a:extLst>
              <a:ext uri="{FF2B5EF4-FFF2-40B4-BE49-F238E27FC236}">
                <a16:creationId xmlns:a16="http://schemas.microsoft.com/office/drawing/2014/main" id="{4EE7420E-8F45-194D-9FCA-648173C50DD1}"/>
              </a:ext>
            </a:extLst>
          </p:cNvPr>
          <p:cNvSpPr/>
          <p:nvPr/>
        </p:nvSpPr>
        <p:spPr>
          <a:xfrm>
            <a:off x="7078625" y="1158131"/>
            <a:ext cx="2186887" cy="1074261"/>
          </a:xfrm>
          <a:prstGeom prst="roundRect">
            <a:avLst/>
          </a:prstGeom>
          <a:solidFill>
            <a:srgbClr val="1BBF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000" dirty="0">
                <a:latin typeface="Montserrat" panose="00000500000000000000" pitchFamily="2" charset="0"/>
              </a:rPr>
              <a:t>Business Metrics</a:t>
            </a:r>
          </a:p>
        </p:txBody>
      </p:sp>
      <p:sp>
        <p:nvSpPr>
          <p:cNvPr id="10" name="TextBox 9">
            <a:extLst>
              <a:ext uri="{FF2B5EF4-FFF2-40B4-BE49-F238E27FC236}">
                <a16:creationId xmlns:a16="http://schemas.microsoft.com/office/drawing/2014/main" id="{440954B5-C728-7B4F-1E0D-65268F46BA89}"/>
              </a:ext>
            </a:extLst>
          </p:cNvPr>
          <p:cNvSpPr txBox="1"/>
          <p:nvPr/>
        </p:nvSpPr>
        <p:spPr>
          <a:xfrm>
            <a:off x="140146" y="2641635"/>
            <a:ext cx="2722419" cy="2246769"/>
          </a:xfrm>
          <a:prstGeom prst="rect">
            <a:avLst/>
          </a:prstGeom>
          <a:noFill/>
        </p:spPr>
        <p:txBody>
          <a:bodyPr wrap="square">
            <a:spAutoFit/>
          </a:bodyPr>
          <a:lstStyle/>
          <a:p>
            <a:pPr marL="285750" indent="-285750">
              <a:buFont typeface="Arial" panose="020B0604020202020204" pitchFamily="34" charset="0"/>
              <a:buChar char="•"/>
            </a:pPr>
            <a:r>
              <a:rPr lang="en-US" altLang="en-US" sz="1400" dirty="0">
                <a:latin typeface="Montserrat" panose="00000500000000000000" pitchFamily="2" charset="0"/>
              </a:rPr>
              <a:t>Model Quality Metrics measure what your model produces.</a:t>
            </a:r>
            <a:endParaRPr lang="en-US" sz="1400" dirty="0">
              <a:latin typeface="Montserrat" panose="00000500000000000000" pitchFamily="2" charset="0"/>
            </a:endParaRPr>
          </a:p>
          <a:p>
            <a:pPr marL="285750" indent="-285750">
              <a:buFont typeface="Arial" panose="020B0604020202020204" pitchFamily="34" charset="0"/>
              <a:buChar char="•"/>
            </a:pPr>
            <a:r>
              <a:rPr lang="en-US" sz="1400" dirty="0">
                <a:latin typeface="Montserrat" panose="00000500000000000000" pitchFamily="2" charset="0"/>
              </a:rPr>
              <a:t>For traditional classification models: accuracy, Precision, Recall.</a:t>
            </a:r>
          </a:p>
          <a:p>
            <a:pPr marL="285750" indent="-285750">
              <a:buFont typeface="Arial" panose="020B0604020202020204" pitchFamily="34" charset="0"/>
              <a:buChar char="•"/>
            </a:pPr>
            <a:r>
              <a:rPr lang="en-US" sz="1400" dirty="0">
                <a:latin typeface="Montserrat" panose="00000500000000000000" pitchFamily="2" charset="0"/>
              </a:rPr>
              <a:t>For LLMs, could be coherence, instruction adherence, etc.</a:t>
            </a:r>
            <a:endParaRPr lang="en-CA" sz="1400" dirty="0">
              <a:latin typeface="Montserrat" panose="00000500000000000000" pitchFamily="2" charset="0"/>
            </a:endParaRPr>
          </a:p>
        </p:txBody>
      </p:sp>
      <p:sp>
        <p:nvSpPr>
          <p:cNvPr id="12" name="TextBox 11">
            <a:extLst>
              <a:ext uri="{FF2B5EF4-FFF2-40B4-BE49-F238E27FC236}">
                <a16:creationId xmlns:a16="http://schemas.microsoft.com/office/drawing/2014/main" id="{149C0FFF-4C67-B2ED-9FDC-C8164EBB72CF}"/>
              </a:ext>
            </a:extLst>
          </p:cNvPr>
          <p:cNvSpPr txBox="1"/>
          <p:nvPr/>
        </p:nvSpPr>
        <p:spPr>
          <a:xfrm>
            <a:off x="3293196" y="2676256"/>
            <a:ext cx="2722419" cy="1384995"/>
          </a:xfrm>
          <a:prstGeom prst="rect">
            <a:avLst/>
          </a:prstGeom>
          <a:noFill/>
        </p:spPr>
        <p:txBody>
          <a:bodyPr wrap="square">
            <a:spAutoFit/>
          </a:bodyPr>
          <a:lstStyle>
            <a:defPPr>
              <a:defRPr lang="en-US"/>
            </a:defPPr>
            <a:lvl1pPr marL="285750" indent="-285750">
              <a:buFont typeface="Arial" panose="020B0604020202020204" pitchFamily="34" charset="0"/>
              <a:buChar char="•"/>
              <a:defRPr sz="1400">
                <a:latin typeface="Montserrat" panose="00000500000000000000" pitchFamily="2" charset="0"/>
              </a:defRPr>
            </a:lvl1pPr>
          </a:lstStyle>
          <a:p>
            <a:r>
              <a:rPr lang="en-US" dirty="0"/>
              <a:t>System Quality Metrics measure how well the model runs, such as deployment, reliability, latency, throughput, and resource efficiency.</a:t>
            </a:r>
            <a:endParaRPr lang="en-CA" dirty="0"/>
          </a:p>
        </p:txBody>
      </p:sp>
      <p:sp>
        <p:nvSpPr>
          <p:cNvPr id="15" name="TextBox 14">
            <a:extLst>
              <a:ext uri="{FF2B5EF4-FFF2-40B4-BE49-F238E27FC236}">
                <a16:creationId xmlns:a16="http://schemas.microsoft.com/office/drawing/2014/main" id="{7A46BF26-1AD0-E75E-C342-36C59FEF1C9E}"/>
              </a:ext>
            </a:extLst>
          </p:cNvPr>
          <p:cNvSpPr txBox="1"/>
          <p:nvPr/>
        </p:nvSpPr>
        <p:spPr>
          <a:xfrm>
            <a:off x="6970264" y="2680995"/>
            <a:ext cx="3062558" cy="2246769"/>
          </a:xfrm>
          <a:prstGeom prst="rect">
            <a:avLst/>
          </a:prstGeom>
          <a:noFill/>
        </p:spPr>
        <p:txBody>
          <a:bodyPr wrap="square">
            <a:spAutoFit/>
          </a:bodyPr>
          <a:lstStyle>
            <a:defPPr>
              <a:defRPr lang="en-US"/>
            </a:defPPr>
            <a:lvl1pPr marL="285750" indent="-285750">
              <a:buFont typeface="Arial" panose="020B0604020202020204" pitchFamily="34" charset="0"/>
              <a:buChar char="•"/>
              <a:defRPr sz="1400">
                <a:latin typeface="Montserrat" panose="00000500000000000000" pitchFamily="2" charset="0"/>
              </a:defRPr>
            </a:lvl1pPr>
          </a:lstStyle>
          <a:p>
            <a:r>
              <a:rPr lang="en-US" dirty="0"/>
              <a:t>These measure the real-world business impact of your AI system.</a:t>
            </a:r>
          </a:p>
          <a:p>
            <a:r>
              <a:rPr lang="en-CA" dirty="0"/>
              <a:t>Assesses productivity gains, cost savings, and customer experience improvements.</a:t>
            </a:r>
          </a:p>
          <a:p>
            <a:r>
              <a:rPr lang="en-CA" dirty="0"/>
              <a:t>Helps justify AI investments and prioritize high-impact use cases.</a:t>
            </a:r>
          </a:p>
          <a:p>
            <a:endParaRPr lang="en-CA" dirty="0"/>
          </a:p>
        </p:txBody>
      </p:sp>
    </p:spTree>
    <p:extLst>
      <p:ext uri="{BB962C8B-B14F-4D97-AF65-F5344CB8AC3E}">
        <p14:creationId xmlns:p14="http://schemas.microsoft.com/office/powerpoint/2010/main" val="1312427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p:bldP spid="12"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8">
          <a:extLst>
            <a:ext uri="{FF2B5EF4-FFF2-40B4-BE49-F238E27FC236}">
              <a16:creationId xmlns:a16="http://schemas.microsoft.com/office/drawing/2014/main" id="{0C447EFA-BAA0-AE09-A281-2F1EBE330113}"/>
            </a:ext>
          </a:extLst>
        </p:cNvPr>
        <p:cNvGrpSpPr/>
        <p:nvPr/>
      </p:nvGrpSpPr>
      <p:grpSpPr>
        <a:xfrm>
          <a:off x="0" y="0"/>
          <a:ext cx="0" cy="0"/>
          <a:chOff x="0" y="0"/>
          <a:chExt cx="0" cy="0"/>
        </a:xfrm>
      </p:grpSpPr>
      <p:pic>
        <p:nvPicPr>
          <p:cNvPr id="259" name="Google Shape;259;g355ea8b0119_0_127">
            <a:extLst>
              <a:ext uri="{FF2B5EF4-FFF2-40B4-BE49-F238E27FC236}">
                <a16:creationId xmlns:a16="http://schemas.microsoft.com/office/drawing/2014/main" id="{BC17A16D-873F-9F59-BB2C-26FA733C82AB}"/>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sp>
        <p:nvSpPr>
          <p:cNvPr id="263" name="Google Shape;263;g355ea8b0119_0_127">
            <a:extLst>
              <a:ext uri="{FF2B5EF4-FFF2-40B4-BE49-F238E27FC236}">
                <a16:creationId xmlns:a16="http://schemas.microsoft.com/office/drawing/2014/main" id="{A5043026-F400-129A-D9FD-EE694DE52F42}"/>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Success Metrics Examples</a:t>
            </a:r>
            <a:endParaRPr sz="1400" b="0" i="0" u="none" strike="noStrike" cap="none" dirty="0">
              <a:solidFill>
                <a:srgbClr val="000000"/>
              </a:solidFill>
              <a:latin typeface="Arial"/>
              <a:ea typeface="Arial"/>
              <a:cs typeface="Arial"/>
              <a:sym typeface="Arial"/>
            </a:endParaRPr>
          </a:p>
        </p:txBody>
      </p:sp>
      <p:sp>
        <p:nvSpPr>
          <p:cNvPr id="2" name="Rectangle: Rounded Corners 1">
            <a:extLst>
              <a:ext uri="{FF2B5EF4-FFF2-40B4-BE49-F238E27FC236}">
                <a16:creationId xmlns:a16="http://schemas.microsoft.com/office/drawing/2014/main" id="{7745A578-3275-D645-6984-86E4C7324E53}"/>
              </a:ext>
            </a:extLst>
          </p:cNvPr>
          <p:cNvSpPr/>
          <p:nvPr/>
        </p:nvSpPr>
        <p:spPr>
          <a:xfrm>
            <a:off x="343529" y="1010316"/>
            <a:ext cx="9260241" cy="928176"/>
          </a:xfrm>
          <a:prstGeom prst="round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latin typeface="Montserrat" panose="00000500000000000000" pitchFamily="2" charset="0"/>
              </a:rPr>
              <a:t>Business: </a:t>
            </a:r>
            <a:r>
              <a:rPr lang="en-US" sz="1600" dirty="0">
                <a:latin typeface="Montserrat" panose="00000500000000000000" pitchFamily="2" charset="0"/>
              </a:rPr>
              <a:t>Increase customer retention by 15% in the next 6 months using AI-driven product recommendations, while maintaining customer satisfaction above 90%.</a:t>
            </a:r>
            <a:endParaRPr lang="en-CA" sz="1600" dirty="0">
              <a:latin typeface="Montserrat" panose="00000500000000000000" pitchFamily="2" charset="0"/>
            </a:endParaRPr>
          </a:p>
        </p:txBody>
      </p:sp>
      <p:sp>
        <p:nvSpPr>
          <p:cNvPr id="3" name="Rectangle: Rounded Corners 2">
            <a:extLst>
              <a:ext uri="{FF2B5EF4-FFF2-40B4-BE49-F238E27FC236}">
                <a16:creationId xmlns:a16="http://schemas.microsoft.com/office/drawing/2014/main" id="{27E51CAB-72E1-F2A8-CD9E-B81EC18433CD}"/>
              </a:ext>
            </a:extLst>
          </p:cNvPr>
          <p:cNvSpPr/>
          <p:nvPr/>
        </p:nvSpPr>
        <p:spPr>
          <a:xfrm>
            <a:off x="1264951" y="2151036"/>
            <a:ext cx="9260241" cy="1084702"/>
          </a:xfrm>
          <a:prstGeom prst="roundRect">
            <a:avLst/>
          </a:prstGeom>
          <a:solidFill>
            <a:srgbClr val="1BBF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latin typeface="Montserrat" panose="00000500000000000000" pitchFamily="2" charset="0"/>
              </a:rPr>
              <a:t>Model: </a:t>
            </a:r>
            <a:r>
              <a:rPr lang="en-US" sz="1600" dirty="0">
                <a:latin typeface="Montserrat" panose="00000500000000000000" pitchFamily="2" charset="0"/>
              </a:rPr>
              <a:t>Achieve a minimum F1 score of 0.92 on the test dataset within 4 weeks of training, using cross-validation and hyperparameter tuning.</a:t>
            </a:r>
            <a:endParaRPr lang="en-CA" sz="1600" dirty="0">
              <a:latin typeface="Montserrat" panose="00000500000000000000" pitchFamily="2" charset="0"/>
            </a:endParaRPr>
          </a:p>
        </p:txBody>
      </p:sp>
      <p:sp>
        <p:nvSpPr>
          <p:cNvPr id="4" name="Rectangle: Rounded Corners 3">
            <a:extLst>
              <a:ext uri="{FF2B5EF4-FFF2-40B4-BE49-F238E27FC236}">
                <a16:creationId xmlns:a16="http://schemas.microsoft.com/office/drawing/2014/main" id="{88EE11D2-9EFC-5D29-DAE8-20247304DD5E}"/>
              </a:ext>
            </a:extLst>
          </p:cNvPr>
          <p:cNvSpPr/>
          <p:nvPr/>
        </p:nvSpPr>
        <p:spPr>
          <a:xfrm>
            <a:off x="2550225" y="3505543"/>
            <a:ext cx="8735901" cy="929239"/>
          </a:xfrm>
          <a:prstGeom prst="roundRect">
            <a:avLst/>
          </a:prstGeom>
          <a:solidFill>
            <a:srgbClr val="D56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latin typeface="Montserrat" panose="00000500000000000000" pitchFamily="2" charset="0"/>
              </a:rPr>
              <a:t>System: </a:t>
            </a:r>
            <a:r>
              <a:rPr lang="en-US" sz="1600" dirty="0">
                <a:latin typeface="Montserrat" panose="00000500000000000000" pitchFamily="2" charset="0"/>
              </a:rPr>
              <a:t>Maintain 99.9% uptime and ensure API response latency stays under 250ms for 95% of user requests over the next 3 months post-deployment.</a:t>
            </a:r>
            <a:endParaRPr lang="en-CA" sz="1600" dirty="0">
              <a:latin typeface="Montserrat" panose="00000500000000000000" pitchFamily="2" charset="0"/>
            </a:endParaRPr>
          </a:p>
        </p:txBody>
      </p:sp>
    </p:spTree>
    <p:extLst>
      <p:ext uri="{BB962C8B-B14F-4D97-AF65-F5344CB8AC3E}">
        <p14:creationId xmlns:p14="http://schemas.microsoft.com/office/powerpoint/2010/main" val="3172489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987B7-3AC5-7843-35C7-55DA13EC31E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35CC79B-A7E3-D67D-0E15-9F84A8013912}"/>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38FB9F9-04D1-2AA9-8859-12B46238C778}"/>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835B8CAD-876B-D95B-82A3-87786C07EF19}"/>
              </a:ext>
            </a:extLst>
          </p:cNvPr>
          <p:cNvSpPr/>
          <p:nvPr/>
        </p:nvSpPr>
        <p:spPr>
          <a:xfrm>
            <a:off x="293914" y="793804"/>
            <a:ext cx="5578566"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PRACTICE OPPORTUNITY</a:t>
            </a:r>
          </a:p>
        </p:txBody>
      </p:sp>
      <p:pic>
        <p:nvPicPr>
          <p:cNvPr id="5" name="Picture 4">
            <a:extLst>
              <a:ext uri="{FF2B5EF4-FFF2-40B4-BE49-F238E27FC236}">
                <a16:creationId xmlns:a16="http://schemas.microsoft.com/office/drawing/2014/main" id="{8AD8C8EA-CBAA-8C03-EDB0-7042D20411EC}"/>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41347376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C4702-899D-D0F3-A686-3E3E1E068D3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191ED6C-F29F-C58B-EED0-07662F18E55F}"/>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CC4625CD-59B7-2C53-8A96-71E141BD1695}"/>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a:t>
            </a:r>
          </a:p>
        </p:txBody>
      </p:sp>
      <p:pic>
        <p:nvPicPr>
          <p:cNvPr id="3" name="Picture 2">
            <a:extLst>
              <a:ext uri="{FF2B5EF4-FFF2-40B4-BE49-F238E27FC236}">
                <a16:creationId xmlns:a16="http://schemas.microsoft.com/office/drawing/2014/main" id="{2F1B4673-2025-9C4A-0BE3-2FE12B48CFAC}"/>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851972" y="2192017"/>
            <a:ext cx="3206725" cy="2537445"/>
          </a:xfrm>
          <a:prstGeom prst="rect">
            <a:avLst/>
          </a:prstGeom>
        </p:spPr>
      </p:pic>
      <p:sp>
        <p:nvSpPr>
          <p:cNvPr id="12" name="TextBox 11">
            <a:extLst>
              <a:ext uri="{FF2B5EF4-FFF2-40B4-BE49-F238E27FC236}">
                <a16:creationId xmlns:a16="http://schemas.microsoft.com/office/drawing/2014/main" id="{B80F1B5B-72E5-7C78-CF74-5F3F75F7AB7B}"/>
              </a:ext>
            </a:extLst>
          </p:cNvPr>
          <p:cNvSpPr txBox="1"/>
          <p:nvPr/>
        </p:nvSpPr>
        <p:spPr>
          <a:xfrm>
            <a:off x="300038" y="894476"/>
            <a:ext cx="11072812" cy="1590564"/>
          </a:xfrm>
          <a:prstGeom prst="rect">
            <a:avLst/>
          </a:prstGeom>
          <a:noFill/>
        </p:spPr>
        <p:txBody>
          <a:bodyPr wrap="square">
            <a:spAutoFit/>
          </a:bodyPr>
          <a:lstStyle/>
          <a:p>
            <a:pPr marL="285750" indent="-285750">
              <a:lnSpc>
                <a:spcPct val="115000"/>
              </a:lnSpc>
              <a:spcAft>
                <a:spcPts val="800"/>
              </a:spcAft>
              <a:buFont typeface="Arial" panose="020B0604020202020204" pitchFamily="34" charset="0"/>
              <a:buChar char="•"/>
            </a:pPr>
            <a:r>
              <a:rPr lang="en-CA" sz="1600" kern="100" dirty="0">
                <a:effectLst/>
                <a:latin typeface="Montserrat" panose="00000500000000000000" pitchFamily="2" charset="0"/>
                <a:ea typeface="Aptos" panose="020B0004020202020204" pitchFamily="34" charset="0"/>
                <a:cs typeface="Times New Roman" panose="02020603050405020304" pitchFamily="18" charset="0"/>
              </a:rPr>
              <a:t>A bank wants to use AI to predict which customers are likely to miss their monthly loan payments. The goal is to help customer service teams proactively reach out and offer help before a payment is missed.</a:t>
            </a:r>
          </a:p>
          <a:p>
            <a:pPr marL="285750" indent="-285750">
              <a:lnSpc>
                <a:spcPct val="115000"/>
              </a:lnSpc>
              <a:spcAft>
                <a:spcPts val="800"/>
              </a:spcAft>
              <a:buFont typeface="Arial" panose="020B0604020202020204" pitchFamily="34" charset="0"/>
              <a:buChar char="•"/>
            </a:pPr>
            <a:r>
              <a:rPr lang="en-CA" sz="1600" kern="100" dirty="0">
                <a:effectLst/>
                <a:latin typeface="Montserrat" panose="00000500000000000000" pitchFamily="2" charset="0"/>
                <a:ea typeface="Aptos" panose="020B0004020202020204" pitchFamily="34" charset="0"/>
                <a:cs typeface="Times New Roman" panose="02020603050405020304" pitchFamily="18" charset="0"/>
              </a:rPr>
              <a:t>Your team has been tasked to build the AI system, and you’ve been asked to define how success will be measured at three levels: </a:t>
            </a:r>
            <a:r>
              <a:rPr lang="en-CA" sz="1600" b="1" kern="100" dirty="0">
                <a:effectLst/>
                <a:latin typeface="Montserrat" panose="00000500000000000000" pitchFamily="2" charset="0"/>
                <a:ea typeface="Aptos" panose="020B0004020202020204" pitchFamily="34" charset="0"/>
                <a:cs typeface="Times New Roman" panose="02020603050405020304" pitchFamily="18" charset="0"/>
              </a:rPr>
              <a:t>model, system, and business</a:t>
            </a:r>
            <a:r>
              <a:rPr lang="en-CA" sz="1600" kern="100" dirty="0">
                <a:effectLst/>
                <a:latin typeface="Montserrat" panose="00000500000000000000" pitchFamily="2" charset="0"/>
                <a:ea typeface="Aptos" panose="020B0004020202020204" pitchFamily="34" charset="0"/>
                <a:cs typeface="Times New Roman" panose="02020603050405020304" pitchFamily="18" charset="0"/>
              </a:rPr>
              <a:t>.</a:t>
            </a:r>
            <a:r>
              <a:rPr lang="en-CA" sz="1600" kern="100" dirty="0">
                <a:latin typeface="Montserrat" panose="00000500000000000000" pitchFamily="2" charset="0"/>
                <a:ea typeface="Aptos" panose="020B0004020202020204" pitchFamily="34" charset="0"/>
                <a:cs typeface="Times New Roman" panose="02020603050405020304" pitchFamily="18" charset="0"/>
              </a:rPr>
              <a:t> List 3 models, business, and system metrics in SMART goal format. </a:t>
            </a:r>
            <a:endParaRPr lang="en-CA" sz="1600" kern="100" dirty="0">
              <a:effectLst/>
              <a:latin typeface="Montserrat" panose="00000500000000000000" pitchFamily="2"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0744873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07620-DEC9-D810-D350-FD62E45C71E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F1E418E-B1BC-3086-9FFF-7DB81F6CB457}"/>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4D367F84-2C16-3F52-D815-A6E1BFDF7976}"/>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 Solution</a:t>
            </a:r>
          </a:p>
        </p:txBody>
      </p:sp>
      <p:graphicFrame>
        <p:nvGraphicFramePr>
          <p:cNvPr id="2" name="Table 1">
            <a:extLst>
              <a:ext uri="{FF2B5EF4-FFF2-40B4-BE49-F238E27FC236}">
                <a16:creationId xmlns:a16="http://schemas.microsoft.com/office/drawing/2014/main" id="{58FE5FDE-4F5C-C97A-8847-8EA9F30172AA}"/>
              </a:ext>
            </a:extLst>
          </p:cNvPr>
          <p:cNvGraphicFramePr>
            <a:graphicFrameLocks noGrp="1"/>
          </p:cNvGraphicFramePr>
          <p:nvPr>
            <p:extLst>
              <p:ext uri="{D42A27DB-BD31-4B8C-83A1-F6EECF244321}">
                <p14:modId xmlns:p14="http://schemas.microsoft.com/office/powerpoint/2010/main" val="3698615912"/>
              </p:ext>
            </p:extLst>
          </p:nvPr>
        </p:nvGraphicFramePr>
        <p:xfrm>
          <a:off x="555299" y="907669"/>
          <a:ext cx="11065202" cy="2924838"/>
        </p:xfrm>
        <a:graphic>
          <a:graphicData uri="http://schemas.openxmlformats.org/drawingml/2006/table">
            <a:tbl>
              <a:tblPr>
                <a:tableStyleId>{5FD0F851-EC5A-4D38-B0AD-8093EC10F338}</a:tableStyleId>
              </a:tblPr>
              <a:tblGrid>
                <a:gridCol w="1465960">
                  <a:extLst>
                    <a:ext uri="{9D8B030D-6E8A-4147-A177-3AD203B41FA5}">
                      <a16:colId xmlns:a16="http://schemas.microsoft.com/office/drawing/2014/main" val="2464923689"/>
                    </a:ext>
                  </a:extLst>
                </a:gridCol>
                <a:gridCol w="2728541">
                  <a:extLst>
                    <a:ext uri="{9D8B030D-6E8A-4147-A177-3AD203B41FA5}">
                      <a16:colId xmlns:a16="http://schemas.microsoft.com/office/drawing/2014/main" val="1524136017"/>
                    </a:ext>
                  </a:extLst>
                </a:gridCol>
                <a:gridCol w="6870701">
                  <a:extLst>
                    <a:ext uri="{9D8B030D-6E8A-4147-A177-3AD203B41FA5}">
                      <a16:colId xmlns:a16="http://schemas.microsoft.com/office/drawing/2014/main" val="1171893749"/>
                    </a:ext>
                  </a:extLst>
                </a:gridCol>
              </a:tblGrid>
              <a:tr h="191877">
                <a:tc>
                  <a:txBody>
                    <a:bodyPr/>
                    <a:lstStyle/>
                    <a:p>
                      <a:r>
                        <a:rPr lang="en-CA" sz="1400" b="1" dirty="0"/>
                        <a:t>Category</a:t>
                      </a:r>
                      <a:endParaRPr lang="en-CA" sz="1400" b="1" dirty="0">
                        <a:latin typeface="Montserrat" panose="00000500000000000000" pitchFamily="2" charset="0"/>
                      </a:endParaRPr>
                    </a:p>
                  </a:txBody>
                  <a:tcPr marL="51192" marR="51192" marT="25596" marB="25596" anchor="ctr"/>
                </a:tc>
                <a:tc>
                  <a:txBody>
                    <a:bodyPr/>
                    <a:lstStyle/>
                    <a:p>
                      <a:r>
                        <a:rPr lang="en-CA" sz="1400" b="1"/>
                        <a:t>Metric</a:t>
                      </a:r>
                      <a:endParaRPr lang="en-CA" sz="1400" b="1">
                        <a:latin typeface="Montserrat" panose="00000500000000000000" pitchFamily="2" charset="0"/>
                      </a:endParaRPr>
                    </a:p>
                  </a:txBody>
                  <a:tcPr marL="51192" marR="51192" marT="25596" marB="25596" anchor="ctr"/>
                </a:tc>
                <a:tc>
                  <a:txBody>
                    <a:bodyPr/>
                    <a:lstStyle/>
                    <a:p>
                      <a:r>
                        <a:rPr lang="en-CA" sz="1400" b="1" dirty="0"/>
                        <a:t>SMART Goal</a:t>
                      </a:r>
                      <a:endParaRPr lang="en-CA" sz="1400" b="1" dirty="0">
                        <a:latin typeface="Montserrat" panose="00000500000000000000" pitchFamily="2" charset="0"/>
                      </a:endParaRPr>
                    </a:p>
                  </a:txBody>
                  <a:tcPr marL="51192" marR="51192" marT="25596" marB="25596" anchor="ctr"/>
                </a:tc>
                <a:extLst>
                  <a:ext uri="{0D108BD9-81ED-4DB2-BD59-A6C34878D82A}">
                    <a16:rowId xmlns:a16="http://schemas.microsoft.com/office/drawing/2014/main" val="1275897925"/>
                  </a:ext>
                </a:extLst>
              </a:tr>
              <a:tr h="311105">
                <a:tc>
                  <a:txBody>
                    <a:bodyPr/>
                    <a:lstStyle/>
                    <a:p>
                      <a:r>
                        <a:rPr lang="en-CA" sz="1400" b="1" dirty="0"/>
                        <a:t>Model</a:t>
                      </a:r>
                      <a:endParaRPr lang="en-CA" sz="1400" b="1" dirty="0">
                        <a:latin typeface="Montserrat" panose="00000500000000000000" pitchFamily="2" charset="0"/>
                      </a:endParaRPr>
                    </a:p>
                  </a:txBody>
                  <a:tcPr marL="51192" marR="51192" marT="25596" marB="25596" anchor="ctr"/>
                </a:tc>
                <a:tc>
                  <a:txBody>
                    <a:bodyPr/>
                    <a:lstStyle/>
                    <a:p>
                      <a:r>
                        <a:rPr lang="en-CA" sz="1400" b="0" dirty="0"/>
                        <a:t>Correct Prediction Rate</a:t>
                      </a:r>
                      <a:endParaRPr lang="en-CA" sz="1400" b="0" dirty="0">
                        <a:latin typeface="Montserrat" panose="00000500000000000000" pitchFamily="2" charset="0"/>
                      </a:endParaRPr>
                    </a:p>
                  </a:txBody>
                  <a:tcPr marL="51192" marR="51192" marT="25596" marB="25596" anchor="ctr"/>
                </a:tc>
                <a:tc>
                  <a:txBody>
                    <a:bodyPr/>
                    <a:lstStyle/>
                    <a:p>
                      <a:r>
                        <a:rPr lang="en-US" sz="1400" b="0" dirty="0"/>
                        <a:t>Achieve at least 85% accuracy in predicting missed payments within 3 months.</a:t>
                      </a:r>
                      <a:endParaRPr lang="en-US" sz="1400" b="0" dirty="0">
                        <a:latin typeface="Montserrat" panose="00000500000000000000" pitchFamily="2" charset="0"/>
                      </a:endParaRPr>
                    </a:p>
                  </a:txBody>
                  <a:tcPr marL="51192" marR="51192" marT="25596" marB="25596" anchor="ctr"/>
                </a:tc>
                <a:extLst>
                  <a:ext uri="{0D108BD9-81ED-4DB2-BD59-A6C34878D82A}">
                    <a16:rowId xmlns:a16="http://schemas.microsoft.com/office/drawing/2014/main" val="3902862176"/>
                  </a:ext>
                </a:extLst>
              </a:tr>
              <a:tr h="217774">
                <a:tc>
                  <a:txBody>
                    <a:bodyPr/>
                    <a:lstStyle/>
                    <a:p>
                      <a:endParaRPr lang="en-CA" sz="1400" b="1" dirty="0">
                        <a:latin typeface="Montserrat" panose="00000500000000000000" pitchFamily="2" charset="0"/>
                      </a:endParaRPr>
                    </a:p>
                  </a:txBody>
                  <a:tcPr marL="51192" marR="51192" marT="25596" marB="25596" anchor="ctr"/>
                </a:tc>
                <a:tc>
                  <a:txBody>
                    <a:bodyPr/>
                    <a:lstStyle/>
                    <a:p>
                      <a:r>
                        <a:rPr lang="en-CA" sz="1400" b="0"/>
                        <a:t>False Positive Rate</a:t>
                      </a:r>
                      <a:endParaRPr lang="en-CA" sz="1400" b="0">
                        <a:latin typeface="Montserrat" panose="00000500000000000000" pitchFamily="2" charset="0"/>
                      </a:endParaRPr>
                    </a:p>
                  </a:txBody>
                  <a:tcPr marL="51192" marR="51192" marT="25596" marB="25596" anchor="ctr"/>
                </a:tc>
                <a:tc>
                  <a:txBody>
                    <a:bodyPr/>
                    <a:lstStyle/>
                    <a:p>
                      <a:r>
                        <a:rPr lang="en-US" sz="1400" b="0" dirty="0"/>
                        <a:t>Keep incorrect warnings under 10% during the pilot phase.</a:t>
                      </a:r>
                      <a:endParaRPr lang="en-US" sz="1400" b="0" dirty="0">
                        <a:latin typeface="Montserrat" panose="00000500000000000000" pitchFamily="2" charset="0"/>
                      </a:endParaRPr>
                    </a:p>
                  </a:txBody>
                  <a:tcPr marL="51192" marR="51192" marT="25596" marB="25596" anchor="ctr"/>
                </a:tc>
                <a:extLst>
                  <a:ext uri="{0D108BD9-81ED-4DB2-BD59-A6C34878D82A}">
                    <a16:rowId xmlns:a16="http://schemas.microsoft.com/office/drawing/2014/main" val="3460024680"/>
                  </a:ext>
                </a:extLst>
              </a:tr>
              <a:tr h="217774">
                <a:tc>
                  <a:txBody>
                    <a:bodyPr/>
                    <a:lstStyle/>
                    <a:p>
                      <a:endParaRPr lang="en-CA" sz="1400" b="1">
                        <a:latin typeface="Montserrat" panose="00000500000000000000" pitchFamily="2" charset="0"/>
                      </a:endParaRPr>
                    </a:p>
                  </a:txBody>
                  <a:tcPr marL="51192" marR="51192" marT="25596" marB="25596" anchor="ctr"/>
                </a:tc>
                <a:tc>
                  <a:txBody>
                    <a:bodyPr/>
                    <a:lstStyle/>
                    <a:p>
                      <a:r>
                        <a:rPr lang="en-CA" sz="1400" b="0"/>
                        <a:t>False Negative Rate</a:t>
                      </a:r>
                      <a:endParaRPr lang="en-CA" sz="1400" b="0">
                        <a:latin typeface="Montserrat" panose="00000500000000000000" pitchFamily="2" charset="0"/>
                      </a:endParaRPr>
                    </a:p>
                  </a:txBody>
                  <a:tcPr marL="51192" marR="51192" marT="25596" marB="25596" anchor="ctr"/>
                </a:tc>
                <a:tc>
                  <a:txBody>
                    <a:bodyPr/>
                    <a:lstStyle/>
                    <a:p>
                      <a:r>
                        <a:rPr lang="en-US" sz="1400" b="0"/>
                        <a:t>Identify at least 90% of truly risky customers by the end of Q2.</a:t>
                      </a:r>
                      <a:endParaRPr lang="en-US" sz="1400" b="0">
                        <a:latin typeface="Montserrat" panose="00000500000000000000" pitchFamily="2" charset="0"/>
                      </a:endParaRPr>
                    </a:p>
                  </a:txBody>
                  <a:tcPr marL="51192" marR="51192" marT="25596" marB="25596" anchor="ctr"/>
                </a:tc>
                <a:extLst>
                  <a:ext uri="{0D108BD9-81ED-4DB2-BD59-A6C34878D82A}">
                    <a16:rowId xmlns:a16="http://schemas.microsoft.com/office/drawing/2014/main" val="2125385418"/>
                  </a:ext>
                </a:extLst>
              </a:tr>
              <a:tr h="311105">
                <a:tc>
                  <a:txBody>
                    <a:bodyPr/>
                    <a:lstStyle/>
                    <a:p>
                      <a:r>
                        <a:rPr lang="en-CA" sz="1400" b="1" dirty="0"/>
                        <a:t>System</a:t>
                      </a:r>
                      <a:endParaRPr lang="en-CA" sz="1400" b="1" dirty="0">
                        <a:latin typeface="Montserrat" panose="00000500000000000000" pitchFamily="2" charset="0"/>
                      </a:endParaRPr>
                    </a:p>
                  </a:txBody>
                  <a:tcPr marL="51192" marR="51192" marT="25596" marB="25596" anchor="ctr"/>
                </a:tc>
                <a:tc>
                  <a:txBody>
                    <a:bodyPr/>
                    <a:lstStyle/>
                    <a:p>
                      <a:r>
                        <a:rPr lang="en-CA" sz="1400" b="0"/>
                        <a:t>Response Time</a:t>
                      </a:r>
                      <a:endParaRPr lang="en-CA" sz="1400" b="0">
                        <a:latin typeface="Montserrat" panose="00000500000000000000" pitchFamily="2" charset="0"/>
                      </a:endParaRPr>
                    </a:p>
                  </a:txBody>
                  <a:tcPr marL="51192" marR="51192" marT="25596" marB="25596" anchor="ctr"/>
                </a:tc>
                <a:tc>
                  <a:txBody>
                    <a:bodyPr/>
                    <a:lstStyle/>
                    <a:p>
                      <a:r>
                        <a:rPr lang="en-US" sz="1400" b="0"/>
                        <a:t>Ensure results are returned in under 2 seconds for 95% of users by launch.</a:t>
                      </a:r>
                      <a:endParaRPr lang="en-US" sz="1400" b="0">
                        <a:latin typeface="Montserrat" panose="00000500000000000000" pitchFamily="2" charset="0"/>
                      </a:endParaRPr>
                    </a:p>
                  </a:txBody>
                  <a:tcPr marL="51192" marR="51192" marT="25596" marB="25596" anchor="ctr"/>
                </a:tc>
                <a:extLst>
                  <a:ext uri="{0D108BD9-81ED-4DB2-BD59-A6C34878D82A}">
                    <a16:rowId xmlns:a16="http://schemas.microsoft.com/office/drawing/2014/main" val="1590721601"/>
                  </a:ext>
                </a:extLst>
              </a:tr>
              <a:tr h="217774">
                <a:tc>
                  <a:txBody>
                    <a:bodyPr/>
                    <a:lstStyle/>
                    <a:p>
                      <a:endParaRPr lang="en-CA" sz="1400" b="1">
                        <a:latin typeface="Montserrat" panose="00000500000000000000" pitchFamily="2" charset="0"/>
                      </a:endParaRPr>
                    </a:p>
                  </a:txBody>
                  <a:tcPr marL="51192" marR="51192" marT="25596" marB="25596" anchor="ctr"/>
                </a:tc>
                <a:tc>
                  <a:txBody>
                    <a:bodyPr/>
                    <a:lstStyle/>
                    <a:p>
                      <a:r>
                        <a:rPr lang="en-CA" sz="1400" b="0"/>
                        <a:t>System Uptime</a:t>
                      </a:r>
                      <a:endParaRPr lang="en-CA" sz="1400" b="0">
                        <a:latin typeface="Montserrat" panose="00000500000000000000" pitchFamily="2" charset="0"/>
                      </a:endParaRPr>
                    </a:p>
                  </a:txBody>
                  <a:tcPr marL="51192" marR="51192" marT="25596" marB="25596" anchor="ctr"/>
                </a:tc>
                <a:tc>
                  <a:txBody>
                    <a:bodyPr/>
                    <a:lstStyle/>
                    <a:p>
                      <a:r>
                        <a:rPr lang="en-US" sz="1400" b="0"/>
                        <a:t>Maintain 99.5% uptime during business hours in the first 60 days.</a:t>
                      </a:r>
                      <a:endParaRPr lang="en-US" sz="1400" b="0">
                        <a:latin typeface="Montserrat" panose="00000500000000000000" pitchFamily="2" charset="0"/>
                      </a:endParaRPr>
                    </a:p>
                  </a:txBody>
                  <a:tcPr marL="51192" marR="51192" marT="25596" marB="25596" anchor="ctr"/>
                </a:tc>
                <a:extLst>
                  <a:ext uri="{0D108BD9-81ED-4DB2-BD59-A6C34878D82A}">
                    <a16:rowId xmlns:a16="http://schemas.microsoft.com/office/drawing/2014/main" val="3903700717"/>
                  </a:ext>
                </a:extLst>
              </a:tr>
              <a:tr h="311105">
                <a:tc>
                  <a:txBody>
                    <a:bodyPr/>
                    <a:lstStyle/>
                    <a:p>
                      <a:endParaRPr lang="en-CA" sz="1400" b="1" dirty="0">
                        <a:latin typeface="Montserrat" panose="00000500000000000000" pitchFamily="2" charset="0"/>
                      </a:endParaRPr>
                    </a:p>
                  </a:txBody>
                  <a:tcPr marL="51192" marR="51192" marT="25596" marB="25596" anchor="ctr"/>
                </a:tc>
                <a:tc>
                  <a:txBody>
                    <a:bodyPr/>
                    <a:lstStyle/>
                    <a:p>
                      <a:r>
                        <a:rPr lang="en-CA" sz="1400" b="0"/>
                        <a:t>Scalability</a:t>
                      </a:r>
                      <a:endParaRPr lang="en-CA" sz="1400" b="0">
                        <a:latin typeface="Montserrat" panose="00000500000000000000" pitchFamily="2" charset="0"/>
                      </a:endParaRPr>
                    </a:p>
                  </a:txBody>
                  <a:tcPr marL="51192" marR="51192" marT="25596" marB="25596" anchor="ctr"/>
                </a:tc>
                <a:tc>
                  <a:txBody>
                    <a:bodyPr/>
                    <a:lstStyle/>
                    <a:p>
                      <a:r>
                        <a:rPr lang="en-US" sz="1400" b="0"/>
                        <a:t>Support 1000 predictions/hour without slowdown by end of first month.</a:t>
                      </a:r>
                      <a:endParaRPr lang="en-US" sz="1400" b="0">
                        <a:latin typeface="Montserrat" panose="00000500000000000000" pitchFamily="2" charset="0"/>
                      </a:endParaRPr>
                    </a:p>
                  </a:txBody>
                  <a:tcPr marL="51192" marR="51192" marT="25596" marB="25596" anchor="ctr"/>
                </a:tc>
                <a:extLst>
                  <a:ext uri="{0D108BD9-81ED-4DB2-BD59-A6C34878D82A}">
                    <a16:rowId xmlns:a16="http://schemas.microsoft.com/office/drawing/2014/main" val="1054520972"/>
                  </a:ext>
                </a:extLst>
              </a:tr>
              <a:tr h="311105">
                <a:tc>
                  <a:txBody>
                    <a:bodyPr/>
                    <a:lstStyle/>
                    <a:p>
                      <a:r>
                        <a:rPr lang="en-CA" sz="1400" b="1" dirty="0"/>
                        <a:t>Business</a:t>
                      </a:r>
                      <a:endParaRPr lang="en-CA" sz="1400" b="1" dirty="0">
                        <a:latin typeface="Montserrat" panose="00000500000000000000" pitchFamily="2" charset="0"/>
                      </a:endParaRPr>
                    </a:p>
                  </a:txBody>
                  <a:tcPr marL="51192" marR="51192" marT="25596" marB="25596" anchor="ctr"/>
                </a:tc>
                <a:tc>
                  <a:txBody>
                    <a:bodyPr/>
                    <a:lstStyle/>
                    <a:p>
                      <a:r>
                        <a:rPr lang="en-CA" sz="1400" b="0"/>
                        <a:t>Missed Payment Reduction</a:t>
                      </a:r>
                      <a:endParaRPr lang="en-CA" sz="1400" b="0">
                        <a:latin typeface="Montserrat" panose="00000500000000000000" pitchFamily="2" charset="0"/>
                      </a:endParaRPr>
                    </a:p>
                  </a:txBody>
                  <a:tcPr marL="51192" marR="51192" marT="25596" marB="25596" anchor="ctr"/>
                </a:tc>
                <a:tc>
                  <a:txBody>
                    <a:bodyPr/>
                    <a:lstStyle/>
                    <a:p>
                      <a:r>
                        <a:rPr lang="en-US" sz="1400" b="0" dirty="0"/>
                        <a:t>Reduce missed loan payments by 12% within 3 months of system use.</a:t>
                      </a:r>
                      <a:endParaRPr lang="en-US" sz="1400" b="0" dirty="0">
                        <a:latin typeface="Montserrat" panose="00000500000000000000" pitchFamily="2" charset="0"/>
                      </a:endParaRPr>
                    </a:p>
                  </a:txBody>
                  <a:tcPr marL="51192" marR="51192" marT="25596" marB="25596" anchor="ctr"/>
                </a:tc>
                <a:extLst>
                  <a:ext uri="{0D108BD9-81ED-4DB2-BD59-A6C34878D82A}">
                    <a16:rowId xmlns:a16="http://schemas.microsoft.com/office/drawing/2014/main" val="2946024880"/>
                  </a:ext>
                </a:extLst>
              </a:tr>
              <a:tr h="311105">
                <a:tc>
                  <a:txBody>
                    <a:bodyPr/>
                    <a:lstStyle/>
                    <a:p>
                      <a:endParaRPr lang="en-CA" sz="1400" b="1" dirty="0">
                        <a:latin typeface="Montserrat" panose="00000500000000000000" pitchFamily="2" charset="0"/>
                      </a:endParaRPr>
                    </a:p>
                  </a:txBody>
                  <a:tcPr marL="51192" marR="51192" marT="25596" marB="25596" anchor="ctr"/>
                </a:tc>
                <a:tc>
                  <a:txBody>
                    <a:bodyPr/>
                    <a:lstStyle/>
                    <a:p>
                      <a:r>
                        <a:rPr lang="en-CA" sz="1400" b="0"/>
                        <a:t>Proactive Outreach Rate</a:t>
                      </a:r>
                      <a:endParaRPr lang="en-CA" sz="1400" b="0">
                        <a:latin typeface="Montserrat" panose="00000500000000000000" pitchFamily="2" charset="0"/>
                      </a:endParaRPr>
                    </a:p>
                  </a:txBody>
                  <a:tcPr marL="51192" marR="51192" marT="25596" marB="25596" anchor="ctr"/>
                </a:tc>
                <a:tc>
                  <a:txBody>
                    <a:bodyPr/>
                    <a:lstStyle/>
                    <a:p>
                      <a:r>
                        <a:rPr lang="en-US" sz="1400" b="0"/>
                        <a:t>Increase early outreach calls by 25% in the first month after deployment.</a:t>
                      </a:r>
                      <a:endParaRPr lang="en-US" sz="1400" b="0">
                        <a:latin typeface="Montserrat" panose="00000500000000000000" pitchFamily="2" charset="0"/>
                      </a:endParaRPr>
                    </a:p>
                  </a:txBody>
                  <a:tcPr marL="51192" marR="51192" marT="25596" marB="25596" anchor="ctr"/>
                </a:tc>
                <a:extLst>
                  <a:ext uri="{0D108BD9-81ED-4DB2-BD59-A6C34878D82A}">
                    <a16:rowId xmlns:a16="http://schemas.microsoft.com/office/drawing/2014/main" val="197632294"/>
                  </a:ext>
                </a:extLst>
              </a:tr>
              <a:tr h="311105">
                <a:tc>
                  <a:txBody>
                    <a:bodyPr/>
                    <a:lstStyle/>
                    <a:p>
                      <a:endParaRPr lang="en-CA" sz="1400" b="1" dirty="0">
                        <a:latin typeface="Montserrat" panose="00000500000000000000" pitchFamily="2" charset="0"/>
                      </a:endParaRPr>
                    </a:p>
                  </a:txBody>
                  <a:tcPr marL="51192" marR="51192" marT="25596" marB="25596" anchor="ctr"/>
                </a:tc>
                <a:tc>
                  <a:txBody>
                    <a:bodyPr/>
                    <a:lstStyle/>
                    <a:p>
                      <a:r>
                        <a:rPr lang="en-CA" sz="1400" b="0"/>
                        <a:t>Cost Savings</a:t>
                      </a:r>
                      <a:endParaRPr lang="en-CA" sz="1400" b="0">
                        <a:latin typeface="Montserrat" panose="00000500000000000000" pitchFamily="2" charset="0"/>
                      </a:endParaRPr>
                    </a:p>
                  </a:txBody>
                  <a:tcPr marL="51192" marR="51192" marT="25596" marB="25596" anchor="ctr"/>
                </a:tc>
                <a:tc>
                  <a:txBody>
                    <a:bodyPr/>
                    <a:lstStyle/>
                    <a:p>
                      <a:r>
                        <a:rPr lang="en-US" sz="1400" b="0" dirty="0"/>
                        <a:t>Achieve a 10% reduction in payment collection costs within 6 months.</a:t>
                      </a:r>
                      <a:endParaRPr lang="en-US" sz="1400" b="0" dirty="0">
                        <a:latin typeface="Montserrat" panose="00000500000000000000" pitchFamily="2" charset="0"/>
                      </a:endParaRPr>
                    </a:p>
                  </a:txBody>
                  <a:tcPr marL="51192" marR="51192" marT="25596" marB="25596" anchor="ctr"/>
                </a:tc>
                <a:extLst>
                  <a:ext uri="{0D108BD9-81ED-4DB2-BD59-A6C34878D82A}">
                    <a16:rowId xmlns:a16="http://schemas.microsoft.com/office/drawing/2014/main" val="2629903929"/>
                  </a:ext>
                </a:extLst>
              </a:tr>
            </a:tbl>
          </a:graphicData>
        </a:graphic>
      </p:graphicFrame>
    </p:spTree>
    <p:extLst>
      <p:ext uri="{BB962C8B-B14F-4D97-AF65-F5344CB8AC3E}">
        <p14:creationId xmlns:p14="http://schemas.microsoft.com/office/powerpoint/2010/main" val="1232623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C8B82-FA85-8EF5-2A19-93E44BF0339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B1094B2-096F-431F-D201-2BB6E476E54B}"/>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9E7B13A-75D1-58D9-C42A-6FF71378ABBB}"/>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D8E595A1-ECE5-59FF-4DFC-2BADD78C9672}"/>
              </a:ext>
            </a:extLst>
          </p:cNvPr>
          <p:cNvSpPr/>
          <p:nvPr/>
        </p:nvSpPr>
        <p:spPr>
          <a:xfrm>
            <a:off x="293914" y="793804"/>
            <a:ext cx="5578566" cy="1938992"/>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KEY AI PROJECTS STAKEHOLDERS AND ROLES</a:t>
            </a:r>
          </a:p>
        </p:txBody>
      </p:sp>
    </p:spTree>
    <p:extLst>
      <p:ext uri="{BB962C8B-B14F-4D97-AF65-F5344CB8AC3E}">
        <p14:creationId xmlns:p14="http://schemas.microsoft.com/office/powerpoint/2010/main" val="40440824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61C4E-696F-634B-3569-488FB333A57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D505689-BA0B-9484-7C6B-F488AE53992B}"/>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2791E2B3-2FEE-8D36-FB34-234BD4490710}"/>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Key Roles in AI Projects</a:t>
            </a:r>
          </a:p>
        </p:txBody>
      </p:sp>
      <p:graphicFrame>
        <p:nvGraphicFramePr>
          <p:cNvPr id="2" name="Diagram 1">
            <a:extLst>
              <a:ext uri="{FF2B5EF4-FFF2-40B4-BE49-F238E27FC236}">
                <a16:creationId xmlns:a16="http://schemas.microsoft.com/office/drawing/2014/main" id="{2447CE79-3866-C5AB-6970-4820EBFB0B87}"/>
              </a:ext>
            </a:extLst>
          </p:cNvPr>
          <p:cNvGraphicFramePr/>
          <p:nvPr/>
        </p:nvGraphicFramePr>
        <p:xfrm>
          <a:off x="154723" y="1118957"/>
          <a:ext cx="9688018" cy="39989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71531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graphicEl>
                                              <a:dgm id="{3575B728-FC27-4F01-8F8B-C6FCA2850D70}"/>
                                            </p:graphicEl>
                                          </p:spTgt>
                                        </p:tgtEl>
                                        <p:attrNameLst>
                                          <p:attrName>style.visibility</p:attrName>
                                        </p:attrNameLst>
                                      </p:cBhvr>
                                      <p:to>
                                        <p:strVal val="visible"/>
                                      </p:to>
                                    </p:set>
                                    <p:animEffect transition="in" filter="fade">
                                      <p:cBhvr>
                                        <p:cTn id="7" dur="500"/>
                                        <p:tgtEl>
                                          <p:spTgt spid="2">
                                            <p:graphicEl>
                                              <a:dgm id="{3575B728-FC27-4F01-8F8B-C6FCA2850D70}"/>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graphicEl>
                                              <a:dgm id="{5293BE1E-03F0-43FA-B129-B589923B7064}"/>
                                            </p:graphicEl>
                                          </p:spTgt>
                                        </p:tgtEl>
                                        <p:attrNameLst>
                                          <p:attrName>style.visibility</p:attrName>
                                        </p:attrNameLst>
                                      </p:cBhvr>
                                      <p:to>
                                        <p:strVal val="visible"/>
                                      </p:to>
                                    </p:set>
                                    <p:animEffect transition="in" filter="fade">
                                      <p:cBhvr>
                                        <p:cTn id="12" dur="500"/>
                                        <p:tgtEl>
                                          <p:spTgt spid="2">
                                            <p:graphicEl>
                                              <a:dgm id="{5293BE1E-03F0-43FA-B129-B589923B7064}"/>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graphicEl>
                                              <a:dgm id="{0C3CD48D-BA5F-401E-8178-5766DB7F0EC3}"/>
                                            </p:graphicEl>
                                          </p:spTgt>
                                        </p:tgtEl>
                                        <p:attrNameLst>
                                          <p:attrName>style.visibility</p:attrName>
                                        </p:attrNameLst>
                                      </p:cBhvr>
                                      <p:to>
                                        <p:strVal val="visible"/>
                                      </p:to>
                                    </p:set>
                                    <p:animEffect transition="in" filter="fade">
                                      <p:cBhvr>
                                        <p:cTn id="17" dur="500"/>
                                        <p:tgtEl>
                                          <p:spTgt spid="2">
                                            <p:graphicEl>
                                              <a:dgm id="{0C3CD48D-BA5F-401E-8178-5766DB7F0EC3}"/>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graphicEl>
                                              <a:dgm id="{8C196223-B7C7-44B0-BEF9-9C7948E3198A}"/>
                                            </p:graphicEl>
                                          </p:spTgt>
                                        </p:tgtEl>
                                        <p:attrNameLst>
                                          <p:attrName>style.visibility</p:attrName>
                                        </p:attrNameLst>
                                      </p:cBhvr>
                                      <p:to>
                                        <p:strVal val="visible"/>
                                      </p:to>
                                    </p:set>
                                    <p:animEffect transition="in" filter="fade">
                                      <p:cBhvr>
                                        <p:cTn id="22" dur="500"/>
                                        <p:tgtEl>
                                          <p:spTgt spid="2">
                                            <p:graphicEl>
                                              <a:dgm id="{8C196223-B7C7-44B0-BEF9-9C7948E3198A}"/>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uiExpand="1">
        <p:bldSub>
          <a:bldDgm bld="one"/>
        </p:bldSub>
      </p:bldGraphic>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EFA68-6B73-CF1F-C029-42F75D742EF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542637A-5226-3007-11B8-F861FA6E0EFC}"/>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48836998-2631-A693-30C0-E0245BAD1BD8}"/>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Summary</a:t>
            </a:r>
          </a:p>
        </p:txBody>
      </p:sp>
      <p:graphicFrame>
        <p:nvGraphicFramePr>
          <p:cNvPr id="10" name="Table 9">
            <a:extLst>
              <a:ext uri="{FF2B5EF4-FFF2-40B4-BE49-F238E27FC236}">
                <a16:creationId xmlns:a16="http://schemas.microsoft.com/office/drawing/2014/main" id="{15770A0A-C63F-68C8-6CE9-DBB59B00B6D5}"/>
              </a:ext>
            </a:extLst>
          </p:cNvPr>
          <p:cNvGraphicFramePr>
            <a:graphicFrameLocks noGrp="1"/>
          </p:cNvGraphicFramePr>
          <p:nvPr>
            <p:extLst>
              <p:ext uri="{D42A27DB-BD31-4B8C-83A1-F6EECF244321}">
                <p14:modId xmlns:p14="http://schemas.microsoft.com/office/powerpoint/2010/main" val="906772751"/>
              </p:ext>
            </p:extLst>
          </p:nvPr>
        </p:nvGraphicFramePr>
        <p:xfrm>
          <a:off x="284672" y="840365"/>
          <a:ext cx="11430000" cy="5052268"/>
        </p:xfrm>
        <a:graphic>
          <a:graphicData uri="http://schemas.openxmlformats.org/drawingml/2006/table">
            <a:tbl>
              <a:tblPr/>
              <a:tblGrid>
                <a:gridCol w="2730902">
                  <a:extLst>
                    <a:ext uri="{9D8B030D-6E8A-4147-A177-3AD203B41FA5}">
                      <a16:colId xmlns:a16="http://schemas.microsoft.com/office/drawing/2014/main" val="1535175721"/>
                    </a:ext>
                  </a:extLst>
                </a:gridCol>
                <a:gridCol w="8699098">
                  <a:extLst>
                    <a:ext uri="{9D8B030D-6E8A-4147-A177-3AD203B41FA5}">
                      <a16:colId xmlns:a16="http://schemas.microsoft.com/office/drawing/2014/main" val="598817836"/>
                    </a:ext>
                  </a:extLst>
                </a:gridCol>
              </a:tblGrid>
              <a:tr h="259767">
                <a:tc>
                  <a:txBody>
                    <a:bodyPr/>
                    <a:lstStyle/>
                    <a:p>
                      <a:pPr marL="0" indent="0" algn="l" fontAlgn="b">
                        <a:buFont typeface="Arial" panose="020B0604020202020204" pitchFamily="34" charset="0"/>
                        <a:buNone/>
                      </a:pPr>
                      <a:r>
                        <a:rPr lang="en-CA" sz="2000" b="1" i="0" u="none" strike="noStrike" dirty="0">
                          <a:solidFill>
                            <a:srgbClr val="000000"/>
                          </a:solidFill>
                          <a:effectLst/>
                          <a:latin typeface="Montserrat" panose="00000500000000000000" pitchFamily="2" charset="0"/>
                        </a:rPr>
                        <a:t>Role</a:t>
                      </a:r>
                    </a:p>
                  </a:txBody>
                  <a:tcPr marL="7520" marR="7520" marT="7520" marB="0" anchor="b">
                    <a:lnL>
                      <a:noFill/>
                    </a:lnL>
                    <a:lnR>
                      <a:noFill/>
                    </a:lnR>
                    <a:lnT>
                      <a:noFill/>
                    </a:lnT>
                    <a:lnB>
                      <a:noFill/>
                    </a:lnB>
                    <a:noFill/>
                  </a:tcPr>
                </a:tc>
                <a:tc>
                  <a:txBody>
                    <a:bodyPr/>
                    <a:lstStyle/>
                    <a:p>
                      <a:pPr marL="0" indent="0" algn="l" fontAlgn="b">
                        <a:buFont typeface="Arial" panose="020B0604020202020204" pitchFamily="34" charset="0"/>
                        <a:buNone/>
                      </a:pPr>
                      <a:r>
                        <a:rPr lang="en-CA" sz="2000" b="1" i="0" u="none" strike="noStrike" dirty="0">
                          <a:solidFill>
                            <a:srgbClr val="000000"/>
                          </a:solidFill>
                          <a:effectLst/>
                          <a:latin typeface="Montserrat" panose="00000500000000000000" pitchFamily="2" charset="0"/>
                        </a:rPr>
                        <a:t>Key Responsibilities</a:t>
                      </a:r>
                    </a:p>
                  </a:txBody>
                  <a:tcPr marL="7520" marR="7520" marT="7520" marB="0" anchor="b">
                    <a:lnL>
                      <a:noFill/>
                    </a:lnL>
                    <a:lnR>
                      <a:noFill/>
                    </a:lnR>
                    <a:lnT>
                      <a:noFill/>
                    </a:lnT>
                    <a:lnB>
                      <a:noFill/>
                    </a:lnB>
                    <a:noFill/>
                  </a:tcPr>
                </a:tc>
                <a:extLst>
                  <a:ext uri="{0D108BD9-81ED-4DB2-BD59-A6C34878D82A}">
                    <a16:rowId xmlns:a16="http://schemas.microsoft.com/office/drawing/2014/main" val="701909918"/>
                  </a:ext>
                </a:extLst>
              </a:tr>
              <a:tr h="442676">
                <a:tc>
                  <a:txBody>
                    <a:bodyPr/>
                    <a:lstStyle/>
                    <a:p>
                      <a:pPr marL="0" indent="0" algn="l" fontAlgn="b">
                        <a:buFont typeface="Arial" panose="020B0604020202020204" pitchFamily="34" charset="0"/>
                        <a:buNone/>
                      </a:pPr>
                      <a:r>
                        <a:rPr lang="en-CA" sz="1400" b="1" i="0" u="none" strike="noStrike" dirty="0">
                          <a:solidFill>
                            <a:schemeClr val="bg1"/>
                          </a:solidFill>
                          <a:effectLst/>
                          <a:latin typeface="Montserrat" panose="00000500000000000000" pitchFamily="2" charset="0"/>
                        </a:rPr>
                        <a:t>AI Product Manager</a:t>
                      </a:r>
                    </a:p>
                  </a:txBody>
                  <a:tcPr marL="7520" marR="7520" marT="7520" marB="0" anchor="ctr">
                    <a:lnL>
                      <a:noFill/>
                    </a:lnL>
                    <a:lnR>
                      <a:noFill/>
                    </a:lnR>
                    <a:lnT>
                      <a:noFill/>
                    </a:lnT>
                    <a:lnB>
                      <a:noFill/>
                    </a:lnB>
                    <a:solidFill>
                      <a:srgbClr val="0C1752"/>
                    </a:solidFill>
                  </a:tcPr>
                </a:tc>
                <a:tc>
                  <a:txBody>
                    <a:bodyPr/>
                    <a:lstStyle/>
                    <a:p>
                      <a:pPr marL="0" indent="0" algn="l" fontAlgn="b">
                        <a:buFont typeface="Arial" panose="020B0604020202020204" pitchFamily="34" charset="0"/>
                        <a:buNone/>
                      </a:pPr>
                      <a:r>
                        <a:rPr lang="en-US" sz="1400" b="0" i="0" u="none" strike="noStrike" dirty="0">
                          <a:solidFill>
                            <a:schemeClr val="bg1"/>
                          </a:solidFill>
                          <a:effectLst/>
                          <a:latin typeface="Montserrat" panose="00000500000000000000" pitchFamily="2" charset="0"/>
                        </a:rPr>
                        <a:t>Bridges technical and business teams; defines vision, translates problems, sets metrics</a:t>
                      </a:r>
                    </a:p>
                  </a:txBody>
                  <a:tcPr marL="7520" marR="7520" marT="7520" marB="0" anchor="ctr">
                    <a:lnL>
                      <a:noFill/>
                    </a:lnL>
                    <a:lnR>
                      <a:noFill/>
                    </a:lnR>
                    <a:lnT>
                      <a:noFill/>
                    </a:lnT>
                    <a:lnB>
                      <a:noFill/>
                    </a:lnB>
                    <a:solidFill>
                      <a:srgbClr val="0C1752"/>
                    </a:solidFill>
                  </a:tcPr>
                </a:tc>
                <a:extLst>
                  <a:ext uri="{0D108BD9-81ED-4DB2-BD59-A6C34878D82A}">
                    <a16:rowId xmlns:a16="http://schemas.microsoft.com/office/drawing/2014/main" val="3756955026"/>
                  </a:ext>
                </a:extLst>
              </a:tr>
              <a:tr h="442676">
                <a:tc>
                  <a:txBody>
                    <a:bodyPr/>
                    <a:lstStyle/>
                    <a:p>
                      <a:pPr marL="0" indent="0" algn="l" fontAlgn="b">
                        <a:buFont typeface="Arial" panose="020B0604020202020204" pitchFamily="34" charset="0"/>
                        <a:buNone/>
                      </a:pPr>
                      <a:r>
                        <a:rPr lang="en-CA" sz="1400" b="1" i="0" u="none" strike="noStrike" dirty="0">
                          <a:solidFill>
                            <a:schemeClr val="bg1"/>
                          </a:solidFill>
                          <a:effectLst/>
                          <a:latin typeface="Montserrat" panose="00000500000000000000" pitchFamily="2" charset="0"/>
                        </a:rPr>
                        <a:t>Industry Domain Expert</a:t>
                      </a:r>
                    </a:p>
                  </a:txBody>
                  <a:tcPr marL="7520" marR="7520" marT="7520" marB="0" anchor="ctr">
                    <a:lnL>
                      <a:noFill/>
                    </a:lnL>
                    <a:lnR>
                      <a:noFill/>
                    </a:lnR>
                    <a:lnT>
                      <a:noFill/>
                    </a:lnT>
                    <a:lnB>
                      <a:noFill/>
                    </a:lnB>
                    <a:solidFill>
                      <a:srgbClr val="0C1752"/>
                    </a:solidFill>
                  </a:tcPr>
                </a:tc>
                <a:tc>
                  <a:txBody>
                    <a:bodyPr/>
                    <a:lstStyle/>
                    <a:p>
                      <a:pPr marL="0" indent="0" algn="l" fontAlgn="b">
                        <a:buFont typeface="Arial" panose="020B0604020202020204" pitchFamily="34" charset="0"/>
                        <a:buNone/>
                      </a:pPr>
                      <a:r>
                        <a:rPr lang="en-US" sz="1400" b="0" i="0" u="none" strike="noStrike" dirty="0">
                          <a:solidFill>
                            <a:schemeClr val="bg1"/>
                          </a:solidFill>
                          <a:effectLst/>
                          <a:latin typeface="Montserrat" panose="00000500000000000000" pitchFamily="2" charset="0"/>
                        </a:rPr>
                        <a:t>Provides subject matter expertise, validates data and features</a:t>
                      </a:r>
                    </a:p>
                  </a:txBody>
                  <a:tcPr marL="7520" marR="7520" marT="7520" marB="0" anchor="ctr">
                    <a:lnL>
                      <a:noFill/>
                    </a:lnL>
                    <a:lnR>
                      <a:noFill/>
                    </a:lnR>
                    <a:lnT>
                      <a:noFill/>
                    </a:lnT>
                    <a:lnB>
                      <a:noFill/>
                    </a:lnB>
                    <a:solidFill>
                      <a:srgbClr val="0C1752"/>
                    </a:solidFill>
                  </a:tcPr>
                </a:tc>
                <a:extLst>
                  <a:ext uri="{0D108BD9-81ED-4DB2-BD59-A6C34878D82A}">
                    <a16:rowId xmlns:a16="http://schemas.microsoft.com/office/drawing/2014/main" val="1945076761"/>
                  </a:ext>
                </a:extLst>
              </a:tr>
              <a:tr h="442676">
                <a:tc>
                  <a:txBody>
                    <a:bodyPr/>
                    <a:lstStyle/>
                    <a:p>
                      <a:pPr marL="0" indent="0" algn="l" fontAlgn="b">
                        <a:buFont typeface="Arial" panose="020B0604020202020204" pitchFamily="34" charset="0"/>
                        <a:buNone/>
                      </a:pPr>
                      <a:r>
                        <a:rPr lang="en-CA" sz="1400" b="1" i="0" u="none" strike="noStrike" dirty="0">
                          <a:solidFill>
                            <a:schemeClr val="bg1"/>
                          </a:solidFill>
                          <a:effectLst/>
                          <a:latin typeface="Montserrat" panose="00000500000000000000" pitchFamily="2" charset="0"/>
                        </a:rPr>
                        <a:t>Project Manager</a:t>
                      </a:r>
                    </a:p>
                  </a:txBody>
                  <a:tcPr marL="7520" marR="7520" marT="7520" marB="0" anchor="ctr">
                    <a:lnL>
                      <a:noFill/>
                    </a:lnL>
                    <a:lnR>
                      <a:noFill/>
                    </a:lnR>
                    <a:lnT>
                      <a:noFill/>
                    </a:lnT>
                    <a:lnB>
                      <a:noFill/>
                    </a:lnB>
                    <a:solidFill>
                      <a:srgbClr val="0C1752"/>
                    </a:solidFill>
                  </a:tcPr>
                </a:tc>
                <a:tc>
                  <a:txBody>
                    <a:bodyPr/>
                    <a:lstStyle/>
                    <a:p>
                      <a:pPr marL="0" indent="0" algn="l" fontAlgn="b">
                        <a:buFont typeface="Arial" panose="020B0604020202020204" pitchFamily="34" charset="0"/>
                        <a:buNone/>
                      </a:pPr>
                      <a:r>
                        <a:rPr lang="en-US" sz="1400" b="0" i="0" u="none" strike="noStrike" dirty="0">
                          <a:solidFill>
                            <a:schemeClr val="bg1"/>
                          </a:solidFill>
                          <a:effectLst/>
                          <a:latin typeface="Montserrat" panose="00000500000000000000" pitchFamily="2" charset="0"/>
                        </a:rPr>
                        <a:t>Coordinates project scope, timelines, communication, and risk</a:t>
                      </a:r>
                    </a:p>
                  </a:txBody>
                  <a:tcPr marL="7520" marR="7520" marT="7520" marB="0" anchor="ctr">
                    <a:lnL>
                      <a:noFill/>
                    </a:lnL>
                    <a:lnR>
                      <a:noFill/>
                    </a:lnR>
                    <a:lnT>
                      <a:noFill/>
                    </a:lnT>
                    <a:lnB>
                      <a:noFill/>
                    </a:lnB>
                    <a:solidFill>
                      <a:srgbClr val="0C1752"/>
                    </a:solidFill>
                  </a:tcPr>
                </a:tc>
                <a:extLst>
                  <a:ext uri="{0D108BD9-81ED-4DB2-BD59-A6C34878D82A}">
                    <a16:rowId xmlns:a16="http://schemas.microsoft.com/office/drawing/2014/main" val="916620264"/>
                  </a:ext>
                </a:extLst>
              </a:tr>
              <a:tr h="296619">
                <a:tc>
                  <a:txBody>
                    <a:bodyPr/>
                    <a:lstStyle/>
                    <a:p>
                      <a:pPr marL="0" indent="0" algn="l" fontAlgn="b">
                        <a:buFont typeface="Arial" panose="020B0604020202020204" pitchFamily="34" charset="0"/>
                        <a:buNone/>
                      </a:pPr>
                      <a:r>
                        <a:rPr lang="en-CA" sz="1400" b="1" i="0" u="none" strike="noStrike" dirty="0">
                          <a:solidFill>
                            <a:srgbClr val="000000"/>
                          </a:solidFill>
                          <a:effectLst/>
                          <a:latin typeface="Montserrat" panose="00000500000000000000" pitchFamily="2" charset="0"/>
                        </a:rPr>
                        <a:t>AI Researcher</a:t>
                      </a:r>
                    </a:p>
                  </a:txBody>
                  <a:tcPr marL="7520" marR="7520" marT="7520" marB="0" anchor="ctr">
                    <a:lnL>
                      <a:noFill/>
                    </a:lnL>
                    <a:lnR>
                      <a:noFill/>
                    </a:lnR>
                    <a:lnT>
                      <a:noFill/>
                    </a:lnT>
                    <a:lnB>
                      <a:noFill/>
                    </a:lnB>
                    <a:solidFill>
                      <a:srgbClr val="D56E48"/>
                    </a:solidFill>
                  </a:tcPr>
                </a:tc>
                <a:tc>
                  <a:txBody>
                    <a:bodyPr/>
                    <a:lstStyle/>
                    <a:p>
                      <a:pPr marL="0" indent="0" algn="l" fontAlgn="b">
                        <a:buFont typeface="Arial" panose="020B0604020202020204" pitchFamily="34" charset="0"/>
                        <a:buNone/>
                      </a:pPr>
                      <a:r>
                        <a:rPr lang="en-US" sz="1400" b="0" i="0" u="none" strike="noStrike" dirty="0">
                          <a:solidFill>
                            <a:srgbClr val="000000"/>
                          </a:solidFill>
                          <a:effectLst/>
                          <a:latin typeface="Montserrat" panose="00000500000000000000" pitchFamily="2" charset="0"/>
                        </a:rPr>
                        <a:t>Explores novel models and learning techniques</a:t>
                      </a:r>
                    </a:p>
                  </a:txBody>
                  <a:tcPr marL="7520" marR="7520" marT="7520" marB="0" anchor="ctr">
                    <a:lnL>
                      <a:noFill/>
                    </a:lnL>
                    <a:lnR>
                      <a:noFill/>
                    </a:lnR>
                    <a:lnT>
                      <a:noFill/>
                    </a:lnT>
                    <a:lnB>
                      <a:noFill/>
                    </a:lnB>
                    <a:solidFill>
                      <a:srgbClr val="D56E48"/>
                    </a:solidFill>
                  </a:tcPr>
                </a:tc>
                <a:extLst>
                  <a:ext uri="{0D108BD9-81ED-4DB2-BD59-A6C34878D82A}">
                    <a16:rowId xmlns:a16="http://schemas.microsoft.com/office/drawing/2014/main" val="3788237144"/>
                  </a:ext>
                </a:extLst>
              </a:tr>
              <a:tr h="296619">
                <a:tc>
                  <a:txBody>
                    <a:bodyPr/>
                    <a:lstStyle/>
                    <a:p>
                      <a:pPr marL="0" indent="0" algn="l" fontAlgn="b">
                        <a:buFont typeface="Arial" panose="020B0604020202020204" pitchFamily="34" charset="0"/>
                        <a:buNone/>
                      </a:pPr>
                      <a:r>
                        <a:rPr lang="en-CA" sz="1400" b="1" i="0" u="none" strike="noStrike" dirty="0">
                          <a:solidFill>
                            <a:srgbClr val="000000"/>
                          </a:solidFill>
                          <a:effectLst/>
                          <a:latin typeface="Montserrat" panose="00000500000000000000" pitchFamily="2" charset="0"/>
                        </a:rPr>
                        <a:t>Data Scientist</a:t>
                      </a:r>
                    </a:p>
                  </a:txBody>
                  <a:tcPr marL="7520" marR="7520" marT="7520" marB="0" anchor="ctr">
                    <a:lnL>
                      <a:noFill/>
                    </a:lnL>
                    <a:lnR>
                      <a:noFill/>
                    </a:lnR>
                    <a:lnT>
                      <a:noFill/>
                    </a:lnT>
                    <a:lnB>
                      <a:noFill/>
                    </a:lnB>
                    <a:solidFill>
                      <a:srgbClr val="D56E48"/>
                    </a:solidFill>
                  </a:tcPr>
                </a:tc>
                <a:tc>
                  <a:txBody>
                    <a:bodyPr/>
                    <a:lstStyle/>
                    <a:p>
                      <a:pPr marL="0" indent="0" algn="l" fontAlgn="b">
                        <a:buFont typeface="Arial" panose="020B0604020202020204" pitchFamily="34" charset="0"/>
                        <a:buNone/>
                      </a:pPr>
                      <a:r>
                        <a:rPr lang="en-US" sz="1400" b="0" i="0" u="none" strike="noStrike" dirty="0">
                          <a:solidFill>
                            <a:srgbClr val="000000"/>
                          </a:solidFill>
                          <a:effectLst/>
                          <a:latin typeface="Montserrat" panose="00000500000000000000" pitchFamily="2" charset="0"/>
                        </a:rPr>
                        <a:t>Analyzes data, builds models, extracts insights</a:t>
                      </a:r>
                    </a:p>
                  </a:txBody>
                  <a:tcPr marL="7520" marR="7520" marT="7520" marB="0" anchor="ctr">
                    <a:lnL>
                      <a:noFill/>
                    </a:lnL>
                    <a:lnR>
                      <a:noFill/>
                    </a:lnR>
                    <a:lnT>
                      <a:noFill/>
                    </a:lnT>
                    <a:lnB>
                      <a:noFill/>
                    </a:lnB>
                    <a:solidFill>
                      <a:srgbClr val="D56E48"/>
                    </a:solidFill>
                  </a:tcPr>
                </a:tc>
                <a:extLst>
                  <a:ext uri="{0D108BD9-81ED-4DB2-BD59-A6C34878D82A}">
                    <a16:rowId xmlns:a16="http://schemas.microsoft.com/office/drawing/2014/main" val="4201208490"/>
                  </a:ext>
                </a:extLst>
              </a:tr>
              <a:tr h="385765">
                <a:tc>
                  <a:txBody>
                    <a:bodyPr/>
                    <a:lstStyle/>
                    <a:p>
                      <a:pPr marL="0" indent="0" algn="l" fontAlgn="b">
                        <a:buFont typeface="Arial" panose="020B0604020202020204" pitchFamily="34" charset="0"/>
                        <a:buNone/>
                      </a:pPr>
                      <a:r>
                        <a:rPr lang="en-CA" sz="1400" b="1" i="0" u="none" strike="noStrike" dirty="0">
                          <a:solidFill>
                            <a:srgbClr val="000000"/>
                          </a:solidFill>
                          <a:effectLst/>
                          <a:latin typeface="Montserrat" panose="00000500000000000000" pitchFamily="2" charset="0"/>
                        </a:rPr>
                        <a:t>Machine Learning Engineer</a:t>
                      </a:r>
                    </a:p>
                  </a:txBody>
                  <a:tcPr marL="7520" marR="7520" marT="7520" marB="0" anchor="ctr">
                    <a:lnL>
                      <a:noFill/>
                    </a:lnL>
                    <a:lnR>
                      <a:noFill/>
                    </a:lnR>
                    <a:lnT>
                      <a:noFill/>
                    </a:lnT>
                    <a:lnB>
                      <a:noFill/>
                    </a:lnB>
                    <a:solidFill>
                      <a:srgbClr val="D56E48"/>
                    </a:solidFill>
                  </a:tcPr>
                </a:tc>
                <a:tc>
                  <a:txBody>
                    <a:bodyPr/>
                    <a:lstStyle/>
                    <a:p>
                      <a:pPr marL="0" indent="0" algn="l" fontAlgn="b">
                        <a:buFont typeface="Arial" panose="020B0604020202020204" pitchFamily="34" charset="0"/>
                        <a:buNone/>
                      </a:pPr>
                      <a:r>
                        <a:rPr lang="en-CA" sz="1400" b="0" i="0" u="none" strike="noStrike" dirty="0">
                          <a:solidFill>
                            <a:srgbClr val="000000"/>
                          </a:solidFill>
                          <a:effectLst/>
                          <a:latin typeface="Montserrat" panose="00000500000000000000" pitchFamily="2" charset="0"/>
                        </a:rPr>
                        <a:t>Builds scalable ML pipelines, deploys models</a:t>
                      </a:r>
                    </a:p>
                  </a:txBody>
                  <a:tcPr marL="7520" marR="7520" marT="7520" marB="0" anchor="ctr">
                    <a:lnL>
                      <a:noFill/>
                    </a:lnL>
                    <a:lnR>
                      <a:noFill/>
                    </a:lnR>
                    <a:lnT>
                      <a:noFill/>
                    </a:lnT>
                    <a:lnB>
                      <a:noFill/>
                    </a:lnB>
                    <a:solidFill>
                      <a:srgbClr val="D56E48"/>
                    </a:solidFill>
                  </a:tcPr>
                </a:tc>
                <a:extLst>
                  <a:ext uri="{0D108BD9-81ED-4DB2-BD59-A6C34878D82A}">
                    <a16:rowId xmlns:a16="http://schemas.microsoft.com/office/drawing/2014/main" val="3515392987"/>
                  </a:ext>
                </a:extLst>
              </a:tr>
              <a:tr h="385765">
                <a:tc>
                  <a:txBody>
                    <a:bodyPr/>
                    <a:lstStyle/>
                    <a:p>
                      <a:pPr marL="0" indent="0" algn="l" fontAlgn="b">
                        <a:buFont typeface="Arial" panose="020B0604020202020204" pitchFamily="34" charset="0"/>
                        <a:buNone/>
                      </a:pPr>
                      <a:r>
                        <a:rPr lang="en-CA" sz="1400" b="1" i="0" u="none" strike="noStrike" dirty="0">
                          <a:solidFill>
                            <a:srgbClr val="000000"/>
                          </a:solidFill>
                          <a:effectLst/>
                          <a:latin typeface="Montserrat" panose="00000500000000000000" pitchFamily="2" charset="0"/>
                        </a:rPr>
                        <a:t>Responsible AI / Ethics Lead</a:t>
                      </a:r>
                    </a:p>
                  </a:txBody>
                  <a:tcPr marL="7520" marR="7520" marT="7520" marB="0" anchor="ctr">
                    <a:lnL>
                      <a:noFill/>
                    </a:lnL>
                    <a:lnR>
                      <a:noFill/>
                    </a:lnR>
                    <a:lnT>
                      <a:noFill/>
                    </a:lnT>
                    <a:lnB>
                      <a:noFill/>
                    </a:lnB>
                    <a:solidFill>
                      <a:srgbClr val="D56E48"/>
                    </a:solidFill>
                  </a:tcPr>
                </a:tc>
                <a:tc>
                  <a:txBody>
                    <a:bodyPr/>
                    <a:lstStyle/>
                    <a:p>
                      <a:pPr marL="0" indent="0" algn="l" fontAlgn="b">
                        <a:buFont typeface="Arial" panose="020B0604020202020204" pitchFamily="34" charset="0"/>
                        <a:buNone/>
                      </a:pPr>
                      <a:r>
                        <a:rPr lang="en-US" sz="1400" b="0" i="0" u="none" strike="noStrike" dirty="0">
                          <a:solidFill>
                            <a:srgbClr val="000000"/>
                          </a:solidFill>
                          <a:effectLst/>
                          <a:latin typeface="Montserrat" panose="00000500000000000000" pitchFamily="2" charset="0"/>
                        </a:rPr>
                        <a:t>Audits models for fairness, ethics, and bias</a:t>
                      </a:r>
                    </a:p>
                  </a:txBody>
                  <a:tcPr marL="7520" marR="7520" marT="7520" marB="0" anchor="ctr">
                    <a:lnL>
                      <a:noFill/>
                    </a:lnL>
                    <a:lnR>
                      <a:noFill/>
                    </a:lnR>
                    <a:lnT>
                      <a:noFill/>
                    </a:lnT>
                    <a:lnB>
                      <a:noFill/>
                    </a:lnB>
                    <a:solidFill>
                      <a:srgbClr val="D56E48"/>
                    </a:solidFill>
                  </a:tcPr>
                </a:tc>
                <a:extLst>
                  <a:ext uri="{0D108BD9-81ED-4DB2-BD59-A6C34878D82A}">
                    <a16:rowId xmlns:a16="http://schemas.microsoft.com/office/drawing/2014/main" val="4247286801"/>
                  </a:ext>
                </a:extLst>
              </a:tr>
              <a:tr h="385765">
                <a:tc>
                  <a:txBody>
                    <a:bodyPr/>
                    <a:lstStyle/>
                    <a:p>
                      <a:pPr marL="0" indent="0" algn="l" fontAlgn="b">
                        <a:buFont typeface="Arial" panose="020B0604020202020204" pitchFamily="34" charset="0"/>
                        <a:buNone/>
                      </a:pPr>
                      <a:r>
                        <a:rPr lang="en-CA" sz="1400" b="1" i="0" u="none" strike="noStrike">
                          <a:solidFill>
                            <a:srgbClr val="000000"/>
                          </a:solidFill>
                          <a:effectLst/>
                          <a:latin typeface="Montserrat" panose="00000500000000000000" pitchFamily="2" charset="0"/>
                        </a:rPr>
                        <a:t>UX Designer</a:t>
                      </a:r>
                    </a:p>
                  </a:txBody>
                  <a:tcPr marL="7520" marR="7520" marT="7520" marB="0" anchor="ctr">
                    <a:lnL>
                      <a:noFill/>
                    </a:lnL>
                    <a:lnR>
                      <a:noFill/>
                    </a:lnR>
                    <a:lnT>
                      <a:noFill/>
                    </a:lnT>
                    <a:lnB>
                      <a:noFill/>
                    </a:lnB>
                    <a:solidFill>
                      <a:srgbClr val="D56E48"/>
                    </a:solidFill>
                  </a:tcPr>
                </a:tc>
                <a:tc>
                  <a:txBody>
                    <a:bodyPr/>
                    <a:lstStyle/>
                    <a:p>
                      <a:pPr marL="0" indent="0" algn="l" fontAlgn="b">
                        <a:buFont typeface="Arial" panose="020B0604020202020204" pitchFamily="34" charset="0"/>
                        <a:buNone/>
                      </a:pPr>
                      <a:r>
                        <a:rPr lang="en-US" sz="1400" b="0" i="0" u="none" strike="noStrike">
                          <a:solidFill>
                            <a:srgbClr val="000000"/>
                          </a:solidFill>
                          <a:effectLst/>
                          <a:latin typeface="Montserrat" panose="00000500000000000000" pitchFamily="2" charset="0"/>
                        </a:rPr>
                        <a:t>Designs intuitive AI interfaces and feedback loops</a:t>
                      </a:r>
                    </a:p>
                  </a:txBody>
                  <a:tcPr marL="7520" marR="7520" marT="7520" marB="0" anchor="ctr">
                    <a:lnL>
                      <a:noFill/>
                    </a:lnL>
                    <a:lnR>
                      <a:noFill/>
                    </a:lnR>
                    <a:lnT>
                      <a:noFill/>
                    </a:lnT>
                    <a:lnB>
                      <a:noFill/>
                    </a:lnB>
                    <a:solidFill>
                      <a:srgbClr val="D56E48"/>
                    </a:solidFill>
                  </a:tcPr>
                </a:tc>
                <a:extLst>
                  <a:ext uri="{0D108BD9-81ED-4DB2-BD59-A6C34878D82A}">
                    <a16:rowId xmlns:a16="http://schemas.microsoft.com/office/drawing/2014/main" val="3226345178"/>
                  </a:ext>
                </a:extLst>
              </a:tr>
              <a:tr h="296619">
                <a:tc>
                  <a:txBody>
                    <a:bodyPr/>
                    <a:lstStyle/>
                    <a:p>
                      <a:pPr marL="0" indent="0" algn="l" fontAlgn="b">
                        <a:buFont typeface="Arial" panose="020B0604020202020204" pitchFamily="34" charset="0"/>
                        <a:buNone/>
                      </a:pPr>
                      <a:r>
                        <a:rPr lang="en-CA" sz="1400" b="1" i="0" u="none" strike="noStrike" dirty="0">
                          <a:solidFill>
                            <a:srgbClr val="000000"/>
                          </a:solidFill>
                          <a:effectLst/>
                          <a:latin typeface="Montserrat" panose="00000500000000000000" pitchFamily="2" charset="0"/>
                        </a:rPr>
                        <a:t>Software Engineer</a:t>
                      </a:r>
                    </a:p>
                  </a:txBody>
                  <a:tcPr marL="7520" marR="7520" marT="7520" marB="0" anchor="ctr">
                    <a:lnL>
                      <a:noFill/>
                    </a:lnL>
                    <a:lnR>
                      <a:noFill/>
                    </a:lnR>
                    <a:lnT>
                      <a:noFill/>
                    </a:lnT>
                    <a:lnB>
                      <a:noFill/>
                    </a:lnB>
                    <a:solidFill>
                      <a:srgbClr val="1BBFD1"/>
                    </a:solidFill>
                  </a:tcPr>
                </a:tc>
                <a:tc>
                  <a:txBody>
                    <a:bodyPr/>
                    <a:lstStyle/>
                    <a:p>
                      <a:pPr marL="0" indent="0" algn="l" fontAlgn="b">
                        <a:buFont typeface="Arial" panose="020B0604020202020204" pitchFamily="34" charset="0"/>
                        <a:buNone/>
                      </a:pPr>
                      <a:r>
                        <a:rPr lang="en-US" sz="1400" b="0" i="0" u="none" strike="noStrike" dirty="0">
                          <a:solidFill>
                            <a:srgbClr val="000000"/>
                          </a:solidFill>
                          <a:effectLst/>
                          <a:latin typeface="Montserrat" panose="00000500000000000000" pitchFamily="2" charset="0"/>
                        </a:rPr>
                        <a:t>Develops applications integrating AI models</a:t>
                      </a:r>
                    </a:p>
                  </a:txBody>
                  <a:tcPr marL="7520" marR="7520" marT="7520" marB="0" anchor="ctr">
                    <a:lnL>
                      <a:noFill/>
                    </a:lnL>
                    <a:lnR>
                      <a:noFill/>
                    </a:lnR>
                    <a:lnT>
                      <a:noFill/>
                    </a:lnT>
                    <a:lnB>
                      <a:noFill/>
                    </a:lnB>
                    <a:solidFill>
                      <a:srgbClr val="1BBFD1"/>
                    </a:solidFill>
                  </a:tcPr>
                </a:tc>
                <a:extLst>
                  <a:ext uri="{0D108BD9-81ED-4DB2-BD59-A6C34878D82A}">
                    <a16:rowId xmlns:a16="http://schemas.microsoft.com/office/drawing/2014/main" val="2052842911"/>
                  </a:ext>
                </a:extLst>
              </a:tr>
              <a:tr h="385765">
                <a:tc>
                  <a:txBody>
                    <a:bodyPr/>
                    <a:lstStyle/>
                    <a:p>
                      <a:pPr marL="0" indent="0" algn="l" fontAlgn="b">
                        <a:buFont typeface="Arial" panose="020B0604020202020204" pitchFamily="34" charset="0"/>
                        <a:buNone/>
                      </a:pPr>
                      <a:r>
                        <a:rPr lang="en-CA" sz="1400" b="1" i="0" u="none" strike="noStrike">
                          <a:solidFill>
                            <a:srgbClr val="000000"/>
                          </a:solidFill>
                          <a:effectLst/>
                          <a:latin typeface="Montserrat" panose="00000500000000000000" pitchFamily="2" charset="0"/>
                        </a:rPr>
                        <a:t>Solution Architect</a:t>
                      </a:r>
                    </a:p>
                  </a:txBody>
                  <a:tcPr marL="7520" marR="7520" marT="7520" marB="0" anchor="ctr">
                    <a:lnL>
                      <a:noFill/>
                    </a:lnL>
                    <a:lnR>
                      <a:noFill/>
                    </a:lnR>
                    <a:lnT>
                      <a:noFill/>
                    </a:lnT>
                    <a:lnB>
                      <a:noFill/>
                    </a:lnB>
                    <a:solidFill>
                      <a:srgbClr val="1BBFD1"/>
                    </a:solidFill>
                  </a:tcPr>
                </a:tc>
                <a:tc>
                  <a:txBody>
                    <a:bodyPr/>
                    <a:lstStyle/>
                    <a:p>
                      <a:pPr marL="0" indent="0" algn="l" fontAlgn="b">
                        <a:buFont typeface="Arial" panose="020B0604020202020204" pitchFamily="34" charset="0"/>
                        <a:buNone/>
                      </a:pPr>
                      <a:r>
                        <a:rPr lang="en-US" sz="1400" b="0" i="0" u="none" strike="noStrike" dirty="0">
                          <a:solidFill>
                            <a:srgbClr val="000000"/>
                          </a:solidFill>
                          <a:effectLst/>
                          <a:latin typeface="Montserrat" panose="00000500000000000000" pitchFamily="2" charset="0"/>
                        </a:rPr>
                        <a:t>Designs system architecture and integration plan</a:t>
                      </a:r>
                    </a:p>
                  </a:txBody>
                  <a:tcPr marL="7520" marR="7520" marT="7520" marB="0" anchor="ctr">
                    <a:lnL>
                      <a:noFill/>
                    </a:lnL>
                    <a:lnR>
                      <a:noFill/>
                    </a:lnR>
                    <a:lnT>
                      <a:noFill/>
                    </a:lnT>
                    <a:lnB>
                      <a:noFill/>
                    </a:lnB>
                    <a:solidFill>
                      <a:srgbClr val="1BBFD1"/>
                    </a:solidFill>
                  </a:tcPr>
                </a:tc>
                <a:extLst>
                  <a:ext uri="{0D108BD9-81ED-4DB2-BD59-A6C34878D82A}">
                    <a16:rowId xmlns:a16="http://schemas.microsoft.com/office/drawing/2014/main" val="3068622170"/>
                  </a:ext>
                </a:extLst>
              </a:tr>
              <a:tr h="296619">
                <a:tc>
                  <a:txBody>
                    <a:bodyPr/>
                    <a:lstStyle/>
                    <a:p>
                      <a:pPr marL="0" indent="0" algn="l" fontAlgn="b">
                        <a:buFont typeface="Arial" panose="020B0604020202020204" pitchFamily="34" charset="0"/>
                        <a:buNone/>
                      </a:pPr>
                      <a:r>
                        <a:rPr lang="en-CA" sz="1400" b="1" i="0" u="none" strike="noStrike" dirty="0" err="1">
                          <a:solidFill>
                            <a:srgbClr val="000000"/>
                          </a:solidFill>
                          <a:effectLst/>
                          <a:latin typeface="Montserrat" panose="00000500000000000000" pitchFamily="2" charset="0"/>
                        </a:rPr>
                        <a:t>MLOps</a:t>
                      </a:r>
                      <a:r>
                        <a:rPr lang="en-CA" sz="1400" b="1" i="0" u="none" strike="noStrike" dirty="0">
                          <a:solidFill>
                            <a:srgbClr val="000000"/>
                          </a:solidFill>
                          <a:effectLst/>
                          <a:latin typeface="Montserrat" panose="00000500000000000000" pitchFamily="2" charset="0"/>
                        </a:rPr>
                        <a:t> Architect</a:t>
                      </a:r>
                    </a:p>
                  </a:txBody>
                  <a:tcPr marL="7520" marR="7520" marT="7520" marB="0" anchor="ctr">
                    <a:lnL>
                      <a:noFill/>
                    </a:lnL>
                    <a:lnR>
                      <a:noFill/>
                    </a:lnR>
                    <a:lnT>
                      <a:noFill/>
                    </a:lnT>
                    <a:lnB>
                      <a:noFill/>
                    </a:lnB>
                    <a:solidFill>
                      <a:srgbClr val="1BBFD1"/>
                    </a:solidFill>
                  </a:tcPr>
                </a:tc>
                <a:tc>
                  <a:txBody>
                    <a:bodyPr/>
                    <a:lstStyle/>
                    <a:p>
                      <a:pPr marL="0" indent="0" algn="l" fontAlgn="b">
                        <a:buFont typeface="Arial" panose="020B0604020202020204" pitchFamily="34" charset="0"/>
                        <a:buNone/>
                      </a:pPr>
                      <a:r>
                        <a:rPr lang="en-US" sz="1400" b="0" i="0" u="none" strike="noStrike">
                          <a:solidFill>
                            <a:srgbClr val="000000"/>
                          </a:solidFill>
                          <a:effectLst/>
                          <a:latin typeface="Montserrat" panose="00000500000000000000" pitchFamily="2" charset="0"/>
                        </a:rPr>
                        <a:t>Manages deployment, monitoring, and updates</a:t>
                      </a:r>
                    </a:p>
                  </a:txBody>
                  <a:tcPr marL="7520" marR="7520" marT="7520" marB="0" anchor="ctr">
                    <a:lnL>
                      <a:noFill/>
                    </a:lnL>
                    <a:lnR>
                      <a:noFill/>
                    </a:lnR>
                    <a:lnT>
                      <a:noFill/>
                    </a:lnT>
                    <a:lnB>
                      <a:noFill/>
                    </a:lnB>
                    <a:solidFill>
                      <a:srgbClr val="1BBFD1"/>
                    </a:solidFill>
                  </a:tcPr>
                </a:tc>
                <a:extLst>
                  <a:ext uri="{0D108BD9-81ED-4DB2-BD59-A6C34878D82A}">
                    <a16:rowId xmlns:a16="http://schemas.microsoft.com/office/drawing/2014/main" val="3571235469"/>
                  </a:ext>
                </a:extLst>
              </a:tr>
              <a:tr h="296619">
                <a:tc>
                  <a:txBody>
                    <a:bodyPr/>
                    <a:lstStyle/>
                    <a:p>
                      <a:pPr marL="0" indent="0" algn="l" fontAlgn="b">
                        <a:buFont typeface="Arial" panose="020B0604020202020204" pitchFamily="34" charset="0"/>
                        <a:buNone/>
                      </a:pPr>
                      <a:r>
                        <a:rPr lang="en-CA" sz="1400" b="1" i="0" u="none" strike="noStrike" dirty="0">
                          <a:solidFill>
                            <a:srgbClr val="000000"/>
                          </a:solidFill>
                          <a:effectLst/>
                          <a:latin typeface="Montserrat" panose="00000500000000000000" pitchFamily="2" charset="0"/>
                        </a:rPr>
                        <a:t>Data Engineer</a:t>
                      </a:r>
                    </a:p>
                  </a:txBody>
                  <a:tcPr marL="7520" marR="7520" marT="7520" marB="0" anchor="ctr">
                    <a:lnL>
                      <a:noFill/>
                    </a:lnL>
                    <a:lnR>
                      <a:noFill/>
                    </a:lnR>
                    <a:lnT>
                      <a:noFill/>
                    </a:lnT>
                    <a:lnB>
                      <a:noFill/>
                    </a:lnB>
                    <a:solidFill>
                      <a:schemeClr val="bg1">
                        <a:lumMod val="65000"/>
                      </a:schemeClr>
                    </a:solidFill>
                  </a:tcPr>
                </a:tc>
                <a:tc>
                  <a:txBody>
                    <a:bodyPr/>
                    <a:lstStyle/>
                    <a:p>
                      <a:pPr marL="0" indent="0" algn="l" fontAlgn="b">
                        <a:buFont typeface="Arial" panose="020B0604020202020204" pitchFamily="34" charset="0"/>
                        <a:buNone/>
                      </a:pPr>
                      <a:r>
                        <a:rPr lang="en-US" sz="1400" b="0" i="0" u="none" strike="noStrike" dirty="0">
                          <a:solidFill>
                            <a:srgbClr val="000000"/>
                          </a:solidFill>
                          <a:effectLst/>
                          <a:latin typeface="Montserrat" panose="00000500000000000000" pitchFamily="2" charset="0"/>
                        </a:rPr>
                        <a:t>Builds ETL pipelines, structures and cleans data</a:t>
                      </a:r>
                    </a:p>
                  </a:txBody>
                  <a:tcPr marL="7520" marR="7520" marT="7520" marB="0" anchor="ctr">
                    <a:lnL>
                      <a:noFill/>
                    </a:lnL>
                    <a:lnR>
                      <a:noFill/>
                    </a:lnR>
                    <a:lnT>
                      <a:noFill/>
                    </a:lnT>
                    <a:lnB>
                      <a:noFill/>
                    </a:lnB>
                    <a:solidFill>
                      <a:schemeClr val="bg1">
                        <a:lumMod val="65000"/>
                      </a:schemeClr>
                    </a:solidFill>
                  </a:tcPr>
                </a:tc>
                <a:extLst>
                  <a:ext uri="{0D108BD9-81ED-4DB2-BD59-A6C34878D82A}">
                    <a16:rowId xmlns:a16="http://schemas.microsoft.com/office/drawing/2014/main" val="336977940"/>
                  </a:ext>
                </a:extLst>
              </a:tr>
              <a:tr h="385765">
                <a:tc>
                  <a:txBody>
                    <a:bodyPr/>
                    <a:lstStyle/>
                    <a:p>
                      <a:pPr marL="0" indent="0" algn="l" fontAlgn="b">
                        <a:buFont typeface="Arial" panose="020B0604020202020204" pitchFamily="34" charset="0"/>
                        <a:buNone/>
                      </a:pPr>
                      <a:r>
                        <a:rPr lang="en-CA" sz="1400" b="1" i="0" u="none" strike="noStrike" dirty="0">
                          <a:solidFill>
                            <a:srgbClr val="000000"/>
                          </a:solidFill>
                          <a:effectLst/>
                          <a:latin typeface="Montserrat" panose="00000500000000000000" pitchFamily="2" charset="0"/>
                        </a:rPr>
                        <a:t>Data Architect</a:t>
                      </a:r>
                    </a:p>
                  </a:txBody>
                  <a:tcPr marL="7520" marR="7520" marT="7520" marB="0" anchor="ctr">
                    <a:lnL>
                      <a:noFill/>
                    </a:lnL>
                    <a:lnR>
                      <a:noFill/>
                    </a:lnR>
                    <a:lnT>
                      <a:noFill/>
                    </a:lnT>
                    <a:lnB>
                      <a:noFill/>
                    </a:lnB>
                    <a:solidFill>
                      <a:schemeClr val="bg1">
                        <a:lumMod val="65000"/>
                      </a:schemeClr>
                    </a:solidFill>
                  </a:tcPr>
                </a:tc>
                <a:tc>
                  <a:txBody>
                    <a:bodyPr/>
                    <a:lstStyle/>
                    <a:p>
                      <a:pPr marL="0" indent="0" algn="l" fontAlgn="b">
                        <a:buFont typeface="Arial" panose="020B0604020202020204" pitchFamily="34" charset="0"/>
                        <a:buNone/>
                      </a:pPr>
                      <a:r>
                        <a:rPr lang="en-CA" sz="1400" b="0" i="0" u="none" strike="noStrike" dirty="0">
                          <a:solidFill>
                            <a:srgbClr val="000000"/>
                          </a:solidFill>
                          <a:effectLst/>
                          <a:latin typeface="Montserrat" panose="00000500000000000000" pitchFamily="2" charset="0"/>
                        </a:rPr>
                        <a:t>Designs data infrastructure, governance policies</a:t>
                      </a:r>
                    </a:p>
                  </a:txBody>
                  <a:tcPr marL="7520" marR="7520" marT="7520" marB="0" anchor="ctr">
                    <a:lnL>
                      <a:noFill/>
                    </a:lnL>
                    <a:lnR>
                      <a:noFill/>
                    </a:lnR>
                    <a:lnT>
                      <a:noFill/>
                    </a:lnT>
                    <a:lnB>
                      <a:noFill/>
                    </a:lnB>
                    <a:solidFill>
                      <a:schemeClr val="bg1">
                        <a:lumMod val="65000"/>
                      </a:schemeClr>
                    </a:solidFill>
                  </a:tcPr>
                </a:tc>
                <a:extLst>
                  <a:ext uri="{0D108BD9-81ED-4DB2-BD59-A6C34878D82A}">
                    <a16:rowId xmlns:a16="http://schemas.microsoft.com/office/drawing/2014/main" val="127998487"/>
                  </a:ext>
                </a:extLst>
              </a:tr>
            </a:tbl>
          </a:graphicData>
        </a:graphic>
      </p:graphicFrame>
    </p:spTree>
    <p:extLst>
      <p:ext uri="{BB962C8B-B14F-4D97-AF65-F5344CB8AC3E}">
        <p14:creationId xmlns:p14="http://schemas.microsoft.com/office/powerpoint/2010/main" val="41280612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51A63-9ADD-0F2D-45D1-0E78BAFA885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5C9C649-B19C-5FBD-71C5-DA298FE7592E}"/>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0C2CC65C-F367-2C1D-F584-6D02E9027E3D}"/>
              </a:ext>
            </a:extLst>
          </p:cNvPr>
          <p:cNvSpPr/>
          <p:nvPr/>
        </p:nvSpPr>
        <p:spPr>
          <a:xfrm>
            <a:off x="154722" y="90489"/>
            <a:ext cx="9827492" cy="830997"/>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1. Business and Product Roles: </a:t>
            </a:r>
            <a:r>
              <a:rPr lang="en-US" sz="2400" b="1" dirty="0">
                <a:solidFill>
                  <a:schemeClr val="bg1"/>
                </a:solidFill>
                <a:latin typeface="Montserrat" charset="0"/>
                <a:ea typeface="Montserrat" charset="0"/>
                <a:cs typeface="Montserrat" charset="0"/>
              </a:rPr>
              <a:t>AI Product Manager</a:t>
            </a:r>
          </a:p>
          <a:p>
            <a:r>
              <a:rPr lang="en-US" sz="2400" dirty="0">
                <a:solidFill>
                  <a:schemeClr val="bg1"/>
                </a:solidFill>
                <a:latin typeface="Montserrat" charset="0"/>
                <a:ea typeface="Montserrat" charset="0"/>
                <a:cs typeface="Montserrat" charset="0"/>
              </a:rPr>
              <a:t> </a:t>
            </a:r>
          </a:p>
        </p:txBody>
      </p:sp>
      <p:sp>
        <p:nvSpPr>
          <p:cNvPr id="4" name="TextBox 3">
            <a:extLst>
              <a:ext uri="{FF2B5EF4-FFF2-40B4-BE49-F238E27FC236}">
                <a16:creationId xmlns:a16="http://schemas.microsoft.com/office/drawing/2014/main" id="{50CB5591-A024-99AE-70C9-C36673760EBA}"/>
              </a:ext>
            </a:extLst>
          </p:cNvPr>
          <p:cNvSpPr txBox="1"/>
          <p:nvPr/>
        </p:nvSpPr>
        <p:spPr>
          <a:xfrm>
            <a:off x="154723" y="897460"/>
            <a:ext cx="7973277" cy="4524315"/>
          </a:xfrm>
          <a:prstGeom prst="rect">
            <a:avLst/>
          </a:prstGeom>
          <a:noFill/>
        </p:spPr>
        <p:txBody>
          <a:bodyPr wrap="square">
            <a:spAutoFit/>
          </a:bodyPr>
          <a:lstStyle/>
          <a:p>
            <a:r>
              <a:rPr lang="en-US" b="1" dirty="0">
                <a:latin typeface="Montserrat" panose="00000500000000000000" pitchFamily="2" charset="0"/>
              </a:rPr>
              <a:t>Role Description:</a:t>
            </a:r>
          </a:p>
          <a:p>
            <a:pPr marL="285750" indent="-285750">
              <a:buFont typeface="Arial" panose="020B0604020202020204" pitchFamily="34" charset="0"/>
              <a:buChar char="•"/>
            </a:pPr>
            <a:r>
              <a:rPr lang="en-US" dirty="0">
                <a:latin typeface="Montserrat" panose="00000500000000000000" pitchFamily="2" charset="0"/>
              </a:rPr>
              <a:t>Bridges the gap between the technical team and business stakeholders. They must understand AI-specific trade-offs (e.g., accuracy vs interpretability) and feasibility.</a:t>
            </a:r>
          </a:p>
          <a:p>
            <a:pPr marL="285750" indent="-285750">
              <a:buFont typeface="Arial" panose="020B0604020202020204" pitchFamily="34" charset="0"/>
              <a:buChar char="•"/>
            </a:pPr>
            <a:endParaRPr lang="en-US" dirty="0">
              <a:latin typeface="Montserrat" panose="00000500000000000000" pitchFamily="2" charset="0"/>
            </a:endParaRPr>
          </a:p>
          <a:p>
            <a:r>
              <a:rPr lang="en-US" b="1" dirty="0">
                <a:latin typeface="Montserrat" panose="00000500000000000000" pitchFamily="2" charset="0"/>
              </a:rPr>
              <a:t>Key Responsibilities: </a:t>
            </a:r>
          </a:p>
          <a:p>
            <a:pPr marL="285750" indent="-285750">
              <a:buFont typeface="Arial" panose="020B0604020202020204" pitchFamily="34" charset="0"/>
              <a:buChar char="•"/>
            </a:pPr>
            <a:r>
              <a:rPr lang="en-US" dirty="0">
                <a:latin typeface="Montserrat" panose="00000500000000000000" pitchFamily="2" charset="0"/>
              </a:rPr>
              <a:t>Define the AI product vision &amp; roadmap.</a:t>
            </a:r>
          </a:p>
          <a:p>
            <a:pPr marL="285750" indent="-285750">
              <a:buFont typeface="Arial" panose="020B0604020202020204" pitchFamily="34" charset="0"/>
              <a:buChar char="•"/>
            </a:pPr>
            <a:r>
              <a:rPr lang="en-US" dirty="0">
                <a:latin typeface="Montserrat" panose="00000500000000000000" pitchFamily="2" charset="0"/>
              </a:rPr>
              <a:t>Translate business problems into machine learning objectives.</a:t>
            </a:r>
          </a:p>
          <a:p>
            <a:pPr marL="285750" indent="-285750">
              <a:buFont typeface="Arial" panose="020B0604020202020204" pitchFamily="34" charset="0"/>
              <a:buChar char="•"/>
            </a:pPr>
            <a:r>
              <a:rPr lang="en-US" dirty="0">
                <a:latin typeface="Montserrat" panose="00000500000000000000" pitchFamily="2" charset="0"/>
              </a:rPr>
              <a:t>Work closely with data scientists, engineers, and UX teams.</a:t>
            </a:r>
          </a:p>
          <a:p>
            <a:pPr marL="285750" indent="-285750">
              <a:buFont typeface="Arial" panose="020B0604020202020204" pitchFamily="34" charset="0"/>
              <a:buChar char="•"/>
            </a:pPr>
            <a:r>
              <a:rPr lang="en-US" dirty="0">
                <a:latin typeface="Montserrat" panose="00000500000000000000" pitchFamily="2" charset="0"/>
              </a:rPr>
              <a:t>Define success metrics (e.g., model &amp; business KPIs).</a:t>
            </a:r>
          </a:p>
          <a:p>
            <a:pPr marL="285750" indent="-285750">
              <a:buFont typeface="Arial" panose="020B0604020202020204" pitchFamily="34" charset="0"/>
              <a:buChar char="•"/>
            </a:pPr>
            <a:r>
              <a:rPr lang="en-US" dirty="0">
                <a:latin typeface="Montserrat" panose="00000500000000000000" pitchFamily="2" charset="0"/>
              </a:rPr>
              <a:t>Prioritize features based on user feedback, risk, and impact.</a:t>
            </a:r>
          </a:p>
          <a:p>
            <a:pPr marL="742950" lvl="1" indent="-285750">
              <a:buFont typeface="Arial" panose="020B0604020202020204" pitchFamily="34" charset="0"/>
              <a:buChar char="•"/>
            </a:pPr>
            <a:endParaRPr lang="en-US" dirty="0">
              <a:latin typeface="Montserrat" panose="00000500000000000000" pitchFamily="2" charset="0"/>
            </a:endParaRPr>
          </a:p>
          <a:p>
            <a:r>
              <a:rPr lang="en-US" b="1" dirty="0">
                <a:latin typeface="Montserrat" panose="00000500000000000000" pitchFamily="2" charset="0"/>
              </a:rPr>
              <a:t>Why It’s Critical:</a:t>
            </a:r>
          </a:p>
          <a:p>
            <a:pPr marL="285750" indent="-285750">
              <a:buFont typeface="Arial" panose="020B0604020202020204" pitchFamily="34" charset="0"/>
              <a:buChar char="•"/>
            </a:pPr>
            <a:r>
              <a:rPr lang="en-US" dirty="0">
                <a:latin typeface="Montserrat" panose="00000500000000000000" pitchFamily="2" charset="0"/>
              </a:rPr>
              <a:t>AI initiatives often fail due to poor alignment with business goals; this role ensures the AI solution solves a real, measurable problem.</a:t>
            </a:r>
          </a:p>
        </p:txBody>
      </p:sp>
      <p:sp>
        <p:nvSpPr>
          <p:cNvPr id="3" name="TextBox 2">
            <a:extLst>
              <a:ext uri="{FF2B5EF4-FFF2-40B4-BE49-F238E27FC236}">
                <a16:creationId xmlns:a16="http://schemas.microsoft.com/office/drawing/2014/main" id="{6AA0828C-8A02-E2DA-C15D-7DF3C37AB05F}"/>
              </a:ext>
            </a:extLst>
          </p:cNvPr>
          <p:cNvSpPr txBox="1"/>
          <p:nvPr/>
        </p:nvSpPr>
        <p:spPr>
          <a:xfrm>
            <a:off x="1080661" y="5972500"/>
            <a:ext cx="6121400" cy="523220"/>
          </a:xfrm>
          <a:prstGeom prst="rect">
            <a:avLst/>
          </a:prstGeom>
          <a:noFill/>
        </p:spPr>
        <p:txBody>
          <a:bodyPr wrap="square">
            <a:spAutoFit/>
          </a:bodyPr>
          <a:lstStyle/>
          <a:p>
            <a:r>
              <a:rPr lang="en-CA" sz="1400" dirty="0">
                <a:hlinkClick r:id="rId3"/>
              </a:rPr>
              <a:t>https://www.indeed.com/cmp/Lattice-6/jobs?jk=5e803e3e68aeb306&amp;start=0</a:t>
            </a:r>
            <a:endParaRPr lang="en-CA" sz="1400" dirty="0"/>
          </a:p>
          <a:p>
            <a:endParaRPr lang="en-CA" sz="1400" dirty="0"/>
          </a:p>
        </p:txBody>
      </p:sp>
      <p:pic>
        <p:nvPicPr>
          <p:cNvPr id="10" name="Picture 9">
            <a:extLst>
              <a:ext uri="{FF2B5EF4-FFF2-40B4-BE49-F238E27FC236}">
                <a16:creationId xmlns:a16="http://schemas.microsoft.com/office/drawing/2014/main" id="{60343C22-BBA7-3595-6877-A1DA53A880EC}"/>
              </a:ext>
            </a:extLst>
          </p:cNvPr>
          <p:cNvPicPr>
            <a:picLocks noChangeAspect="1"/>
          </p:cNvPicPr>
          <p:nvPr/>
        </p:nvPicPr>
        <p:blipFill>
          <a:blip r:embed="rId4"/>
          <a:stretch>
            <a:fillRect/>
          </a:stretch>
        </p:blipFill>
        <p:spPr>
          <a:xfrm>
            <a:off x="8178665" y="844189"/>
            <a:ext cx="3713081" cy="4902200"/>
          </a:xfrm>
          <a:prstGeom prst="rect">
            <a:avLst/>
          </a:prstGeom>
        </p:spPr>
      </p:pic>
    </p:spTree>
    <p:extLst>
      <p:ext uri="{BB962C8B-B14F-4D97-AF65-F5344CB8AC3E}">
        <p14:creationId xmlns:p14="http://schemas.microsoft.com/office/powerpoint/2010/main" val="12721661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6B592-1AA6-E5D6-C880-450285C3A13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D25F52B-49F5-C896-F39C-EF137E95BBA4}"/>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864D5D27-BDE4-7543-E0D1-C24717C8AB72}"/>
              </a:ext>
            </a:extLst>
          </p:cNvPr>
          <p:cNvSpPr/>
          <p:nvPr/>
        </p:nvSpPr>
        <p:spPr>
          <a:xfrm>
            <a:off x="154722" y="90489"/>
            <a:ext cx="9827492" cy="1200329"/>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1. Business and Product Roles: </a:t>
            </a:r>
            <a:r>
              <a:rPr lang="en-US" sz="2400" b="1" dirty="0">
                <a:solidFill>
                  <a:schemeClr val="bg1"/>
                </a:solidFill>
                <a:latin typeface="Montserrat" charset="0"/>
                <a:ea typeface="Montserrat" charset="0"/>
                <a:cs typeface="Montserrat" charset="0"/>
              </a:rPr>
              <a:t>Industry Domain Expert</a:t>
            </a:r>
          </a:p>
          <a:p>
            <a:endParaRPr lang="en-US" sz="2400" b="1" dirty="0">
              <a:solidFill>
                <a:schemeClr val="bg1"/>
              </a:solidFill>
              <a:latin typeface="Montserrat" charset="0"/>
              <a:ea typeface="Montserrat" charset="0"/>
              <a:cs typeface="Montserrat" charset="0"/>
            </a:endParaRPr>
          </a:p>
          <a:p>
            <a:r>
              <a:rPr lang="en-US" sz="2400" dirty="0">
                <a:solidFill>
                  <a:schemeClr val="bg1"/>
                </a:solidFill>
                <a:latin typeface="Montserrat" charset="0"/>
                <a:ea typeface="Montserrat" charset="0"/>
                <a:cs typeface="Montserrat" charset="0"/>
              </a:rPr>
              <a:t> </a:t>
            </a:r>
          </a:p>
        </p:txBody>
      </p:sp>
      <p:sp>
        <p:nvSpPr>
          <p:cNvPr id="4" name="TextBox 3">
            <a:extLst>
              <a:ext uri="{FF2B5EF4-FFF2-40B4-BE49-F238E27FC236}">
                <a16:creationId xmlns:a16="http://schemas.microsoft.com/office/drawing/2014/main" id="{7BB57F7E-60A7-2258-2430-E825EDD261A7}"/>
              </a:ext>
            </a:extLst>
          </p:cNvPr>
          <p:cNvSpPr txBox="1"/>
          <p:nvPr/>
        </p:nvSpPr>
        <p:spPr>
          <a:xfrm>
            <a:off x="154723" y="897460"/>
            <a:ext cx="8609716" cy="3970318"/>
          </a:xfrm>
          <a:prstGeom prst="rect">
            <a:avLst/>
          </a:prstGeom>
          <a:noFill/>
        </p:spPr>
        <p:txBody>
          <a:bodyPr wrap="square">
            <a:spAutoFit/>
          </a:bodyPr>
          <a:lstStyle>
            <a:defPPr>
              <a:defRPr lang="en-US"/>
            </a:defPPr>
            <a:lvl1pPr>
              <a:defRPr b="1">
                <a:latin typeface="Montserrat" panose="00000500000000000000" pitchFamily="2" charset="0"/>
              </a:defRPr>
            </a:lvl1pPr>
            <a:lvl2pPr marL="742950" lvl="1" indent="-285750">
              <a:buFont typeface="Arial" panose="020B0604020202020204" pitchFamily="34" charset="0"/>
              <a:buChar char="•"/>
              <a:defRPr>
                <a:latin typeface="Montserrat" panose="00000500000000000000" pitchFamily="2" charset="0"/>
              </a:defRPr>
            </a:lvl2pPr>
          </a:lstStyle>
          <a:p>
            <a:r>
              <a:rPr lang="en-US" dirty="0"/>
              <a:t>Role Summary:</a:t>
            </a:r>
          </a:p>
          <a:p>
            <a:pPr marL="285750" indent="-285750">
              <a:buFont typeface="Arial" panose="020B0604020202020204" pitchFamily="34" charset="0"/>
              <a:buChar char="•"/>
            </a:pPr>
            <a:r>
              <a:rPr lang="en-US" b="0" dirty="0"/>
              <a:t>Provides the real-world context and subject matter expertise.</a:t>
            </a:r>
          </a:p>
          <a:p>
            <a:endParaRPr lang="en-US" b="0" dirty="0"/>
          </a:p>
          <a:p>
            <a:r>
              <a:rPr lang="en-US" dirty="0"/>
              <a:t>Key Responsibilities:</a:t>
            </a:r>
          </a:p>
          <a:p>
            <a:pPr marL="285750" indent="-285750">
              <a:buFont typeface="Arial" panose="020B0604020202020204" pitchFamily="34" charset="0"/>
              <a:buChar char="•"/>
            </a:pPr>
            <a:r>
              <a:rPr lang="en-US" b="0" dirty="0"/>
              <a:t>Explain domain-specific details to the technical team (e.g., healthcare codes, financial regulations).</a:t>
            </a:r>
          </a:p>
          <a:p>
            <a:pPr marL="285750" indent="-285750">
              <a:buFont typeface="Arial" panose="020B0604020202020204" pitchFamily="34" charset="0"/>
              <a:buChar char="•"/>
            </a:pPr>
            <a:r>
              <a:rPr lang="en-US" b="0" dirty="0"/>
              <a:t>Validate data relevance and feature engineering.</a:t>
            </a:r>
          </a:p>
          <a:p>
            <a:pPr marL="285750" indent="-285750">
              <a:buFont typeface="Arial" panose="020B0604020202020204" pitchFamily="34" charset="0"/>
              <a:buChar char="•"/>
            </a:pPr>
            <a:r>
              <a:rPr lang="en-US" b="0" dirty="0"/>
              <a:t>Provide data labelling criteria &amp; analyze model outputs in a business context.</a:t>
            </a:r>
          </a:p>
          <a:p>
            <a:endParaRPr lang="en-US" b="0" dirty="0"/>
          </a:p>
          <a:p>
            <a:r>
              <a:rPr lang="en-US" dirty="0"/>
              <a:t>Why It’s Critical:</a:t>
            </a:r>
          </a:p>
          <a:p>
            <a:pPr marL="285750" indent="-285750">
              <a:buFont typeface="Arial" panose="020B0604020202020204" pitchFamily="34" charset="0"/>
              <a:buChar char="•"/>
            </a:pPr>
            <a:r>
              <a:rPr lang="en-US" b="0" dirty="0"/>
              <a:t>AI models trained without domain context can make misleading or even dangerous predictions (e.g., in finance, healthcare). Domain expertise ensures relevance and accuracy.</a:t>
            </a:r>
          </a:p>
        </p:txBody>
      </p:sp>
    </p:spTree>
    <p:extLst>
      <p:ext uri="{BB962C8B-B14F-4D97-AF65-F5344CB8AC3E}">
        <p14:creationId xmlns:p14="http://schemas.microsoft.com/office/powerpoint/2010/main" val="39957088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C87A7-6A46-F2D5-B2AD-366E9B8BDB1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FF65A05-C3D0-312A-D641-F73CF2CD60F1}"/>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C2D44B7F-6B74-4EBB-45AC-2A17E4D87E09}"/>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1. Business and Product Roles: </a:t>
            </a:r>
            <a:r>
              <a:rPr lang="en-US" sz="2400" b="1" dirty="0">
                <a:solidFill>
                  <a:schemeClr val="bg1"/>
                </a:solidFill>
                <a:latin typeface="Montserrat" charset="0"/>
                <a:ea typeface="Montserrat" charset="0"/>
                <a:cs typeface="Montserrat" charset="0"/>
              </a:rPr>
              <a:t>Project Manager</a:t>
            </a:r>
          </a:p>
        </p:txBody>
      </p:sp>
      <p:sp>
        <p:nvSpPr>
          <p:cNvPr id="3" name="TextBox 2">
            <a:extLst>
              <a:ext uri="{FF2B5EF4-FFF2-40B4-BE49-F238E27FC236}">
                <a16:creationId xmlns:a16="http://schemas.microsoft.com/office/drawing/2014/main" id="{EF82AAD8-2BD9-A51F-2C25-63D9D438267A}"/>
              </a:ext>
            </a:extLst>
          </p:cNvPr>
          <p:cNvSpPr txBox="1"/>
          <p:nvPr/>
        </p:nvSpPr>
        <p:spPr>
          <a:xfrm>
            <a:off x="388186" y="1076132"/>
            <a:ext cx="8057073" cy="4247317"/>
          </a:xfrm>
          <a:prstGeom prst="rect">
            <a:avLst/>
          </a:prstGeom>
          <a:noFill/>
        </p:spPr>
        <p:txBody>
          <a:bodyPr wrap="square">
            <a:spAutoFit/>
          </a:bodyPr>
          <a:lstStyle>
            <a:defPPr>
              <a:defRPr lang="en-US"/>
            </a:defPPr>
            <a:lvl1pPr>
              <a:defRPr b="1">
                <a:latin typeface="Montserrat" panose="00000500000000000000" pitchFamily="2" charset="0"/>
              </a:defRPr>
            </a:lvl1pPr>
            <a:lvl2pPr marL="742950" lvl="1" indent="-285750">
              <a:buFont typeface="Arial" panose="020B0604020202020204" pitchFamily="34" charset="0"/>
              <a:buChar char="•"/>
              <a:defRPr>
                <a:latin typeface="Montserrat" panose="00000500000000000000" pitchFamily="2" charset="0"/>
              </a:defRPr>
            </a:lvl2pPr>
          </a:lstStyle>
          <a:p>
            <a:r>
              <a:rPr lang="en-US" dirty="0"/>
              <a:t>Role Summary:</a:t>
            </a:r>
            <a:endParaRPr lang="en-US" b="0" dirty="0"/>
          </a:p>
          <a:p>
            <a:pPr marL="285750" indent="-285750">
              <a:buFont typeface="Arial" panose="020B0604020202020204" pitchFamily="34" charset="0"/>
              <a:buChar char="•"/>
            </a:pPr>
            <a:r>
              <a:rPr lang="en-US" b="0" dirty="0"/>
              <a:t>Coordinates all moving parts of an AI project to ensure it is delivered on time, within scope, and on budget.</a:t>
            </a:r>
          </a:p>
          <a:p>
            <a:endParaRPr lang="en-US" b="0" dirty="0"/>
          </a:p>
          <a:p>
            <a:r>
              <a:rPr lang="en-US" dirty="0"/>
              <a:t>Key Responsibilities:</a:t>
            </a:r>
          </a:p>
          <a:p>
            <a:pPr marL="285750" indent="-285750">
              <a:buFont typeface="Arial" panose="020B0604020202020204" pitchFamily="34" charset="0"/>
              <a:buChar char="•"/>
            </a:pPr>
            <a:r>
              <a:rPr lang="en-US" b="0" dirty="0"/>
              <a:t>Create and manage the project plan.</a:t>
            </a:r>
          </a:p>
          <a:p>
            <a:pPr marL="285750" indent="-285750">
              <a:buFont typeface="Arial" panose="020B0604020202020204" pitchFamily="34" charset="0"/>
              <a:buChar char="•"/>
            </a:pPr>
            <a:r>
              <a:rPr lang="en-US" b="0" dirty="0"/>
              <a:t>Track milestones and deliverables.</a:t>
            </a:r>
          </a:p>
          <a:p>
            <a:pPr marL="285750" indent="-285750">
              <a:buFont typeface="Arial" panose="020B0604020202020204" pitchFamily="34" charset="0"/>
              <a:buChar char="•"/>
            </a:pPr>
            <a:r>
              <a:rPr lang="en-US" b="0" dirty="0"/>
              <a:t>Facilitate communication across cross-functional teams.</a:t>
            </a:r>
          </a:p>
          <a:p>
            <a:pPr marL="285750" indent="-285750">
              <a:buFont typeface="Arial" panose="020B0604020202020204" pitchFamily="34" charset="0"/>
              <a:buChar char="•"/>
            </a:pPr>
            <a:r>
              <a:rPr lang="en-US" b="0" dirty="0"/>
              <a:t>Mitigate risks, manage dependencies, and ensure resource availability and allocation.</a:t>
            </a:r>
          </a:p>
          <a:p>
            <a:endParaRPr lang="en-US" dirty="0"/>
          </a:p>
          <a:p>
            <a:r>
              <a:rPr lang="en-US" dirty="0"/>
              <a:t>Why It’s Critical:</a:t>
            </a:r>
            <a:endParaRPr lang="en-US" b="0" dirty="0"/>
          </a:p>
          <a:p>
            <a:pPr marL="285750" indent="-285750">
              <a:buFont typeface="Arial" panose="020B0604020202020204" pitchFamily="34" charset="0"/>
              <a:buChar char="•"/>
            </a:pPr>
            <a:r>
              <a:rPr lang="en-US" b="0" dirty="0"/>
              <a:t>AI projects often span across departments and involve iterative development. A project manager keeps the team focused and aligned.</a:t>
            </a:r>
          </a:p>
        </p:txBody>
      </p:sp>
    </p:spTree>
    <p:extLst>
      <p:ext uri="{BB962C8B-B14F-4D97-AF65-F5344CB8AC3E}">
        <p14:creationId xmlns:p14="http://schemas.microsoft.com/office/powerpoint/2010/main" val="13561773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7C044-A63E-FD14-70F8-62B97E01189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6570660-6382-648A-D688-2FC4B168D4DE}"/>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7B7600D8-0D68-C84C-6C2C-A672F2C59ED1}"/>
              </a:ext>
            </a:extLst>
          </p:cNvPr>
          <p:cNvSpPr/>
          <p:nvPr/>
        </p:nvSpPr>
        <p:spPr>
          <a:xfrm>
            <a:off x="154722" y="90489"/>
            <a:ext cx="9827492" cy="461665"/>
          </a:xfrm>
          <a:prstGeom prst="rect">
            <a:avLst/>
          </a:prstGeom>
        </p:spPr>
        <p:txBody>
          <a:bodyPr wrap="square">
            <a:spAutoFit/>
          </a:bodyPr>
          <a:lstStyle/>
          <a:p>
            <a:r>
              <a:rPr lang="it-IT" sz="2400" dirty="0">
                <a:solidFill>
                  <a:schemeClr val="bg1"/>
                </a:solidFill>
                <a:latin typeface="Montserrat" charset="0"/>
                <a:ea typeface="Montserrat" charset="0"/>
                <a:cs typeface="Montserrat" charset="0"/>
              </a:rPr>
              <a:t>2. Data Science &amp; AI Roles: </a:t>
            </a:r>
            <a:r>
              <a:rPr lang="it-IT" sz="2400" b="1" dirty="0">
                <a:solidFill>
                  <a:schemeClr val="bg1"/>
                </a:solidFill>
                <a:latin typeface="Montserrat" charset="0"/>
                <a:ea typeface="Montserrat" charset="0"/>
                <a:cs typeface="Montserrat" charset="0"/>
              </a:rPr>
              <a:t>AI Researcher</a:t>
            </a:r>
          </a:p>
        </p:txBody>
      </p:sp>
      <p:sp>
        <p:nvSpPr>
          <p:cNvPr id="3" name="TextBox 2">
            <a:extLst>
              <a:ext uri="{FF2B5EF4-FFF2-40B4-BE49-F238E27FC236}">
                <a16:creationId xmlns:a16="http://schemas.microsoft.com/office/drawing/2014/main" id="{5EEDC832-B7B0-5501-2492-9BC720467BA1}"/>
              </a:ext>
            </a:extLst>
          </p:cNvPr>
          <p:cNvSpPr txBox="1"/>
          <p:nvPr/>
        </p:nvSpPr>
        <p:spPr>
          <a:xfrm>
            <a:off x="232912" y="1160600"/>
            <a:ext cx="7970809" cy="3693319"/>
          </a:xfrm>
          <a:prstGeom prst="rect">
            <a:avLst/>
          </a:prstGeom>
          <a:noFill/>
        </p:spPr>
        <p:txBody>
          <a:bodyPr wrap="square">
            <a:spAutoFit/>
          </a:bodyPr>
          <a:lstStyle>
            <a:defPPr>
              <a:defRPr lang="en-US"/>
            </a:defPPr>
            <a:lvl1pPr>
              <a:defRPr b="1">
                <a:latin typeface="Montserrat" panose="00000500000000000000" pitchFamily="2" charset="0"/>
              </a:defRPr>
            </a:lvl1pPr>
            <a:lvl2pPr marL="742950" lvl="1" indent="-285750">
              <a:buFont typeface="Arial" panose="020B0604020202020204" pitchFamily="34" charset="0"/>
              <a:buChar char="•"/>
              <a:defRPr>
                <a:latin typeface="Montserrat" panose="00000500000000000000" pitchFamily="2" charset="0"/>
              </a:defRPr>
            </a:lvl2pPr>
          </a:lstStyle>
          <a:p>
            <a:r>
              <a:rPr lang="en-US" dirty="0"/>
              <a:t>Role Summary:</a:t>
            </a:r>
          </a:p>
          <a:p>
            <a:pPr marL="285750" indent="-285750">
              <a:buFont typeface="Arial" panose="020B0604020202020204" pitchFamily="34" charset="0"/>
              <a:buChar char="•"/>
            </a:pPr>
            <a:r>
              <a:rPr lang="en-US" b="0" dirty="0"/>
              <a:t>Pushes the boundaries of AI and ML theory, often working on novel models, algorithms, or use cases.</a:t>
            </a:r>
          </a:p>
          <a:p>
            <a:endParaRPr lang="en-US" dirty="0"/>
          </a:p>
          <a:p>
            <a:r>
              <a:rPr lang="en-US" dirty="0"/>
              <a:t>Key Responsibilities:</a:t>
            </a:r>
          </a:p>
          <a:p>
            <a:pPr marL="285750" indent="-285750">
              <a:buFont typeface="Arial" panose="020B0604020202020204" pitchFamily="34" charset="0"/>
              <a:buChar char="•"/>
            </a:pPr>
            <a:r>
              <a:rPr lang="en-US" b="0" dirty="0"/>
              <a:t>Develop new learning architectures (e.g., transformers).</a:t>
            </a:r>
          </a:p>
          <a:p>
            <a:pPr marL="285750" indent="-285750">
              <a:buFont typeface="Arial" panose="020B0604020202020204" pitchFamily="34" charset="0"/>
              <a:buChar char="•"/>
            </a:pPr>
            <a:r>
              <a:rPr lang="en-US" b="0" dirty="0"/>
              <a:t>Publish papers, run experiments, and stay ahead of the curve.</a:t>
            </a:r>
          </a:p>
          <a:p>
            <a:pPr marL="285750" indent="-285750">
              <a:buFont typeface="Arial" panose="020B0604020202020204" pitchFamily="34" charset="0"/>
              <a:buChar char="•"/>
            </a:pPr>
            <a:r>
              <a:rPr lang="en-US" b="0" dirty="0"/>
              <a:t>Explore cutting-edge techniques (e.g., self-supervised learning, few-shot learning).</a:t>
            </a:r>
          </a:p>
          <a:p>
            <a:endParaRPr lang="en-US" dirty="0"/>
          </a:p>
          <a:p>
            <a:r>
              <a:rPr lang="en-US" dirty="0"/>
              <a:t>Why It’s Critical:</a:t>
            </a:r>
          </a:p>
          <a:p>
            <a:pPr marL="285750" indent="-285750">
              <a:buFont typeface="Arial" panose="020B0604020202020204" pitchFamily="34" charset="0"/>
              <a:buChar char="•"/>
            </a:pPr>
            <a:r>
              <a:rPr lang="en-US" b="0" dirty="0"/>
              <a:t>Enables innovation and differentiation, especially in R&amp;D-heavy companies AI/GenAI work.</a:t>
            </a:r>
          </a:p>
        </p:txBody>
      </p:sp>
      <p:pic>
        <p:nvPicPr>
          <p:cNvPr id="4" name="Picture 3">
            <a:extLst>
              <a:ext uri="{FF2B5EF4-FFF2-40B4-BE49-F238E27FC236}">
                <a16:creationId xmlns:a16="http://schemas.microsoft.com/office/drawing/2014/main" id="{1560D04F-7BDA-E8BA-6BC7-097B588FD300}"/>
              </a:ext>
            </a:extLst>
          </p:cNvPr>
          <p:cNvPicPr>
            <a:picLocks noChangeAspect="1"/>
          </p:cNvPicPr>
          <p:nvPr/>
        </p:nvPicPr>
        <p:blipFill>
          <a:blip r:embed="rId3"/>
          <a:stretch>
            <a:fillRect/>
          </a:stretch>
        </p:blipFill>
        <p:spPr>
          <a:xfrm>
            <a:off x="8344745" y="1027250"/>
            <a:ext cx="3403650" cy="4267200"/>
          </a:xfrm>
          <a:prstGeom prst="rect">
            <a:avLst/>
          </a:prstGeom>
        </p:spPr>
      </p:pic>
      <p:sp>
        <p:nvSpPr>
          <p:cNvPr id="10" name="TextBox 9">
            <a:extLst>
              <a:ext uri="{FF2B5EF4-FFF2-40B4-BE49-F238E27FC236}">
                <a16:creationId xmlns:a16="http://schemas.microsoft.com/office/drawing/2014/main" id="{9A9F4B18-5D72-3D84-7DBF-ED0049DDBCAE}"/>
              </a:ext>
            </a:extLst>
          </p:cNvPr>
          <p:cNvSpPr txBox="1"/>
          <p:nvPr/>
        </p:nvSpPr>
        <p:spPr>
          <a:xfrm>
            <a:off x="450850" y="5533479"/>
            <a:ext cx="6121400" cy="646331"/>
          </a:xfrm>
          <a:prstGeom prst="rect">
            <a:avLst/>
          </a:prstGeom>
          <a:noFill/>
        </p:spPr>
        <p:txBody>
          <a:bodyPr wrap="square">
            <a:spAutoFit/>
          </a:bodyPr>
          <a:lstStyle/>
          <a:p>
            <a:r>
              <a:rPr lang="en-CA" sz="1200" dirty="0">
                <a:hlinkClick r:id="rId4"/>
              </a:rPr>
              <a:t>https://www.indeed.com/jobs?q=ai+researcher&amp;l=&amp;from=searchOnDesktopSerp&amp;vjk=a38bbe0988da5717</a:t>
            </a:r>
            <a:endParaRPr lang="en-CA" sz="1200" dirty="0"/>
          </a:p>
          <a:p>
            <a:endParaRPr lang="en-CA" sz="1200" dirty="0"/>
          </a:p>
        </p:txBody>
      </p:sp>
    </p:spTree>
    <p:extLst>
      <p:ext uri="{BB962C8B-B14F-4D97-AF65-F5344CB8AC3E}">
        <p14:creationId xmlns:p14="http://schemas.microsoft.com/office/powerpoint/2010/main" val="21921233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AF633-89F2-54CF-44CE-8543F9C962A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58FA5B0-8549-A658-D286-6E7C9D564BE5}"/>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80D0004E-C665-A321-A544-A5B7ACBE81D5}"/>
              </a:ext>
            </a:extLst>
          </p:cNvPr>
          <p:cNvSpPr/>
          <p:nvPr/>
        </p:nvSpPr>
        <p:spPr>
          <a:xfrm>
            <a:off x="154722" y="90489"/>
            <a:ext cx="9827492" cy="461665"/>
          </a:xfrm>
          <a:prstGeom prst="rect">
            <a:avLst/>
          </a:prstGeom>
        </p:spPr>
        <p:txBody>
          <a:bodyPr wrap="square">
            <a:spAutoFit/>
          </a:bodyPr>
          <a:lstStyle/>
          <a:p>
            <a:r>
              <a:rPr lang="it-IT" sz="2400" dirty="0">
                <a:solidFill>
                  <a:schemeClr val="bg1"/>
                </a:solidFill>
                <a:latin typeface="Montserrat" charset="0"/>
                <a:ea typeface="Montserrat" charset="0"/>
                <a:cs typeface="Montserrat" charset="0"/>
              </a:rPr>
              <a:t>2. Data Science &amp; AI Roles: </a:t>
            </a:r>
            <a:r>
              <a:rPr lang="it-IT" sz="2400" b="1" dirty="0">
                <a:solidFill>
                  <a:schemeClr val="bg1"/>
                </a:solidFill>
                <a:latin typeface="Montserrat" charset="0"/>
                <a:ea typeface="Montserrat" charset="0"/>
                <a:cs typeface="Montserrat" charset="0"/>
              </a:rPr>
              <a:t>Data Scientist </a:t>
            </a:r>
          </a:p>
        </p:txBody>
      </p:sp>
      <p:sp>
        <p:nvSpPr>
          <p:cNvPr id="3" name="TextBox 2">
            <a:extLst>
              <a:ext uri="{FF2B5EF4-FFF2-40B4-BE49-F238E27FC236}">
                <a16:creationId xmlns:a16="http://schemas.microsoft.com/office/drawing/2014/main" id="{7E177E4D-C658-2966-76ED-13560AE80424}"/>
              </a:ext>
            </a:extLst>
          </p:cNvPr>
          <p:cNvSpPr txBox="1"/>
          <p:nvPr/>
        </p:nvSpPr>
        <p:spPr>
          <a:xfrm>
            <a:off x="319177" y="1058501"/>
            <a:ext cx="7904074" cy="3970318"/>
          </a:xfrm>
          <a:prstGeom prst="rect">
            <a:avLst/>
          </a:prstGeom>
          <a:noFill/>
        </p:spPr>
        <p:txBody>
          <a:bodyPr wrap="square">
            <a:spAutoFit/>
          </a:bodyPr>
          <a:lstStyle>
            <a:defPPr>
              <a:defRPr lang="en-US"/>
            </a:defPPr>
            <a:lvl1pPr>
              <a:defRPr b="1">
                <a:latin typeface="Montserrat" panose="00000500000000000000" pitchFamily="2" charset="0"/>
              </a:defRPr>
            </a:lvl1pPr>
            <a:lvl2pPr marL="742950" lvl="1" indent="-285750">
              <a:buFont typeface="Arial" panose="020B0604020202020204" pitchFamily="34" charset="0"/>
              <a:buChar char="•"/>
              <a:defRPr>
                <a:latin typeface="Montserrat" panose="00000500000000000000" pitchFamily="2" charset="0"/>
              </a:defRPr>
            </a:lvl2pPr>
          </a:lstStyle>
          <a:p>
            <a:r>
              <a:rPr lang="en-US" dirty="0"/>
              <a:t>Role Summary:</a:t>
            </a:r>
          </a:p>
          <a:p>
            <a:pPr marL="285750" indent="-285750">
              <a:buFont typeface="Arial" panose="020B0604020202020204" pitchFamily="34" charset="0"/>
              <a:buChar char="•"/>
            </a:pPr>
            <a:r>
              <a:rPr lang="en-US" b="0" dirty="0"/>
              <a:t>Solves complex business problems using data. Uses statistical analysis and machine learning to derive insights and build predictive models.</a:t>
            </a:r>
          </a:p>
          <a:p>
            <a:endParaRPr lang="en-US" b="0" dirty="0"/>
          </a:p>
          <a:p>
            <a:r>
              <a:rPr lang="en-US" dirty="0"/>
              <a:t>Key Responsibilities:</a:t>
            </a:r>
          </a:p>
          <a:p>
            <a:pPr marL="285750" indent="-285750">
              <a:buFont typeface="Arial" panose="020B0604020202020204" pitchFamily="34" charset="0"/>
              <a:buChar char="•"/>
            </a:pPr>
            <a:r>
              <a:rPr lang="en-US" b="0" dirty="0"/>
              <a:t>Analyze structured and unstructured data.</a:t>
            </a:r>
          </a:p>
          <a:p>
            <a:pPr marL="285750" indent="-285750">
              <a:buFont typeface="Arial" panose="020B0604020202020204" pitchFamily="34" charset="0"/>
              <a:buChar char="•"/>
            </a:pPr>
            <a:r>
              <a:rPr lang="en-US" b="0" dirty="0"/>
              <a:t>Develop and test ML models.</a:t>
            </a:r>
          </a:p>
          <a:p>
            <a:pPr marL="285750" indent="-285750">
              <a:buFont typeface="Arial" panose="020B0604020202020204" pitchFamily="34" charset="0"/>
              <a:buChar char="•"/>
            </a:pPr>
            <a:r>
              <a:rPr lang="en-US" b="0" dirty="0"/>
              <a:t>Perform feature engineering.</a:t>
            </a:r>
          </a:p>
          <a:p>
            <a:pPr marL="285750" indent="-285750">
              <a:buFont typeface="Arial" panose="020B0604020202020204" pitchFamily="34" charset="0"/>
              <a:buChar char="•"/>
            </a:pPr>
            <a:r>
              <a:rPr lang="en-US" b="0" dirty="0"/>
              <a:t>Communicate insights to stakeholders.</a:t>
            </a:r>
          </a:p>
          <a:p>
            <a:endParaRPr lang="en-US" b="0" dirty="0"/>
          </a:p>
          <a:p>
            <a:r>
              <a:rPr lang="en-US" dirty="0"/>
              <a:t>Why It’s Critical:</a:t>
            </a:r>
            <a:endParaRPr lang="en-US" b="0" dirty="0"/>
          </a:p>
          <a:p>
            <a:pPr marL="285750" indent="-285750">
              <a:buFont typeface="Arial" panose="020B0604020202020204" pitchFamily="34" charset="0"/>
              <a:buChar char="•"/>
            </a:pPr>
            <a:r>
              <a:rPr lang="en-US" b="0" dirty="0"/>
              <a:t>Data scientists turn raw data into business value, guiding decisions and automating intelligent processes.</a:t>
            </a:r>
          </a:p>
        </p:txBody>
      </p:sp>
      <p:pic>
        <p:nvPicPr>
          <p:cNvPr id="4" name="Picture 3">
            <a:extLst>
              <a:ext uri="{FF2B5EF4-FFF2-40B4-BE49-F238E27FC236}">
                <a16:creationId xmlns:a16="http://schemas.microsoft.com/office/drawing/2014/main" id="{5F2B5BB0-BF22-0645-20E5-DDFA1B353FE8}"/>
              </a:ext>
            </a:extLst>
          </p:cNvPr>
          <p:cNvPicPr>
            <a:picLocks noChangeAspect="1"/>
          </p:cNvPicPr>
          <p:nvPr/>
        </p:nvPicPr>
        <p:blipFill>
          <a:blip r:embed="rId3"/>
          <a:stretch>
            <a:fillRect/>
          </a:stretch>
        </p:blipFill>
        <p:spPr>
          <a:xfrm>
            <a:off x="8284562" y="907669"/>
            <a:ext cx="3588261" cy="4483100"/>
          </a:xfrm>
          <a:prstGeom prst="rect">
            <a:avLst/>
          </a:prstGeom>
        </p:spPr>
      </p:pic>
      <p:sp>
        <p:nvSpPr>
          <p:cNvPr id="10" name="TextBox 9">
            <a:extLst>
              <a:ext uri="{FF2B5EF4-FFF2-40B4-BE49-F238E27FC236}">
                <a16:creationId xmlns:a16="http://schemas.microsoft.com/office/drawing/2014/main" id="{5CEBD67F-0A6E-3897-C722-7274E05062ED}"/>
              </a:ext>
            </a:extLst>
          </p:cNvPr>
          <p:cNvSpPr txBox="1"/>
          <p:nvPr/>
        </p:nvSpPr>
        <p:spPr>
          <a:xfrm>
            <a:off x="717550" y="5390769"/>
            <a:ext cx="6121400" cy="577081"/>
          </a:xfrm>
          <a:prstGeom prst="rect">
            <a:avLst/>
          </a:prstGeom>
          <a:noFill/>
        </p:spPr>
        <p:txBody>
          <a:bodyPr wrap="square">
            <a:spAutoFit/>
          </a:bodyPr>
          <a:lstStyle/>
          <a:p>
            <a:r>
              <a:rPr lang="en-CA" sz="1050" dirty="0">
                <a:hlinkClick r:id="rId4"/>
              </a:rPr>
              <a:t>https://www.indeed.com/jobs?q=data+scientist&amp;l=&amp;from=searchOnDesktopSerp%2Cwhatautocomplete%2CwhatautocompleteSourceStandard&amp;vjk=28a94977251f9247</a:t>
            </a:r>
            <a:endParaRPr lang="en-CA" sz="1050" dirty="0"/>
          </a:p>
          <a:p>
            <a:endParaRPr lang="en-CA" sz="1050" dirty="0"/>
          </a:p>
        </p:txBody>
      </p:sp>
    </p:spTree>
    <p:extLst>
      <p:ext uri="{BB962C8B-B14F-4D97-AF65-F5344CB8AC3E}">
        <p14:creationId xmlns:p14="http://schemas.microsoft.com/office/powerpoint/2010/main" val="36069919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8AD75-96C2-452B-424A-6A901A7C7C8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7156D12-9FA1-A975-1327-19855C18C845}"/>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6D5EDF92-CF6E-094A-9C1A-9D3ADB573FA1}"/>
              </a:ext>
            </a:extLst>
          </p:cNvPr>
          <p:cNvSpPr/>
          <p:nvPr/>
        </p:nvSpPr>
        <p:spPr>
          <a:xfrm>
            <a:off x="154722" y="90489"/>
            <a:ext cx="9827492" cy="461665"/>
          </a:xfrm>
          <a:prstGeom prst="rect">
            <a:avLst/>
          </a:prstGeom>
        </p:spPr>
        <p:txBody>
          <a:bodyPr wrap="square">
            <a:spAutoFit/>
          </a:bodyPr>
          <a:lstStyle/>
          <a:p>
            <a:r>
              <a:rPr lang="it-IT" sz="2400" dirty="0">
                <a:solidFill>
                  <a:schemeClr val="bg1"/>
                </a:solidFill>
                <a:latin typeface="Montserrat" charset="0"/>
                <a:ea typeface="Montserrat" charset="0"/>
                <a:cs typeface="Montserrat" charset="0"/>
              </a:rPr>
              <a:t>2. Data Science &amp; AI Roles: </a:t>
            </a:r>
            <a:r>
              <a:rPr lang="it-IT" sz="2400" b="1" dirty="0">
                <a:solidFill>
                  <a:schemeClr val="bg1"/>
                </a:solidFill>
                <a:latin typeface="Montserrat" charset="0"/>
                <a:ea typeface="Montserrat" charset="0"/>
                <a:cs typeface="Montserrat" charset="0"/>
              </a:rPr>
              <a:t>Machine Learning Engineer</a:t>
            </a:r>
          </a:p>
        </p:txBody>
      </p:sp>
      <p:sp>
        <p:nvSpPr>
          <p:cNvPr id="3" name="TextBox 2">
            <a:extLst>
              <a:ext uri="{FF2B5EF4-FFF2-40B4-BE49-F238E27FC236}">
                <a16:creationId xmlns:a16="http://schemas.microsoft.com/office/drawing/2014/main" id="{721D5E4B-3A0A-DFC6-B560-F87729BB25DF}"/>
              </a:ext>
            </a:extLst>
          </p:cNvPr>
          <p:cNvSpPr txBox="1"/>
          <p:nvPr/>
        </p:nvSpPr>
        <p:spPr>
          <a:xfrm>
            <a:off x="577970" y="1082485"/>
            <a:ext cx="8057072" cy="3693319"/>
          </a:xfrm>
          <a:prstGeom prst="rect">
            <a:avLst/>
          </a:prstGeom>
          <a:noFill/>
        </p:spPr>
        <p:txBody>
          <a:bodyPr wrap="square">
            <a:spAutoFit/>
          </a:bodyPr>
          <a:lstStyle>
            <a:defPPr>
              <a:defRPr lang="en-US"/>
            </a:defPPr>
            <a:lvl1pPr>
              <a:defRPr b="1">
                <a:latin typeface="Montserrat" panose="00000500000000000000" pitchFamily="2" charset="0"/>
              </a:defRPr>
            </a:lvl1pPr>
            <a:lvl2pPr marL="742950" lvl="1" indent="-285750">
              <a:buFont typeface="Arial" panose="020B0604020202020204" pitchFamily="34" charset="0"/>
              <a:buChar char="•"/>
              <a:defRPr>
                <a:latin typeface="Montserrat" panose="00000500000000000000" pitchFamily="2" charset="0"/>
              </a:defRPr>
            </a:lvl2pPr>
          </a:lstStyle>
          <a:p>
            <a:r>
              <a:rPr lang="en-US" dirty="0"/>
              <a:t>Role Summary:</a:t>
            </a:r>
          </a:p>
          <a:p>
            <a:pPr marL="285750" indent="-285750">
              <a:buFont typeface="Arial" panose="020B0604020202020204" pitchFamily="34" charset="0"/>
              <a:buChar char="•"/>
            </a:pPr>
            <a:r>
              <a:rPr lang="en-US" b="0" dirty="0"/>
              <a:t>Builds, tests, and deploys scalable machine learning pipelines. Often bridges the gap between data science and engineering.</a:t>
            </a:r>
          </a:p>
          <a:p>
            <a:endParaRPr lang="en-US" b="0" dirty="0"/>
          </a:p>
          <a:p>
            <a:r>
              <a:rPr lang="en-US" dirty="0"/>
              <a:t>Key Responsibilities:</a:t>
            </a:r>
          </a:p>
          <a:p>
            <a:pPr marL="285750" indent="-285750">
              <a:buFont typeface="Arial" panose="020B0604020202020204" pitchFamily="34" charset="0"/>
              <a:buChar char="•"/>
            </a:pPr>
            <a:r>
              <a:rPr lang="en-US" b="0" dirty="0"/>
              <a:t>Design ML pipelines for production.</a:t>
            </a:r>
          </a:p>
          <a:p>
            <a:pPr marL="285750" indent="-285750">
              <a:buFont typeface="Arial" panose="020B0604020202020204" pitchFamily="34" charset="0"/>
              <a:buChar char="•"/>
            </a:pPr>
            <a:r>
              <a:rPr lang="en-US" b="0" dirty="0"/>
              <a:t>Tune models for performance and scalability.</a:t>
            </a:r>
          </a:p>
          <a:p>
            <a:pPr marL="285750" indent="-285750">
              <a:buFont typeface="Arial" panose="020B0604020202020204" pitchFamily="34" charset="0"/>
              <a:buChar char="•"/>
            </a:pPr>
            <a:r>
              <a:rPr lang="en-US" b="0" dirty="0"/>
              <a:t>Integrate models into applications.</a:t>
            </a:r>
          </a:p>
          <a:p>
            <a:pPr marL="285750" indent="-285750">
              <a:buFont typeface="Arial" panose="020B0604020202020204" pitchFamily="34" charset="0"/>
              <a:buChar char="•"/>
            </a:pPr>
            <a:r>
              <a:rPr lang="en-US" b="0" dirty="0"/>
              <a:t>Collaborate with software and </a:t>
            </a:r>
            <a:r>
              <a:rPr lang="en-US" b="0" dirty="0" err="1"/>
              <a:t>MLOps</a:t>
            </a:r>
            <a:r>
              <a:rPr lang="en-US" b="0" dirty="0"/>
              <a:t> teams.</a:t>
            </a:r>
          </a:p>
          <a:p>
            <a:endParaRPr lang="en-US" b="0" dirty="0"/>
          </a:p>
          <a:p>
            <a:r>
              <a:rPr lang="en-US" dirty="0"/>
              <a:t>Why It’s Critical:</a:t>
            </a:r>
            <a:endParaRPr lang="en-US" b="0" dirty="0"/>
          </a:p>
          <a:p>
            <a:pPr marL="285750" indent="-285750">
              <a:buFont typeface="Arial" panose="020B0604020202020204" pitchFamily="34" charset="0"/>
              <a:buChar char="•"/>
            </a:pPr>
            <a:r>
              <a:rPr lang="en-US" b="0" dirty="0"/>
              <a:t>ML engineers make AI real by taking models out of notebooks and into production.</a:t>
            </a:r>
          </a:p>
        </p:txBody>
      </p:sp>
    </p:spTree>
    <p:extLst>
      <p:ext uri="{BB962C8B-B14F-4D97-AF65-F5344CB8AC3E}">
        <p14:creationId xmlns:p14="http://schemas.microsoft.com/office/powerpoint/2010/main" val="23875554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1D27F-441A-8351-95FD-5AEBE12F871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F4AEDE7-92D9-B096-8835-E9826F42245B}"/>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CC172BD1-CDDD-0E70-72E6-4E17EC257E48}"/>
              </a:ext>
            </a:extLst>
          </p:cNvPr>
          <p:cNvSpPr/>
          <p:nvPr/>
        </p:nvSpPr>
        <p:spPr>
          <a:xfrm>
            <a:off x="154722" y="90489"/>
            <a:ext cx="9827492" cy="830997"/>
          </a:xfrm>
          <a:prstGeom prst="rect">
            <a:avLst/>
          </a:prstGeom>
        </p:spPr>
        <p:txBody>
          <a:bodyPr wrap="square">
            <a:spAutoFit/>
          </a:bodyPr>
          <a:lstStyle/>
          <a:p>
            <a:r>
              <a:rPr lang="it-IT" sz="2400" dirty="0">
                <a:solidFill>
                  <a:schemeClr val="bg1"/>
                </a:solidFill>
                <a:latin typeface="Montserrat" charset="0"/>
                <a:ea typeface="Montserrat" charset="0"/>
                <a:cs typeface="Montserrat" charset="0"/>
              </a:rPr>
              <a:t>2. Data Science &amp; AI Roles: </a:t>
            </a:r>
            <a:r>
              <a:rPr lang="en-US" sz="2400" b="1" dirty="0">
                <a:solidFill>
                  <a:schemeClr val="bg1"/>
                </a:solidFill>
                <a:latin typeface="Montserrat" charset="0"/>
                <a:ea typeface="Montserrat" charset="0"/>
                <a:cs typeface="Montserrat" charset="0"/>
              </a:rPr>
              <a:t>Responsible AI / Ethics Lead</a:t>
            </a:r>
          </a:p>
          <a:p>
            <a:endParaRPr lang="en-US" sz="2400" dirty="0">
              <a:solidFill>
                <a:schemeClr val="bg1"/>
              </a:solidFill>
              <a:latin typeface="Montserrat" charset="0"/>
              <a:ea typeface="Montserrat" charset="0"/>
              <a:cs typeface="Montserrat" charset="0"/>
            </a:endParaRPr>
          </a:p>
        </p:txBody>
      </p:sp>
      <p:sp>
        <p:nvSpPr>
          <p:cNvPr id="3" name="TextBox 2">
            <a:extLst>
              <a:ext uri="{FF2B5EF4-FFF2-40B4-BE49-F238E27FC236}">
                <a16:creationId xmlns:a16="http://schemas.microsoft.com/office/drawing/2014/main" id="{9C5AA436-A590-EA6A-A579-5E2FCBAA44D7}"/>
              </a:ext>
            </a:extLst>
          </p:cNvPr>
          <p:cNvSpPr txBox="1"/>
          <p:nvPr/>
        </p:nvSpPr>
        <p:spPr>
          <a:xfrm>
            <a:off x="560716" y="988071"/>
            <a:ext cx="7004650" cy="3416320"/>
          </a:xfrm>
          <a:prstGeom prst="rect">
            <a:avLst/>
          </a:prstGeom>
          <a:noFill/>
        </p:spPr>
        <p:txBody>
          <a:bodyPr wrap="square">
            <a:spAutoFit/>
          </a:bodyPr>
          <a:lstStyle>
            <a:defPPr>
              <a:defRPr lang="en-US"/>
            </a:defPPr>
            <a:lvl1pPr>
              <a:defRPr b="1">
                <a:latin typeface="Montserrat" panose="00000500000000000000" pitchFamily="2" charset="0"/>
              </a:defRPr>
            </a:lvl1pPr>
            <a:lvl2pPr marL="742950" lvl="1" indent="-285750">
              <a:buFont typeface="Arial" panose="020B0604020202020204" pitchFamily="34" charset="0"/>
              <a:buChar char="•"/>
              <a:defRPr>
                <a:latin typeface="Montserrat" panose="00000500000000000000" pitchFamily="2" charset="0"/>
              </a:defRPr>
            </a:lvl2pPr>
          </a:lstStyle>
          <a:p>
            <a:r>
              <a:rPr lang="en-US" dirty="0"/>
              <a:t>Role Summary:</a:t>
            </a:r>
          </a:p>
          <a:p>
            <a:pPr marL="285750" indent="-285750">
              <a:buFont typeface="Arial" panose="020B0604020202020204" pitchFamily="34" charset="0"/>
              <a:buChar char="•"/>
            </a:pPr>
            <a:r>
              <a:rPr lang="en-US" b="0" dirty="0"/>
              <a:t>Ensures AI systems are ethical, fair, transparent, and inclusive. Evaluates models for unintended harm or bias.</a:t>
            </a:r>
          </a:p>
          <a:p>
            <a:endParaRPr lang="en-US" dirty="0"/>
          </a:p>
          <a:p>
            <a:r>
              <a:rPr lang="en-US" dirty="0"/>
              <a:t>Key Responsibilities:</a:t>
            </a:r>
          </a:p>
          <a:p>
            <a:pPr marL="285750" indent="-285750">
              <a:buFont typeface="Arial" panose="020B0604020202020204" pitchFamily="34" charset="0"/>
              <a:buChar char="•"/>
            </a:pPr>
            <a:r>
              <a:rPr lang="en-US" b="0" dirty="0"/>
              <a:t>Audit data and models for bias and discrimination.</a:t>
            </a:r>
          </a:p>
          <a:p>
            <a:pPr marL="285750" indent="-285750">
              <a:buFont typeface="Arial" panose="020B0604020202020204" pitchFamily="34" charset="0"/>
              <a:buChar char="•"/>
            </a:pPr>
            <a:r>
              <a:rPr lang="en-US" b="0" dirty="0"/>
              <a:t>Enforce fairness and explainability standards.</a:t>
            </a:r>
          </a:p>
          <a:p>
            <a:pPr marL="285750" indent="-285750">
              <a:buFont typeface="Arial" panose="020B0604020202020204" pitchFamily="34" charset="0"/>
              <a:buChar char="•"/>
            </a:pPr>
            <a:r>
              <a:rPr lang="en-US" b="0" dirty="0"/>
              <a:t>Ensure ethical practices in data labelling and use.</a:t>
            </a:r>
          </a:p>
          <a:p>
            <a:pPr marL="285750" indent="-285750">
              <a:buFont typeface="Arial" panose="020B0604020202020204" pitchFamily="34" charset="0"/>
              <a:buChar char="•"/>
            </a:pPr>
            <a:endParaRPr lang="en-US" b="0" dirty="0"/>
          </a:p>
          <a:p>
            <a:r>
              <a:rPr lang="en-US" dirty="0"/>
              <a:t>Why It’s Critical:</a:t>
            </a:r>
          </a:p>
          <a:p>
            <a:pPr marL="285750" indent="-285750">
              <a:buFont typeface="Arial" panose="020B0604020202020204" pitchFamily="34" charset="0"/>
              <a:buChar char="•"/>
            </a:pPr>
            <a:r>
              <a:rPr lang="en-US" b="0" dirty="0"/>
              <a:t>Helps prevent ethical issues, reputational damage, and regulatory violations in high-stakes domains.</a:t>
            </a:r>
          </a:p>
        </p:txBody>
      </p:sp>
    </p:spTree>
    <p:extLst>
      <p:ext uri="{BB962C8B-B14F-4D97-AF65-F5344CB8AC3E}">
        <p14:creationId xmlns:p14="http://schemas.microsoft.com/office/powerpoint/2010/main" val="36115211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3F076-23A0-4E5F-00A9-4487096D2DA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97714A3-A55F-FC7D-EB18-44384FE27441}"/>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953749AD-FA1E-2D9B-DD01-30D0738AA37D}"/>
              </a:ext>
            </a:extLst>
          </p:cNvPr>
          <p:cNvSpPr/>
          <p:nvPr/>
        </p:nvSpPr>
        <p:spPr>
          <a:xfrm>
            <a:off x="154722" y="90489"/>
            <a:ext cx="9827492" cy="461665"/>
          </a:xfrm>
          <a:prstGeom prst="rect">
            <a:avLst/>
          </a:prstGeom>
        </p:spPr>
        <p:txBody>
          <a:bodyPr wrap="square">
            <a:spAutoFit/>
          </a:bodyPr>
          <a:lstStyle/>
          <a:p>
            <a:r>
              <a:rPr lang="it-IT" sz="2400" dirty="0">
                <a:solidFill>
                  <a:schemeClr val="bg1"/>
                </a:solidFill>
                <a:latin typeface="Montserrat" charset="0"/>
                <a:ea typeface="Montserrat" charset="0"/>
                <a:cs typeface="Montserrat" charset="0"/>
              </a:rPr>
              <a:t>2. Data Science &amp; AI Roles: </a:t>
            </a:r>
            <a:r>
              <a:rPr lang="en-US" sz="2400" b="1" dirty="0">
                <a:solidFill>
                  <a:schemeClr val="bg1"/>
                </a:solidFill>
                <a:latin typeface="Montserrat" charset="0"/>
                <a:ea typeface="Montserrat" charset="0"/>
                <a:cs typeface="Montserrat" charset="0"/>
              </a:rPr>
              <a:t>UX Designer</a:t>
            </a:r>
          </a:p>
        </p:txBody>
      </p:sp>
      <p:sp>
        <p:nvSpPr>
          <p:cNvPr id="3" name="TextBox 2">
            <a:extLst>
              <a:ext uri="{FF2B5EF4-FFF2-40B4-BE49-F238E27FC236}">
                <a16:creationId xmlns:a16="http://schemas.microsoft.com/office/drawing/2014/main" id="{30CB6324-6530-DFDF-BAA9-12AD3F8FCEFD}"/>
              </a:ext>
            </a:extLst>
          </p:cNvPr>
          <p:cNvSpPr txBox="1"/>
          <p:nvPr/>
        </p:nvSpPr>
        <p:spPr>
          <a:xfrm>
            <a:off x="505483" y="996698"/>
            <a:ext cx="8134709" cy="3416320"/>
          </a:xfrm>
          <a:prstGeom prst="rect">
            <a:avLst/>
          </a:prstGeom>
          <a:noFill/>
        </p:spPr>
        <p:txBody>
          <a:bodyPr wrap="square">
            <a:spAutoFit/>
          </a:bodyPr>
          <a:lstStyle>
            <a:defPPr>
              <a:defRPr lang="en-US"/>
            </a:defPPr>
            <a:lvl1pPr>
              <a:defRPr b="1">
                <a:latin typeface="Montserrat" panose="00000500000000000000" pitchFamily="2" charset="0"/>
              </a:defRPr>
            </a:lvl1pPr>
            <a:lvl2pPr marL="742950" lvl="1" indent="-285750">
              <a:buFont typeface="Arial" panose="020B0604020202020204" pitchFamily="34" charset="0"/>
              <a:buChar char="•"/>
              <a:defRPr>
                <a:latin typeface="Montserrat" panose="00000500000000000000" pitchFamily="2" charset="0"/>
              </a:defRPr>
            </a:lvl2pPr>
          </a:lstStyle>
          <a:p>
            <a:r>
              <a:rPr lang="en-US" dirty="0"/>
              <a:t>Role Summary:</a:t>
            </a:r>
          </a:p>
          <a:p>
            <a:pPr marL="285750" indent="-285750">
              <a:buFont typeface="Arial" panose="020B0604020202020204" pitchFamily="34" charset="0"/>
              <a:buChar char="•"/>
            </a:pPr>
            <a:r>
              <a:rPr lang="en-US" b="0" dirty="0"/>
              <a:t>Designs intuitive interfaces for AI systems that enhance user trust, interpretability, and usability.</a:t>
            </a:r>
          </a:p>
          <a:p>
            <a:endParaRPr lang="en-US" b="0" dirty="0"/>
          </a:p>
          <a:p>
            <a:r>
              <a:rPr lang="en-US" dirty="0"/>
              <a:t>Key Responsibilities:</a:t>
            </a:r>
          </a:p>
          <a:p>
            <a:pPr marL="285750" indent="-285750">
              <a:buFont typeface="Arial" panose="020B0604020202020204" pitchFamily="34" charset="0"/>
              <a:buChar char="•"/>
            </a:pPr>
            <a:r>
              <a:rPr lang="en-US" b="0" dirty="0"/>
              <a:t>Create user journeys for interacting with AI outputs.</a:t>
            </a:r>
          </a:p>
          <a:p>
            <a:pPr marL="285750" indent="-285750">
              <a:buFont typeface="Arial" panose="020B0604020202020204" pitchFamily="34" charset="0"/>
              <a:buChar char="•"/>
            </a:pPr>
            <a:r>
              <a:rPr lang="en-US" b="0" dirty="0"/>
              <a:t>Simplify complex data/model results for end users.</a:t>
            </a:r>
          </a:p>
          <a:p>
            <a:pPr marL="285750" indent="-285750">
              <a:buFont typeface="Arial" panose="020B0604020202020204" pitchFamily="34" charset="0"/>
              <a:buChar char="•"/>
            </a:pPr>
            <a:r>
              <a:rPr lang="en-US" b="0" dirty="0"/>
              <a:t>Design feedback loops (e.g., for human-in-the-loop systems).</a:t>
            </a:r>
          </a:p>
          <a:p>
            <a:endParaRPr lang="en-US" b="0" dirty="0"/>
          </a:p>
          <a:p>
            <a:r>
              <a:rPr lang="en-US" dirty="0"/>
              <a:t>Why It’s Critical:</a:t>
            </a:r>
          </a:p>
          <a:p>
            <a:pPr marL="285750" indent="-285750">
              <a:buFont typeface="Arial" panose="020B0604020202020204" pitchFamily="34" charset="0"/>
              <a:buChar char="•"/>
            </a:pPr>
            <a:r>
              <a:rPr lang="en-US" b="0" dirty="0"/>
              <a:t>If users can’t understand or interact with the AI, they won’t use it, regardless of how powerful it is.</a:t>
            </a:r>
          </a:p>
        </p:txBody>
      </p:sp>
    </p:spTree>
    <p:extLst>
      <p:ext uri="{BB962C8B-B14F-4D97-AF65-F5344CB8AC3E}">
        <p14:creationId xmlns:p14="http://schemas.microsoft.com/office/powerpoint/2010/main" val="28605116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7FA81-AE6D-6266-8199-BE6A37AB3C3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AE5CA48-276E-42DE-0E9B-7B637E94E575}"/>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7EF8ED81-C39C-D7C6-DE67-9567D2A32A83}"/>
              </a:ext>
            </a:extLst>
          </p:cNvPr>
          <p:cNvSpPr/>
          <p:nvPr/>
        </p:nvSpPr>
        <p:spPr>
          <a:xfrm>
            <a:off x="154722" y="90489"/>
            <a:ext cx="9827492" cy="461665"/>
          </a:xfrm>
          <a:prstGeom prst="rect">
            <a:avLst/>
          </a:prstGeom>
        </p:spPr>
        <p:txBody>
          <a:bodyPr wrap="square">
            <a:spAutoFit/>
          </a:bodyPr>
          <a:lstStyle/>
          <a:p>
            <a:r>
              <a:rPr lang="it-IT" sz="2400" dirty="0">
                <a:solidFill>
                  <a:schemeClr val="bg1"/>
                </a:solidFill>
                <a:latin typeface="Montserrat" charset="0"/>
                <a:ea typeface="Montserrat" charset="0"/>
                <a:cs typeface="Montserrat" charset="0"/>
              </a:rPr>
              <a:t>3. Develpment and Operations Roles: </a:t>
            </a:r>
            <a:r>
              <a:rPr lang="en-US" sz="2400" b="1" dirty="0">
                <a:solidFill>
                  <a:schemeClr val="bg1"/>
                </a:solidFill>
                <a:latin typeface="Montserrat" charset="0"/>
                <a:ea typeface="Montserrat" charset="0"/>
                <a:cs typeface="Montserrat" charset="0"/>
              </a:rPr>
              <a:t>Software Engineer</a:t>
            </a:r>
          </a:p>
        </p:txBody>
      </p:sp>
      <p:sp>
        <p:nvSpPr>
          <p:cNvPr id="3" name="TextBox 2">
            <a:extLst>
              <a:ext uri="{FF2B5EF4-FFF2-40B4-BE49-F238E27FC236}">
                <a16:creationId xmlns:a16="http://schemas.microsoft.com/office/drawing/2014/main" id="{F878130C-23CB-CD25-FAD5-8F7186B8C256}"/>
              </a:ext>
            </a:extLst>
          </p:cNvPr>
          <p:cNvSpPr txBox="1"/>
          <p:nvPr/>
        </p:nvSpPr>
        <p:spPr>
          <a:xfrm>
            <a:off x="664233" y="996698"/>
            <a:ext cx="8134709" cy="3693319"/>
          </a:xfrm>
          <a:prstGeom prst="rect">
            <a:avLst/>
          </a:prstGeom>
          <a:noFill/>
        </p:spPr>
        <p:txBody>
          <a:bodyPr wrap="square">
            <a:spAutoFit/>
          </a:bodyPr>
          <a:lstStyle>
            <a:defPPr>
              <a:defRPr lang="en-US"/>
            </a:defPPr>
            <a:lvl1pPr>
              <a:defRPr b="1">
                <a:latin typeface="Montserrat" panose="00000500000000000000" pitchFamily="2" charset="0"/>
              </a:defRPr>
            </a:lvl1pPr>
            <a:lvl2pPr marL="742950" lvl="1" indent="-285750">
              <a:buFont typeface="Arial" panose="020B0604020202020204" pitchFamily="34" charset="0"/>
              <a:buChar char="•"/>
              <a:defRPr>
                <a:latin typeface="Montserrat" panose="00000500000000000000" pitchFamily="2" charset="0"/>
              </a:defRPr>
            </a:lvl2pPr>
          </a:lstStyle>
          <a:p>
            <a:pPr>
              <a:buNone/>
            </a:pPr>
            <a:r>
              <a:rPr lang="en-US" dirty="0"/>
              <a:t>Role Summary:</a:t>
            </a:r>
          </a:p>
          <a:p>
            <a:pPr marL="285750" indent="-285750">
              <a:buFont typeface="Arial" panose="020B0604020202020204" pitchFamily="34" charset="0"/>
              <a:buChar char="•"/>
            </a:pPr>
            <a:r>
              <a:rPr lang="en-US" b="0" dirty="0"/>
              <a:t>Builds applications, APIs, and tools that integrate AI models into real-world products and user experiences.</a:t>
            </a:r>
          </a:p>
          <a:p>
            <a:pPr marL="285750" indent="-285750">
              <a:buFont typeface="Arial" panose="020B0604020202020204" pitchFamily="34" charset="0"/>
              <a:buChar char="•"/>
            </a:pPr>
            <a:endParaRPr lang="en-US" b="0" dirty="0"/>
          </a:p>
          <a:p>
            <a:pPr>
              <a:buNone/>
            </a:pPr>
            <a:r>
              <a:rPr lang="en-US" dirty="0"/>
              <a:t>Key Responsibilities:</a:t>
            </a:r>
          </a:p>
          <a:p>
            <a:pPr marL="285750" indent="-285750">
              <a:buFont typeface="Arial" panose="020B0604020202020204" pitchFamily="34" charset="0"/>
              <a:buChar char="•"/>
            </a:pPr>
            <a:r>
              <a:rPr lang="en-US" b="0" dirty="0"/>
              <a:t>Develop front-end and back-end systems.</a:t>
            </a:r>
          </a:p>
          <a:p>
            <a:pPr marL="285750" indent="-285750">
              <a:buFont typeface="Arial" panose="020B0604020202020204" pitchFamily="34" charset="0"/>
              <a:buChar char="•"/>
            </a:pPr>
            <a:r>
              <a:rPr lang="en-US" b="0" dirty="0"/>
              <a:t>Connect AI models to user interfaces and data sources.</a:t>
            </a:r>
          </a:p>
          <a:p>
            <a:pPr marL="285750" indent="-285750">
              <a:buFont typeface="Arial" panose="020B0604020202020204" pitchFamily="34" charset="0"/>
              <a:buChar char="•"/>
            </a:pPr>
            <a:r>
              <a:rPr lang="en-US" b="0" dirty="0"/>
              <a:t>Ensure code quality, scalability, and testing.</a:t>
            </a:r>
          </a:p>
          <a:p>
            <a:pPr marL="285750" indent="-285750">
              <a:buFont typeface="Arial" panose="020B0604020202020204" pitchFamily="34" charset="0"/>
              <a:buChar char="•"/>
            </a:pPr>
            <a:r>
              <a:rPr lang="en-US" b="0" dirty="0"/>
              <a:t>Work closely with ML engineers and UX designers.</a:t>
            </a:r>
          </a:p>
          <a:p>
            <a:endParaRPr lang="en-US" b="0" dirty="0"/>
          </a:p>
          <a:p>
            <a:pPr marL="285750" indent="-285750">
              <a:buFont typeface="Arial" panose="020B0604020202020204" pitchFamily="34" charset="0"/>
              <a:buChar char="•"/>
            </a:pPr>
            <a:r>
              <a:rPr lang="en-US" dirty="0"/>
              <a:t>Why It’s Critical:</a:t>
            </a:r>
            <a:br>
              <a:rPr lang="en-US" b="0" dirty="0"/>
            </a:br>
            <a:r>
              <a:rPr lang="en-US" b="0" dirty="0"/>
              <a:t>Even the best AI model is useless if it’s not integrated into a product. Software engineers turn models into usable tools.</a:t>
            </a:r>
          </a:p>
        </p:txBody>
      </p:sp>
    </p:spTree>
    <p:extLst>
      <p:ext uri="{BB962C8B-B14F-4D97-AF65-F5344CB8AC3E}">
        <p14:creationId xmlns:p14="http://schemas.microsoft.com/office/powerpoint/2010/main" val="37061129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8174A-BE75-FB97-A280-5CC89D78F3B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369760C-1D65-97E5-9C19-C0B75BEC97F2}"/>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C62379A3-2C2E-AC52-791E-EF707AF4229C}"/>
              </a:ext>
            </a:extLst>
          </p:cNvPr>
          <p:cNvSpPr/>
          <p:nvPr/>
        </p:nvSpPr>
        <p:spPr>
          <a:xfrm>
            <a:off x="154722" y="90489"/>
            <a:ext cx="9827492" cy="461665"/>
          </a:xfrm>
          <a:prstGeom prst="rect">
            <a:avLst/>
          </a:prstGeom>
        </p:spPr>
        <p:txBody>
          <a:bodyPr wrap="square">
            <a:spAutoFit/>
          </a:bodyPr>
          <a:lstStyle/>
          <a:p>
            <a:r>
              <a:rPr lang="it-IT" sz="2400" dirty="0">
                <a:solidFill>
                  <a:schemeClr val="bg1"/>
                </a:solidFill>
                <a:latin typeface="Montserrat" charset="0"/>
                <a:ea typeface="Montserrat" charset="0"/>
                <a:cs typeface="Montserrat" charset="0"/>
              </a:rPr>
              <a:t>3. Develpment and Operations Roles: </a:t>
            </a:r>
            <a:r>
              <a:rPr lang="en-US" sz="2400" b="1" dirty="0">
                <a:solidFill>
                  <a:schemeClr val="bg1"/>
                </a:solidFill>
                <a:latin typeface="Montserrat" charset="0"/>
                <a:ea typeface="Montserrat" charset="0"/>
                <a:cs typeface="Montserrat" charset="0"/>
              </a:rPr>
              <a:t>Solution Architect</a:t>
            </a:r>
          </a:p>
        </p:txBody>
      </p:sp>
      <p:sp>
        <p:nvSpPr>
          <p:cNvPr id="4" name="TextBox 3">
            <a:extLst>
              <a:ext uri="{FF2B5EF4-FFF2-40B4-BE49-F238E27FC236}">
                <a16:creationId xmlns:a16="http://schemas.microsoft.com/office/drawing/2014/main" id="{9113D5AE-109F-41E1-5092-0E19003CF683}"/>
              </a:ext>
            </a:extLst>
          </p:cNvPr>
          <p:cNvSpPr txBox="1"/>
          <p:nvPr/>
        </p:nvSpPr>
        <p:spPr>
          <a:xfrm>
            <a:off x="655606" y="1107888"/>
            <a:ext cx="7953555" cy="3416320"/>
          </a:xfrm>
          <a:prstGeom prst="rect">
            <a:avLst/>
          </a:prstGeom>
          <a:noFill/>
        </p:spPr>
        <p:txBody>
          <a:bodyPr wrap="square">
            <a:spAutoFit/>
          </a:bodyPr>
          <a:lstStyle>
            <a:defPPr>
              <a:defRPr lang="en-US"/>
            </a:defPPr>
            <a:lvl1pPr>
              <a:buNone/>
              <a:defRPr b="1">
                <a:latin typeface="Montserrat" panose="00000500000000000000" pitchFamily="2" charset="0"/>
              </a:defRPr>
            </a:lvl1pPr>
            <a:lvl2pPr marL="742950" lvl="1" indent="-285750">
              <a:buFont typeface="Arial" panose="020B0604020202020204" pitchFamily="34" charset="0"/>
              <a:buChar char="•"/>
              <a:defRPr>
                <a:latin typeface="Montserrat" panose="00000500000000000000" pitchFamily="2" charset="0"/>
              </a:defRPr>
            </a:lvl2pPr>
          </a:lstStyle>
          <a:p>
            <a:r>
              <a:rPr lang="en-US" dirty="0"/>
              <a:t>Role Summary:</a:t>
            </a:r>
          </a:p>
          <a:p>
            <a:pPr marL="285750" indent="-285750">
              <a:buFont typeface="Arial" panose="020B0604020202020204" pitchFamily="34" charset="0"/>
              <a:buChar char="•"/>
            </a:pPr>
            <a:r>
              <a:rPr lang="en-US" b="0" dirty="0"/>
              <a:t>Designs the technical blueprint for how the AI system will be built, deployed, and maintained across the stack.</a:t>
            </a:r>
          </a:p>
          <a:p>
            <a:endParaRPr lang="en-US" dirty="0"/>
          </a:p>
          <a:p>
            <a:r>
              <a:rPr lang="en-US" dirty="0"/>
              <a:t>Key Responsibilities:</a:t>
            </a:r>
          </a:p>
          <a:p>
            <a:pPr marL="285750" indent="-285750">
              <a:buFont typeface="Arial" panose="020B0604020202020204" pitchFamily="34" charset="0"/>
              <a:buChar char="•"/>
            </a:pPr>
            <a:r>
              <a:rPr lang="en-US" b="0" dirty="0"/>
              <a:t>Define system architecture (data flow, storage, model interfaces).</a:t>
            </a:r>
          </a:p>
          <a:p>
            <a:pPr marL="285750" indent="-285750">
              <a:buFont typeface="Arial" panose="020B0604020202020204" pitchFamily="34" charset="0"/>
              <a:buChar char="•"/>
            </a:pPr>
            <a:r>
              <a:rPr lang="en-US" b="0" dirty="0"/>
              <a:t>Choose the right tools, platforms, and design patterns.</a:t>
            </a:r>
          </a:p>
          <a:p>
            <a:pPr marL="285750" indent="-285750">
              <a:buFont typeface="Arial" panose="020B0604020202020204" pitchFamily="34" charset="0"/>
              <a:buChar char="•"/>
            </a:pPr>
            <a:r>
              <a:rPr lang="en-US" b="0" dirty="0"/>
              <a:t>Ensure scalability, security, and interoperability.</a:t>
            </a:r>
          </a:p>
          <a:p>
            <a:endParaRPr lang="en-US" dirty="0"/>
          </a:p>
          <a:p>
            <a:r>
              <a:rPr lang="en-US" dirty="0"/>
              <a:t>Why It’s Critical:</a:t>
            </a:r>
          </a:p>
          <a:p>
            <a:pPr marL="285750" indent="-285750">
              <a:buFont typeface="Arial" panose="020B0604020202020204" pitchFamily="34" charset="0"/>
              <a:buChar char="•"/>
            </a:pPr>
            <a:r>
              <a:rPr lang="en-US" b="0" dirty="0"/>
              <a:t>Poor architecture means slow systems, high costs, and rework. A good architect sets the foundation for success.</a:t>
            </a:r>
          </a:p>
        </p:txBody>
      </p:sp>
    </p:spTree>
    <p:extLst>
      <p:ext uri="{BB962C8B-B14F-4D97-AF65-F5344CB8AC3E}">
        <p14:creationId xmlns:p14="http://schemas.microsoft.com/office/powerpoint/2010/main" val="19682773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4AAF4-1671-B622-BC24-0A22B7B4D0F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A1CBD66-A750-20BC-16A8-8F14428DE075}"/>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CE903D4C-6CDB-FAF9-C2E9-B7DFA5D000C2}"/>
              </a:ext>
            </a:extLst>
          </p:cNvPr>
          <p:cNvSpPr/>
          <p:nvPr/>
        </p:nvSpPr>
        <p:spPr>
          <a:xfrm>
            <a:off x="154722" y="90489"/>
            <a:ext cx="9827492" cy="461665"/>
          </a:xfrm>
          <a:prstGeom prst="rect">
            <a:avLst/>
          </a:prstGeom>
        </p:spPr>
        <p:txBody>
          <a:bodyPr wrap="square">
            <a:spAutoFit/>
          </a:bodyPr>
          <a:lstStyle/>
          <a:p>
            <a:r>
              <a:rPr lang="it-IT" sz="2400" dirty="0">
                <a:solidFill>
                  <a:schemeClr val="bg1"/>
                </a:solidFill>
                <a:latin typeface="Montserrat" charset="0"/>
                <a:ea typeface="Montserrat" charset="0"/>
                <a:cs typeface="Montserrat" charset="0"/>
              </a:rPr>
              <a:t>3. Develpment and Operations Roles: </a:t>
            </a:r>
            <a:r>
              <a:rPr lang="en-US" sz="2400" b="1" dirty="0" err="1">
                <a:solidFill>
                  <a:schemeClr val="bg1"/>
                </a:solidFill>
                <a:latin typeface="Montserrat" charset="0"/>
                <a:ea typeface="Montserrat" charset="0"/>
                <a:cs typeface="Montserrat" charset="0"/>
              </a:rPr>
              <a:t>MLOps</a:t>
            </a:r>
            <a:r>
              <a:rPr lang="en-US" sz="2400" b="1" dirty="0">
                <a:solidFill>
                  <a:schemeClr val="bg1"/>
                </a:solidFill>
                <a:latin typeface="Montserrat" charset="0"/>
                <a:ea typeface="Montserrat" charset="0"/>
                <a:cs typeface="Montserrat" charset="0"/>
              </a:rPr>
              <a:t> Architect</a:t>
            </a:r>
          </a:p>
        </p:txBody>
      </p:sp>
      <p:sp>
        <p:nvSpPr>
          <p:cNvPr id="4" name="TextBox 3">
            <a:extLst>
              <a:ext uri="{FF2B5EF4-FFF2-40B4-BE49-F238E27FC236}">
                <a16:creationId xmlns:a16="http://schemas.microsoft.com/office/drawing/2014/main" id="{6D9FFA96-04B9-BBC8-2707-659F729F3964}"/>
              </a:ext>
            </a:extLst>
          </p:cNvPr>
          <p:cNvSpPr txBox="1"/>
          <p:nvPr/>
        </p:nvSpPr>
        <p:spPr>
          <a:xfrm>
            <a:off x="395256" y="987238"/>
            <a:ext cx="8341745" cy="4247317"/>
          </a:xfrm>
          <a:prstGeom prst="rect">
            <a:avLst/>
          </a:prstGeom>
          <a:noFill/>
        </p:spPr>
        <p:txBody>
          <a:bodyPr wrap="square">
            <a:spAutoFit/>
          </a:bodyPr>
          <a:lstStyle>
            <a:defPPr>
              <a:defRPr lang="en-US"/>
            </a:defPPr>
            <a:lvl1pPr>
              <a:buNone/>
              <a:defRPr b="1">
                <a:latin typeface="Montserrat" panose="00000500000000000000" pitchFamily="2" charset="0"/>
              </a:defRPr>
            </a:lvl1pPr>
            <a:lvl2pPr marL="742950" lvl="1" indent="-285750">
              <a:buFont typeface="Arial" panose="020B0604020202020204" pitchFamily="34" charset="0"/>
              <a:buChar char="•"/>
              <a:defRPr>
                <a:latin typeface="Montserrat" panose="00000500000000000000" pitchFamily="2" charset="0"/>
              </a:defRPr>
            </a:lvl2pPr>
          </a:lstStyle>
          <a:p>
            <a:r>
              <a:rPr lang="en-US" b="1" dirty="0"/>
              <a:t>Role Summary:</a:t>
            </a:r>
          </a:p>
          <a:p>
            <a:pPr marL="285750" indent="-285750">
              <a:buFont typeface="Arial" panose="020B0604020202020204" pitchFamily="34" charset="0"/>
              <a:buChar char="•"/>
            </a:pPr>
            <a:r>
              <a:rPr lang="en-US" b="0" dirty="0" err="1"/>
              <a:t>MLOps</a:t>
            </a:r>
            <a:r>
              <a:rPr lang="en-US" b="0" dirty="0"/>
              <a:t> engineers ensure that AI models don’t just live in notebooks; they make sure models are deployed, monitored, and continuously updated in production.</a:t>
            </a:r>
          </a:p>
          <a:p>
            <a:pPr>
              <a:buNone/>
            </a:pPr>
            <a:endParaRPr lang="en-US" dirty="0"/>
          </a:p>
          <a:p>
            <a:pPr>
              <a:buNone/>
            </a:pPr>
            <a:r>
              <a:rPr lang="en-US" b="1" dirty="0"/>
              <a:t>Key Responsibilities:</a:t>
            </a:r>
            <a:endParaRPr lang="en-US" dirty="0"/>
          </a:p>
          <a:p>
            <a:pPr marL="285750" indent="-285750">
              <a:buFont typeface="Arial" panose="020B0604020202020204" pitchFamily="34" charset="0"/>
              <a:buChar char="•"/>
            </a:pPr>
            <a:r>
              <a:rPr lang="en-US" b="0" dirty="0"/>
              <a:t>Automate model deployment (CI/CD pipelines).</a:t>
            </a:r>
          </a:p>
          <a:p>
            <a:pPr marL="285750" indent="-285750">
              <a:buFont typeface="Arial" panose="020B0604020202020204" pitchFamily="34" charset="0"/>
              <a:buChar char="•"/>
            </a:pPr>
            <a:r>
              <a:rPr lang="en-US" b="0" dirty="0"/>
              <a:t>Monitor model performance (accuracy, latency, drift).</a:t>
            </a:r>
          </a:p>
          <a:p>
            <a:pPr marL="285750" indent="-285750">
              <a:buFont typeface="Arial" panose="020B0604020202020204" pitchFamily="34" charset="0"/>
              <a:buChar char="•"/>
            </a:pPr>
            <a:r>
              <a:rPr lang="en-US" b="0" dirty="0"/>
              <a:t>Manage model versioning and rollback strategies.</a:t>
            </a:r>
          </a:p>
          <a:p>
            <a:pPr marL="285750" indent="-285750">
              <a:buFont typeface="Arial" panose="020B0604020202020204" pitchFamily="34" charset="0"/>
              <a:buChar char="•"/>
            </a:pPr>
            <a:r>
              <a:rPr lang="en-US" b="0" dirty="0"/>
              <a:t>Collaborate with data scientists and IT teams.</a:t>
            </a:r>
          </a:p>
          <a:p>
            <a:pPr>
              <a:buFont typeface="Arial" panose="020B0604020202020204" pitchFamily="34" charset="0"/>
              <a:buChar char="•"/>
            </a:pPr>
            <a:endParaRPr lang="en-US" dirty="0"/>
          </a:p>
          <a:p>
            <a:r>
              <a:rPr lang="en-US" b="1" dirty="0"/>
              <a:t>Why It’s Critical:</a:t>
            </a:r>
          </a:p>
          <a:p>
            <a:pPr marL="285750" indent="-285750">
              <a:buFont typeface="Arial" panose="020B0604020202020204" pitchFamily="34" charset="0"/>
              <a:buChar char="•"/>
            </a:pPr>
            <a:r>
              <a:rPr lang="en-US" b="0" dirty="0"/>
              <a:t>AI is not just about building models; it’s about running them reliably in the real world. </a:t>
            </a:r>
            <a:r>
              <a:rPr lang="en-US" b="0" dirty="0" err="1"/>
              <a:t>MLOps</a:t>
            </a:r>
            <a:r>
              <a:rPr lang="en-US" b="0" dirty="0"/>
              <a:t> ensures smooth, scalable operations.</a:t>
            </a:r>
          </a:p>
          <a:p>
            <a:endParaRPr lang="en-US" b="0" dirty="0"/>
          </a:p>
        </p:txBody>
      </p:sp>
    </p:spTree>
    <p:extLst>
      <p:ext uri="{BB962C8B-B14F-4D97-AF65-F5344CB8AC3E}">
        <p14:creationId xmlns:p14="http://schemas.microsoft.com/office/powerpoint/2010/main" val="11459164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670F5-D764-3FE1-06D5-56AB76099AB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83BD812-6046-1EF0-DB76-EAA92F1CC6C6}"/>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13C0C8A1-251C-0361-5BD5-2109E3D6C482}"/>
              </a:ext>
            </a:extLst>
          </p:cNvPr>
          <p:cNvSpPr/>
          <p:nvPr/>
        </p:nvSpPr>
        <p:spPr>
          <a:xfrm>
            <a:off x="154722" y="90489"/>
            <a:ext cx="9827492" cy="461665"/>
          </a:xfrm>
          <a:prstGeom prst="rect">
            <a:avLst/>
          </a:prstGeom>
        </p:spPr>
        <p:txBody>
          <a:bodyPr wrap="square">
            <a:spAutoFit/>
          </a:bodyPr>
          <a:lstStyle/>
          <a:p>
            <a:r>
              <a:rPr lang="it-IT" sz="2400" dirty="0">
                <a:solidFill>
                  <a:schemeClr val="bg1"/>
                </a:solidFill>
                <a:latin typeface="Montserrat" charset="0"/>
                <a:ea typeface="Montserrat" charset="0"/>
                <a:cs typeface="Montserrat" charset="0"/>
              </a:rPr>
              <a:t>4. Data Engineering Roles: </a:t>
            </a:r>
            <a:r>
              <a:rPr lang="en-US" sz="2400" b="1" dirty="0">
                <a:solidFill>
                  <a:schemeClr val="bg1"/>
                </a:solidFill>
                <a:latin typeface="Montserrat" charset="0"/>
                <a:ea typeface="Montserrat" charset="0"/>
                <a:cs typeface="Montserrat" charset="0"/>
              </a:rPr>
              <a:t>Data Engineer</a:t>
            </a:r>
          </a:p>
        </p:txBody>
      </p:sp>
      <p:sp>
        <p:nvSpPr>
          <p:cNvPr id="4" name="TextBox 3">
            <a:extLst>
              <a:ext uri="{FF2B5EF4-FFF2-40B4-BE49-F238E27FC236}">
                <a16:creationId xmlns:a16="http://schemas.microsoft.com/office/drawing/2014/main" id="{8CFC0E1D-68C3-5A77-6FD7-3ED4868F7EBA}"/>
              </a:ext>
            </a:extLst>
          </p:cNvPr>
          <p:cNvSpPr txBox="1"/>
          <p:nvPr/>
        </p:nvSpPr>
        <p:spPr>
          <a:xfrm>
            <a:off x="655606" y="1107888"/>
            <a:ext cx="7588863" cy="4247317"/>
          </a:xfrm>
          <a:prstGeom prst="rect">
            <a:avLst/>
          </a:prstGeom>
          <a:noFill/>
        </p:spPr>
        <p:txBody>
          <a:bodyPr wrap="square">
            <a:spAutoFit/>
          </a:bodyPr>
          <a:lstStyle>
            <a:defPPr>
              <a:defRPr lang="en-US"/>
            </a:defPPr>
            <a:lvl1pPr>
              <a:buNone/>
              <a:defRPr b="1">
                <a:latin typeface="Montserrat" panose="00000500000000000000" pitchFamily="2" charset="0"/>
              </a:defRPr>
            </a:lvl1pPr>
            <a:lvl2pPr marL="742950" lvl="1" indent="-285750">
              <a:buFont typeface="Arial" panose="020B0604020202020204" pitchFamily="34" charset="0"/>
              <a:buChar char="•"/>
              <a:defRPr>
                <a:latin typeface="Montserrat" panose="00000500000000000000" pitchFamily="2" charset="0"/>
              </a:defRPr>
            </a:lvl2pPr>
          </a:lstStyle>
          <a:p>
            <a:r>
              <a:rPr lang="en-US" b="1" dirty="0"/>
              <a:t>Role Summary:</a:t>
            </a:r>
          </a:p>
          <a:p>
            <a:pPr marL="285750" indent="-285750">
              <a:buFont typeface="Arial" panose="020B0604020202020204" pitchFamily="34" charset="0"/>
              <a:buChar char="•"/>
            </a:pPr>
            <a:r>
              <a:rPr lang="en-US" b="0" dirty="0"/>
              <a:t>Builds and maintains the data pipelines that feed machine learning models and dashboards.</a:t>
            </a:r>
          </a:p>
          <a:p>
            <a:pPr>
              <a:buNone/>
            </a:pPr>
            <a:endParaRPr lang="en-US" dirty="0"/>
          </a:p>
          <a:p>
            <a:pPr>
              <a:buNone/>
            </a:pPr>
            <a:r>
              <a:rPr lang="en-US" b="1" dirty="0"/>
              <a:t>Key Responsibilities:</a:t>
            </a:r>
            <a:endParaRPr lang="en-US" dirty="0"/>
          </a:p>
          <a:p>
            <a:pPr marL="285750" indent="-285750">
              <a:buFont typeface="Arial" panose="020B0604020202020204" pitchFamily="34" charset="0"/>
              <a:buChar char="•"/>
            </a:pPr>
            <a:r>
              <a:rPr lang="en-US" b="0" dirty="0"/>
              <a:t>Design and implement ETL/ELT pipelines.</a:t>
            </a:r>
          </a:p>
          <a:p>
            <a:pPr marL="285750" indent="-285750">
              <a:buFont typeface="Arial" panose="020B0604020202020204" pitchFamily="34" charset="0"/>
              <a:buChar char="•"/>
            </a:pPr>
            <a:r>
              <a:rPr lang="en-US" b="0" dirty="0"/>
              <a:t>Clean, transform, and structure raw data.</a:t>
            </a:r>
          </a:p>
          <a:p>
            <a:pPr marL="285750" indent="-285750">
              <a:buFont typeface="Arial" panose="020B0604020202020204" pitchFamily="34" charset="0"/>
              <a:buChar char="•"/>
            </a:pPr>
            <a:r>
              <a:rPr lang="en-US" b="0" dirty="0"/>
              <a:t>Connect and integrate various data sources (APIs, databases, files).</a:t>
            </a:r>
          </a:p>
          <a:p>
            <a:pPr marL="285750" indent="-285750">
              <a:buFont typeface="Arial" panose="020B0604020202020204" pitchFamily="34" charset="0"/>
              <a:buChar char="•"/>
            </a:pPr>
            <a:r>
              <a:rPr lang="en-US" b="0" dirty="0"/>
              <a:t>Collaborate with data scientists to provide model-ready data.</a:t>
            </a:r>
          </a:p>
          <a:p>
            <a:pPr>
              <a:buFont typeface="Arial" panose="020B0604020202020204" pitchFamily="34" charset="0"/>
              <a:buChar char="•"/>
            </a:pPr>
            <a:endParaRPr lang="en-US" b="0" dirty="0"/>
          </a:p>
          <a:p>
            <a:r>
              <a:rPr lang="en-US" b="1" dirty="0"/>
              <a:t>Why It’s Critical:</a:t>
            </a:r>
          </a:p>
          <a:p>
            <a:pPr marL="285750" indent="-285750">
              <a:buFont typeface="Arial" panose="020B0604020202020204" pitchFamily="34" charset="0"/>
              <a:buChar char="•"/>
            </a:pPr>
            <a:r>
              <a:rPr lang="en-US" b="0" dirty="0"/>
              <a:t>No data = no AI. Data engineers are the backbone of the AI workflow, ensuring that clean, reliable data is always available.</a:t>
            </a:r>
          </a:p>
          <a:p>
            <a:endParaRPr lang="en-US" b="0" dirty="0"/>
          </a:p>
        </p:txBody>
      </p:sp>
      <p:pic>
        <p:nvPicPr>
          <p:cNvPr id="3" name="Picture 2">
            <a:extLst>
              <a:ext uri="{FF2B5EF4-FFF2-40B4-BE49-F238E27FC236}">
                <a16:creationId xmlns:a16="http://schemas.microsoft.com/office/drawing/2014/main" id="{7AFBD2BD-EBE4-80CA-5D09-65F614B7136D}"/>
              </a:ext>
            </a:extLst>
          </p:cNvPr>
          <p:cNvPicPr>
            <a:picLocks noChangeAspect="1"/>
          </p:cNvPicPr>
          <p:nvPr/>
        </p:nvPicPr>
        <p:blipFill>
          <a:blip r:embed="rId3"/>
          <a:stretch>
            <a:fillRect/>
          </a:stretch>
        </p:blipFill>
        <p:spPr>
          <a:xfrm>
            <a:off x="8594293" y="978890"/>
            <a:ext cx="3291925" cy="4228313"/>
          </a:xfrm>
          <a:prstGeom prst="rect">
            <a:avLst/>
          </a:prstGeom>
        </p:spPr>
      </p:pic>
      <p:sp>
        <p:nvSpPr>
          <p:cNvPr id="10" name="TextBox 9">
            <a:extLst>
              <a:ext uri="{FF2B5EF4-FFF2-40B4-BE49-F238E27FC236}">
                <a16:creationId xmlns:a16="http://schemas.microsoft.com/office/drawing/2014/main" id="{E4D9704F-B6CB-4B83-BC17-9350D5CC5593}"/>
              </a:ext>
            </a:extLst>
          </p:cNvPr>
          <p:cNvSpPr txBox="1"/>
          <p:nvPr/>
        </p:nvSpPr>
        <p:spPr>
          <a:xfrm>
            <a:off x="984250" y="5552146"/>
            <a:ext cx="6121400" cy="577081"/>
          </a:xfrm>
          <a:prstGeom prst="rect">
            <a:avLst/>
          </a:prstGeom>
          <a:noFill/>
        </p:spPr>
        <p:txBody>
          <a:bodyPr wrap="square">
            <a:spAutoFit/>
          </a:bodyPr>
          <a:lstStyle/>
          <a:p>
            <a:r>
              <a:rPr lang="en-CA" sz="1050" dirty="0">
                <a:hlinkClick r:id="rId4"/>
              </a:rPr>
              <a:t>https://www.indeed.com/jobs?q=data+engineer&amp;l=&amp;from=searchOnDesktopSerp&amp;vjk=c6e68d6152bab6fb&amp;advn=7114382197951501</a:t>
            </a:r>
            <a:endParaRPr lang="en-CA" sz="1050" dirty="0"/>
          </a:p>
          <a:p>
            <a:endParaRPr lang="en-CA" sz="1050" dirty="0"/>
          </a:p>
        </p:txBody>
      </p:sp>
    </p:spTree>
    <p:extLst>
      <p:ext uri="{BB962C8B-B14F-4D97-AF65-F5344CB8AC3E}">
        <p14:creationId xmlns:p14="http://schemas.microsoft.com/office/powerpoint/2010/main" val="14053641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08377-1F7A-19AA-4685-2872F8E17F7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3CB80EB-71B4-CA4E-2ACA-C13DA04F2F79}"/>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DC66A74D-AC0B-574A-A490-87168FB3BB6B}"/>
              </a:ext>
            </a:extLst>
          </p:cNvPr>
          <p:cNvSpPr/>
          <p:nvPr/>
        </p:nvSpPr>
        <p:spPr>
          <a:xfrm>
            <a:off x="154722" y="90489"/>
            <a:ext cx="9827492" cy="461665"/>
          </a:xfrm>
          <a:prstGeom prst="rect">
            <a:avLst/>
          </a:prstGeom>
        </p:spPr>
        <p:txBody>
          <a:bodyPr wrap="square">
            <a:spAutoFit/>
          </a:bodyPr>
          <a:lstStyle/>
          <a:p>
            <a:r>
              <a:rPr lang="it-IT" sz="2400" dirty="0">
                <a:solidFill>
                  <a:schemeClr val="bg1"/>
                </a:solidFill>
                <a:latin typeface="Montserrat" charset="0"/>
                <a:ea typeface="Montserrat" charset="0"/>
                <a:cs typeface="Montserrat" charset="0"/>
              </a:rPr>
              <a:t>4. Data Engineering Roles: </a:t>
            </a:r>
            <a:r>
              <a:rPr lang="en-US" sz="2400" b="1" dirty="0">
                <a:solidFill>
                  <a:schemeClr val="bg1"/>
                </a:solidFill>
                <a:latin typeface="Montserrat" charset="0"/>
                <a:ea typeface="Montserrat" charset="0"/>
                <a:cs typeface="Montserrat" charset="0"/>
              </a:rPr>
              <a:t>Data Architect</a:t>
            </a:r>
          </a:p>
        </p:txBody>
      </p:sp>
      <p:sp>
        <p:nvSpPr>
          <p:cNvPr id="4" name="TextBox 3">
            <a:extLst>
              <a:ext uri="{FF2B5EF4-FFF2-40B4-BE49-F238E27FC236}">
                <a16:creationId xmlns:a16="http://schemas.microsoft.com/office/drawing/2014/main" id="{E3F52AB4-500D-EBF6-5138-718DA4438C70}"/>
              </a:ext>
            </a:extLst>
          </p:cNvPr>
          <p:cNvSpPr txBox="1"/>
          <p:nvPr/>
        </p:nvSpPr>
        <p:spPr>
          <a:xfrm>
            <a:off x="655606" y="1107888"/>
            <a:ext cx="8859330" cy="3970318"/>
          </a:xfrm>
          <a:prstGeom prst="rect">
            <a:avLst/>
          </a:prstGeom>
          <a:noFill/>
        </p:spPr>
        <p:txBody>
          <a:bodyPr wrap="square">
            <a:spAutoFit/>
          </a:bodyPr>
          <a:lstStyle>
            <a:defPPr>
              <a:defRPr lang="en-US"/>
            </a:defPPr>
            <a:lvl1pPr>
              <a:buNone/>
              <a:defRPr b="1">
                <a:latin typeface="Montserrat" panose="00000500000000000000" pitchFamily="2" charset="0"/>
              </a:defRPr>
            </a:lvl1pPr>
            <a:lvl2pPr marL="742950" lvl="1" indent="-285750">
              <a:buFont typeface="Arial" panose="020B0604020202020204" pitchFamily="34" charset="0"/>
              <a:buChar char="•"/>
              <a:defRPr>
                <a:latin typeface="Montserrat" panose="00000500000000000000" pitchFamily="2" charset="0"/>
              </a:defRPr>
            </a:lvl2pPr>
          </a:lstStyle>
          <a:p>
            <a:r>
              <a:rPr lang="en-US" b="1" dirty="0"/>
              <a:t>Role Summary:</a:t>
            </a:r>
          </a:p>
          <a:p>
            <a:pPr marL="285750" indent="-285750">
              <a:buFont typeface="Arial" panose="020B0604020202020204" pitchFamily="34" charset="0"/>
              <a:buChar char="•"/>
            </a:pPr>
            <a:r>
              <a:rPr lang="en-US" b="0" dirty="0"/>
              <a:t>Designs the overall data infrastructure and flow; ensuring that data is scalable, secure, and efficient to access.</a:t>
            </a:r>
          </a:p>
          <a:p>
            <a:pPr>
              <a:buNone/>
            </a:pPr>
            <a:endParaRPr lang="en-US" dirty="0"/>
          </a:p>
          <a:p>
            <a:pPr>
              <a:buNone/>
            </a:pPr>
            <a:r>
              <a:rPr lang="en-US" b="1" dirty="0"/>
              <a:t>Key Responsibilities:</a:t>
            </a:r>
            <a:endParaRPr lang="en-US" dirty="0"/>
          </a:p>
          <a:p>
            <a:pPr marL="285750" indent="-285750">
              <a:buFont typeface="Arial" panose="020B0604020202020204" pitchFamily="34" charset="0"/>
              <a:buChar char="•"/>
            </a:pPr>
            <a:r>
              <a:rPr lang="en-US" b="0" dirty="0"/>
              <a:t>Define data models, schemas, and architecture (e.g., lake vs warehouse).</a:t>
            </a:r>
          </a:p>
          <a:p>
            <a:pPr marL="285750" indent="-285750">
              <a:buFont typeface="Arial" panose="020B0604020202020204" pitchFamily="34" charset="0"/>
              <a:buChar char="•"/>
            </a:pPr>
            <a:r>
              <a:rPr lang="en-US" b="0" dirty="0"/>
              <a:t>Choose the right tools and platforms (Snowflake, </a:t>
            </a:r>
            <a:r>
              <a:rPr lang="en-US" b="0" dirty="0" err="1"/>
              <a:t>BigQuery</a:t>
            </a:r>
            <a:r>
              <a:rPr lang="en-US" b="0" dirty="0"/>
              <a:t>, etc.).</a:t>
            </a:r>
          </a:p>
          <a:p>
            <a:pPr marL="285750" indent="-285750">
              <a:buFont typeface="Arial" panose="020B0604020202020204" pitchFamily="34" charset="0"/>
              <a:buChar char="•"/>
            </a:pPr>
            <a:r>
              <a:rPr lang="en-US" b="0" dirty="0"/>
              <a:t>Ensure data storage is scalable and cost-effective.</a:t>
            </a:r>
          </a:p>
          <a:p>
            <a:pPr marL="285750" indent="-285750">
              <a:buFont typeface="Arial" panose="020B0604020202020204" pitchFamily="34" charset="0"/>
              <a:buChar char="•"/>
            </a:pPr>
            <a:r>
              <a:rPr lang="en-US" b="0" dirty="0"/>
              <a:t>Set best practices for data access, retention, and governance.</a:t>
            </a:r>
          </a:p>
          <a:p>
            <a:pPr>
              <a:buFont typeface="Arial" panose="020B0604020202020204" pitchFamily="34" charset="0"/>
              <a:buChar char="•"/>
            </a:pPr>
            <a:endParaRPr lang="en-US" dirty="0"/>
          </a:p>
          <a:p>
            <a:r>
              <a:rPr lang="en-US" b="1" dirty="0"/>
              <a:t>Why It’s Critical:</a:t>
            </a:r>
          </a:p>
          <a:p>
            <a:pPr marL="285750" indent="-285750">
              <a:buFont typeface="Arial" panose="020B0604020202020204" pitchFamily="34" charset="0"/>
              <a:buChar char="•"/>
            </a:pPr>
            <a:r>
              <a:rPr lang="en-US" b="0" dirty="0"/>
              <a:t>Without a sound structure, data becomes siloed, slow, or expensive to manage. The architect sets the foundation for all data-driven work.</a:t>
            </a:r>
          </a:p>
          <a:p>
            <a:endParaRPr lang="en-US" b="0" dirty="0"/>
          </a:p>
        </p:txBody>
      </p:sp>
    </p:spTree>
    <p:extLst>
      <p:ext uri="{BB962C8B-B14F-4D97-AF65-F5344CB8AC3E}">
        <p14:creationId xmlns:p14="http://schemas.microsoft.com/office/powerpoint/2010/main" val="14684025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19CF8-9DE9-D7D7-B5DA-E9ADA718FE5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6078F69-EEC8-9B1B-EB74-51CD00A3D482}"/>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052AD91-63F3-62CF-79F5-168F0305FB63}"/>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EDDDADBA-5A07-39C0-17D7-A5AC9CA7F7B7}"/>
              </a:ext>
            </a:extLst>
          </p:cNvPr>
          <p:cNvSpPr/>
          <p:nvPr/>
        </p:nvSpPr>
        <p:spPr>
          <a:xfrm>
            <a:off x="293914" y="793804"/>
            <a:ext cx="5578566"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PRACTICE OPPORTUNITY</a:t>
            </a:r>
          </a:p>
        </p:txBody>
      </p:sp>
      <p:pic>
        <p:nvPicPr>
          <p:cNvPr id="5" name="Picture 4">
            <a:extLst>
              <a:ext uri="{FF2B5EF4-FFF2-40B4-BE49-F238E27FC236}">
                <a16:creationId xmlns:a16="http://schemas.microsoft.com/office/drawing/2014/main" id="{B8167307-3708-D5A3-9741-D442AE707D52}"/>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1228064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AA9F9-2D08-E2DB-7E53-92745888970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DAB111C-D876-A1D7-1F58-6A106EEE8038}"/>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F7FBEAB5-9636-76B1-13DE-0D824855E7E7}"/>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A6C92DE2-718C-A8A0-6823-BC2C1493E89D}"/>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a:t>
            </a:r>
          </a:p>
        </p:txBody>
      </p:sp>
      <p:pic>
        <p:nvPicPr>
          <p:cNvPr id="3" name="Picture 2">
            <a:extLst>
              <a:ext uri="{FF2B5EF4-FFF2-40B4-BE49-F238E27FC236}">
                <a16:creationId xmlns:a16="http://schemas.microsoft.com/office/drawing/2014/main" id="{3341CEC6-2ED2-BF31-B3FB-8CEA6A9D9B8C}"/>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8851972" y="2192017"/>
            <a:ext cx="3206725" cy="2537445"/>
          </a:xfrm>
          <a:prstGeom prst="rect">
            <a:avLst/>
          </a:prstGeom>
        </p:spPr>
      </p:pic>
      <p:sp>
        <p:nvSpPr>
          <p:cNvPr id="12" name="TextBox 11">
            <a:extLst>
              <a:ext uri="{FF2B5EF4-FFF2-40B4-BE49-F238E27FC236}">
                <a16:creationId xmlns:a16="http://schemas.microsoft.com/office/drawing/2014/main" id="{643B7CFA-3533-B37E-0C89-33C8BFBB251E}"/>
              </a:ext>
            </a:extLst>
          </p:cNvPr>
          <p:cNvSpPr txBox="1"/>
          <p:nvPr/>
        </p:nvSpPr>
        <p:spPr>
          <a:xfrm>
            <a:off x="103504" y="785671"/>
            <a:ext cx="11682412" cy="1873718"/>
          </a:xfrm>
          <a:prstGeom prst="rect">
            <a:avLst/>
          </a:prstGeom>
          <a:noFill/>
        </p:spPr>
        <p:txBody>
          <a:bodyPr wrap="square">
            <a:spAutoFit/>
          </a:bodyPr>
          <a:lstStyle/>
          <a:p>
            <a:pPr marL="285750" indent="-285750">
              <a:lnSpc>
                <a:spcPct val="115000"/>
              </a:lnSpc>
              <a:spcAft>
                <a:spcPts val="800"/>
              </a:spcAft>
              <a:buFont typeface="Arial" panose="020B0604020202020204" pitchFamily="34" charset="0"/>
              <a:buChar char="•"/>
            </a:pPr>
            <a:r>
              <a:rPr lang="en-US" sz="1600" kern="100" dirty="0">
                <a:effectLst/>
                <a:latin typeface="Montserrat" panose="00000500000000000000" pitchFamily="2" charset="0"/>
                <a:ea typeface="Aptos" panose="020B0004020202020204" pitchFamily="34" charset="0"/>
                <a:cs typeface="Times New Roman" panose="02020603050405020304" pitchFamily="18" charset="0"/>
              </a:rPr>
              <a:t>Your company is launching an AI-powered customer support chatbot to reduce wait times and improve customer satisfaction. The chatbot should be able to understand customer inquiries, provide instant answers, and escalate to a human agent when needed. You are part of the project team, and your first task is to map responsibilities to the right stakeholders based on the roles in AI projects.</a:t>
            </a:r>
          </a:p>
          <a:p>
            <a:pPr marL="285750" indent="-285750">
              <a:lnSpc>
                <a:spcPct val="115000"/>
              </a:lnSpc>
              <a:spcAft>
                <a:spcPts val="800"/>
              </a:spcAft>
              <a:buFont typeface="Arial" panose="020B0604020202020204" pitchFamily="34" charset="0"/>
              <a:buChar char="•"/>
            </a:pPr>
            <a:r>
              <a:rPr lang="en-US" sz="1600" kern="100" dirty="0">
                <a:effectLst/>
                <a:latin typeface="Montserrat" panose="00000500000000000000" pitchFamily="2" charset="0"/>
                <a:ea typeface="Aptos" panose="020B0004020202020204" pitchFamily="34" charset="0"/>
                <a:cs typeface="Times New Roman" panose="02020603050405020304" pitchFamily="18" charset="0"/>
              </a:rPr>
              <a:t>Below is a list of tasks involved in the project. Assign one appropriate role (from the summary table) to each task based on its key responsibilities.</a:t>
            </a:r>
            <a:endParaRPr lang="en-CA" sz="1600" kern="100" dirty="0">
              <a:effectLst/>
              <a:latin typeface="Montserrat" panose="00000500000000000000" pitchFamily="2" charset="0"/>
              <a:ea typeface="Aptos" panose="020B0004020202020204" pitchFamily="34"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5B4B0590-CB39-0009-6909-F92990D7906A}"/>
              </a:ext>
            </a:extLst>
          </p:cNvPr>
          <p:cNvGraphicFramePr>
            <a:graphicFrameLocks noGrp="1"/>
          </p:cNvGraphicFramePr>
          <p:nvPr>
            <p:extLst>
              <p:ext uri="{D42A27DB-BD31-4B8C-83A1-F6EECF244321}">
                <p14:modId xmlns:p14="http://schemas.microsoft.com/office/powerpoint/2010/main" val="590147475"/>
              </p:ext>
            </p:extLst>
          </p:nvPr>
        </p:nvGraphicFramePr>
        <p:xfrm>
          <a:off x="567870" y="2867216"/>
          <a:ext cx="8232350" cy="2821228"/>
        </p:xfrm>
        <a:graphic>
          <a:graphicData uri="http://schemas.openxmlformats.org/drawingml/2006/table">
            <a:tbl>
              <a:tblPr>
                <a:tableStyleId>{3B4B98B0-60AC-42C2-AFA5-B58CD77FA1E5}</a:tableStyleId>
              </a:tblPr>
              <a:tblGrid>
                <a:gridCol w="5494524">
                  <a:extLst>
                    <a:ext uri="{9D8B030D-6E8A-4147-A177-3AD203B41FA5}">
                      <a16:colId xmlns:a16="http://schemas.microsoft.com/office/drawing/2014/main" val="3897746257"/>
                    </a:ext>
                  </a:extLst>
                </a:gridCol>
                <a:gridCol w="2737826">
                  <a:extLst>
                    <a:ext uri="{9D8B030D-6E8A-4147-A177-3AD203B41FA5}">
                      <a16:colId xmlns:a16="http://schemas.microsoft.com/office/drawing/2014/main" val="3351017588"/>
                    </a:ext>
                  </a:extLst>
                </a:gridCol>
              </a:tblGrid>
              <a:tr h="181672">
                <a:tc>
                  <a:txBody>
                    <a:bodyPr/>
                    <a:lstStyle/>
                    <a:p>
                      <a:pPr algn="ctr"/>
                      <a:r>
                        <a:rPr lang="en-CA" sz="1200" b="1" dirty="0">
                          <a:latin typeface="Montserrat" panose="00000500000000000000" pitchFamily="2" charset="0"/>
                        </a:rPr>
                        <a:t>Task</a:t>
                      </a:r>
                    </a:p>
                  </a:txBody>
                  <a:tcPr marL="63990" marR="63990" marT="31995" marB="31995" anchor="ctr"/>
                </a:tc>
                <a:tc>
                  <a:txBody>
                    <a:bodyPr/>
                    <a:lstStyle/>
                    <a:p>
                      <a:pPr algn="ctr"/>
                      <a:r>
                        <a:rPr lang="en-US" sz="1200" b="1" dirty="0">
                          <a:latin typeface="Montserrat" panose="00000500000000000000" pitchFamily="2" charset="0"/>
                        </a:rPr>
                        <a:t>Assigned Role (Student to fill in)</a:t>
                      </a:r>
                    </a:p>
                  </a:txBody>
                  <a:tcPr marL="63990" marR="63990" marT="31995" marB="31995" anchor="ctr"/>
                </a:tc>
                <a:extLst>
                  <a:ext uri="{0D108BD9-81ED-4DB2-BD59-A6C34878D82A}">
                    <a16:rowId xmlns:a16="http://schemas.microsoft.com/office/drawing/2014/main" val="2032570995"/>
                  </a:ext>
                </a:extLst>
              </a:tr>
              <a:tr h="215646">
                <a:tc>
                  <a:txBody>
                    <a:bodyPr/>
                    <a:lstStyle/>
                    <a:p>
                      <a:r>
                        <a:rPr lang="en-US" sz="1200" dirty="0">
                          <a:latin typeface="Montserrat" panose="00000500000000000000" pitchFamily="2" charset="0"/>
                        </a:rPr>
                        <a:t>Define the overall AI vision and align it with the business goals</a:t>
                      </a:r>
                    </a:p>
                  </a:txBody>
                  <a:tcPr marL="63990" marR="63990" marT="31995" marB="31995" anchor="ctr"/>
                </a:tc>
                <a:tc>
                  <a:txBody>
                    <a:bodyPr/>
                    <a:lstStyle/>
                    <a:p>
                      <a:endParaRPr lang="en-CA" sz="1200" dirty="0">
                        <a:latin typeface="Montserrat" panose="00000500000000000000" pitchFamily="2" charset="0"/>
                      </a:endParaRPr>
                    </a:p>
                  </a:txBody>
                  <a:tcPr marL="63990" marR="63990" marT="31995" marB="31995" anchor="ctr"/>
                </a:tc>
                <a:extLst>
                  <a:ext uri="{0D108BD9-81ED-4DB2-BD59-A6C34878D82A}">
                    <a16:rowId xmlns:a16="http://schemas.microsoft.com/office/drawing/2014/main" val="2673862207"/>
                  </a:ext>
                </a:extLst>
              </a:tr>
              <a:tr h="299699">
                <a:tc>
                  <a:txBody>
                    <a:bodyPr/>
                    <a:lstStyle/>
                    <a:p>
                      <a:r>
                        <a:rPr lang="en-US" sz="1200" dirty="0">
                          <a:latin typeface="Montserrat" panose="00000500000000000000" pitchFamily="2" charset="0"/>
                        </a:rPr>
                        <a:t>Design and train the chatbot’s natural language processing model</a:t>
                      </a:r>
                    </a:p>
                  </a:txBody>
                  <a:tcPr marL="63990" marR="63990" marT="31995" marB="31995" anchor="ctr"/>
                </a:tc>
                <a:tc>
                  <a:txBody>
                    <a:bodyPr/>
                    <a:lstStyle/>
                    <a:p>
                      <a:endParaRPr lang="en-CA" sz="1200">
                        <a:latin typeface="Montserrat" panose="00000500000000000000" pitchFamily="2" charset="0"/>
                      </a:endParaRPr>
                    </a:p>
                  </a:txBody>
                  <a:tcPr marL="63990" marR="63990" marT="31995" marB="31995" anchor="ctr"/>
                </a:tc>
                <a:extLst>
                  <a:ext uri="{0D108BD9-81ED-4DB2-BD59-A6C34878D82A}">
                    <a16:rowId xmlns:a16="http://schemas.microsoft.com/office/drawing/2014/main" val="734513454"/>
                  </a:ext>
                </a:extLst>
              </a:tr>
              <a:tr h="215646">
                <a:tc>
                  <a:txBody>
                    <a:bodyPr/>
                    <a:lstStyle/>
                    <a:p>
                      <a:r>
                        <a:rPr lang="en-US" sz="1200" dirty="0">
                          <a:latin typeface="Montserrat" panose="00000500000000000000" pitchFamily="2" charset="0"/>
                        </a:rPr>
                        <a:t>Validate the customer complaint categories with real examples</a:t>
                      </a:r>
                    </a:p>
                  </a:txBody>
                  <a:tcPr marL="63990" marR="63990" marT="31995" marB="31995" anchor="ctr"/>
                </a:tc>
                <a:tc>
                  <a:txBody>
                    <a:bodyPr/>
                    <a:lstStyle/>
                    <a:p>
                      <a:endParaRPr lang="en-CA" sz="1200">
                        <a:latin typeface="Montserrat" panose="00000500000000000000" pitchFamily="2" charset="0"/>
                      </a:endParaRPr>
                    </a:p>
                  </a:txBody>
                  <a:tcPr marL="63990" marR="63990" marT="31995" marB="31995" anchor="ctr"/>
                </a:tc>
                <a:extLst>
                  <a:ext uri="{0D108BD9-81ED-4DB2-BD59-A6C34878D82A}">
                    <a16:rowId xmlns:a16="http://schemas.microsoft.com/office/drawing/2014/main" val="1319444439"/>
                  </a:ext>
                </a:extLst>
              </a:tr>
              <a:tr h="215646">
                <a:tc>
                  <a:txBody>
                    <a:bodyPr/>
                    <a:lstStyle/>
                    <a:p>
                      <a:r>
                        <a:rPr lang="en-US" sz="1200">
                          <a:latin typeface="Montserrat" panose="00000500000000000000" pitchFamily="2" charset="0"/>
                        </a:rPr>
                        <a:t>Set up the cloud infrastructure to store and process chatbot data</a:t>
                      </a:r>
                    </a:p>
                  </a:txBody>
                  <a:tcPr marL="63990" marR="63990" marT="31995" marB="31995" anchor="ctr"/>
                </a:tc>
                <a:tc>
                  <a:txBody>
                    <a:bodyPr/>
                    <a:lstStyle/>
                    <a:p>
                      <a:endParaRPr lang="en-CA" sz="1200">
                        <a:latin typeface="Montserrat" panose="00000500000000000000" pitchFamily="2" charset="0"/>
                      </a:endParaRPr>
                    </a:p>
                  </a:txBody>
                  <a:tcPr marL="63990" marR="63990" marT="31995" marB="31995" anchor="ctr"/>
                </a:tc>
                <a:extLst>
                  <a:ext uri="{0D108BD9-81ED-4DB2-BD59-A6C34878D82A}">
                    <a16:rowId xmlns:a16="http://schemas.microsoft.com/office/drawing/2014/main" val="2650462139"/>
                  </a:ext>
                </a:extLst>
              </a:tr>
              <a:tr h="215646">
                <a:tc>
                  <a:txBody>
                    <a:bodyPr/>
                    <a:lstStyle/>
                    <a:p>
                      <a:r>
                        <a:rPr lang="en-US" sz="1200">
                          <a:latin typeface="Montserrat" panose="00000500000000000000" pitchFamily="2" charset="0"/>
                        </a:rPr>
                        <a:t>Monitor the chatbot’s accuracy and response time in production</a:t>
                      </a:r>
                    </a:p>
                  </a:txBody>
                  <a:tcPr marL="63990" marR="63990" marT="31995" marB="31995" anchor="ctr"/>
                </a:tc>
                <a:tc>
                  <a:txBody>
                    <a:bodyPr/>
                    <a:lstStyle/>
                    <a:p>
                      <a:endParaRPr lang="en-CA" sz="1200">
                        <a:latin typeface="Montserrat" panose="00000500000000000000" pitchFamily="2" charset="0"/>
                      </a:endParaRPr>
                    </a:p>
                  </a:txBody>
                  <a:tcPr marL="63990" marR="63990" marT="31995" marB="31995" anchor="ctr"/>
                </a:tc>
                <a:extLst>
                  <a:ext uri="{0D108BD9-81ED-4DB2-BD59-A6C34878D82A}">
                    <a16:rowId xmlns:a16="http://schemas.microsoft.com/office/drawing/2014/main" val="1977898587"/>
                  </a:ext>
                </a:extLst>
              </a:tr>
              <a:tr h="172162">
                <a:tc>
                  <a:txBody>
                    <a:bodyPr/>
                    <a:lstStyle/>
                    <a:p>
                      <a:r>
                        <a:rPr lang="en-US" sz="1200">
                          <a:latin typeface="Montserrat" panose="00000500000000000000" pitchFamily="2" charset="0"/>
                        </a:rPr>
                        <a:t>Ensure fairness and avoid bias in chatbot responses</a:t>
                      </a:r>
                    </a:p>
                  </a:txBody>
                  <a:tcPr marL="63990" marR="63990" marT="31995" marB="31995" anchor="ctr"/>
                </a:tc>
                <a:tc>
                  <a:txBody>
                    <a:bodyPr/>
                    <a:lstStyle/>
                    <a:p>
                      <a:endParaRPr lang="en-CA" sz="1200">
                        <a:latin typeface="Montserrat" panose="00000500000000000000" pitchFamily="2" charset="0"/>
                      </a:endParaRPr>
                    </a:p>
                  </a:txBody>
                  <a:tcPr marL="63990" marR="63990" marT="31995" marB="31995" anchor="ctr"/>
                </a:tc>
                <a:extLst>
                  <a:ext uri="{0D108BD9-81ED-4DB2-BD59-A6C34878D82A}">
                    <a16:rowId xmlns:a16="http://schemas.microsoft.com/office/drawing/2014/main" val="2584651667"/>
                  </a:ext>
                </a:extLst>
              </a:tr>
              <a:tr h="299699">
                <a:tc>
                  <a:txBody>
                    <a:bodyPr/>
                    <a:lstStyle/>
                    <a:p>
                      <a:r>
                        <a:rPr lang="en-US" sz="1200">
                          <a:latin typeface="Montserrat" panose="00000500000000000000" pitchFamily="2" charset="0"/>
                        </a:rPr>
                        <a:t>Build the data pipelines to collect, clean, and store customer chats</a:t>
                      </a:r>
                    </a:p>
                  </a:txBody>
                  <a:tcPr marL="63990" marR="63990" marT="31995" marB="31995" anchor="ctr"/>
                </a:tc>
                <a:tc>
                  <a:txBody>
                    <a:bodyPr/>
                    <a:lstStyle/>
                    <a:p>
                      <a:endParaRPr lang="en-CA" sz="1200">
                        <a:latin typeface="Montserrat" panose="00000500000000000000" pitchFamily="2" charset="0"/>
                      </a:endParaRPr>
                    </a:p>
                  </a:txBody>
                  <a:tcPr marL="63990" marR="63990" marT="31995" marB="31995" anchor="ctr"/>
                </a:tc>
                <a:extLst>
                  <a:ext uri="{0D108BD9-81ED-4DB2-BD59-A6C34878D82A}">
                    <a16:rowId xmlns:a16="http://schemas.microsoft.com/office/drawing/2014/main" val="3104919509"/>
                  </a:ext>
                </a:extLst>
              </a:tr>
              <a:tr h="172162">
                <a:tc>
                  <a:txBody>
                    <a:bodyPr/>
                    <a:lstStyle/>
                    <a:p>
                      <a:r>
                        <a:rPr lang="en-US" sz="1200">
                          <a:latin typeface="Montserrat" panose="00000500000000000000" pitchFamily="2" charset="0"/>
                        </a:rPr>
                        <a:t>Connect the chatbot to the company’s CRM system</a:t>
                      </a:r>
                    </a:p>
                  </a:txBody>
                  <a:tcPr marL="63990" marR="63990" marT="31995" marB="31995" anchor="ctr"/>
                </a:tc>
                <a:tc>
                  <a:txBody>
                    <a:bodyPr/>
                    <a:lstStyle/>
                    <a:p>
                      <a:endParaRPr lang="en-CA" sz="1200">
                        <a:latin typeface="Montserrat" panose="00000500000000000000" pitchFamily="2" charset="0"/>
                      </a:endParaRPr>
                    </a:p>
                  </a:txBody>
                  <a:tcPr marL="63990" marR="63990" marT="31995" marB="31995" anchor="ctr"/>
                </a:tc>
                <a:extLst>
                  <a:ext uri="{0D108BD9-81ED-4DB2-BD59-A6C34878D82A}">
                    <a16:rowId xmlns:a16="http://schemas.microsoft.com/office/drawing/2014/main" val="3604064241"/>
                  </a:ext>
                </a:extLst>
              </a:tr>
              <a:tr h="215646">
                <a:tc>
                  <a:txBody>
                    <a:bodyPr/>
                    <a:lstStyle/>
                    <a:p>
                      <a:r>
                        <a:rPr lang="en-US" sz="1200">
                          <a:latin typeface="Montserrat" panose="00000500000000000000" pitchFamily="2" charset="0"/>
                        </a:rPr>
                        <a:t>Design how users interact with the chatbot and receive feedback</a:t>
                      </a:r>
                    </a:p>
                  </a:txBody>
                  <a:tcPr marL="63990" marR="63990" marT="31995" marB="31995" anchor="ctr"/>
                </a:tc>
                <a:tc>
                  <a:txBody>
                    <a:bodyPr/>
                    <a:lstStyle/>
                    <a:p>
                      <a:endParaRPr lang="en-CA" sz="1200">
                        <a:latin typeface="Montserrat" panose="00000500000000000000" pitchFamily="2" charset="0"/>
                      </a:endParaRPr>
                    </a:p>
                  </a:txBody>
                  <a:tcPr marL="63990" marR="63990" marT="31995" marB="31995" anchor="ctr"/>
                </a:tc>
                <a:extLst>
                  <a:ext uri="{0D108BD9-81ED-4DB2-BD59-A6C34878D82A}">
                    <a16:rowId xmlns:a16="http://schemas.microsoft.com/office/drawing/2014/main" val="3817918598"/>
                  </a:ext>
                </a:extLst>
              </a:tr>
              <a:tr h="215646">
                <a:tc>
                  <a:txBody>
                    <a:bodyPr/>
                    <a:lstStyle/>
                    <a:p>
                      <a:r>
                        <a:rPr lang="en-US" sz="1200">
                          <a:latin typeface="Montserrat" panose="00000500000000000000" pitchFamily="2" charset="0"/>
                        </a:rPr>
                        <a:t>Coordinate the project timeline, sprints, and risk mitigation plans</a:t>
                      </a:r>
                    </a:p>
                  </a:txBody>
                  <a:tcPr marL="63990" marR="63990" marT="31995" marB="31995" anchor="ctr"/>
                </a:tc>
                <a:tc>
                  <a:txBody>
                    <a:bodyPr/>
                    <a:lstStyle/>
                    <a:p>
                      <a:endParaRPr lang="en-CA" sz="1200" dirty="0">
                        <a:latin typeface="Montserrat" panose="00000500000000000000" pitchFamily="2" charset="0"/>
                      </a:endParaRPr>
                    </a:p>
                  </a:txBody>
                  <a:tcPr marL="63990" marR="63990" marT="31995" marB="31995" anchor="ctr"/>
                </a:tc>
                <a:extLst>
                  <a:ext uri="{0D108BD9-81ED-4DB2-BD59-A6C34878D82A}">
                    <a16:rowId xmlns:a16="http://schemas.microsoft.com/office/drawing/2014/main" val="3106034206"/>
                  </a:ext>
                </a:extLst>
              </a:tr>
            </a:tbl>
          </a:graphicData>
        </a:graphic>
      </p:graphicFrame>
    </p:spTree>
    <p:extLst>
      <p:ext uri="{BB962C8B-B14F-4D97-AF65-F5344CB8AC3E}">
        <p14:creationId xmlns:p14="http://schemas.microsoft.com/office/powerpoint/2010/main" val="36701814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ECE4B-9A6F-AE39-D469-DD4AB46F8BE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2DFC8BD-51D8-84D5-A5E0-8D4729346F6D}"/>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A10D7887-98EC-7C2C-CC24-4C0610C8BA35}"/>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 Solution</a:t>
            </a:r>
          </a:p>
        </p:txBody>
      </p:sp>
      <p:graphicFrame>
        <p:nvGraphicFramePr>
          <p:cNvPr id="3" name="Table 2">
            <a:extLst>
              <a:ext uri="{FF2B5EF4-FFF2-40B4-BE49-F238E27FC236}">
                <a16:creationId xmlns:a16="http://schemas.microsoft.com/office/drawing/2014/main" id="{781D96EA-257D-CB34-FF0C-A62A47058EE2}"/>
              </a:ext>
            </a:extLst>
          </p:cNvPr>
          <p:cNvGraphicFramePr>
            <a:graphicFrameLocks noGrp="1"/>
          </p:cNvGraphicFramePr>
          <p:nvPr>
            <p:extLst>
              <p:ext uri="{D42A27DB-BD31-4B8C-83A1-F6EECF244321}">
                <p14:modId xmlns:p14="http://schemas.microsoft.com/office/powerpoint/2010/main" val="3282757162"/>
              </p:ext>
            </p:extLst>
          </p:nvPr>
        </p:nvGraphicFramePr>
        <p:xfrm>
          <a:off x="778260" y="1106809"/>
          <a:ext cx="10467590" cy="2883210"/>
        </p:xfrm>
        <a:graphic>
          <a:graphicData uri="http://schemas.openxmlformats.org/drawingml/2006/table">
            <a:tbl>
              <a:tblPr>
                <a:tableStyleId>{3B4B98B0-60AC-42C2-AFA5-B58CD77FA1E5}</a:tableStyleId>
              </a:tblPr>
              <a:tblGrid>
                <a:gridCol w="6035290">
                  <a:extLst>
                    <a:ext uri="{9D8B030D-6E8A-4147-A177-3AD203B41FA5}">
                      <a16:colId xmlns:a16="http://schemas.microsoft.com/office/drawing/2014/main" val="352377153"/>
                    </a:ext>
                  </a:extLst>
                </a:gridCol>
                <a:gridCol w="4432300">
                  <a:extLst>
                    <a:ext uri="{9D8B030D-6E8A-4147-A177-3AD203B41FA5}">
                      <a16:colId xmlns:a16="http://schemas.microsoft.com/office/drawing/2014/main" val="69469653"/>
                    </a:ext>
                  </a:extLst>
                </a:gridCol>
              </a:tblGrid>
              <a:tr h="122531">
                <a:tc>
                  <a:txBody>
                    <a:bodyPr/>
                    <a:lstStyle/>
                    <a:p>
                      <a:pPr algn="ctr"/>
                      <a:r>
                        <a:rPr lang="en-CA" sz="1300" b="1" dirty="0">
                          <a:latin typeface="Montserrat" panose="00000500000000000000" pitchFamily="2" charset="0"/>
                        </a:rPr>
                        <a:t>Task</a:t>
                      </a:r>
                    </a:p>
                  </a:txBody>
                  <a:tcPr marL="63990" marR="63990" marT="31995" marB="31995" anchor="ctr"/>
                </a:tc>
                <a:tc>
                  <a:txBody>
                    <a:bodyPr/>
                    <a:lstStyle/>
                    <a:p>
                      <a:pPr algn="ctr"/>
                      <a:r>
                        <a:rPr lang="en-CA" sz="1300" b="1" dirty="0">
                          <a:latin typeface="Montserrat" panose="00000500000000000000" pitchFamily="2" charset="0"/>
                        </a:rPr>
                        <a:t>Assigned Role</a:t>
                      </a:r>
                    </a:p>
                  </a:txBody>
                  <a:tcPr marL="63990" marR="63990" marT="31995" marB="31995" anchor="ctr"/>
                </a:tc>
                <a:extLst>
                  <a:ext uri="{0D108BD9-81ED-4DB2-BD59-A6C34878D82A}">
                    <a16:rowId xmlns:a16="http://schemas.microsoft.com/office/drawing/2014/main" val="1562441010"/>
                  </a:ext>
                </a:extLst>
              </a:tr>
              <a:tr h="209400">
                <a:tc>
                  <a:txBody>
                    <a:bodyPr/>
                    <a:lstStyle/>
                    <a:p>
                      <a:r>
                        <a:rPr lang="en-US" sz="1300" dirty="0">
                          <a:latin typeface="Montserrat" panose="00000500000000000000" pitchFamily="2" charset="0"/>
                        </a:rPr>
                        <a:t>Define the overall AI vision and align it with the business goals</a:t>
                      </a:r>
                    </a:p>
                  </a:txBody>
                  <a:tcPr marL="63990" marR="63990" marT="31995" marB="31995" anchor="ctr"/>
                </a:tc>
                <a:tc>
                  <a:txBody>
                    <a:bodyPr/>
                    <a:lstStyle/>
                    <a:p>
                      <a:r>
                        <a:rPr lang="en-CA" sz="1300" b="1" dirty="0">
                          <a:latin typeface="Montserrat" panose="00000500000000000000" pitchFamily="2" charset="0"/>
                        </a:rPr>
                        <a:t>AI Product Manager</a:t>
                      </a:r>
                      <a:endParaRPr lang="en-CA" sz="1300" dirty="0">
                        <a:latin typeface="Montserrat" panose="00000500000000000000" pitchFamily="2" charset="0"/>
                      </a:endParaRPr>
                    </a:p>
                  </a:txBody>
                  <a:tcPr marL="63990" marR="63990" marT="31995" marB="31995" anchor="ctr"/>
                </a:tc>
                <a:extLst>
                  <a:ext uri="{0D108BD9-81ED-4DB2-BD59-A6C34878D82A}">
                    <a16:rowId xmlns:a16="http://schemas.microsoft.com/office/drawing/2014/main" val="3863322577"/>
                  </a:ext>
                </a:extLst>
              </a:tr>
              <a:tr h="209400">
                <a:tc>
                  <a:txBody>
                    <a:bodyPr/>
                    <a:lstStyle/>
                    <a:p>
                      <a:r>
                        <a:rPr lang="en-US" sz="1300" dirty="0">
                          <a:latin typeface="Montserrat" panose="00000500000000000000" pitchFamily="2" charset="0"/>
                        </a:rPr>
                        <a:t>Design and train the chatbot’s natural language processing model</a:t>
                      </a:r>
                    </a:p>
                  </a:txBody>
                  <a:tcPr marL="63990" marR="63990" marT="31995" marB="31995" anchor="ctr"/>
                </a:tc>
                <a:tc>
                  <a:txBody>
                    <a:bodyPr/>
                    <a:lstStyle/>
                    <a:p>
                      <a:r>
                        <a:rPr lang="en-CA" sz="1300" b="1">
                          <a:latin typeface="Montserrat" panose="00000500000000000000" pitchFamily="2" charset="0"/>
                        </a:rPr>
                        <a:t>AI Researcher</a:t>
                      </a:r>
                      <a:r>
                        <a:rPr lang="en-CA" sz="1300">
                          <a:latin typeface="Montserrat" panose="00000500000000000000" pitchFamily="2" charset="0"/>
                        </a:rPr>
                        <a:t> or </a:t>
                      </a:r>
                      <a:r>
                        <a:rPr lang="en-CA" sz="1300" b="1">
                          <a:latin typeface="Montserrat" panose="00000500000000000000" pitchFamily="2" charset="0"/>
                        </a:rPr>
                        <a:t>Data Scientist</a:t>
                      </a:r>
                      <a:endParaRPr lang="en-CA" sz="1300">
                        <a:latin typeface="Montserrat" panose="00000500000000000000" pitchFamily="2" charset="0"/>
                      </a:endParaRPr>
                    </a:p>
                  </a:txBody>
                  <a:tcPr marL="63990" marR="63990" marT="31995" marB="31995" anchor="ctr"/>
                </a:tc>
                <a:extLst>
                  <a:ext uri="{0D108BD9-81ED-4DB2-BD59-A6C34878D82A}">
                    <a16:rowId xmlns:a16="http://schemas.microsoft.com/office/drawing/2014/main" val="894875838"/>
                  </a:ext>
                </a:extLst>
              </a:tr>
              <a:tr h="209400">
                <a:tc>
                  <a:txBody>
                    <a:bodyPr/>
                    <a:lstStyle/>
                    <a:p>
                      <a:r>
                        <a:rPr lang="en-US" sz="1300" dirty="0">
                          <a:latin typeface="Montserrat" panose="00000500000000000000" pitchFamily="2" charset="0"/>
                        </a:rPr>
                        <a:t>Validate the customer complaint categories with real examples</a:t>
                      </a:r>
                    </a:p>
                  </a:txBody>
                  <a:tcPr marL="63990" marR="63990" marT="31995" marB="31995" anchor="ctr"/>
                </a:tc>
                <a:tc>
                  <a:txBody>
                    <a:bodyPr/>
                    <a:lstStyle/>
                    <a:p>
                      <a:r>
                        <a:rPr lang="en-CA" sz="1300" b="1">
                          <a:latin typeface="Montserrat" panose="00000500000000000000" pitchFamily="2" charset="0"/>
                        </a:rPr>
                        <a:t>Industry Domain Expert</a:t>
                      </a:r>
                      <a:endParaRPr lang="en-CA" sz="1300">
                        <a:latin typeface="Montserrat" panose="00000500000000000000" pitchFamily="2" charset="0"/>
                      </a:endParaRPr>
                    </a:p>
                  </a:txBody>
                  <a:tcPr marL="63990" marR="63990" marT="31995" marB="31995" anchor="ctr"/>
                </a:tc>
                <a:extLst>
                  <a:ext uri="{0D108BD9-81ED-4DB2-BD59-A6C34878D82A}">
                    <a16:rowId xmlns:a16="http://schemas.microsoft.com/office/drawing/2014/main" val="3981088750"/>
                  </a:ext>
                </a:extLst>
              </a:tr>
              <a:tr h="209400">
                <a:tc>
                  <a:txBody>
                    <a:bodyPr/>
                    <a:lstStyle/>
                    <a:p>
                      <a:r>
                        <a:rPr lang="en-US" sz="1300">
                          <a:latin typeface="Montserrat" panose="00000500000000000000" pitchFamily="2" charset="0"/>
                        </a:rPr>
                        <a:t>Set up the cloud infrastructure to store and process chatbot data</a:t>
                      </a:r>
                    </a:p>
                  </a:txBody>
                  <a:tcPr marL="63990" marR="63990" marT="31995" marB="31995" anchor="ctr"/>
                </a:tc>
                <a:tc>
                  <a:txBody>
                    <a:bodyPr/>
                    <a:lstStyle/>
                    <a:p>
                      <a:r>
                        <a:rPr lang="en-CA" sz="1300" b="1">
                          <a:latin typeface="Montserrat" panose="00000500000000000000" pitchFamily="2" charset="0"/>
                        </a:rPr>
                        <a:t>Solution Architect</a:t>
                      </a:r>
                      <a:endParaRPr lang="en-CA" sz="1300">
                        <a:latin typeface="Montserrat" panose="00000500000000000000" pitchFamily="2" charset="0"/>
                      </a:endParaRPr>
                    </a:p>
                  </a:txBody>
                  <a:tcPr marL="63990" marR="63990" marT="31995" marB="31995" anchor="ctr"/>
                </a:tc>
                <a:extLst>
                  <a:ext uri="{0D108BD9-81ED-4DB2-BD59-A6C34878D82A}">
                    <a16:rowId xmlns:a16="http://schemas.microsoft.com/office/drawing/2014/main" val="1868170421"/>
                  </a:ext>
                </a:extLst>
              </a:tr>
              <a:tr h="209400">
                <a:tc>
                  <a:txBody>
                    <a:bodyPr/>
                    <a:lstStyle/>
                    <a:p>
                      <a:r>
                        <a:rPr lang="en-US" sz="1300">
                          <a:latin typeface="Montserrat" panose="00000500000000000000" pitchFamily="2" charset="0"/>
                        </a:rPr>
                        <a:t>Monitor the chatbot’s accuracy and response time in production</a:t>
                      </a:r>
                    </a:p>
                  </a:txBody>
                  <a:tcPr marL="63990" marR="63990" marT="31995" marB="31995" anchor="ctr"/>
                </a:tc>
                <a:tc>
                  <a:txBody>
                    <a:bodyPr/>
                    <a:lstStyle/>
                    <a:p>
                      <a:r>
                        <a:rPr lang="en-CA" sz="1300" b="1">
                          <a:latin typeface="Montserrat" panose="00000500000000000000" pitchFamily="2" charset="0"/>
                        </a:rPr>
                        <a:t>MLOps Architect</a:t>
                      </a:r>
                      <a:endParaRPr lang="en-CA" sz="1300">
                        <a:latin typeface="Montserrat" panose="00000500000000000000" pitchFamily="2" charset="0"/>
                      </a:endParaRPr>
                    </a:p>
                  </a:txBody>
                  <a:tcPr marL="63990" marR="63990" marT="31995" marB="31995" anchor="ctr"/>
                </a:tc>
                <a:extLst>
                  <a:ext uri="{0D108BD9-81ED-4DB2-BD59-A6C34878D82A}">
                    <a16:rowId xmlns:a16="http://schemas.microsoft.com/office/drawing/2014/main" val="2923701363"/>
                  </a:ext>
                </a:extLst>
              </a:tr>
              <a:tr h="122531">
                <a:tc>
                  <a:txBody>
                    <a:bodyPr/>
                    <a:lstStyle/>
                    <a:p>
                      <a:r>
                        <a:rPr lang="en-US" sz="1300">
                          <a:latin typeface="Montserrat" panose="00000500000000000000" pitchFamily="2" charset="0"/>
                        </a:rPr>
                        <a:t>Ensure fairness and avoid bias in chatbot responses</a:t>
                      </a:r>
                    </a:p>
                  </a:txBody>
                  <a:tcPr marL="63990" marR="63990" marT="31995" marB="31995" anchor="ctr"/>
                </a:tc>
                <a:tc>
                  <a:txBody>
                    <a:bodyPr/>
                    <a:lstStyle/>
                    <a:p>
                      <a:r>
                        <a:rPr lang="en-CA" sz="1300" b="1">
                          <a:latin typeface="Montserrat" panose="00000500000000000000" pitchFamily="2" charset="0"/>
                        </a:rPr>
                        <a:t>Responsible AI / Ethics Lead</a:t>
                      </a:r>
                      <a:endParaRPr lang="en-CA" sz="1300">
                        <a:latin typeface="Montserrat" panose="00000500000000000000" pitchFamily="2" charset="0"/>
                      </a:endParaRPr>
                    </a:p>
                  </a:txBody>
                  <a:tcPr marL="63990" marR="63990" marT="31995" marB="31995" anchor="ctr"/>
                </a:tc>
                <a:extLst>
                  <a:ext uri="{0D108BD9-81ED-4DB2-BD59-A6C34878D82A}">
                    <a16:rowId xmlns:a16="http://schemas.microsoft.com/office/drawing/2014/main" val="2236887984"/>
                  </a:ext>
                </a:extLst>
              </a:tr>
              <a:tr h="209400">
                <a:tc>
                  <a:txBody>
                    <a:bodyPr/>
                    <a:lstStyle/>
                    <a:p>
                      <a:r>
                        <a:rPr lang="en-US" sz="1300">
                          <a:latin typeface="Montserrat" panose="00000500000000000000" pitchFamily="2" charset="0"/>
                        </a:rPr>
                        <a:t>Build the data pipelines to collect, clean, and store customer chats</a:t>
                      </a:r>
                    </a:p>
                  </a:txBody>
                  <a:tcPr marL="63990" marR="63990" marT="31995" marB="31995" anchor="ctr"/>
                </a:tc>
                <a:tc>
                  <a:txBody>
                    <a:bodyPr/>
                    <a:lstStyle/>
                    <a:p>
                      <a:r>
                        <a:rPr lang="en-CA" sz="1300" b="1">
                          <a:latin typeface="Montserrat" panose="00000500000000000000" pitchFamily="2" charset="0"/>
                        </a:rPr>
                        <a:t>Data Engineer</a:t>
                      </a:r>
                      <a:endParaRPr lang="en-CA" sz="1300">
                        <a:latin typeface="Montserrat" panose="00000500000000000000" pitchFamily="2" charset="0"/>
                      </a:endParaRPr>
                    </a:p>
                  </a:txBody>
                  <a:tcPr marL="63990" marR="63990" marT="31995" marB="31995" anchor="ctr"/>
                </a:tc>
                <a:extLst>
                  <a:ext uri="{0D108BD9-81ED-4DB2-BD59-A6C34878D82A}">
                    <a16:rowId xmlns:a16="http://schemas.microsoft.com/office/drawing/2014/main" val="1102785930"/>
                  </a:ext>
                </a:extLst>
              </a:tr>
              <a:tr h="122531">
                <a:tc>
                  <a:txBody>
                    <a:bodyPr/>
                    <a:lstStyle/>
                    <a:p>
                      <a:r>
                        <a:rPr lang="en-US" sz="1300">
                          <a:latin typeface="Montserrat" panose="00000500000000000000" pitchFamily="2" charset="0"/>
                        </a:rPr>
                        <a:t>Connect the chatbot to the company’s CRM system</a:t>
                      </a:r>
                    </a:p>
                  </a:txBody>
                  <a:tcPr marL="63990" marR="63990" marT="31995" marB="31995" anchor="ctr"/>
                </a:tc>
                <a:tc>
                  <a:txBody>
                    <a:bodyPr/>
                    <a:lstStyle/>
                    <a:p>
                      <a:r>
                        <a:rPr lang="en-CA" sz="1300" b="1">
                          <a:latin typeface="Montserrat" panose="00000500000000000000" pitchFamily="2" charset="0"/>
                        </a:rPr>
                        <a:t>Software Engineer</a:t>
                      </a:r>
                      <a:endParaRPr lang="en-CA" sz="1300">
                        <a:latin typeface="Montserrat" panose="00000500000000000000" pitchFamily="2" charset="0"/>
                      </a:endParaRPr>
                    </a:p>
                  </a:txBody>
                  <a:tcPr marL="63990" marR="63990" marT="31995" marB="31995" anchor="ctr"/>
                </a:tc>
                <a:extLst>
                  <a:ext uri="{0D108BD9-81ED-4DB2-BD59-A6C34878D82A}">
                    <a16:rowId xmlns:a16="http://schemas.microsoft.com/office/drawing/2014/main" val="1197696622"/>
                  </a:ext>
                </a:extLst>
              </a:tr>
              <a:tr h="209400">
                <a:tc>
                  <a:txBody>
                    <a:bodyPr/>
                    <a:lstStyle/>
                    <a:p>
                      <a:r>
                        <a:rPr lang="en-US" sz="1300">
                          <a:latin typeface="Montserrat" panose="00000500000000000000" pitchFamily="2" charset="0"/>
                        </a:rPr>
                        <a:t>Design how users interact with the chatbot and receive feedback</a:t>
                      </a:r>
                    </a:p>
                  </a:txBody>
                  <a:tcPr marL="63990" marR="63990" marT="31995" marB="31995" anchor="ctr"/>
                </a:tc>
                <a:tc>
                  <a:txBody>
                    <a:bodyPr/>
                    <a:lstStyle/>
                    <a:p>
                      <a:r>
                        <a:rPr lang="en-CA" sz="1300" b="1">
                          <a:latin typeface="Montserrat" panose="00000500000000000000" pitchFamily="2" charset="0"/>
                        </a:rPr>
                        <a:t>UX Designer</a:t>
                      </a:r>
                      <a:endParaRPr lang="en-CA" sz="1300">
                        <a:latin typeface="Montserrat" panose="00000500000000000000" pitchFamily="2" charset="0"/>
                      </a:endParaRPr>
                    </a:p>
                  </a:txBody>
                  <a:tcPr marL="63990" marR="63990" marT="31995" marB="31995" anchor="ctr"/>
                </a:tc>
                <a:extLst>
                  <a:ext uri="{0D108BD9-81ED-4DB2-BD59-A6C34878D82A}">
                    <a16:rowId xmlns:a16="http://schemas.microsoft.com/office/drawing/2014/main" val="1983010151"/>
                  </a:ext>
                </a:extLst>
              </a:tr>
              <a:tr h="209400">
                <a:tc>
                  <a:txBody>
                    <a:bodyPr/>
                    <a:lstStyle/>
                    <a:p>
                      <a:r>
                        <a:rPr lang="en-US" sz="1300">
                          <a:latin typeface="Montserrat" panose="00000500000000000000" pitchFamily="2" charset="0"/>
                        </a:rPr>
                        <a:t>Coordinate the project timeline, sprints, and risk mitigation plans</a:t>
                      </a:r>
                    </a:p>
                  </a:txBody>
                  <a:tcPr marL="63990" marR="63990" marT="31995" marB="31995" anchor="ctr"/>
                </a:tc>
                <a:tc>
                  <a:txBody>
                    <a:bodyPr/>
                    <a:lstStyle/>
                    <a:p>
                      <a:r>
                        <a:rPr lang="en-CA" sz="1300" b="1" dirty="0">
                          <a:latin typeface="Montserrat" panose="00000500000000000000" pitchFamily="2" charset="0"/>
                        </a:rPr>
                        <a:t>Project Manager</a:t>
                      </a:r>
                      <a:endParaRPr lang="en-CA" sz="1300" dirty="0">
                        <a:latin typeface="Montserrat" panose="00000500000000000000" pitchFamily="2" charset="0"/>
                      </a:endParaRPr>
                    </a:p>
                  </a:txBody>
                  <a:tcPr marL="63990" marR="63990" marT="31995" marB="31995" anchor="ctr"/>
                </a:tc>
                <a:extLst>
                  <a:ext uri="{0D108BD9-81ED-4DB2-BD59-A6C34878D82A}">
                    <a16:rowId xmlns:a16="http://schemas.microsoft.com/office/drawing/2014/main" val="1814656024"/>
                  </a:ext>
                </a:extLst>
              </a:tr>
            </a:tbl>
          </a:graphicData>
        </a:graphic>
      </p:graphicFrame>
    </p:spTree>
    <p:extLst>
      <p:ext uri="{BB962C8B-B14F-4D97-AF65-F5344CB8AC3E}">
        <p14:creationId xmlns:p14="http://schemas.microsoft.com/office/powerpoint/2010/main" val="41241429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010DE-543D-82F8-ED60-A8C9BFE0835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EC5A185-E193-79F8-C7B2-7F78F750B4ED}"/>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8D492D2-8ADE-CCB7-D212-3AC6EF0C2D5A}"/>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85A00680-C9EA-C33F-CC11-D14E565D29F2}"/>
              </a:ext>
            </a:extLst>
          </p:cNvPr>
          <p:cNvSpPr/>
          <p:nvPr/>
        </p:nvSpPr>
        <p:spPr>
          <a:xfrm>
            <a:off x="293913" y="793804"/>
            <a:ext cx="6528917"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WATERFALL Vs. AGILE DEVELOPMENT </a:t>
            </a:r>
          </a:p>
        </p:txBody>
      </p:sp>
    </p:spTree>
    <p:extLst>
      <p:ext uri="{BB962C8B-B14F-4D97-AF65-F5344CB8AC3E}">
        <p14:creationId xmlns:p14="http://schemas.microsoft.com/office/powerpoint/2010/main" val="27779714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CF793-2504-7CCB-14D2-789284BB559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6F56D81-CAD5-E2A7-59A4-E31ACE3D5696}"/>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4E15133C-52FA-CF24-2063-3B91C2D63D64}"/>
              </a:ext>
            </a:extLst>
          </p:cNvPr>
          <p:cNvSpPr/>
          <p:nvPr/>
        </p:nvSpPr>
        <p:spPr>
          <a:xfrm>
            <a:off x="154722" y="90489"/>
            <a:ext cx="9827492" cy="461665"/>
          </a:xfrm>
          <a:prstGeom prst="rect">
            <a:avLst/>
          </a:prstGeom>
        </p:spPr>
        <p:txBody>
          <a:bodyPr wrap="square">
            <a:spAutoFit/>
          </a:bodyPr>
          <a:lstStyle/>
          <a:p>
            <a:r>
              <a:rPr lang="en-CA" sz="2400" dirty="0">
                <a:solidFill>
                  <a:schemeClr val="bg1"/>
                </a:solidFill>
                <a:latin typeface="Montserrat" charset="0"/>
                <a:ea typeface="Montserrat" charset="0"/>
                <a:cs typeface="Montserrat" charset="0"/>
              </a:rPr>
              <a:t>Unique AI Projects Challenges</a:t>
            </a:r>
            <a:endParaRPr lang="en-US" sz="2400" b="1" dirty="0">
              <a:solidFill>
                <a:schemeClr val="bg1"/>
              </a:solidFill>
              <a:latin typeface="Montserrat" charset="0"/>
              <a:ea typeface="Montserrat" charset="0"/>
              <a:cs typeface="Montserrat" charset="0"/>
            </a:endParaRPr>
          </a:p>
        </p:txBody>
      </p:sp>
      <p:sp>
        <p:nvSpPr>
          <p:cNvPr id="3" name="TextBox 2">
            <a:extLst>
              <a:ext uri="{FF2B5EF4-FFF2-40B4-BE49-F238E27FC236}">
                <a16:creationId xmlns:a16="http://schemas.microsoft.com/office/drawing/2014/main" id="{8A3D2BE3-17A2-C4D0-DD5E-FBB9BBC42F53}"/>
              </a:ext>
            </a:extLst>
          </p:cNvPr>
          <p:cNvSpPr txBox="1"/>
          <p:nvPr/>
        </p:nvSpPr>
        <p:spPr>
          <a:xfrm>
            <a:off x="79320" y="877292"/>
            <a:ext cx="11594455" cy="369332"/>
          </a:xfrm>
          <a:prstGeom prst="rect">
            <a:avLst/>
          </a:prstGeom>
          <a:noFill/>
        </p:spPr>
        <p:txBody>
          <a:bodyPr wrap="square">
            <a:spAutoFit/>
          </a:bodyPr>
          <a:lstStyle/>
          <a:p>
            <a:pPr marL="285750" indent="-285750">
              <a:buFont typeface="Arial" panose="020B0604020202020204" pitchFamily="34" charset="0"/>
              <a:buChar char="•"/>
            </a:pPr>
            <a:r>
              <a:rPr lang="en-US" dirty="0">
                <a:latin typeface="Montserrat" panose="00000500000000000000" pitchFamily="2" charset="0"/>
              </a:rPr>
              <a:t>AI Projects offer unique challenges compared to traditional software projects. </a:t>
            </a:r>
            <a:endParaRPr lang="en-CA" dirty="0">
              <a:latin typeface="Montserrat" panose="00000500000000000000" pitchFamily="2" charset="0"/>
            </a:endParaRPr>
          </a:p>
        </p:txBody>
      </p:sp>
      <p:graphicFrame>
        <p:nvGraphicFramePr>
          <p:cNvPr id="2" name="Diagram 1">
            <a:extLst>
              <a:ext uri="{FF2B5EF4-FFF2-40B4-BE49-F238E27FC236}">
                <a16:creationId xmlns:a16="http://schemas.microsoft.com/office/drawing/2014/main" id="{429D8DBA-03FC-7B90-9CE6-1C6EE8AE26CC}"/>
              </a:ext>
            </a:extLst>
          </p:cNvPr>
          <p:cNvGraphicFramePr/>
          <p:nvPr>
            <p:extLst>
              <p:ext uri="{D42A27DB-BD31-4B8C-83A1-F6EECF244321}">
                <p14:modId xmlns:p14="http://schemas.microsoft.com/office/powerpoint/2010/main" val="2478840529"/>
              </p:ext>
            </p:extLst>
          </p:nvPr>
        </p:nvGraphicFramePr>
        <p:xfrm>
          <a:off x="234596" y="1437422"/>
          <a:ext cx="8880416" cy="45353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30664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graphicEl>
                                              <a:dgm id="{44563EEE-1197-49E8-A6F4-E1F660945938}"/>
                                            </p:graphicEl>
                                          </p:spTgt>
                                        </p:tgtEl>
                                        <p:attrNameLst>
                                          <p:attrName>style.visibility</p:attrName>
                                        </p:attrNameLst>
                                      </p:cBhvr>
                                      <p:to>
                                        <p:strVal val="visible"/>
                                      </p:to>
                                    </p:set>
                                    <p:animEffect transition="in" filter="fade">
                                      <p:cBhvr>
                                        <p:cTn id="7" dur="500"/>
                                        <p:tgtEl>
                                          <p:spTgt spid="2">
                                            <p:graphicEl>
                                              <a:dgm id="{44563EEE-1197-49E8-A6F4-E1F660945938}"/>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graphicEl>
                                              <a:dgm id="{4D28F683-3E2E-49F9-9FC7-583B983DC071}"/>
                                            </p:graphicEl>
                                          </p:spTgt>
                                        </p:tgtEl>
                                        <p:attrNameLst>
                                          <p:attrName>style.visibility</p:attrName>
                                        </p:attrNameLst>
                                      </p:cBhvr>
                                      <p:to>
                                        <p:strVal val="visible"/>
                                      </p:to>
                                    </p:set>
                                    <p:animEffect transition="in" filter="fade">
                                      <p:cBhvr>
                                        <p:cTn id="12" dur="500"/>
                                        <p:tgtEl>
                                          <p:spTgt spid="2">
                                            <p:graphicEl>
                                              <a:dgm id="{4D28F683-3E2E-49F9-9FC7-583B983DC071}"/>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graphicEl>
                                              <a:dgm id="{B47E7B98-79C8-41AA-A327-7C31F7B3358B}"/>
                                            </p:graphicEl>
                                          </p:spTgt>
                                        </p:tgtEl>
                                        <p:attrNameLst>
                                          <p:attrName>style.visibility</p:attrName>
                                        </p:attrNameLst>
                                      </p:cBhvr>
                                      <p:to>
                                        <p:strVal val="visible"/>
                                      </p:to>
                                    </p:set>
                                    <p:animEffect transition="in" filter="fade">
                                      <p:cBhvr>
                                        <p:cTn id="17" dur="500"/>
                                        <p:tgtEl>
                                          <p:spTgt spid="2">
                                            <p:graphicEl>
                                              <a:dgm id="{B47E7B98-79C8-41AA-A327-7C31F7B3358B}"/>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graphicEl>
                                              <a:dgm id="{0EFAD58A-B3A1-485A-A693-2A5A303DE78A}"/>
                                            </p:graphicEl>
                                          </p:spTgt>
                                        </p:tgtEl>
                                        <p:attrNameLst>
                                          <p:attrName>style.visibility</p:attrName>
                                        </p:attrNameLst>
                                      </p:cBhvr>
                                      <p:to>
                                        <p:strVal val="visible"/>
                                      </p:to>
                                    </p:set>
                                    <p:animEffect transition="in" filter="fade">
                                      <p:cBhvr>
                                        <p:cTn id="22" dur="500"/>
                                        <p:tgtEl>
                                          <p:spTgt spid="2">
                                            <p:graphicEl>
                                              <a:dgm id="{0EFAD58A-B3A1-485A-A693-2A5A303DE78A}"/>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E240E-84C6-92BF-2071-C2923EB9A10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30ED876-170E-1E7A-F861-EFB40954B5F7}"/>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7A2638DE-92B8-F045-C30A-EC98CAB52548}"/>
              </a:ext>
            </a:extLst>
          </p:cNvPr>
          <p:cNvSpPr/>
          <p:nvPr/>
        </p:nvSpPr>
        <p:spPr>
          <a:xfrm>
            <a:off x="154722" y="90489"/>
            <a:ext cx="9827492" cy="461665"/>
          </a:xfrm>
          <a:prstGeom prst="rect">
            <a:avLst/>
          </a:prstGeom>
        </p:spPr>
        <p:txBody>
          <a:bodyPr wrap="square">
            <a:spAutoFit/>
          </a:bodyPr>
          <a:lstStyle/>
          <a:p>
            <a:r>
              <a:rPr lang="en-CA" sz="2400" dirty="0">
                <a:solidFill>
                  <a:schemeClr val="bg1"/>
                </a:solidFill>
                <a:latin typeface="Montserrat" charset="0"/>
                <a:ea typeface="Montserrat" charset="0"/>
                <a:cs typeface="Montserrat" charset="0"/>
              </a:rPr>
              <a:t>Waterfall Development</a:t>
            </a:r>
            <a:endParaRPr lang="en-US" sz="2400" b="1" dirty="0">
              <a:solidFill>
                <a:schemeClr val="bg1"/>
              </a:solidFill>
              <a:latin typeface="Montserrat" charset="0"/>
              <a:ea typeface="Montserrat" charset="0"/>
              <a:cs typeface="Montserrat" charset="0"/>
            </a:endParaRPr>
          </a:p>
        </p:txBody>
      </p:sp>
      <p:sp>
        <p:nvSpPr>
          <p:cNvPr id="3" name="TextBox 2">
            <a:extLst>
              <a:ext uri="{FF2B5EF4-FFF2-40B4-BE49-F238E27FC236}">
                <a16:creationId xmlns:a16="http://schemas.microsoft.com/office/drawing/2014/main" id="{2B497063-8A68-4CBE-D8DD-4714E6A05A4E}"/>
              </a:ext>
            </a:extLst>
          </p:cNvPr>
          <p:cNvSpPr txBox="1"/>
          <p:nvPr/>
        </p:nvSpPr>
        <p:spPr>
          <a:xfrm>
            <a:off x="234596" y="777027"/>
            <a:ext cx="11735731" cy="1815882"/>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ontserrat" panose="00000500000000000000" pitchFamily="2" charset="0"/>
              </a:rPr>
              <a:t>Traditional Waterfall development is a linear and sequential software development methodology where each phase must be completed before the next one begins.</a:t>
            </a:r>
          </a:p>
          <a:p>
            <a:pPr marL="285750" indent="-285750">
              <a:buFont typeface="Arial" panose="020B0604020202020204" pitchFamily="34" charset="0"/>
              <a:buChar char="•"/>
            </a:pPr>
            <a:r>
              <a:rPr lang="en-US" sz="1600" dirty="0">
                <a:latin typeface="Montserrat" panose="00000500000000000000" pitchFamily="2" charset="0"/>
              </a:rPr>
              <a:t>This rigid approach allows minimal flexibility for changes once development starts. </a:t>
            </a:r>
          </a:p>
          <a:p>
            <a:pPr marL="285750" indent="-285750">
              <a:buFont typeface="Arial" panose="020B0604020202020204" pitchFamily="34" charset="0"/>
              <a:buChar char="•"/>
            </a:pPr>
            <a:r>
              <a:rPr lang="en-US" sz="1600" dirty="0">
                <a:latin typeface="Montserrat" panose="00000500000000000000" pitchFamily="2" charset="0"/>
              </a:rPr>
              <a:t>Stakeholders don’t see the final product until all phases are complete, making it best for well-defined, predictable projects. </a:t>
            </a:r>
          </a:p>
          <a:p>
            <a:pPr marL="285750" indent="-285750">
              <a:buFont typeface="Arial" panose="020B0604020202020204" pitchFamily="34" charset="0"/>
              <a:buChar char="•"/>
            </a:pPr>
            <a:r>
              <a:rPr lang="en-US" sz="1600" dirty="0">
                <a:latin typeface="Montserrat" panose="00000500000000000000" pitchFamily="2" charset="0"/>
              </a:rPr>
              <a:t>Example: Building a bridge. The entire design is finalized upfront, construction happens once, and testing is conducted only at the end.</a:t>
            </a:r>
            <a:endParaRPr lang="en-CA" sz="1600" dirty="0">
              <a:latin typeface="Montserrat" panose="00000500000000000000" pitchFamily="2" charset="0"/>
            </a:endParaRPr>
          </a:p>
        </p:txBody>
      </p:sp>
      <p:graphicFrame>
        <p:nvGraphicFramePr>
          <p:cNvPr id="8" name="Diagram 7">
            <a:extLst>
              <a:ext uri="{FF2B5EF4-FFF2-40B4-BE49-F238E27FC236}">
                <a16:creationId xmlns:a16="http://schemas.microsoft.com/office/drawing/2014/main" id="{B9929910-42DE-B0F1-6132-2D12C66F0037}"/>
              </a:ext>
            </a:extLst>
          </p:cNvPr>
          <p:cNvGraphicFramePr/>
          <p:nvPr>
            <p:extLst>
              <p:ext uri="{D42A27DB-BD31-4B8C-83A1-F6EECF244321}">
                <p14:modId xmlns:p14="http://schemas.microsoft.com/office/powerpoint/2010/main" val="234021770"/>
              </p:ext>
            </p:extLst>
          </p:nvPr>
        </p:nvGraphicFramePr>
        <p:xfrm>
          <a:off x="288559" y="2179944"/>
          <a:ext cx="11486527" cy="37438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21606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graphicEl>
                                              <a:dgm id="{E34FEE4C-39B7-4230-8785-F340F0ED036D}"/>
                                            </p:graphicEl>
                                          </p:spTgt>
                                        </p:tgtEl>
                                        <p:attrNameLst>
                                          <p:attrName>style.visibility</p:attrName>
                                        </p:attrNameLst>
                                      </p:cBhvr>
                                      <p:to>
                                        <p:strVal val="visible"/>
                                      </p:to>
                                    </p:set>
                                    <p:animEffect transition="in" filter="fade">
                                      <p:cBhvr>
                                        <p:cTn id="7" dur="500"/>
                                        <p:tgtEl>
                                          <p:spTgt spid="8">
                                            <p:graphicEl>
                                              <a:dgm id="{E34FEE4C-39B7-4230-8785-F340F0ED036D}"/>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graphicEl>
                                              <a:dgm id="{ED1442AE-F0CE-4C64-9629-EFE6350FCAFA}"/>
                                            </p:graphicEl>
                                          </p:spTgt>
                                        </p:tgtEl>
                                        <p:attrNameLst>
                                          <p:attrName>style.visibility</p:attrName>
                                        </p:attrNameLst>
                                      </p:cBhvr>
                                      <p:to>
                                        <p:strVal val="visible"/>
                                      </p:to>
                                    </p:set>
                                    <p:animEffect transition="in" filter="fade">
                                      <p:cBhvr>
                                        <p:cTn id="12" dur="500"/>
                                        <p:tgtEl>
                                          <p:spTgt spid="8">
                                            <p:graphicEl>
                                              <a:dgm id="{ED1442AE-F0CE-4C64-9629-EFE6350FCAFA}"/>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graphicEl>
                                              <a:dgm id="{2D1B1E36-04BA-4C0D-9752-D41015028D54}"/>
                                            </p:graphicEl>
                                          </p:spTgt>
                                        </p:tgtEl>
                                        <p:attrNameLst>
                                          <p:attrName>style.visibility</p:attrName>
                                        </p:attrNameLst>
                                      </p:cBhvr>
                                      <p:to>
                                        <p:strVal val="visible"/>
                                      </p:to>
                                    </p:set>
                                    <p:animEffect transition="in" filter="fade">
                                      <p:cBhvr>
                                        <p:cTn id="17" dur="500"/>
                                        <p:tgtEl>
                                          <p:spTgt spid="8">
                                            <p:graphicEl>
                                              <a:dgm id="{2D1B1E36-04BA-4C0D-9752-D41015028D54}"/>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graphicEl>
                                              <a:dgm id="{DFA20CCC-06FD-4E1A-BEA7-7DA3F710250A}"/>
                                            </p:graphicEl>
                                          </p:spTgt>
                                        </p:tgtEl>
                                        <p:attrNameLst>
                                          <p:attrName>style.visibility</p:attrName>
                                        </p:attrNameLst>
                                      </p:cBhvr>
                                      <p:to>
                                        <p:strVal val="visible"/>
                                      </p:to>
                                    </p:set>
                                    <p:animEffect transition="in" filter="fade">
                                      <p:cBhvr>
                                        <p:cTn id="22" dur="500"/>
                                        <p:tgtEl>
                                          <p:spTgt spid="8">
                                            <p:graphicEl>
                                              <a:dgm id="{DFA20CCC-06FD-4E1A-BEA7-7DA3F710250A}"/>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graphicEl>
                                              <a:dgm id="{BDB81A61-0D33-4B02-BD9B-5FCF35A5CB6F}"/>
                                            </p:graphicEl>
                                          </p:spTgt>
                                        </p:tgtEl>
                                        <p:attrNameLst>
                                          <p:attrName>style.visibility</p:attrName>
                                        </p:attrNameLst>
                                      </p:cBhvr>
                                      <p:to>
                                        <p:strVal val="visible"/>
                                      </p:to>
                                    </p:set>
                                    <p:animEffect transition="in" filter="fade">
                                      <p:cBhvr>
                                        <p:cTn id="27" dur="500"/>
                                        <p:tgtEl>
                                          <p:spTgt spid="8">
                                            <p:graphicEl>
                                              <a:dgm id="{BDB81A61-0D33-4B02-BD9B-5FCF35A5CB6F}"/>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graphicEl>
                                              <a:dgm id="{5E40F5CA-F5CC-4F19-AACC-26749BE1E44B}"/>
                                            </p:graphicEl>
                                          </p:spTgt>
                                        </p:tgtEl>
                                        <p:attrNameLst>
                                          <p:attrName>style.visibility</p:attrName>
                                        </p:attrNameLst>
                                      </p:cBhvr>
                                      <p:to>
                                        <p:strVal val="visible"/>
                                      </p:to>
                                    </p:set>
                                    <p:animEffect transition="in" filter="fade">
                                      <p:cBhvr>
                                        <p:cTn id="32" dur="500"/>
                                        <p:tgtEl>
                                          <p:spTgt spid="8">
                                            <p:graphicEl>
                                              <a:dgm id="{5E40F5CA-F5CC-4F19-AACC-26749BE1E44B}"/>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graphicEl>
                                              <a:dgm id="{A952F637-AC9A-4CBC-A414-E372B899528C}"/>
                                            </p:graphicEl>
                                          </p:spTgt>
                                        </p:tgtEl>
                                        <p:attrNameLst>
                                          <p:attrName>style.visibility</p:attrName>
                                        </p:attrNameLst>
                                      </p:cBhvr>
                                      <p:to>
                                        <p:strVal val="visible"/>
                                      </p:to>
                                    </p:set>
                                    <p:animEffect transition="in" filter="fade">
                                      <p:cBhvr>
                                        <p:cTn id="37" dur="500"/>
                                        <p:tgtEl>
                                          <p:spTgt spid="8">
                                            <p:graphicEl>
                                              <a:dgm id="{A952F637-AC9A-4CBC-A414-E372B899528C}"/>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one"/>
        </p:bldSub>
      </p:bldGraphic>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873C5-1535-4729-8098-22612EC9684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1D0A4AF-0F36-437A-A7FE-394195665002}"/>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BE99B2AF-837C-F7E3-34A6-BDD97F772597}"/>
              </a:ext>
            </a:extLst>
          </p:cNvPr>
          <p:cNvSpPr/>
          <p:nvPr/>
        </p:nvSpPr>
        <p:spPr>
          <a:xfrm>
            <a:off x="154722" y="90489"/>
            <a:ext cx="9827492" cy="461665"/>
          </a:xfrm>
          <a:prstGeom prst="rect">
            <a:avLst/>
          </a:prstGeom>
        </p:spPr>
        <p:txBody>
          <a:bodyPr wrap="square">
            <a:spAutoFit/>
          </a:bodyPr>
          <a:lstStyle/>
          <a:p>
            <a:r>
              <a:rPr lang="en-CA" sz="2400" dirty="0">
                <a:solidFill>
                  <a:schemeClr val="bg1"/>
                </a:solidFill>
                <a:latin typeface="Montserrat" charset="0"/>
                <a:ea typeface="Montserrat" charset="0"/>
                <a:cs typeface="Montserrat" charset="0"/>
              </a:rPr>
              <a:t>Agile Development</a:t>
            </a:r>
            <a:endParaRPr lang="en-US" sz="2400" b="1" dirty="0">
              <a:solidFill>
                <a:schemeClr val="bg1"/>
              </a:solidFill>
              <a:latin typeface="Montserrat" charset="0"/>
              <a:ea typeface="Montserrat" charset="0"/>
              <a:cs typeface="Montserrat" charset="0"/>
            </a:endParaRPr>
          </a:p>
        </p:txBody>
      </p:sp>
      <p:sp>
        <p:nvSpPr>
          <p:cNvPr id="3" name="TextBox 2">
            <a:extLst>
              <a:ext uri="{FF2B5EF4-FFF2-40B4-BE49-F238E27FC236}">
                <a16:creationId xmlns:a16="http://schemas.microsoft.com/office/drawing/2014/main" id="{78D74E62-CB27-DFF7-A657-ED411130D352}"/>
              </a:ext>
            </a:extLst>
          </p:cNvPr>
          <p:cNvSpPr txBox="1"/>
          <p:nvPr/>
        </p:nvSpPr>
        <p:spPr>
          <a:xfrm>
            <a:off x="291763" y="733895"/>
            <a:ext cx="11594455" cy="1323439"/>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ontserrat" panose="00000500000000000000" pitchFamily="2" charset="0"/>
              </a:rPr>
              <a:t>Agile development is a flexible, iterative approach to building products that focuses on collaboration, continuous feedback, and delivering small, working pieces frequently.</a:t>
            </a:r>
          </a:p>
          <a:p>
            <a:pPr marL="285750" indent="-285750">
              <a:buFont typeface="Arial" panose="020B0604020202020204" pitchFamily="34" charset="0"/>
              <a:buChar char="•"/>
            </a:pPr>
            <a:r>
              <a:rPr lang="en-US" sz="1600" dirty="0">
                <a:latin typeface="Montserrat" panose="00000500000000000000" pitchFamily="2" charset="0"/>
              </a:rPr>
              <a:t>AI Projects are exploratory; the exact outcome can be uncertain, evolving with data/experimentation.</a:t>
            </a:r>
          </a:p>
          <a:p>
            <a:pPr marL="285750" indent="-285750">
              <a:buFont typeface="Arial" panose="020B0604020202020204" pitchFamily="34" charset="0"/>
              <a:buChar char="•"/>
            </a:pPr>
            <a:r>
              <a:rPr lang="en-US" sz="1600" dirty="0">
                <a:latin typeface="Montserrat" panose="00000500000000000000" pitchFamily="2" charset="0"/>
              </a:rPr>
              <a:t>Work is broken into smaller, manageable increments delivered in short cycles, allowing for rapid feedback and adaptation. </a:t>
            </a:r>
          </a:p>
        </p:txBody>
      </p:sp>
      <p:pic>
        <p:nvPicPr>
          <p:cNvPr id="1028" name="Picture 4">
            <a:extLst>
              <a:ext uri="{FF2B5EF4-FFF2-40B4-BE49-F238E27FC236}">
                <a16:creationId xmlns:a16="http://schemas.microsoft.com/office/drawing/2014/main" id="{CDB1A3ED-53D8-221A-7295-B829A403D5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1870" y="2239075"/>
            <a:ext cx="5036453" cy="308482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B0495B2-B715-63FC-C0E6-DD4BBF850649}"/>
              </a:ext>
            </a:extLst>
          </p:cNvPr>
          <p:cNvSpPr txBox="1"/>
          <p:nvPr/>
        </p:nvSpPr>
        <p:spPr>
          <a:xfrm>
            <a:off x="894869" y="6124105"/>
            <a:ext cx="6122642" cy="276999"/>
          </a:xfrm>
          <a:prstGeom prst="rect">
            <a:avLst/>
          </a:prstGeom>
          <a:noFill/>
        </p:spPr>
        <p:txBody>
          <a:bodyPr wrap="square">
            <a:spAutoFit/>
          </a:bodyPr>
          <a:lstStyle/>
          <a:p>
            <a:r>
              <a:rPr lang="en-CA" sz="1200" dirty="0"/>
              <a:t>https://commons.wikimedia.org/wiki/File:Agile_Project_Management_by_Planbox.png</a:t>
            </a:r>
          </a:p>
        </p:txBody>
      </p:sp>
    </p:spTree>
    <p:extLst>
      <p:ext uri="{BB962C8B-B14F-4D97-AF65-F5344CB8AC3E}">
        <p14:creationId xmlns:p14="http://schemas.microsoft.com/office/powerpoint/2010/main" val="28275141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B6CDE-0244-0757-63E5-1BA0789068D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ACECC86-4B89-649A-1899-3520308352C1}"/>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61E1E399-F04E-8C29-37D3-C001C2D65712}"/>
              </a:ext>
            </a:extLst>
          </p:cNvPr>
          <p:cNvSpPr/>
          <p:nvPr/>
        </p:nvSpPr>
        <p:spPr>
          <a:xfrm>
            <a:off x="154722" y="90489"/>
            <a:ext cx="9827492" cy="461665"/>
          </a:xfrm>
          <a:prstGeom prst="rect">
            <a:avLst/>
          </a:prstGeom>
        </p:spPr>
        <p:txBody>
          <a:bodyPr wrap="square">
            <a:spAutoFit/>
          </a:bodyPr>
          <a:lstStyle/>
          <a:p>
            <a:r>
              <a:rPr lang="en-CA" sz="2400" dirty="0">
                <a:solidFill>
                  <a:schemeClr val="bg1"/>
                </a:solidFill>
                <a:latin typeface="Montserrat" charset="0"/>
                <a:ea typeface="Montserrat" charset="0"/>
                <a:cs typeface="Montserrat" charset="0"/>
              </a:rPr>
              <a:t>Waterfall Vs. Agile Development</a:t>
            </a:r>
            <a:endParaRPr lang="en-US" sz="2400" b="1" dirty="0">
              <a:solidFill>
                <a:schemeClr val="bg1"/>
              </a:solidFill>
              <a:latin typeface="Montserrat" charset="0"/>
              <a:ea typeface="Montserrat" charset="0"/>
              <a:cs typeface="Montserrat" charset="0"/>
            </a:endParaRPr>
          </a:p>
        </p:txBody>
      </p:sp>
      <p:graphicFrame>
        <p:nvGraphicFramePr>
          <p:cNvPr id="2" name="Table 1">
            <a:extLst>
              <a:ext uri="{FF2B5EF4-FFF2-40B4-BE49-F238E27FC236}">
                <a16:creationId xmlns:a16="http://schemas.microsoft.com/office/drawing/2014/main" id="{7116F44D-85B1-A60D-F5CF-D96C5E686A9D}"/>
              </a:ext>
            </a:extLst>
          </p:cNvPr>
          <p:cNvGraphicFramePr>
            <a:graphicFrameLocks noGrp="1"/>
          </p:cNvGraphicFramePr>
          <p:nvPr>
            <p:extLst>
              <p:ext uri="{D42A27DB-BD31-4B8C-83A1-F6EECF244321}">
                <p14:modId xmlns:p14="http://schemas.microsoft.com/office/powerpoint/2010/main" val="228223206"/>
              </p:ext>
            </p:extLst>
          </p:nvPr>
        </p:nvGraphicFramePr>
        <p:xfrm>
          <a:off x="65316" y="918191"/>
          <a:ext cx="11771083" cy="3499484"/>
        </p:xfrm>
        <a:graphic>
          <a:graphicData uri="http://schemas.openxmlformats.org/drawingml/2006/table">
            <a:tbl>
              <a:tblPr>
                <a:tableStyleId>{3B4B98B0-60AC-42C2-AFA5-B58CD77FA1E5}</a:tableStyleId>
              </a:tblPr>
              <a:tblGrid>
                <a:gridCol w="1897767">
                  <a:extLst>
                    <a:ext uri="{9D8B030D-6E8A-4147-A177-3AD203B41FA5}">
                      <a16:colId xmlns:a16="http://schemas.microsoft.com/office/drawing/2014/main" val="3510894060"/>
                    </a:ext>
                  </a:extLst>
                </a:gridCol>
                <a:gridCol w="5421967">
                  <a:extLst>
                    <a:ext uri="{9D8B030D-6E8A-4147-A177-3AD203B41FA5}">
                      <a16:colId xmlns:a16="http://schemas.microsoft.com/office/drawing/2014/main" val="2155429750"/>
                    </a:ext>
                  </a:extLst>
                </a:gridCol>
                <a:gridCol w="4451349">
                  <a:extLst>
                    <a:ext uri="{9D8B030D-6E8A-4147-A177-3AD203B41FA5}">
                      <a16:colId xmlns:a16="http://schemas.microsoft.com/office/drawing/2014/main" val="1054889553"/>
                    </a:ext>
                  </a:extLst>
                </a:gridCol>
              </a:tblGrid>
              <a:tr h="198805">
                <a:tc>
                  <a:txBody>
                    <a:bodyPr/>
                    <a:lstStyle/>
                    <a:p>
                      <a:pPr algn="ctr"/>
                      <a:r>
                        <a:rPr lang="en-CA" sz="1200" b="1" dirty="0">
                          <a:latin typeface="Montserrat" panose="00000500000000000000" pitchFamily="2" charset="0"/>
                        </a:rPr>
                        <a:t>Feature / Aspect</a:t>
                      </a:r>
                    </a:p>
                  </a:txBody>
                  <a:tcPr marL="51802" marR="51802" marT="25901" marB="25901" anchor="ctr"/>
                </a:tc>
                <a:tc>
                  <a:txBody>
                    <a:bodyPr/>
                    <a:lstStyle/>
                    <a:p>
                      <a:pPr algn="ctr"/>
                      <a:r>
                        <a:rPr lang="en-CA" sz="1200" b="1" dirty="0">
                          <a:latin typeface="Montserrat" panose="00000500000000000000" pitchFamily="2" charset="0"/>
                        </a:rPr>
                        <a:t>Agile Development</a:t>
                      </a:r>
                    </a:p>
                  </a:txBody>
                  <a:tcPr marL="51802" marR="51802" marT="25901" marB="25901" anchor="ctr"/>
                </a:tc>
                <a:tc>
                  <a:txBody>
                    <a:bodyPr/>
                    <a:lstStyle/>
                    <a:p>
                      <a:pPr algn="ctr"/>
                      <a:r>
                        <a:rPr lang="en-CA" sz="1200" b="1" dirty="0">
                          <a:latin typeface="Montserrat" panose="00000500000000000000" pitchFamily="2" charset="0"/>
                        </a:rPr>
                        <a:t>Waterfall Development</a:t>
                      </a:r>
                    </a:p>
                  </a:txBody>
                  <a:tcPr marL="51802" marR="51802" marT="25901" marB="25901" anchor="ctr"/>
                </a:tc>
                <a:extLst>
                  <a:ext uri="{0D108BD9-81ED-4DB2-BD59-A6C34878D82A}">
                    <a16:rowId xmlns:a16="http://schemas.microsoft.com/office/drawing/2014/main" val="414732080"/>
                  </a:ext>
                </a:extLst>
              </a:tr>
              <a:tr h="198805">
                <a:tc>
                  <a:txBody>
                    <a:bodyPr/>
                    <a:lstStyle/>
                    <a:p>
                      <a:pPr algn="ctr"/>
                      <a:r>
                        <a:rPr lang="en-CA" sz="1200" b="1" dirty="0">
                          <a:latin typeface="Montserrat" panose="00000500000000000000" pitchFamily="2" charset="0"/>
                        </a:rPr>
                        <a:t>Approach</a:t>
                      </a:r>
                      <a:endParaRPr lang="en-CA" sz="1200" dirty="0">
                        <a:latin typeface="Montserrat" panose="00000500000000000000" pitchFamily="2" charset="0"/>
                      </a:endParaRPr>
                    </a:p>
                  </a:txBody>
                  <a:tcPr marL="51802" marR="51802" marT="25901" marB="25901" anchor="ctr"/>
                </a:tc>
                <a:tc>
                  <a:txBody>
                    <a:bodyPr/>
                    <a:lstStyle/>
                    <a:p>
                      <a:pPr algn="ctr"/>
                      <a:r>
                        <a:rPr lang="en-CA" sz="1200">
                          <a:latin typeface="Montserrat" panose="00000500000000000000" pitchFamily="2" charset="0"/>
                        </a:rPr>
                        <a:t>Iterative and incremental</a:t>
                      </a:r>
                    </a:p>
                  </a:txBody>
                  <a:tcPr marL="51802" marR="51802" marT="25901" marB="25901" anchor="ctr"/>
                </a:tc>
                <a:tc>
                  <a:txBody>
                    <a:bodyPr/>
                    <a:lstStyle/>
                    <a:p>
                      <a:pPr algn="ctr"/>
                      <a:r>
                        <a:rPr lang="en-CA" sz="1200">
                          <a:latin typeface="Montserrat" panose="00000500000000000000" pitchFamily="2" charset="0"/>
                        </a:rPr>
                        <a:t>Linear and sequential</a:t>
                      </a:r>
                    </a:p>
                  </a:txBody>
                  <a:tcPr marL="51802" marR="51802" marT="25901" marB="25901" anchor="ctr"/>
                </a:tc>
                <a:extLst>
                  <a:ext uri="{0D108BD9-81ED-4DB2-BD59-A6C34878D82A}">
                    <a16:rowId xmlns:a16="http://schemas.microsoft.com/office/drawing/2014/main" val="2119820677"/>
                  </a:ext>
                </a:extLst>
              </a:tr>
              <a:tr h="353727">
                <a:tc>
                  <a:txBody>
                    <a:bodyPr/>
                    <a:lstStyle/>
                    <a:p>
                      <a:pPr algn="ctr"/>
                      <a:r>
                        <a:rPr lang="en-CA" sz="1200" b="1" dirty="0">
                          <a:latin typeface="Montserrat" panose="00000500000000000000" pitchFamily="2" charset="0"/>
                        </a:rPr>
                        <a:t>Flexibility</a:t>
                      </a:r>
                      <a:endParaRPr lang="en-CA" sz="1200" dirty="0">
                        <a:latin typeface="Montserrat" panose="00000500000000000000" pitchFamily="2" charset="0"/>
                      </a:endParaRPr>
                    </a:p>
                  </a:txBody>
                  <a:tcPr marL="51802" marR="51802" marT="25901" marB="25901" anchor="ctr"/>
                </a:tc>
                <a:tc>
                  <a:txBody>
                    <a:bodyPr/>
                    <a:lstStyle/>
                    <a:p>
                      <a:pPr algn="ctr"/>
                      <a:r>
                        <a:rPr lang="en-US" sz="1200" dirty="0">
                          <a:latin typeface="Montserrat" panose="00000500000000000000" pitchFamily="2" charset="0"/>
                        </a:rPr>
                        <a:t>Highly flexible; changes can be made at any stage</a:t>
                      </a:r>
                    </a:p>
                  </a:txBody>
                  <a:tcPr marL="51802" marR="51802" marT="25901" marB="25901" anchor="ctr"/>
                </a:tc>
                <a:tc>
                  <a:txBody>
                    <a:bodyPr/>
                    <a:lstStyle/>
                    <a:p>
                      <a:pPr algn="ctr"/>
                      <a:r>
                        <a:rPr lang="en-US" sz="1200" dirty="0">
                          <a:latin typeface="Montserrat" panose="00000500000000000000" pitchFamily="2" charset="0"/>
                        </a:rPr>
                        <a:t>Inflexible; changes are difficult once a phase is completed</a:t>
                      </a:r>
                    </a:p>
                  </a:txBody>
                  <a:tcPr marL="51802" marR="51802" marT="25901" marB="25901" anchor="ctr"/>
                </a:tc>
                <a:extLst>
                  <a:ext uri="{0D108BD9-81ED-4DB2-BD59-A6C34878D82A}">
                    <a16:rowId xmlns:a16="http://schemas.microsoft.com/office/drawing/2014/main" val="2460109832"/>
                  </a:ext>
                </a:extLst>
              </a:tr>
              <a:tr h="238264">
                <a:tc>
                  <a:txBody>
                    <a:bodyPr/>
                    <a:lstStyle/>
                    <a:p>
                      <a:pPr algn="ctr"/>
                      <a:r>
                        <a:rPr lang="en-CA" sz="1200" b="1">
                          <a:latin typeface="Montserrat" panose="00000500000000000000" pitchFamily="2" charset="0"/>
                        </a:rPr>
                        <a:t>Project Phases</a:t>
                      </a:r>
                      <a:endParaRPr lang="en-CA" sz="1200">
                        <a:latin typeface="Montserrat" panose="00000500000000000000" pitchFamily="2" charset="0"/>
                      </a:endParaRPr>
                    </a:p>
                  </a:txBody>
                  <a:tcPr marL="51802" marR="51802" marT="25901" marB="25901" anchor="ctr"/>
                </a:tc>
                <a:tc>
                  <a:txBody>
                    <a:bodyPr/>
                    <a:lstStyle/>
                    <a:p>
                      <a:pPr algn="ctr"/>
                      <a:r>
                        <a:rPr lang="en-US" sz="1200" dirty="0">
                          <a:latin typeface="Montserrat" panose="00000500000000000000" pitchFamily="2" charset="0"/>
                        </a:rPr>
                        <a:t>Phases (planning, design, development) are repeated in each iteration</a:t>
                      </a:r>
                    </a:p>
                  </a:txBody>
                  <a:tcPr marL="51802" marR="51802" marT="25901" marB="25901" anchor="ctr"/>
                </a:tc>
                <a:tc>
                  <a:txBody>
                    <a:bodyPr/>
                    <a:lstStyle/>
                    <a:p>
                      <a:pPr algn="ctr"/>
                      <a:r>
                        <a:rPr lang="en-US" sz="1200">
                          <a:latin typeface="Montserrat" panose="00000500000000000000" pitchFamily="2" charset="0"/>
                        </a:rPr>
                        <a:t>Phases are distinct and completed one after the other</a:t>
                      </a:r>
                    </a:p>
                  </a:txBody>
                  <a:tcPr marL="51802" marR="51802" marT="25901" marB="25901" anchor="ctr"/>
                </a:tc>
                <a:extLst>
                  <a:ext uri="{0D108BD9-81ED-4DB2-BD59-A6C34878D82A}">
                    <a16:rowId xmlns:a16="http://schemas.microsoft.com/office/drawing/2014/main" val="1252602216"/>
                  </a:ext>
                </a:extLst>
              </a:tr>
              <a:tr h="353727">
                <a:tc>
                  <a:txBody>
                    <a:bodyPr/>
                    <a:lstStyle/>
                    <a:p>
                      <a:pPr algn="ctr"/>
                      <a:r>
                        <a:rPr lang="en-CA" sz="1200" b="1">
                          <a:latin typeface="Montserrat" panose="00000500000000000000" pitchFamily="2" charset="0"/>
                        </a:rPr>
                        <a:t>Customer Involvement</a:t>
                      </a:r>
                      <a:endParaRPr lang="en-CA" sz="1200">
                        <a:latin typeface="Montserrat" panose="00000500000000000000" pitchFamily="2" charset="0"/>
                      </a:endParaRPr>
                    </a:p>
                  </a:txBody>
                  <a:tcPr marL="51802" marR="51802" marT="25901" marB="25901" anchor="ctr"/>
                </a:tc>
                <a:tc>
                  <a:txBody>
                    <a:bodyPr/>
                    <a:lstStyle/>
                    <a:p>
                      <a:pPr algn="ctr"/>
                      <a:r>
                        <a:rPr lang="en-CA" sz="1200" dirty="0">
                          <a:latin typeface="Montserrat" panose="00000500000000000000" pitchFamily="2" charset="0"/>
                        </a:rPr>
                        <a:t>Continuous involvement and feedback</a:t>
                      </a:r>
                    </a:p>
                  </a:txBody>
                  <a:tcPr marL="51802" marR="51802" marT="25901" marB="25901" anchor="ctr"/>
                </a:tc>
                <a:tc>
                  <a:txBody>
                    <a:bodyPr/>
                    <a:lstStyle/>
                    <a:p>
                      <a:pPr algn="ctr"/>
                      <a:r>
                        <a:rPr lang="en-US" sz="1200">
                          <a:latin typeface="Montserrat" panose="00000500000000000000" pitchFamily="2" charset="0"/>
                        </a:rPr>
                        <a:t>Limited involvement, mostly at the beginning and end</a:t>
                      </a:r>
                    </a:p>
                  </a:txBody>
                  <a:tcPr marL="51802" marR="51802" marT="25901" marB="25901" anchor="ctr"/>
                </a:tc>
                <a:extLst>
                  <a:ext uri="{0D108BD9-81ED-4DB2-BD59-A6C34878D82A}">
                    <a16:rowId xmlns:a16="http://schemas.microsoft.com/office/drawing/2014/main" val="442008736"/>
                  </a:ext>
                </a:extLst>
              </a:tr>
              <a:tr h="198805">
                <a:tc>
                  <a:txBody>
                    <a:bodyPr/>
                    <a:lstStyle/>
                    <a:p>
                      <a:pPr algn="ctr"/>
                      <a:r>
                        <a:rPr lang="en-CA" sz="1200" b="1">
                          <a:latin typeface="Montserrat" panose="00000500000000000000" pitchFamily="2" charset="0"/>
                        </a:rPr>
                        <a:t>Testing</a:t>
                      </a:r>
                      <a:endParaRPr lang="en-CA" sz="1200">
                        <a:latin typeface="Montserrat" panose="00000500000000000000" pitchFamily="2" charset="0"/>
                      </a:endParaRPr>
                    </a:p>
                  </a:txBody>
                  <a:tcPr marL="51802" marR="51802" marT="25901" marB="25901" anchor="ctr"/>
                </a:tc>
                <a:tc>
                  <a:txBody>
                    <a:bodyPr/>
                    <a:lstStyle/>
                    <a:p>
                      <a:pPr algn="ctr"/>
                      <a:r>
                        <a:rPr lang="en-US" sz="1200">
                          <a:latin typeface="Montserrat" panose="00000500000000000000" pitchFamily="2" charset="0"/>
                        </a:rPr>
                        <a:t>Ongoing throughout the development cycle</a:t>
                      </a:r>
                    </a:p>
                  </a:txBody>
                  <a:tcPr marL="51802" marR="51802" marT="25901" marB="25901" anchor="ctr"/>
                </a:tc>
                <a:tc>
                  <a:txBody>
                    <a:bodyPr/>
                    <a:lstStyle/>
                    <a:p>
                      <a:pPr algn="ctr"/>
                      <a:r>
                        <a:rPr lang="en-US" sz="1200" dirty="0">
                          <a:latin typeface="Montserrat" panose="00000500000000000000" pitchFamily="2" charset="0"/>
                        </a:rPr>
                        <a:t>Done after the development phase</a:t>
                      </a:r>
                    </a:p>
                  </a:txBody>
                  <a:tcPr marL="51802" marR="51802" marT="25901" marB="25901" anchor="ctr"/>
                </a:tc>
                <a:extLst>
                  <a:ext uri="{0D108BD9-81ED-4DB2-BD59-A6C34878D82A}">
                    <a16:rowId xmlns:a16="http://schemas.microsoft.com/office/drawing/2014/main" val="3045751206"/>
                  </a:ext>
                </a:extLst>
              </a:tr>
              <a:tr h="198805">
                <a:tc>
                  <a:txBody>
                    <a:bodyPr/>
                    <a:lstStyle/>
                    <a:p>
                      <a:pPr algn="ctr"/>
                      <a:r>
                        <a:rPr lang="en-CA" sz="1200" b="1">
                          <a:latin typeface="Montserrat" panose="00000500000000000000" pitchFamily="2" charset="0"/>
                        </a:rPr>
                        <a:t>Delivery</a:t>
                      </a:r>
                      <a:endParaRPr lang="en-CA" sz="1200">
                        <a:latin typeface="Montserrat" panose="00000500000000000000" pitchFamily="2" charset="0"/>
                      </a:endParaRPr>
                    </a:p>
                  </a:txBody>
                  <a:tcPr marL="51802" marR="51802" marT="25901" marB="25901" anchor="ctr"/>
                </a:tc>
                <a:tc>
                  <a:txBody>
                    <a:bodyPr/>
                    <a:lstStyle/>
                    <a:p>
                      <a:pPr algn="ctr"/>
                      <a:r>
                        <a:rPr lang="en-US" sz="1200">
                          <a:latin typeface="Montserrat" panose="00000500000000000000" pitchFamily="2" charset="0"/>
                        </a:rPr>
                        <a:t>Working product delivered in increments</a:t>
                      </a:r>
                    </a:p>
                  </a:txBody>
                  <a:tcPr marL="51802" marR="51802" marT="25901" marB="25901" anchor="ctr"/>
                </a:tc>
                <a:tc>
                  <a:txBody>
                    <a:bodyPr/>
                    <a:lstStyle/>
                    <a:p>
                      <a:pPr algn="ctr"/>
                      <a:r>
                        <a:rPr lang="en-US" sz="1200" dirty="0">
                          <a:latin typeface="Montserrat" panose="00000500000000000000" pitchFamily="2" charset="0"/>
                        </a:rPr>
                        <a:t>Delivered at the end of the project</a:t>
                      </a:r>
                    </a:p>
                  </a:txBody>
                  <a:tcPr marL="51802" marR="51802" marT="25901" marB="25901" anchor="ctr"/>
                </a:tc>
                <a:extLst>
                  <a:ext uri="{0D108BD9-81ED-4DB2-BD59-A6C34878D82A}">
                    <a16:rowId xmlns:a16="http://schemas.microsoft.com/office/drawing/2014/main" val="475919517"/>
                  </a:ext>
                </a:extLst>
              </a:tr>
              <a:tr h="198805">
                <a:tc>
                  <a:txBody>
                    <a:bodyPr/>
                    <a:lstStyle/>
                    <a:p>
                      <a:pPr algn="ctr"/>
                      <a:r>
                        <a:rPr lang="en-CA" sz="1200" b="1" dirty="0">
                          <a:latin typeface="Montserrat" panose="00000500000000000000" pitchFamily="2" charset="0"/>
                        </a:rPr>
                        <a:t>Risk Management</a:t>
                      </a:r>
                      <a:endParaRPr lang="en-CA" sz="1200" dirty="0">
                        <a:latin typeface="Montserrat" panose="00000500000000000000" pitchFamily="2" charset="0"/>
                      </a:endParaRPr>
                    </a:p>
                  </a:txBody>
                  <a:tcPr marL="51802" marR="51802" marT="25901" marB="25901" anchor="ctr"/>
                </a:tc>
                <a:tc>
                  <a:txBody>
                    <a:bodyPr/>
                    <a:lstStyle/>
                    <a:p>
                      <a:pPr algn="ctr"/>
                      <a:r>
                        <a:rPr lang="en-US" sz="1200" dirty="0">
                          <a:latin typeface="Montserrat" panose="00000500000000000000" pitchFamily="2" charset="0"/>
                        </a:rPr>
                        <a:t>Lower risk due to frequent reassessment and delivery</a:t>
                      </a:r>
                    </a:p>
                  </a:txBody>
                  <a:tcPr marL="51802" marR="51802" marT="25901" marB="25901" anchor="ctr"/>
                </a:tc>
                <a:tc>
                  <a:txBody>
                    <a:bodyPr/>
                    <a:lstStyle/>
                    <a:p>
                      <a:pPr algn="ctr"/>
                      <a:r>
                        <a:rPr lang="en-US" sz="1200" dirty="0">
                          <a:latin typeface="Montserrat" panose="00000500000000000000" pitchFamily="2" charset="0"/>
                        </a:rPr>
                        <a:t>Higher risk due to late testing and feedback</a:t>
                      </a:r>
                    </a:p>
                  </a:txBody>
                  <a:tcPr marL="51802" marR="51802" marT="25901" marB="25901" anchor="ctr"/>
                </a:tc>
                <a:extLst>
                  <a:ext uri="{0D108BD9-81ED-4DB2-BD59-A6C34878D82A}">
                    <a16:rowId xmlns:a16="http://schemas.microsoft.com/office/drawing/2014/main" val="2320013727"/>
                  </a:ext>
                </a:extLst>
              </a:tr>
              <a:tr h="238264">
                <a:tc>
                  <a:txBody>
                    <a:bodyPr/>
                    <a:lstStyle/>
                    <a:p>
                      <a:pPr algn="ctr"/>
                      <a:r>
                        <a:rPr lang="en-CA" sz="1200" b="1">
                          <a:latin typeface="Montserrat" panose="00000500000000000000" pitchFamily="2" charset="0"/>
                        </a:rPr>
                        <a:t>Team Collaboration</a:t>
                      </a:r>
                      <a:endParaRPr lang="en-CA" sz="1200">
                        <a:latin typeface="Montserrat" panose="00000500000000000000" pitchFamily="2" charset="0"/>
                      </a:endParaRPr>
                    </a:p>
                  </a:txBody>
                  <a:tcPr marL="51802" marR="51802" marT="25901" marB="25901" anchor="ctr"/>
                </a:tc>
                <a:tc>
                  <a:txBody>
                    <a:bodyPr/>
                    <a:lstStyle/>
                    <a:p>
                      <a:pPr algn="ctr"/>
                      <a:r>
                        <a:rPr lang="en-US" sz="1200">
                          <a:latin typeface="Montserrat" panose="00000500000000000000" pitchFamily="2" charset="0"/>
                        </a:rPr>
                        <a:t>Strong emphasis on collaboration and self-organizing teams</a:t>
                      </a:r>
                    </a:p>
                  </a:txBody>
                  <a:tcPr marL="51802" marR="51802" marT="25901" marB="25901" anchor="ctr"/>
                </a:tc>
                <a:tc>
                  <a:txBody>
                    <a:bodyPr/>
                    <a:lstStyle/>
                    <a:p>
                      <a:pPr algn="ctr"/>
                      <a:r>
                        <a:rPr lang="en-US" sz="1200" dirty="0">
                          <a:latin typeface="Montserrat" panose="00000500000000000000" pitchFamily="2" charset="0"/>
                        </a:rPr>
                        <a:t>Typically follows a top-down approach</a:t>
                      </a:r>
                    </a:p>
                  </a:txBody>
                  <a:tcPr marL="51802" marR="51802" marT="25901" marB="25901" anchor="ctr"/>
                </a:tc>
                <a:extLst>
                  <a:ext uri="{0D108BD9-81ED-4DB2-BD59-A6C34878D82A}">
                    <a16:rowId xmlns:a16="http://schemas.microsoft.com/office/drawing/2014/main" val="1142557446"/>
                  </a:ext>
                </a:extLst>
              </a:tr>
              <a:tr h="353727">
                <a:tc>
                  <a:txBody>
                    <a:bodyPr/>
                    <a:lstStyle/>
                    <a:p>
                      <a:pPr algn="ctr"/>
                      <a:r>
                        <a:rPr lang="en-CA" sz="1200" b="1" dirty="0">
                          <a:latin typeface="Montserrat" panose="00000500000000000000" pitchFamily="2" charset="0"/>
                        </a:rPr>
                        <a:t>Project Size &amp; Complexity</a:t>
                      </a:r>
                      <a:endParaRPr lang="en-CA" sz="1200" dirty="0">
                        <a:latin typeface="Montserrat" panose="00000500000000000000" pitchFamily="2" charset="0"/>
                      </a:endParaRPr>
                    </a:p>
                  </a:txBody>
                  <a:tcPr marL="51802" marR="51802" marT="25901" marB="25901" anchor="ctr"/>
                </a:tc>
                <a:tc>
                  <a:txBody>
                    <a:bodyPr/>
                    <a:lstStyle/>
                    <a:p>
                      <a:pPr algn="ctr"/>
                      <a:r>
                        <a:rPr lang="en-US" sz="1200">
                          <a:latin typeface="Montserrat" panose="00000500000000000000" pitchFamily="2" charset="0"/>
                        </a:rPr>
                        <a:t>Suitable for complex, evolving projects</a:t>
                      </a:r>
                    </a:p>
                  </a:txBody>
                  <a:tcPr marL="51802" marR="51802" marT="25901" marB="25901" anchor="ctr"/>
                </a:tc>
                <a:tc>
                  <a:txBody>
                    <a:bodyPr/>
                    <a:lstStyle/>
                    <a:p>
                      <a:pPr algn="ctr"/>
                      <a:r>
                        <a:rPr lang="en-US" sz="1200" dirty="0">
                          <a:latin typeface="Montserrat" panose="00000500000000000000" pitchFamily="2" charset="0"/>
                        </a:rPr>
                        <a:t>Suitable for simple, well-defined projects</a:t>
                      </a:r>
                    </a:p>
                  </a:txBody>
                  <a:tcPr marL="51802" marR="51802" marT="25901" marB="25901" anchor="ctr"/>
                </a:tc>
                <a:extLst>
                  <a:ext uri="{0D108BD9-81ED-4DB2-BD59-A6C34878D82A}">
                    <a16:rowId xmlns:a16="http://schemas.microsoft.com/office/drawing/2014/main" val="813630679"/>
                  </a:ext>
                </a:extLst>
              </a:tr>
              <a:tr h="353727">
                <a:tc>
                  <a:txBody>
                    <a:bodyPr/>
                    <a:lstStyle/>
                    <a:p>
                      <a:pPr algn="ctr"/>
                      <a:r>
                        <a:rPr lang="en-CA" sz="1200" b="1">
                          <a:latin typeface="Montserrat" panose="00000500000000000000" pitchFamily="2" charset="0"/>
                        </a:rPr>
                        <a:t>Examples of Use</a:t>
                      </a:r>
                      <a:endParaRPr lang="en-CA" sz="1200">
                        <a:latin typeface="Montserrat" panose="00000500000000000000" pitchFamily="2" charset="0"/>
                      </a:endParaRPr>
                    </a:p>
                  </a:txBody>
                  <a:tcPr marL="51802" marR="51802" marT="25901" marB="25901" anchor="ctr"/>
                </a:tc>
                <a:tc>
                  <a:txBody>
                    <a:bodyPr/>
                    <a:lstStyle/>
                    <a:p>
                      <a:pPr algn="ctr"/>
                      <a:r>
                        <a:rPr lang="en-US" sz="1200" dirty="0">
                          <a:latin typeface="Montserrat" panose="00000500000000000000" pitchFamily="2" charset="0"/>
                        </a:rPr>
                        <a:t>Software startups, evolving products, dynamic requirements</a:t>
                      </a:r>
                    </a:p>
                  </a:txBody>
                  <a:tcPr marL="51802" marR="51802" marT="25901" marB="25901" anchor="ctr"/>
                </a:tc>
                <a:tc>
                  <a:txBody>
                    <a:bodyPr/>
                    <a:lstStyle/>
                    <a:p>
                      <a:pPr algn="ctr"/>
                      <a:r>
                        <a:rPr lang="en-US" sz="1200" dirty="0">
                          <a:latin typeface="Montserrat" panose="00000500000000000000" pitchFamily="2" charset="0"/>
                        </a:rPr>
                        <a:t>Construction projects, manufacturing, regulated environments</a:t>
                      </a:r>
                    </a:p>
                  </a:txBody>
                  <a:tcPr marL="51802" marR="51802" marT="25901" marB="25901" anchor="ctr"/>
                </a:tc>
                <a:extLst>
                  <a:ext uri="{0D108BD9-81ED-4DB2-BD59-A6C34878D82A}">
                    <a16:rowId xmlns:a16="http://schemas.microsoft.com/office/drawing/2014/main" val="1667219540"/>
                  </a:ext>
                </a:extLst>
              </a:tr>
            </a:tbl>
          </a:graphicData>
        </a:graphic>
      </p:graphicFrame>
    </p:spTree>
    <p:extLst>
      <p:ext uri="{BB962C8B-B14F-4D97-AF65-F5344CB8AC3E}">
        <p14:creationId xmlns:p14="http://schemas.microsoft.com/office/powerpoint/2010/main" val="39916476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AEF73-0D75-053F-06C3-23F51D1C301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827774C-BE53-B474-9340-7D45664360F2}"/>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14CB896-FBF8-C744-36A0-DEB2EF0AF6DF}"/>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5EF30E37-15FD-8080-2B8C-E25706BACC04}"/>
              </a:ext>
            </a:extLst>
          </p:cNvPr>
          <p:cNvSpPr/>
          <p:nvPr/>
        </p:nvSpPr>
        <p:spPr>
          <a:xfrm>
            <a:off x="293914" y="793804"/>
            <a:ext cx="5578566" cy="317009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AI PROJECT MANAGEMENT FRAMEWORKS: CRISP-DM Vs. AGILE Vs. HYBRID</a:t>
            </a:r>
          </a:p>
        </p:txBody>
      </p:sp>
      <p:pic>
        <p:nvPicPr>
          <p:cNvPr id="5" name="Picture 4">
            <a:extLst>
              <a:ext uri="{FF2B5EF4-FFF2-40B4-BE49-F238E27FC236}">
                <a16:creationId xmlns:a16="http://schemas.microsoft.com/office/drawing/2014/main" id="{0E09733A-EE8D-F3F9-7FCE-05945546B5FC}"/>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12178033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88">
          <a:extLst>
            <a:ext uri="{FF2B5EF4-FFF2-40B4-BE49-F238E27FC236}">
              <a16:creationId xmlns:a16="http://schemas.microsoft.com/office/drawing/2014/main" id="{74951330-543B-0EFB-5655-E6AC199E15B4}"/>
            </a:ext>
          </a:extLst>
        </p:cNvPr>
        <p:cNvGrpSpPr/>
        <p:nvPr/>
      </p:nvGrpSpPr>
      <p:grpSpPr>
        <a:xfrm>
          <a:off x="0" y="0"/>
          <a:ext cx="0" cy="0"/>
          <a:chOff x="0" y="0"/>
          <a:chExt cx="0" cy="0"/>
        </a:xfrm>
      </p:grpSpPr>
      <p:pic>
        <p:nvPicPr>
          <p:cNvPr id="389" name="Google Shape;389;g355ea8b0119_0_226">
            <a:extLst>
              <a:ext uri="{FF2B5EF4-FFF2-40B4-BE49-F238E27FC236}">
                <a16:creationId xmlns:a16="http://schemas.microsoft.com/office/drawing/2014/main" id="{A2D340D5-3C90-99C6-CFBA-5EBBE21FD784}"/>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sp>
        <p:nvSpPr>
          <p:cNvPr id="392" name="Google Shape;392;g355ea8b0119_0_226">
            <a:extLst>
              <a:ext uri="{FF2B5EF4-FFF2-40B4-BE49-F238E27FC236}">
                <a16:creationId xmlns:a16="http://schemas.microsoft.com/office/drawing/2014/main" id="{B437B111-B584-D3FA-A610-817C4E12D3D5}"/>
              </a:ext>
            </a:extLst>
          </p:cNvPr>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393" name="Google Shape;393;g355ea8b0119_0_226">
            <a:extLst>
              <a:ext uri="{FF2B5EF4-FFF2-40B4-BE49-F238E27FC236}">
                <a16:creationId xmlns:a16="http://schemas.microsoft.com/office/drawing/2014/main" id="{63E9B1CE-4F0B-8634-C0F9-C2B9F8626EF2}"/>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AI Project Management Frameworks</a:t>
            </a:r>
            <a:endParaRPr sz="1400" b="0" i="0" u="none" strike="noStrike" cap="none" dirty="0">
              <a:solidFill>
                <a:srgbClr val="000000"/>
              </a:solidFill>
              <a:latin typeface="Arial"/>
              <a:ea typeface="Arial"/>
              <a:cs typeface="Arial"/>
              <a:sym typeface="Arial"/>
            </a:endParaRPr>
          </a:p>
        </p:txBody>
      </p:sp>
      <p:graphicFrame>
        <p:nvGraphicFramePr>
          <p:cNvPr id="3" name="Diagram 2">
            <a:extLst>
              <a:ext uri="{FF2B5EF4-FFF2-40B4-BE49-F238E27FC236}">
                <a16:creationId xmlns:a16="http://schemas.microsoft.com/office/drawing/2014/main" id="{93BBD7CE-533A-68A4-6C95-1AF9EB49D48E}"/>
              </a:ext>
            </a:extLst>
          </p:cNvPr>
          <p:cNvGraphicFramePr/>
          <p:nvPr>
            <p:extLst>
              <p:ext uri="{D42A27DB-BD31-4B8C-83A1-F6EECF244321}">
                <p14:modId xmlns:p14="http://schemas.microsoft.com/office/powerpoint/2010/main" val="3187457656"/>
              </p:ext>
            </p:extLst>
          </p:nvPr>
        </p:nvGraphicFramePr>
        <p:xfrm>
          <a:off x="297902" y="481776"/>
          <a:ext cx="11296674" cy="456353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5231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graphicEl>
                                              <a:dgm id="{5271EEBC-3E21-47B4-9F3B-8B52E78B9E85}"/>
                                            </p:graphicEl>
                                          </p:spTgt>
                                        </p:tgtEl>
                                        <p:attrNameLst>
                                          <p:attrName>style.visibility</p:attrName>
                                        </p:attrNameLst>
                                      </p:cBhvr>
                                      <p:to>
                                        <p:strVal val="visible"/>
                                      </p:to>
                                    </p:set>
                                    <p:animEffect transition="in" filter="fade">
                                      <p:cBhvr>
                                        <p:cTn id="7" dur="500"/>
                                        <p:tgtEl>
                                          <p:spTgt spid="3">
                                            <p:graphicEl>
                                              <a:dgm id="{5271EEBC-3E21-47B4-9F3B-8B52E78B9E85}"/>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graphicEl>
                                              <a:dgm id="{0634ABF7-4ABD-4418-A519-EF1EACC30BB1}"/>
                                            </p:graphicEl>
                                          </p:spTgt>
                                        </p:tgtEl>
                                        <p:attrNameLst>
                                          <p:attrName>style.visibility</p:attrName>
                                        </p:attrNameLst>
                                      </p:cBhvr>
                                      <p:to>
                                        <p:strVal val="visible"/>
                                      </p:to>
                                    </p:set>
                                    <p:animEffect transition="in" filter="fade">
                                      <p:cBhvr>
                                        <p:cTn id="12" dur="500"/>
                                        <p:tgtEl>
                                          <p:spTgt spid="3">
                                            <p:graphicEl>
                                              <a:dgm id="{0634ABF7-4ABD-4418-A519-EF1EACC30BB1}"/>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graphicEl>
                                              <a:dgm id="{9E1E2A3A-92B3-4275-8A22-ED8BEEE5B602}"/>
                                            </p:graphicEl>
                                          </p:spTgt>
                                        </p:tgtEl>
                                        <p:attrNameLst>
                                          <p:attrName>style.visibility</p:attrName>
                                        </p:attrNameLst>
                                      </p:cBhvr>
                                      <p:to>
                                        <p:strVal val="visible"/>
                                      </p:to>
                                    </p:set>
                                    <p:animEffect transition="in" filter="fade">
                                      <p:cBhvr>
                                        <p:cTn id="17" dur="500"/>
                                        <p:tgtEl>
                                          <p:spTgt spid="3">
                                            <p:graphicEl>
                                              <a:dgm id="{9E1E2A3A-92B3-4275-8A22-ED8BEEE5B602}"/>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88">
          <a:extLst>
            <a:ext uri="{FF2B5EF4-FFF2-40B4-BE49-F238E27FC236}">
              <a16:creationId xmlns:a16="http://schemas.microsoft.com/office/drawing/2014/main" id="{78CA766F-F074-8813-23BE-BD2BD246F67E}"/>
            </a:ext>
          </a:extLst>
        </p:cNvPr>
        <p:cNvGrpSpPr/>
        <p:nvPr/>
      </p:nvGrpSpPr>
      <p:grpSpPr>
        <a:xfrm>
          <a:off x="0" y="0"/>
          <a:ext cx="0" cy="0"/>
          <a:chOff x="0" y="0"/>
          <a:chExt cx="0" cy="0"/>
        </a:xfrm>
      </p:grpSpPr>
      <p:pic>
        <p:nvPicPr>
          <p:cNvPr id="389" name="Google Shape;389;g355ea8b0119_0_226">
            <a:extLst>
              <a:ext uri="{FF2B5EF4-FFF2-40B4-BE49-F238E27FC236}">
                <a16:creationId xmlns:a16="http://schemas.microsoft.com/office/drawing/2014/main" id="{24EFB649-7883-88D9-FF1B-61CF50E9394E}"/>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sp>
        <p:nvSpPr>
          <p:cNvPr id="392" name="Google Shape;392;g355ea8b0119_0_226">
            <a:extLst>
              <a:ext uri="{FF2B5EF4-FFF2-40B4-BE49-F238E27FC236}">
                <a16:creationId xmlns:a16="http://schemas.microsoft.com/office/drawing/2014/main" id="{C6C00016-D580-4814-CCE9-4D3C8ADF10FC}"/>
              </a:ext>
            </a:extLst>
          </p:cNvPr>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393" name="Google Shape;393;g355ea8b0119_0_226">
            <a:extLst>
              <a:ext uri="{FF2B5EF4-FFF2-40B4-BE49-F238E27FC236}">
                <a16:creationId xmlns:a16="http://schemas.microsoft.com/office/drawing/2014/main" id="{11484F2A-3508-1FF5-67D8-ACE68D49F434}"/>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A. Crisp-DM Approach</a:t>
            </a:r>
            <a:endParaRPr sz="1400" b="0" i="0" u="none" strike="noStrike" cap="none" dirty="0">
              <a:solidFill>
                <a:srgbClr val="000000"/>
              </a:solidFill>
              <a:latin typeface="Arial"/>
              <a:ea typeface="Arial"/>
              <a:cs typeface="Arial"/>
              <a:sym typeface="Arial"/>
            </a:endParaRPr>
          </a:p>
        </p:txBody>
      </p:sp>
      <p:sp>
        <p:nvSpPr>
          <p:cNvPr id="394" name="Google Shape;394;g355ea8b0119_0_226">
            <a:extLst>
              <a:ext uri="{FF2B5EF4-FFF2-40B4-BE49-F238E27FC236}">
                <a16:creationId xmlns:a16="http://schemas.microsoft.com/office/drawing/2014/main" id="{6937B336-ABD3-8A73-26F7-F64DB60FA9F8}"/>
              </a:ext>
            </a:extLst>
          </p:cNvPr>
          <p:cNvSpPr txBox="1"/>
          <p:nvPr/>
        </p:nvSpPr>
        <p:spPr>
          <a:xfrm>
            <a:off x="54197" y="666803"/>
            <a:ext cx="11464500" cy="6006300"/>
          </a:xfrm>
          <a:prstGeom prst="rect">
            <a:avLst/>
          </a:prstGeom>
          <a:noFill/>
          <a:ln>
            <a:noFill/>
          </a:ln>
        </p:spPr>
        <p:txBody>
          <a:bodyPr spcFirstLastPara="1" wrap="square" lIns="91425" tIns="45700" rIns="91425" bIns="45700" anchor="t" anchorCtr="0">
            <a:normAutofit/>
          </a:bodyPr>
          <a:lstStyle/>
          <a:p>
            <a:pPr marL="400050" lvl="0" indent="-285750" algn="l" rtl="0">
              <a:spcBef>
                <a:spcPts val="1200"/>
              </a:spcBef>
              <a:spcAft>
                <a:spcPts val="0"/>
              </a:spcAft>
              <a:buClr>
                <a:srgbClr val="1BBFD1"/>
              </a:buClr>
              <a:buSzPts val="1800"/>
              <a:buFont typeface="Arial" panose="020B0604020202020204" pitchFamily="34" charset="0"/>
              <a:buChar char="•"/>
            </a:pPr>
            <a:r>
              <a:rPr lang="en-US" sz="1600" dirty="0">
                <a:solidFill>
                  <a:schemeClr val="dk1"/>
                </a:solidFill>
                <a:latin typeface="Montserrat"/>
                <a:ea typeface="Montserrat"/>
                <a:cs typeface="Montserrat"/>
                <a:sym typeface="Montserrat"/>
              </a:rPr>
              <a:t>CRISP-DM stands for Cross-Industry Standard Process for Data Mining. It’s one of the most widely used and foundational methodologies for managing data science and AI projects. </a:t>
            </a:r>
          </a:p>
          <a:p>
            <a:pPr marL="400050" lvl="0" indent="-285750" algn="l" rtl="0">
              <a:spcBef>
                <a:spcPts val="1200"/>
              </a:spcBef>
              <a:spcAft>
                <a:spcPts val="0"/>
              </a:spcAft>
              <a:buClr>
                <a:srgbClr val="1BBFD1"/>
              </a:buClr>
              <a:buSzPts val="1800"/>
              <a:buFont typeface="Arial" panose="020B0604020202020204" pitchFamily="34" charset="0"/>
              <a:buChar char="•"/>
            </a:pPr>
            <a:r>
              <a:rPr lang="en-US" sz="1600" dirty="0">
                <a:solidFill>
                  <a:schemeClr val="dk1"/>
                </a:solidFill>
                <a:latin typeface="Montserrat"/>
                <a:ea typeface="Montserrat"/>
                <a:cs typeface="Montserrat"/>
                <a:sym typeface="Montserrat"/>
              </a:rPr>
              <a:t>It provides a structured, six-phase process to guide teams from business understanding to deploying a working solution.</a:t>
            </a:r>
          </a:p>
        </p:txBody>
      </p:sp>
      <p:pic>
        <p:nvPicPr>
          <p:cNvPr id="5122" name="Picture 2">
            <a:extLst>
              <a:ext uri="{FF2B5EF4-FFF2-40B4-BE49-F238E27FC236}">
                <a16:creationId xmlns:a16="http://schemas.microsoft.com/office/drawing/2014/main" id="{CD0A0698-080C-5835-4362-DBDB8D8710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9263" y="2026755"/>
            <a:ext cx="4252137" cy="4260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29923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pic>
        <p:nvPicPr>
          <p:cNvPr id="389" name="Google Shape;389;g355ea8b0119_0_226"/>
          <p:cNvPicPr preferRelativeResize="0"/>
          <p:nvPr/>
        </p:nvPicPr>
        <p:blipFill rotWithShape="1">
          <a:blip r:embed="rId3">
            <a:alphaModFix/>
          </a:blip>
          <a:srcRect/>
          <a:stretch/>
        </p:blipFill>
        <p:spPr>
          <a:xfrm>
            <a:off x="3202" y="0"/>
            <a:ext cx="12224773" cy="6857999"/>
          </a:xfrm>
          <a:prstGeom prst="rect">
            <a:avLst/>
          </a:prstGeom>
          <a:noFill/>
          <a:ln>
            <a:noFill/>
          </a:ln>
        </p:spPr>
      </p:pic>
      <p:sp>
        <p:nvSpPr>
          <p:cNvPr id="392" name="Google Shape;392;g355ea8b0119_0_226"/>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393" name="Google Shape;393;g355ea8b0119_0_226"/>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A. Crisp-DM Phases</a:t>
            </a:r>
            <a:endParaRPr sz="1400" b="0" i="0" u="none" strike="noStrike" cap="none" dirty="0">
              <a:solidFill>
                <a:srgbClr val="000000"/>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B8774FA9-BFFC-5832-30AA-7864DA952B4D}"/>
              </a:ext>
            </a:extLst>
          </p:cNvPr>
          <p:cNvGraphicFramePr>
            <a:graphicFrameLocks noGrp="1"/>
          </p:cNvGraphicFramePr>
          <p:nvPr>
            <p:extLst>
              <p:ext uri="{D42A27DB-BD31-4B8C-83A1-F6EECF244321}">
                <p14:modId xmlns:p14="http://schemas.microsoft.com/office/powerpoint/2010/main" val="2464865657"/>
              </p:ext>
            </p:extLst>
          </p:nvPr>
        </p:nvGraphicFramePr>
        <p:xfrm>
          <a:off x="212372" y="1117578"/>
          <a:ext cx="11676903" cy="2464766"/>
        </p:xfrm>
        <a:graphic>
          <a:graphicData uri="http://schemas.openxmlformats.org/drawingml/2006/table">
            <a:tbl>
              <a:tblPr>
                <a:tableStyleId>{3B4B98B0-60AC-42C2-AFA5-B58CD77FA1E5}</a:tableStyleId>
              </a:tblPr>
              <a:tblGrid>
                <a:gridCol w="2714690">
                  <a:extLst>
                    <a:ext uri="{9D8B030D-6E8A-4147-A177-3AD203B41FA5}">
                      <a16:colId xmlns:a16="http://schemas.microsoft.com/office/drawing/2014/main" val="2799320514"/>
                    </a:ext>
                  </a:extLst>
                </a:gridCol>
                <a:gridCol w="8962213">
                  <a:extLst>
                    <a:ext uri="{9D8B030D-6E8A-4147-A177-3AD203B41FA5}">
                      <a16:colId xmlns:a16="http://schemas.microsoft.com/office/drawing/2014/main" val="1049454459"/>
                    </a:ext>
                  </a:extLst>
                </a:gridCol>
              </a:tblGrid>
              <a:tr h="294090">
                <a:tc>
                  <a:txBody>
                    <a:bodyPr/>
                    <a:lstStyle/>
                    <a:p>
                      <a:pPr algn="ctr"/>
                      <a:r>
                        <a:rPr lang="en-CA" sz="1700" b="1" dirty="0"/>
                        <a:t>Phase</a:t>
                      </a:r>
                      <a:endParaRPr lang="en-CA" sz="1700" dirty="0"/>
                    </a:p>
                  </a:txBody>
                  <a:tcPr marL="88803" marR="88803" marT="44401" marB="44401" anchor="ctr"/>
                </a:tc>
                <a:tc>
                  <a:txBody>
                    <a:bodyPr/>
                    <a:lstStyle/>
                    <a:p>
                      <a:pPr algn="ctr"/>
                      <a:r>
                        <a:rPr lang="en-CA" sz="1700" b="1" dirty="0"/>
                        <a:t>What Happens</a:t>
                      </a:r>
                      <a:endParaRPr lang="en-CA" sz="1700" dirty="0"/>
                    </a:p>
                  </a:txBody>
                  <a:tcPr marL="88803" marR="88803" marT="44401" marB="44401" anchor="ctr"/>
                </a:tc>
                <a:extLst>
                  <a:ext uri="{0D108BD9-81ED-4DB2-BD59-A6C34878D82A}">
                    <a16:rowId xmlns:a16="http://schemas.microsoft.com/office/drawing/2014/main" val="966836297"/>
                  </a:ext>
                </a:extLst>
              </a:tr>
              <a:tr h="330613">
                <a:tc>
                  <a:txBody>
                    <a:bodyPr/>
                    <a:lstStyle/>
                    <a:p>
                      <a:pPr algn="ctr"/>
                      <a:r>
                        <a:rPr lang="en-CA" sz="1700" b="1" dirty="0"/>
                        <a:t>1. Business Understanding</a:t>
                      </a:r>
                      <a:endParaRPr lang="en-CA" sz="1700" dirty="0"/>
                    </a:p>
                  </a:txBody>
                  <a:tcPr marL="88803" marR="88803" marT="44401" marB="44401" anchor="ctr"/>
                </a:tc>
                <a:tc>
                  <a:txBody>
                    <a:bodyPr/>
                    <a:lstStyle/>
                    <a:p>
                      <a:pPr algn="ctr"/>
                      <a:r>
                        <a:rPr lang="en-US" sz="1700"/>
                        <a:t>Define the project goals, success criteria, and business objectives. Understand the problem deeply.</a:t>
                      </a:r>
                    </a:p>
                  </a:txBody>
                  <a:tcPr marL="88803" marR="88803" marT="44401" marB="44401" anchor="ctr"/>
                </a:tc>
                <a:extLst>
                  <a:ext uri="{0D108BD9-81ED-4DB2-BD59-A6C34878D82A}">
                    <a16:rowId xmlns:a16="http://schemas.microsoft.com/office/drawing/2014/main" val="3491584899"/>
                  </a:ext>
                </a:extLst>
              </a:tr>
              <a:tr h="330613">
                <a:tc>
                  <a:txBody>
                    <a:bodyPr/>
                    <a:lstStyle/>
                    <a:p>
                      <a:pPr algn="ctr"/>
                      <a:r>
                        <a:rPr lang="en-CA" sz="1700" b="1" dirty="0"/>
                        <a:t>2. Data Understanding</a:t>
                      </a:r>
                      <a:endParaRPr lang="en-CA" sz="1700" dirty="0"/>
                    </a:p>
                  </a:txBody>
                  <a:tcPr marL="88803" marR="88803" marT="44401" marB="44401" anchor="ctr"/>
                </a:tc>
                <a:tc>
                  <a:txBody>
                    <a:bodyPr/>
                    <a:lstStyle/>
                    <a:p>
                      <a:pPr algn="ctr"/>
                      <a:r>
                        <a:rPr lang="en-US" sz="1700" dirty="0"/>
                        <a:t>Collect initial data, explore it, and identify quality issues, patterns, or interesting features.</a:t>
                      </a:r>
                    </a:p>
                  </a:txBody>
                  <a:tcPr marL="88803" marR="88803" marT="44401" marB="44401" anchor="ctr"/>
                </a:tc>
                <a:extLst>
                  <a:ext uri="{0D108BD9-81ED-4DB2-BD59-A6C34878D82A}">
                    <a16:rowId xmlns:a16="http://schemas.microsoft.com/office/drawing/2014/main" val="1472739084"/>
                  </a:ext>
                </a:extLst>
              </a:tr>
              <a:tr h="330613">
                <a:tc>
                  <a:txBody>
                    <a:bodyPr/>
                    <a:lstStyle/>
                    <a:p>
                      <a:pPr algn="ctr"/>
                      <a:r>
                        <a:rPr lang="en-CA" sz="1700" b="1"/>
                        <a:t>3. Data Preparation</a:t>
                      </a:r>
                      <a:endParaRPr lang="en-CA" sz="1700"/>
                    </a:p>
                  </a:txBody>
                  <a:tcPr marL="88803" marR="88803" marT="44401" marB="44401" anchor="ctr"/>
                </a:tc>
                <a:tc>
                  <a:txBody>
                    <a:bodyPr/>
                    <a:lstStyle/>
                    <a:p>
                      <a:pPr algn="ctr"/>
                      <a:r>
                        <a:rPr lang="en-US" sz="1700"/>
                        <a:t>Clean, transform, and engineer features. This step often takes the most time (up to 80%).</a:t>
                      </a:r>
                    </a:p>
                  </a:txBody>
                  <a:tcPr marL="88803" marR="88803" marT="44401" marB="44401" anchor="ctr"/>
                </a:tc>
                <a:extLst>
                  <a:ext uri="{0D108BD9-81ED-4DB2-BD59-A6C34878D82A}">
                    <a16:rowId xmlns:a16="http://schemas.microsoft.com/office/drawing/2014/main" val="2083810077"/>
                  </a:ext>
                </a:extLst>
              </a:tr>
              <a:tr h="281765">
                <a:tc>
                  <a:txBody>
                    <a:bodyPr/>
                    <a:lstStyle/>
                    <a:p>
                      <a:pPr algn="ctr"/>
                      <a:r>
                        <a:rPr lang="en-CA" sz="1700" b="1"/>
                        <a:t>4. Modeling</a:t>
                      </a:r>
                      <a:endParaRPr lang="en-CA" sz="1700"/>
                    </a:p>
                  </a:txBody>
                  <a:tcPr marL="88803" marR="88803" marT="44401" marB="44401" anchor="ctr"/>
                </a:tc>
                <a:tc>
                  <a:txBody>
                    <a:bodyPr/>
                    <a:lstStyle/>
                    <a:p>
                      <a:pPr algn="ctr"/>
                      <a:r>
                        <a:rPr lang="en-US" sz="1700" dirty="0"/>
                        <a:t>Choose algorithms, build models, and experiment with parameters.</a:t>
                      </a:r>
                    </a:p>
                  </a:txBody>
                  <a:tcPr marL="88803" marR="88803" marT="44401" marB="44401" anchor="ctr"/>
                </a:tc>
                <a:extLst>
                  <a:ext uri="{0D108BD9-81ED-4DB2-BD59-A6C34878D82A}">
                    <a16:rowId xmlns:a16="http://schemas.microsoft.com/office/drawing/2014/main" val="4107803447"/>
                  </a:ext>
                </a:extLst>
              </a:tr>
              <a:tr h="330613">
                <a:tc>
                  <a:txBody>
                    <a:bodyPr/>
                    <a:lstStyle/>
                    <a:p>
                      <a:pPr algn="ctr"/>
                      <a:r>
                        <a:rPr lang="en-CA" sz="1700" b="1"/>
                        <a:t>5. Evaluation</a:t>
                      </a:r>
                      <a:endParaRPr lang="en-CA" sz="1700"/>
                    </a:p>
                  </a:txBody>
                  <a:tcPr marL="88803" marR="88803" marT="44401" marB="44401" anchor="ctr"/>
                </a:tc>
                <a:tc>
                  <a:txBody>
                    <a:bodyPr/>
                    <a:lstStyle/>
                    <a:p>
                      <a:pPr algn="ctr"/>
                      <a:r>
                        <a:rPr lang="en-US" sz="1700" dirty="0"/>
                        <a:t>Assess how well the model meets business goals, not just accuracy. Ensure it solves a real problem.</a:t>
                      </a:r>
                    </a:p>
                  </a:txBody>
                  <a:tcPr marL="88803" marR="88803" marT="44401" marB="44401" anchor="ctr"/>
                </a:tc>
                <a:extLst>
                  <a:ext uri="{0D108BD9-81ED-4DB2-BD59-A6C34878D82A}">
                    <a16:rowId xmlns:a16="http://schemas.microsoft.com/office/drawing/2014/main" val="1233442403"/>
                  </a:ext>
                </a:extLst>
              </a:tr>
              <a:tr h="377474">
                <a:tc>
                  <a:txBody>
                    <a:bodyPr/>
                    <a:lstStyle/>
                    <a:p>
                      <a:pPr algn="ctr"/>
                      <a:r>
                        <a:rPr lang="en-CA" sz="1700" b="1"/>
                        <a:t>6. Deployment</a:t>
                      </a:r>
                      <a:endParaRPr lang="en-CA" sz="1700"/>
                    </a:p>
                  </a:txBody>
                  <a:tcPr marL="88803" marR="88803" marT="44401" marB="44401" anchor="ctr"/>
                </a:tc>
                <a:tc>
                  <a:txBody>
                    <a:bodyPr/>
                    <a:lstStyle/>
                    <a:p>
                      <a:pPr algn="ctr"/>
                      <a:r>
                        <a:rPr lang="en-US" sz="1700" dirty="0"/>
                        <a:t>Deliver the model into production. May include documentation and monitoring.</a:t>
                      </a:r>
                    </a:p>
                  </a:txBody>
                  <a:tcPr marL="88803" marR="88803" marT="44401" marB="44401" anchor="ctr"/>
                </a:tc>
                <a:extLst>
                  <a:ext uri="{0D108BD9-81ED-4DB2-BD59-A6C34878D82A}">
                    <a16:rowId xmlns:a16="http://schemas.microsoft.com/office/drawing/2014/main" val="949502230"/>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pic>
        <p:nvPicPr>
          <p:cNvPr id="364" name="Google Shape;364;g355ea8b0119_0_204"/>
          <p:cNvPicPr preferRelativeResize="0"/>
          <p:nvPr/>
        </p:nvPicPr>
        <p:blipFill rotWithShape="1">
          <a:blip r:embed="rId3">
            <a:alphaModFix/>
          </a:blip>
          <a:srcRect/>
          <a:stretch/>
        </p:blipFill>
        <p:spPr>
          <a:xfrm>
            <a:off x="3202" y="0"/>
            <a:ext cx="12224773" cy="6857999"/>
          </a:xfrm>
          <a:prstGeom prst="rect">
            <a:avLst/>
          </a:prstGeom>
          <a:noFill/>
          <a:ln>
            <a:noFill/>
          </a:ln>
        </p:spPr>
      </p:pic>
      <p:sp>
        <p:nvSpPr>
          <p:cNvPr id="367" name="Google Shape;367;g355ea8b0119_0_204"/>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368" name="Google Shape;368;g355ea8b0119_0_204"/>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B. Agile for AI</a:t>
            </a:r>
            <a:endParaRPr sz="1400" b="0" i="0" u="none" strike="noStrike" cap="none" dirty="0">
              <a:solidFill>
                <a:srgbClr val="000000"/>
              </a:solidFill>
              <a:latin typeface="Arial"/>
              <a:ea typeface="Arial"/>
              <a:cs typeface="Arial"/>
              <a:sym typeface="Arial"/>
            </a:endParaRPr>
          </a:p>
        </p:txBody>
      </p:sp>
      <p:sp>
        <p:nvSpPr>
          <p:cNvPr id="369" name="Google Shape;369;g355ea8b0119_0_204"/>
          <p:cNvSpPr txBox="1"/>
          <p:nvPr/>
        </p:nvSpPr>
        <p:spPr>
          <a:xfrm>
            <a:off x="134900" y="799444"/>
            <a:ext cx="11815800" cy="6006300"/>
          </a:xfrm>
          <a:prstGeom prst="rect">
            <a:avLst/>
          </a:prstGeom>
          <a:noFill/>
          <a:ln>
            <a:noFill/>
          </a:ln>
        </p:spPr>
        <p:txBody>
          <a:bodyPr spcFirstLastPara="1" wrap="square" lIns="91425" tIns="45700" rIns="91425" bIns="45700" anchor="t" anchorCtr="0">
            <a:normAutofit/>
          </a:bodyPr>
          <a:lstStyle>
            <a:defPPr>
              <a:defRPr lang="en-US"/>
            </a:defPPr>
            <a:lvl1pPr marL="400050" lvl="0" indent="-285750">
              <a:spcBef>
                <a:spcPts val="1200"/>
              </a:spcBef>
              <a:spcAft>
                <a:spcPts val="0"/>
              </a:spcAft>
              <a:buClr>
                <a:srgbClr val="1BBFD1"/>
              </a:buClr>
              <a:buSzPts val="1800"/>
              <a:buFont typeface="Arial" panose="020B0604020202020204" pitchFamily="34" charset="0"/>
              <a:buChar char="•"/>
              <a:defRPr sz="1600">
                <a:solidFill>
                  <a:schemeClr val="dk1"/>
                </a:solidFill>
                <a:latin typeface="Montserrat"/>
                <a:ea typeface="Montserrat"/>
                <a:cs typeface="Montserrat"/>
              </a:defRPr>
            </a:lvl1pPr>
          </a:lstStyle>
          <a:p>
            <a:r>
              <a:rPr lang="en-US" dirty="0">
                <a:sym typeface="Montserrat"/>
              </a:rPr>
              <a:t>Agile for AI is an adaptation of Agile project management tailored to the needs of AI/ML Projects. </a:t>
            </a:r>
          </a:p>
          <a:p>
            <a:r>
              <a:rPr lang="en-US" dirty="0">
                <a:sym typeface="Montserrat"/>
              </a:rPr>
              <a:t>It focuses on building AI solutions iteratively, collaborating across teams, and responding quickly to changes in data, performance, or business goals.</a:t>
            </a:r>
          </a:p>
          <a:p>
            <a:r>
              <a:rPr lang="en-US" dirty="0">
                <a:sym typeface="Montserrat"/>
              </a:rPr>
              <a:t>AI projects are uncertain by nature; you don’t always know what data will work, which model will perform best, or how users will react. Agile allows teams to explore, learn, and pivot quickly rather than following a rigid, linear plan.</a:t>
            </a:r>
          </a:p>
        </p:txBody>
      </p:sp>
      <p:graphicFrame>
        <p:nvGraphicFramePr>
          <p:cNvPr id="2" name="Diagram 1">
            <a:extLst>
              <a:ext uri="{FF2B5EF4-FFF2-40B4-BE49-F238E27FC236}">
                <a16:creationId xmlns:a16="http://schemas.microsoft.com/office/drawing/2014/main" id="{DEEF9FEB-BD3C-754B-4BFF-11FEE62FCA31}"/>
              </a:ext>
            </a:extLst>
          </p:cNvPr>
          <p:cNvGraphicFramePr/>
          <p:nvPr>
            <p:extLst>
              <p:ext uri="{D42A27DB-BD31-4B8C-83A1-F6EECF244321}">
                <p14:modId xmlns:p14="http://schemas.microsoft.com/office/powerpoint/2010/main" val="4172778449"/>
              </p:ext>
            </p:extLst>
          </p:nvPr>
        </p:nvGraphicFramePr>
        <p:xfrm>
          <a:off x="1892300" y="2787650"/>
          <a:ext cx="7346950" cy="305223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pic>
        <p:nvPicPr>
          <p:cNvPr id="374" name="Google Shape;374;g355ea8b0119_0_215"/>
          <p:cNvPicPr preferRelativeResize="0"/>
          <p:nvPr/>
        </p:nvPicPr>
        <p:blipFill rotWithShape="1">
          <a:blip r:embed="rId3">
            <a:alphaModFix/>
          </a:blip>
          <a:srcRect/>
          <a:stretch/>
        </p:blipFill>
        <p:spPr>
          <a:xfrm>
            <a:off x="3202" y="0"/>
            <a:ext cx="12224773" cy="6857999"/>
          </a:xfrm>
          <a:prstGeom prst="rect">
            <a:avLst/>
          </a:prstGeom>
          <a:noFill/>
          <a:ln>
            <a:noFill/>
          </a:ln>
        </p:spPr>
      </p:pic>
      <p:sp>
        <p:nvSpPr>
          <p:cNvPr id="377" name="Google Shape;377;g355ea8b0119_0_215"/>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378" name="Google Shape;378;g355ea8b0119_0_215"/>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C. Hybrid Approaches</a:t>
            </a:r>
            <a:endParaRPr sz="1400" b="0" i="0" u="none" strike="noStrike" cap="none" dirty="0">
              <a:solidFill>
                <a:srgbClr val="000000"/>
              </a:solidFill>
              <a:latin typeface="Arial"/>
              <a:ea typeface="Arial"/>
              <a:cs typeface="Arial"/>
              <a:sym typeface="Arial"/>
            </a:endParaRPr>
          </a:p>
        </p:txBody>
      </p:sp>
      <p:sp>
        <p:nvSpPr>
          <p:cNvPr id="379" name="Google Shape;379;g355ea8b0119_0_215"/>
          <p:cNvSpPr txBox="1"/>
          <p:nvPr/>
        </p:nvSpPr>
        <p:spPr>
          <a:xfrm>
            <a:off x="134900" y="670677"/>
            <a:ext cx="11464500" cy="2554545"/>
          </a:xfrm>
          <a:prstGeom prst="rect">
            <a:avLst/>
          </a:prstGeom>
          <a:noFill/>
        </p:spPr>
        <p:txBody>
          <a:bodyPr wrap="square">
            <a:spAutoFit/>
          </a:bodyPr>
          <a:lstStyle>
            <a:defPPr>
              <a:defRPr lang="en-US"/>
            </a:defPPr>
            <a:lvl1pPr marL="285750" indent="-285750">
              <a:buFont typeface="Arial" panose="020B0604020202020204" pitchFamily="34" charset="0"/>
              <a:buChar char="•"/>
              <a:defRPr sz="1600">
                <a:latin typeface="Montserrat" panose="00000500000000000000" pitchFamily="2" charset="0"/>
              </a:defRPr>
            </a:lvl1pPr>
          </a:lstStyle>
          <a:p>
            <a:r>
              <a:rPr lang="en-US" dirty="0">
                <a:sym typeface="Montserrat"/>
              </a:rPr>
              <a:t>A Hybrid Approach combines the structured phases of CRISP-DM with the flexibility and speed of Agile to manage AI projects more effectively. </a:t>
            </a:r>
          </a:p>
          <a:p>
            <a:r>
              <a:rPr lang="en-US" dirty="0">
                <a:sym typeface="Montserrat"/>
              </a:rPr>
              <a:t>It brings the best of both worlds: clear planning and documentation plus rapid, iterative development.</a:t>
            </a:r>
          </a:p>
          <a:p>
            <a:pPr marL="742950" lvl="1" indent="-285750">
              <a:buFont typeface="Arial" panose="020B0604020202020204" pitchFamily="34" charset="0"/>
              <a:buChar char="•"/>
            </a:pPr>
            <a:r>
              <a:rPr lang="en-CA" sz="1600" dirty="0">
                <a:latin typeface="Montserrat" panose="00000500000000000000" pitchFamily="2" charset="0"/>
              </a:rPr>
              <a:t>Structured Phases with Flexibility: Follows CRISP-DM’s stages (e.g., Business Understanding, Data Preparation, Modeling) but applies Agile sprints within each phase for quick iteration.</a:t>
            </a:r>
          </a:p>
          <a:p>
            <a:pPr marL="742950" lvl="1" indent="-285750">
              <a:buFont typeface="Arial" panose="020B0604020202020204" pitchFamily="34" charset="0"/>
              <a:buChar char="•"/>
            </a:pPr>
            <a:r>
              <a:rPr lang="en-CA" sz="1600" dirty="0">
                <a:latin typeface="Montserrat" panose="00000500000000000000" pitchFamily="2" charset="0"/>
              </a:rPr>
              <a:t>Milestones + Sprints: Project progress is tracked using clear milestones (good for reporting) while Agile sprints enable fast prototyping and experimentation in parallel.</a:t>
            </a:r>
          </a:p>
          <a:p>
            <a:pPr marL="742950" lvl="1" indent="-285750">
              <a:buFont typeface="Arial" panose="020B0604020202020204" pitchFamily="34" charset="0"/>
              <a:buChar char="•"/>
            </a:pPr>
            <a:r>
              <a:rPr lang="en-CA" sz="1600" dirty="0">
                <a:latin typeface="Montserrat" panose="00000500000000000000" pitchFamily="2" charset="0"/>
              </a:rPr>
              <a:t>Balanced Team Workflow: Supports both regulated environments (that need documentation and control) and dynamic teams (that need to test and adapt quickly).</a:t>
            </a:r>
          </a:p>
          <a:p>
            <a:endParaRPr dirty="0">
              <a:sym typeface="Montserrat"/>
            </a:endParaRPr>
          </a:p>
        </p:txBody>
      </p:sp>
      <p:sp>
        <p:nvSpPr>
          <p:cNvPr id="380" name="Google Shape;380;g355ea8b0119_0_215"/>
          <p:cNvSpPr/>
          <p:nvPr/>
        </p:nvSpPr>
        <p:spPr>
          <a:xfrm>
            <a:off x="2625850" y="3011076"/>
            <a:ext cx="3609900" cy="3365400"/>
          </a:xfrm>
          <a:prstGeom prst="ellipse">
            <a:avLst/>
          </a:prstGeom>
          <a:solidFill>
            <a:srgbClr val="0D1752">
              <a:alpha val="9430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Calibri"/>
              <a:ea typeface="Calibri"/>
              <a:cs typeface="Calibri"/>
              <a:sym typeface="Calibri"/>
            </a:endParaRPr>
          </a:p>
        </p:txBody>
      </p:sp>
      <p:sp>
        <p:nvSpPr>
          <p:cNvPr id="381" name="Google Shape;381;g355ea8b0119_0_215"/>
          <p:cNvSpPr/>
          <p:nvPr/>
        </p:nvSpPr>
        <p:spPr>
          <a:xfrm>
            <a:off x="4803375" y="3055851"/>
            <a:ext cx="3609900" cy="3365400"/>
          </a:xfrm>
          <a:prstGeom prst="ellipse">
            <a:avLst/>
          </a:prstGeom>
          <a:solidFill>
            <a:srgbClr val="ED7D32">
              <a:alpha val="7595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D56E48"/>
              </a:solidFill>
              <a:latin typeface="Calibri"/>
              <a:ea typeface="Calibri"/>
              <a:cs typeface="Calibri"/>
              <a:sym typeface="Calibri"/>
            </a:endParaRPr>
          </a:p>
        </p:txBody>
      </p:sp>
      <p:sp>
        <p:nvSpPr>
          <p:cNvPr id="382" name="Google Shape;382;g355ea8b0119_0_215"/>
          <p:cNvSpPr txBox="1"/>
          <p:nvPr/>
        </p:nvSpPr>
        <p:spPr>
          <a:xfrm>
            <a:off x="2919350" y="4282926"/>
            <a:ext cx="1682700" cy="6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2000" b="1" dirty="0">
                <a:solidFill>
                  <a:schemeClr val="lt1"/>
                </a:solidFill>
                <a:latin typeface="Montserrat" panose="00000500000000000000" pitchFamily="2" charset="0"/>
                <a:ea typeface="Calibri"/>
                <a:cs typeface="Calibri"/>
                <a:sym typeface="Calibri"/>
              </a:rPr>
              <a:t>CRISP-DM</a:t>
            </a:r>
            <a:endParaRPr sz="2000" b="1" dirty="0">
              <a:solidFill>
                <a:schemeClr val="lt1"/>
              </a:solidFill>
              <a:latin typeface="Montserrat" panose="00000500000000000000" pitchFamily="2" charset="0"/>
              <a:ea typeface="Calibri"/>
              <a:cs typeface="Calibri"/>
              <a:sym typeface="Calibri"/>
            </a:endParaRPr>
          </a:p>
        </p:txBody>
      </p:sp>
      <p:sp>
        <p:nvSpPr>
          <p:cNvPr id="383" name="Google Shape;383;g355ea8b0119_0_215"/>
          <p:cNvSpPr txBox="1"/>
          <p:nvPr/>
        </p:nvSpPr>
        <p:spPr>
          <a:xfrm>
            <a:off x="6564325" y="4282926"/>
            <a:ext cx="1682700" cy="6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2000" b="1" dirty="0">
                <a:solidFill>
                  <a:schemeClr val="lt1"/>
                </a:solidFill>
                <a:latin typeface="Montserrat" panose="00000500000000000000" pitchFamily="2" charset="0"/>
                <a:ea typeface="Calibri"/>
                <a:cs typeface="Calibri"/>
                <a:sym typeface="Calibri"/>
              </a:rPr>
              <a:t>Agile</a:t>
            </a:r>
            <a:endParaRPr sz="2000" b="1" dirty="0">
              <a:solidFill>
                <a:schemeClr val="lt1"/>
              </a:solidFill>
              <a:latin typeface="Montserrat" panose="00000500000000000000" pitchFamily="2" charset="0"/>
              <a:ea typeface="Calibri"/>
              <a:cs typeface="Calibri"/>
              <a:sym typeface="Calibri"/>
            </a:endParaRPr>
          </a:p>
        </p:txBody>
      </p:sp>
      <p:sp>
        <p:nvSpPr>
          <p:cNvPr id="384" name="Google Shape;384;g355ea8b0119_0_215"/>
          <p:cNvSpPr txBox="1"/>
          <p:nvPr/>
        </p:nvSpPr>
        <p:spPr>
          <a:xfrm>
            <a:off x="4993250" y="4282926"/>
            <a:ext cx="1682700" cy="66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2000" b="1">
                <a:solidFill>
                  <a:schemeClr val="lt1"/>
                </a:solidFill>
                <a:latin typeface="Montserrat" panose="00000500000000000000" pitchFamily="2" charset="0"/>
                <a:ea typeface="Calibri"/>
                <a:cs typeface="Calibri"/>
                <a:sym typeface="Calibri"/>
              </a:rPr>
              <a:t>Hybrid</a:t>
            </a:r>
            <a:endParaRPr sz="2000" b="1">
              <a:solidFill>
                <a:schemeClr val="lt1"/>
              </a:solidFill>
              <a:latin typeface="Montserrat" panose="00000500000000000000" pitchFamily="2" charset="0"/>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73">
          <a:extLst>
            <a:ext uri="{FF2B5EF4-FFF2-40B4-BE49-F238E27FC236}">
              <a16:creationId xmlns:a16="http://schemas.microsoft.com/office/drawing/2014/main" id="{5146F896-E395-7652-3E75-9D7956C4ACD5}"/>
            </a:ext>
          </a:extLst>
        </p:cNvPr>
        <p:cNvGrpSpPr/>
        <p:nvPr/>
      </p:nvGrpSpPr>
      <p:grpSpPr>
        <a:xfrm>
          <a:off x="0" y="0"/>
          <a:ext cx="0" cy="0"/>
          <a:chOff x="0" y="0"/>
          <a:chExt cx="0" cy="0"/>
        </a:xfrm>
      </p:grpSpPr>
      <p:pic>
        <p:nvPicPr>
          <p:cNvPr id="374" name="Google Shape;374;g355ea8b0119_0_215">
            <a:extLst>
              <a:ext uri="{FF2B5EF4-FFF2-40B4-BE49-F238E27FC236}">
                <a16:creationId xmlns:a16="http://schemas.microsoft.com/office/drawing/2014/main" id="{A1C35F17-64E1-8DB4-C259-2256805AF85D}"/>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sp>
        <p:nvSpPr>
          <p:cNvPr id="377" name="Google Shape;377;g355ea8b0119_0_215">
            <a:extLst>
              <a:ext uri="{FF2B5EF4-FFF2-40B4-BE49-F238E27FC236}">
                <a16:creationId xmlns:a16="http://schemas.microsoft.com/office/drawing/2014/main" id="{6E5AF356-A377-9798-0E24-7E117757C1E7}"/>
              </a:ext>
            </a:extLst>
          </p:cNvPr>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378" name="Google Shape;378;g355ea8b0119_0_215">
            <a:extLst>
              <a:ext uri="{FF2B5EF4-FFF2-40B4-BE49-F238E27FC236}">
                <a16:creationId xmlns:a16="http://schemas.microsoft.com/office/drawing/2014/main" id="{C55D0BF3-A124-8075-397B-40EC119E511B}"/>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Comparison Summary</a:t>
            </a:r>
            <a:endParaRPr sz="1400" b="0" i="0" u="none" strike="noStrike" cap="none" dirty="0">
              <a:solidFill>
                <a:srgbClr val="000000"/>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5BF557B6-133D-79DF-87FC-0F980B89D010}"/>
              </a:ext>
            </a:extLst>
          </p:cNvPr>
          <p:cNvGraphicFramePr>
            <a:graphicFrameLocks noGrp="1"/>
          </p:cNvGraphicFramePr>
          <p:nvPr>
            <p:extLst>
              <p:ext uri="{D42A27DB-BD31-4B8C-83A1-F6EECF244321}">
                <p14:modId xmlns:p14="http://schemas.microsoft.com/office/powerpoint/2010/main" val="4093100970"/>
              </p:ext>
            </p:extLst>
          </p:nvPr>
        </p:nvGraphicFramePr>
        <p:xfrm>
          <a:off x="323815" y="907670"/>
          <a:ext cx="11480834" cy="3937620"/>
        </p:xfrm>
        <a:graphic>
          <a:graphicData uri="http://schemas.openxmlformats.org/drawingml/2006/table">
            <a:tbl>
              <a:tblPr>
                <a:tableStyleId>{3B4B98B0-60AC-42C2-AFA5-B58CD77FA1E5}</a:tableStyleId>
              </a:tblPr>
              <a:tblGrid>
                <a:gridCol w="1230796">
                  <a:extLst>
                    <a:ext uri="{9D8B030D-6E8A-4147-A177-3AD203B41FA5}">
                      <a16:colId xmlns:a16="http://schemas.microsoft.com/office/drawing/2014/main" val="941914306"/>
                    </a:ext>
                  </a:extLst>
                </a:gridCol>
                <a:gridCol w="3417739">
                  <a:extLst>
                    <a:ext uri="{9D8B030D-6E8A-4147-A177-3AD203B41FA5}">
                      <a16:colId xmlns:a16="http://schemas.microsoft.com/office/drawing/2014/main" val="1788841766"/>
                    </a:ext>
                  </a:extLst>
                </a:gridCol>
                <a:gridCol w="3747326">
                  <a:extLst>
                    <a:ext uri="{9D8B030D-6E8A-4147-A177-3AD203B41FA5}">
                      <a16:colId xmlns:a16="http://schemas.microsoft.com/office/drawing/2014/main" val="3150870224"/>
                    </a:ext>
                  </a:extLst>
                </a:gridCol>
                <a:gridCol w="3084973">
                  <a:extLst>
                    <a:ext uri="{9D8B030D-6E8A-4147-A177-3AD203B41FA5}">
                      <a16:colId xmlns:a16="http://schemas.microsoft.com/office/drawing/2014/main" val="1355156526"/>
                    </a:ext>
                  </a:extLst>
                </a:gridCol>
              </a:tblGrid>
              <a:tr h="168177">
                <a:tc>
                  <a:txBody>
                    <a:bodyPr/>
                    <a:lstStyle/>
                    <a:p>
                      <a:r>
                        <a:rPr lang="en-CA" sz="1200" b="1" dirty="0">
                          <a:latin typeface="Montserrat" panose="00000500000000000000" pitchFamily="2" charset="0"/>
                        </a:rPr>
                        <a:t>Aspect</a:t>
                      </a:r>
                      <a:endParaRPr lang="en-CA" sz="1200" dirty="0">
                        <a:latin typeface="Montserrat" panose="00000500000000000000" pitchFamily="2" charset="0"/>
                      </a:endParaRPr>
                    </a:p>
                  </a:txBody>
                  <a:tcPr marL="46291" marR="46291" marT="23145" marB="23145" anchor="ctr"/>
                </a:tc>
                <a:tc>
                  <a:txBody>
                    <a:bodyPr/>
                    <a:lstStyle/>
                    <a:p>
                      <a:r>
                        <a:rPr lang="en-CA" sz="1200" b="1">
                          <a:latin typeface="Montserrat" panose="00000500000000000000" pitchFamily="2" charset="0"/>
                        </a:rPr>
                        <a:t>CRISP-DM</a:t>
                      </a:r>
                      <a:endParaRPr lang="en-CA" sz="1200">
                        <a:latin typeface="Montserrat" panose="00000500000000000000" pitchFamily="2" charset="0"/>
                      </a:endParaRPr>
                    </a:p>
                  </a:txBody>
                  <a:tcPr marL="46291" marR="46291" marT="23145" marB="23145" anchor="ctr"/>
                </a:tc>
                <a:tc>
                  <a:txBody>
                    <a:bodyPr/>
                    <a:lstStyle/>
                    <a:p>
                      <a:r>
                        <a:rPr lang="en-CA" sz="1200" b="1">
                          <a:latin typeface="Montserrat" panose="00000500000000000000" pitchFamily="2" charset="0"/>
                        </a:rPr>
                        <a:t>Agile for AI</a:t>
                      </a:r>
                      <a:endParaRPr lang="en-CA" sz="1200">
                        <a:latin typeface="Montserrat" panose="00000500000000000000" pitchFamily="2" charset="0"/>
                      </a:endParaRPr>
                    </a:p>
                  </a:txBody>
                  <a:tcPr marL="46291" marR="46291" marT="23145" marB="23145" anchor="ctr"/>
                </a:tc>
                <a:tc>
                  <a:txBody>
                    <a:bodyPr/>
                    <a:lstStyle/>
                    <a:p>
                      <a:r>
                        <a:rPr lang="en-CA" sz="1200" b="1">
                          <a:latin typeface="Montserrat" panose="00000500000000000000" pitchFamily="2" charset="0"/>
                        </a:rPr>
                        <a:t>Hybrid Approach</a:t>
                      </a:r>
                      <a:endParaRPr lang="en-CA" sz="1200">
                        <a:latin typeface="Montserrat" panose="00000500000000000000" pitchFamily="2" charset="0"/>
                      </a:endParaRPr>
                    </a:p>
                  </a:txBody>
                  <a:tcPr marL="46291" marR="46291" marT="23145" marB="23145" anchor="ctr"/>
                </a:tc>
                <a:extLst>
                  <a:ext uri="{0D108BD9-81ED-4DB2-BD59-A6C34878D82A}">
                    <a16:rowId xmlns:a16="http://schemas.microsoft.com/office/drawing/2014/main" val="1898194477"/>
                  </a:ext>
                </a:extLst>
              </a:tr>
              <a:tr h="245744">
                <a:tc>
                  <a:txBody>
                    <a:bodyPr/>
                    <a:lstStyle/>
                    <a:p>
                      <a:r>
                        <a:rPr lang="en-CA" sz="1200" b="1" dirty="0">
                          <a:latin typeface="Montserrat" panose="00000500000000000000" pitchFamily="2" charset="0"/>
                        </a:rPr>
                        <a:t>Origin</a:t>
                      </a:r>
                      <a:endParaRPr lang="en-CA" sz="1200" dirty="0">
                        <a:latin typeface="Montserrat" panose="00000500000000000000" pitchFamily="2" charset="0"/>
                      </a:endParaRPr>
                    </a:p>
                  </a:txBody>
                  <a:tcPr marL="46291" marR="46291" marT="23145" marB="23145" anchor="ctr"/>
                </a:tc>
                <a:tc>
                  <a:txBody>
                    <a:bodyPr/>
                    <a:lstStyle/>
                    <a:p>
                      <a:r>
                        <a:rPr lang="en-CA" sz="1200" dirty="0">
                          <a:latin typeface="Montserrat" panose="00000500000000000000" pitchFamily="2" charset="0"/>
                        </a:rPr>
                        <a:t>Classic data science methodology</a:t>
                      </a:r>
                    </a:p>
                  </a:txBody>
                  <a:tcPr marL="46291" marR="46291" marT="23145" marB="23145" anchor="ctr"/>
                </a:tc>
                <a:tc>
                  <a:txBody>
                    <a:bodyPr/>
                    <a:lstStyle/>
                    <a:p>
                      <a:r>
                        <a:rPr lang="en-US" sz="1200" dirty="0">
                          <a:latin typeface="Montserrat" panose="00000500000000000000" pitchFamily="2" charset="0"/>
                        </a:rPr>
                        <a:t>Software development (adapted for AI)</a:t>
                      </a:r>
                    </a:p>
                  </a:txBody>
                  <a:tcPr marL="46291" marR="46291" marT="23145" marB="23145" anchor="ctr"/>
                </a:tc>
                <a:tc>
                  <a:txBody>
                    <a:bodyPr/>
                    <a:lstStyle/>
                    <a:p>
                      <a:r>
                        <a:rPr lang="en-US" sz="1200">
                          <a:latin typeface="Montserrat" panose="00000500000000000000" pitchFamily="2" charset="0"/>
                        </a:rPr>
                        <a:t>Blends CRISP-DM with Agile and traditional PM frameworks</a:t>
                      </a:r>
                    </a:p>
                  </a:txBody>
                  <a:tcPr marL="46291" marR="46291" marT="23145" marB="23145" anchor="ctr"/>
                </a:tc>
                <a:extLst>
                  <a:ext uri="{0D108BD9-81ED-4DB2-BD59-A6C34878D82A}">
                    <a16:rowId xmlns:a16="http://schemas.microsoft.com/office/drawing/2014/main" val="3293590858"/>
                  </a:ext>
                </a:extLst>
              </a:tr>
              <a:tr h="302384">
                <a:tc>
                  <a:txBody>
                    <a:bodyPr/>
                    <a:lstStyle/>
                    <a:p>
                      <a:r>
                        <a:rPr lang="en-CA" sz="1200" b="1" dirty="0">
                          <a:latin typeface="Montserrat" panose="00000500000000000000" pitchFamily="2" charset="0"/>
                        </a:rPr>
                        <a:t>Structure</a:t>
                      </a:r>
                      <a:endParaRPr lang="en-CA" sz="1200" dirty="0">
                        <a:latin typeface="Montserrat" panose="00000500000000000000" pitchFamily="2" charset="0"/>
                      </a:endParaRPr>
                    </a:p>
                  </a:txBody>
                  <a:tcPr marL="46291" marR="46291" marT="23145" marB="23145" anchor="ctr"/>
                </a:tc>
                <a:tc>
                  <a:txBody>
                    <a:bodyPr/>
                    <a:lstStyle/>
                    <a:p>
                      <a:r>
                        <a:rPr lang="en-CA" sz="1200">
                          <a:latin typeface="Montserrat" panose="00000500000000000000" pitchFamily="2" charset="0"/>
                        </a:rPr>
                        <a:t>Linear and phase-based</a:t>
                      </a:r>
                    </a:p>
                  </a:txBody>
                  <a:tcPr marL="46291" marR="46291" marT="23145" marB="23145" anchor="ctr"/>
                </a:tc>
                <a:tc>
                  <a:txBody>
                    <a:bodyPr/>
                    <a:lstStyle/>
                    <a:p>
                      <a:r>
                        <a:rPr lang="en-CA" sz="1200">
                          <a:latin typeface="Montserrat" panose="00000500000000000000" pitchFamily="2" charset="0"/>
                        </a:rPr>
                        <a:t>Iterative and cyclical</a:t>
                      </a:r>
                    </a:p>
                  </a:txBody>
                  <a:tcPr marL="46291" marR="46291" marT="23145" marB="23145" anchor="ctr"/>
                </a:tc>
                <a:tc>
                  <a:txBody>
                    <a:bodyPr/>
                    <a:lstStyle/>
                    <a:p>
                      <a:r>
                        <a:rPr lang="en-US" sz="1200">
                          <a:latin typeface="Montserrat" panose="00000500000000000000" pitchFamily="2" charset="0"/>
                        </a:rPr>
                        <a:t>Structured milestones + iterative sprints within each phase</a:t>
                      </a:r>
                    </a:p>
                  </a:txBody>
                  <a:tcPr marL="46291" marR="46291" marT="23145" marB="23145" anchor="ctr"/>
                </a:tc>
                <a:extLst>
                  <a:ext uri="{0D108BD9-81ED-4DB2-BD59-A6C34878D82A}">
                    <a16:rowId xmlns:a16="http://schemas.microsoft.com/office/drawing/2014/main" val="2769466799"/>
                  </a:ext>
                </a:extLst>
              </a:tr>
              <a:tr h="302384">
                <a:tc>
                  <a:txBody>
                    <a:bodyPr/>
                    <a:lstStyle/>
                    <a:p>
                      <a:r>
                        <a:rPr lang="en-CA" sz="1200" b="1">
                          <a:latin typeface="Montserrat" panose="00000500000000000000" pitchFamily="2" charset="0"/>
                        </a:rPr>
                        <a:t>Focus</a:t>
                      </a:r>
                      <a:endParaRPr lang="en-CA" sz="1200">
                        <a:latin typeface="Montserrat" panose="00000500000000000000" pitchFamily="2" charset="0"/>
                      </a:endParaRPr>
                    </a:p>
                  </a:txBody>
                  <a:tcPr marL="46291" marR="46291" marT="23145" marB="23145" anchor="ctr"/>
                </a:tc>
                <a:tc>
                  <a:txBody>
                    <a:bodyPr/>
                    <a:lstStyle/>
                    <a:p>
                      <a:r>
                        <a:rPr lang="en-CA" sz="1200" dirty="0">
                          <a:latin typeface="Montserrat" panose="00000500000000000000" pitchFamily="2" charset="0"/>
                        </a:rPr>
                        <a:t>Comprehensive project phases</a:t>
                      </a:r>
                    </a:p>
                  </a:txBody>
                  <a:tcPr marL="46291" marR="46291" marT="23145" marB="23145" anchor="ctr"/>
                </a:tc>
                <a:tc>
                  <a:txBody>
                    <a:bodyPr/>
                    <a:lstStyle/>
                    <a:p>
                      <a:r>
                        <a:rPr lang="en-CA" sz="1200">
                          <a:latin typeface="Montserrat" panose="00000500000000000000" pitchFamily="2" charset="0"/>
                        </a:rPr>
                        <a:t>Rapid experimentation and delivery</a:t>
                      </a:r>
                    </a:p>
                  </a:txBody>
                  <a:tcPr marL="46291" marR="46291" marT="23145" marB="23145" anchor="ctr"/>
                </a:tc>
                <a:tc>
                  <a:txBody>
                    <a:bodyPr/>
                    <a:lstStyle/>
                    <a:p>
                      <a:r>
                        <a:rPr lang="en-US" sz="1200">
                          <a:latin typeface="Montserrat" panose="00000500000000000000" pitchFamily="2" charset="0"/>
                        </a:rPr>
                        <a:t>Aligning long-term planning with short-term agility</a:t>
                      </a:r>
                    </a:p>
                  </a:txBody>
                  <a:tcPr marL="46291" marR="46291" marT="23145" marB="23145" anchor="ctr"/>
                </a:tc>
                <a:extLst>
                  <a:ext uri="{0D108BD9-81ED-4DB2-BD59-A6C34878D82A}">
                    <a16:rowId xmlns:a16="http://schemas.microsoft.com/office/drawing/2014/main" val="3489697123"/>
                  </a:ext>
                </a:extLst>
              </a:tr>
              <a:tr h="302384">
                <a:tc>
                  <a:txBody>
                    <a:bodyPr/>
                    <a:lstStyle/>
                    <a:p>
                      <a:r>
                        <a:rPr lang="en-CA" sz="1200" b="1">
                          <a:latin typeface="Montserrat" panose="00000500000000000000" pitchFamily="2" charset="0"/>
                        </a:rPr>
                        <a:t>Planning Style</a:t>
                      </a:r>
                      <a:endParaRPr lang="en-CA" sz="1200">
                        <a:latin typeface="Montserrat" panose="00000500000000000000" pitchFamily="2" charset="0"/>
                      </a:endParaRPr>
                    </a:p>
                  </a:txBody>
                  <a:tcPr marL="46291" marR="46291" marT="23145" marB="23145" anchor="ctr"/>
                </a:tc>
                <a:tc>
                  <a:txBody>
                    <a:bodyPr/>
                    <a:lstStyle/>
                    <a:p>
                      <a:r>
                        <a:rPr lang="en-CA" sz="1200">
                          <a:latin typeface="Montserrat" panose="00000500000000000000" pitchFamily="2" charset="0"/>
                        </a:rPr>
                        <a:t>Heavy up-front planning</a:t>
                      </a:r>
                    </a:p>
                  </a:txBody>
                  <a:tcPr marL="46291" marR="46291" marT="23145" marB="23145" anchor="ctr"/>
                </a:tc>
                <a:tc>
                  <a:txBody>
                    <a:bodyPr/>
                    <a:lstStyle/>
                    <a:p>
                      <a:r>
                        <a:rPr lang="en-CA" sz="1200">
                          <a:latin typeface="Montserrat" panose="00000500000000000000" pitchFamily="2" charset="0"/>
                        </a:rPr>
                        <a:t>Light planning, frequent adjustments</a:t>
                      </a:r>
                    </a:p>
                  </a:txBody>
                  <a:tcPr marL="46291" marR="46291" marT="23145" marB="23145" anchor="ctr"/>
                </a:tc>
                <a:tc>
                  <a:txBody>
                    <a:bodyPr/>
                    <a:lstStyle/>
                    <a:p>
                      <a:r>
                        <a:rPr lang="en-US" sz="1200">
                          <a:latin typeface="Montserrat" panose="00000500000000000000" pitchFamily="2" charset="0"/>
                        </a:rPr>
                        <a:t>Initial high-level roadmap + flexible sprint planning</a:t>
                      </a:r>
                    </a:p>
                  </a:txBody>
                  <a:tcPr marL="46291" marR="46291" marT="23145" marB="23145" anchor="ctr"/>
                </a:tc>
                <a:extLst>
                  <a:ext uri="{0D108BD9-81ED-4DB2-BD59-A6C34878D82A}">
                    <a16:rowId xmlns:a16="http://schemas.microsoft.com/office/drawing/2014/main" val="2881467408"/>
                  </a:ext>
                </a:extLst>
              </a:tr>
              <a:tr h="302384">
                <a:tc>
                  <a:txBody>
                    <a:bodyPr/>
                    <a:lstStyle/>
                    <a:p>
                      <a:r>
                        <a:rPr lang="en-CA" sz="1200" b="1">
                          <a:latin typeface="Montserrat" panose="00000500000000000000" pitchFamily="2" charset="0"/>
                        </a:rPr>
                        <a:t>Team Interaction</a:t>
                      </a:r>
                      <a:endParaRPr lang="en-CA" sz="1200">
                        <a:latin typeface="Montserrat" panose="00000500000000000000" pitchFamily="2" charset="0"/>
                      </a:endParaRPr>
                    </a:p>
                  </a:txBody>
                  <a:tcPr marL="46291" marR="46291" marT="23145" marB="23145" anchor="ctr"/>
                </a:tc>
                <a:tc>
                  <a:txBody>
                    <a:bodyPr/>
                    <a:lstStyle/>
                    <a:p>
                      <a:r>
                        <a:rPr lang="en-US" sz="1200">
                          <a:latin typeface="Montserrat" panose="00000500000000000000" pitchFamily="2" charset="0"/>
                        </a:rPr>
                        <a:t>Stakeholder involvement mostly at key milestones</a:t>
                      </a:r>
                    </a:p>
                  </a:txBody>
                  <a:tcPr marL="46291" marR="46291" marT="23145" marB="23145" anchor="ctr"/>
                </a:tc>
                <a:tc>
                  <a:txBody>
                    <a:bodyPr/>
                    <a:lstStyle/>
                    <a:p>
                      <a:r>
                        <a:rPr lang="en-US" sz="1200" dirty="0">
                          <a:latin typeface="Montserrat" panose="00000500000000000000" pitchFamily="2" charset="0"/>
                        </a:rPr>
                        <a:t>Frequent collaboration (daily stand-ups, sprint reviews)</a:t>
                      </a:r>
                    </a:p>
                  </a:txBody>
                  <a:tcPr marL="46291" marR="46291" marT="23145" marB="23145" anchor="ctr"/>
                </a:tc>
                <a:tc>
                  <a:txBody>
                    <a:bodyPr/>
                    <a:lstStyle/>
                    <a:p>
                      <a:r>
                        <a:rPr lang="en-US" sz="1200" dirty="0">
                          <a:latin typeface="Montserrat" panose="00000500000000000000" pitchFamily="2" charset="0"/>
                        </a:rPr>
                        <a:t>Regular sprint reviews + milestone-based stakeholder check-ins</a:t>
                      </a:r>
                    </a:p>
                  </a:txBody>
                  <a:tcPr marL="46291" marR="46291" marT="23145" marB="23145" anchor="ctr"/>
                </a:tc>
                <a:extLst>
                  <a:ext uri="{0D108BD9-81ED-4DB2-BD59-A6C34878D82A}">
                    <a16:rowId xmlns:a16="http://schemas.microsoft.com/office/drawing/2014/main" val="1849248256"/>
                  </a:ext>
                </a:extLst>
              </a:tr>
              <a:tr h="302384">
                <a:tc>
                  <a:txBody>
                    <a:bodyPr/>
                    <a:lstStyle/>
                    <a:p>
                      <a:r>
                        <a:rPr lang="en-CA" sz="1200" b="1">
                          <a:latin typeface="Montserrat" panose="00000500000000000000" pitchFamily="2" charset="0"/>
                        </a:rPr>
                        <a:t>Speed of Feedback</a:t>
                      </a:r>
                      <a:endParaRPr lang="en-CA" sz="1200">
                        <a:latin typeface="Montserrat" panose="00000500000000000000" pitchFamily="2" charset="0"/>
                      </a:endParaRPr>
                    </a:p>
                  </a:txBody>
                  <a:tcPr marL="46291" marR="46291" marT="23145" marB="23145" anchor="ctr"/>
                </a:tc>
                <a:tc>
                  <a:txBody>
                    <a:bodyPr/>
                    <a:lstStyle/>
                    <a:p>
                      <a:r>
                        <a:rPr lang="en-US" sz="1200">
                          <a:latin typeface="Montserrat" panose="00000500000000000000" pitchFamily="2" charset="0"/>
                        </a:rPr>
                        <a:t>Slower (after full phase completion)</a:t>
                      </a:r>
                    </a:p>
                  </a:txBody>
                  <a:tcPr marL="46291" marR="46291" marT="23145" marB="23145" anchor="ctr"/>
                </a:tc>
                <a:tc>
                  <a:txBody>
                    <a:bodyPr/>
                    <a:lstStyle/>
                    <a:p>
                      <a:r>
                        <a:rPr lang="en-US" sz="1200" dirty="0">
                          <a:latin typeface="Montserrat" panose="00000500000000000000" pitchFamily="2" charset="0"/>
                        </a:rPr>
                        <a:t>Fast (every sprint or 1–2 weeks)</a:t>
                      </a:r>
                    </a:p>
                  </a:txBody>
                  <a:tcPr marL="46291" marR="46291" marT="23145" marB="23145" anchor="ctr"/>
                </a:tc>
                <a:tc>
                  <a:txBody>
                    <a:bodyPr/>
                    <a:lstStyle/>
                    <a:p>
                      <a:r>
                        <a:rPr lang="en-US" sz="1200">
                          <a:latin typeface="Montserrat" panose="00000500000000000000" pitchFamily="2" charset="0"/>
                        </a:rPr>
                        <a:t>Medium speed: sprint-based feedback but tied to business milestone reviews</a:t>
                      </a:r>
                    </a:p>
                  </a:txBody>
                  <a:tcPr marL="46291" marR="46291" marT="23145" marB="23145" anchor="ctr"/>
                </a:tc>
                <a:extLst>
                  <a:ext uri="{0D108BD9-81ED-4DB2-BD59-A6C34878D82A}">
                    <a16:rowId xmlns:a16="http://schemas.microsoft.com/office/drawing/2014/main" val="717216788"/>
                  </a:ext>
                </a:extLst>
              </a:tr>
              <a:tr h="302384">
                <a:tc>
                  <a:txBody>
                    <a:bodyPr/>
                    <a:lstStyle/>
                    <a:p>
                      <a:r>
                        <a:rPr lang="en-CA" sz="1200" b="1">
                          <a:latin typeface="Montserrat" panose="00000500000000000000" pitchFamily="2" charset="0"/>
                        </a:rPr>
                        <a:t>Example Use</a:t>
                      </a:r>
                      <a:endParaRPr lang="en-CA" sz="1200">
                        <a:latin typeface="Montserrat" panose="00000500000000000000" pitchFamily="2" charset="0"/>
                      </a:endParaRPr>
                    </a:p>
                  </a:txBody>
                  <a:tcPr marL="46291" marR="46291" marT="23145" marB="23145" anchor="ctr"/>
                </a:tc>
                <a:tc>
                  <a:txBody>
                    <a:bodyPr/>
                    <a:lstStyle/>
                    <a:p>
                      <a:r>
                        <a:rPr lang="en-US" sz="1200">
                          <a:latin typeface="Montserrat" panose="00000500000000000000" pitchFamily="2" charset="0"/>
                        </a:rPr>
                        <a:t>Structured projects with fixed scope</a:t>
                      </a:r>
                    </a:p>
                  </a:txBody>
                  <a:tcPr marL="46291" marR="46291" marT="23145" marB="23145" anchor="ctr"/>
                </a:tc>
                <a:tc>
                  <a:txBody>
                    <a:bodyPr/>
                    <a:lstStyle/>
                    <a:p>
                      <a:r>
                        <a:rPr lang="en-US" sz="1200" dirty="0">
                          <a:latin typeface="Montserrat" panose="00000500000000000000" pitchFamily="2" charset="0"/>
                        </a:rPr>
                        <a:t>Projects needing rapid prototyping and tuning</a:t>
                      </a:r>
                    </a:p>
                  </a:txBody>
                  <a:tcPr marL="46291" marR="46291" marT="23145" marB="23145" anchor="ctr"/>
                </a:tc>
                <a:tc>
                  <a:txBody>
                    <a:bodyPr/>
                    <a:lstStyle/>
                    <a:p>
                      <a:r>
                        <a:rPr lang="en-US" sz="1200">
                          <a:latin typeface="Montserrat" panose="00000500000000000000" pitchFamily="2" charset="0"/>
                        </a:rPr>
                        <a:t>Enterprise-level AI projects, regulated industries, or cross-functional efforts</a:t>
                      </a:r>
                    </a:p>
                  </a:txBody>
                  <a:tcPr marL="46291" marR="46291" marT="23145" marB="23145" anchor="ctr"/>
                </a:tc>
                <a:extLst>
                  <a:ext uri="{0D108BD9-81ED-4DB2-BD59-A6C34878D82A}">
                    <a16:rowId xmlns:a16="http://schemas.microsoft.com/office/drawing/2014/main" val="511453817"/>
                  </a:ext>
                </a:extLst>
              </a:tr>
              <a:tr h="302384">
                <a:tc>
                  <a:txBody>
                    <a:bodyPr/>
                    <a:lstStyle/>
                    <a:p>
                      <a:r>
                        <a:rPr lang="en-CA" sz="1200" b="1">
                          <a:latin typeface="Montserrat" panose="00000500000000000000" pitchFamily="2" charset="0"/>
                        </a:rPr>
                        <a:t>Best For</a:t>
                      </a:r>
                      <a:endParaRPr lang="en-CA" sz="1200">
                        <a:latin typeface="Montserrat" panose="00000500000000000000" pitchFamily="2" charset="0"/>
                      </a:endParaRPr>
                    </a:p>
                  </a:txBody>
                  <a:tcPr marL="46291" marR="46291" marT="23145" marB="23145" anchor="ctr"/>
                </a:tc>
                <a:tc>
                  <a:txBody>
                    <a:bodyPr/>
                    <a:lstStyle/>
                    <a:p>
                      <a:r>
                        <a:rPr lang="en-CA" sz="1200">
                          <a:latin typeface="Montserrat" panose="00000500000000000000" pitchFamily="2" charset="0"/>
                        </a:rPr>
                        <a:t>Research, stable environments</a:t>
                      </a:r>
                    </a:p>
                  </a:txBody>
                  <a:tcPr marL="46291" marR="46291" marT="23145" marB="23145" anchor="ctr"/>
                </a:tc>
                <a:tc>
                  <a:txBody>
                    <a:bodyPr/>
                    <a:lstStyle/>
                    <a:p>
                      <a:r>
                        <a:rPr lang="en-CA" sz="1200" dirty="0">
                          <a:latin typeface="Montserrat" panose="00000500000000000000" pitchFamily="2" charset="0"/>
                        </a:rPr>
                        <a:t>Startups, evolving problem spaces</a:t>
                      </a:r>
                    </a:p>
                  </a:txBody>
                  <a:tcPr marL="46291" marR="46291" marT="23145" marB="23145" anchor="ctr"/>
                </a:tc>
                <a:tc>
                  <a:txBody>
                    <a:bodyPr/>
                    <a:lstStyle/>
                    <a:p>
                      <a:r>
                        <a:rPr lang="en-US" sz="1200">
                          <a:latin typeface="Montserrat" panose="00000500000000000000" pitchFamily="2" charset="0"/>
                        </a:rPr>
                        <a:t>Large, strategic AI initiatives that need both control and flexibility</a:t>
                      </a:r>
                    </a:p>
                  </a:txBody>
                  <a:tcPr marL="46291" marR="46291" marT="23145" marB="23145" anchor="ctr"/>
                </a:tc>
                <a:extLst>
                  <a:ext uri="{0D108BD9-81ED-4DB2-BD59-A6C34878D82A}">
                    <a16:rowId xmlns:a16="http://schemas.microsoft.com/office/drawing/2014/main" val="2611423373"/>
                  </a:ext>
                </a:extLst>
              </a:tr>
              <a:tr h="302384">
                <a:tc>
                  <a:txBody>
                    <a:bodyPr/>
                    <a:lstStyle/>
                    <a:p>
                      <a:r>
                        <a:rPr lang="en-CA" sz="1200" b="1">
                          <a:latin typeface="Montserrat" panose="00000500000000000000" pitchFamily="2" charset="0"/>
                        </a:rPr>
                        <a:t>Risks Addressed</a:t>
                      </a:r>
                      <a:endParaRPr lang="en-CA" sz="1200">
                        <a:latin typeface="Montserrat" panose="00000500000000000000" pitchFamily="2" charset="0"/>
                      </a:endParaRPr>
                    </a:p>
                  </a:txBody>
                  <a:tcPr marL="46291" marR="46291" marT="23145" marB="23145" anchor="ctr"/>
                </a:tc>
                <a:tc>
                  <a:txBody>
                    <a:bodyPr/>
                    <a:lstStyle/>
                    <a:p>
                      <a:r>
                        <a:rPr lang="en-CA" sz="1200">
                          <a:latin typeface="Montserrat" panose="00000500000000000000" pitchFamily="2" charset="0"/>
                        </a:rPr>
                        <a:t>Misalignment with real-time changes</a:t>
                      </a:r>
                    </a:p>
                  </a:txBody>
                  <a:tcPr marL="46291" marR="46291" marT="23145" marB="23145" anchor="ctr"/>
                </a:tc>
                <a:tc>
                  <a:txBody>
                    <a:bodyPr/>
                    <a:lstStyle/>
                    <a:p>
                      <a:r>
                        <a:rPr lang="en-US" sz="1200">
                          <a:latin typeface="Montserrat" panose="00000500000000000000" pitchFamily="2" charset="0"/>
                        </a:rPr>
                        <a:t>Lack of structure or documentation</a:t>
                      </a:r>
                    </a:p>
                  </a:txBody>
                  <a:tcPr marL="46291" marR="46291" marT="23145" marB="23145" anchor="ctr"/>
                </a:tc>
                <a:tc>
                  <a:txBody>
                    <a:bodyPr/>
                    <a:lstStyle/>
                    <a:p>
                      <a:r>
                        <a:rPr lang="en-CA" sz="1200" dirty="0">
                          <a:latin typeface="Montserrat" panose="00000500000000000000" pitchFamily="2" charset="0"/>
                        </a:rPr>
                        <a:t>Combines governance with adaptability</a:t>
                      </a:r>
                    </a:p>
                  </a:txBody>
                  <a:tcPr marL="46291" marR="46291" marT="23145" marB="23145" anchor="ctr"/>
                </a:tc>
                <a:extLst>
                  <a:ext uri="{0D108BD9-81ED-4DB2-BD59-A6C34878D82A}">
                    <a16:rowId xmlns:a16="http://schemas.microsoft.com/office/drawing/2014/main" val="316142842"/>
                  </a:ext>
                </a:extLst>
              </a:tr>
            </a:tbl>
          </a:graphicData>
        </a:graphic>
      </p:graphicFrame>
    </p:spTree>
    <p:extLst>
      <p:ext uri="{BB962C8B-B14F-4D97-AF65-F5344CB8AC3E}">
        <p14:creationId xmlns:p14="http://schemas.microsoft.com/office/powerpoint/2010/main" val="9759017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73">
          <a:extLst>
            <a:ext uri="{FF2B5EF4-FFF2-40B4-BE49-F238E27FC236}">
              <a16:creationId xmlns:a16="http://schemas.microsoft.com/office/drawing/2014/main" id="{206EED22-ED2F-8A02-BE12-19B67C00FB29}"/>
            </a:ext>
          </a:extLst>
        </p:cNvPr>
        <p:cNvGrpSpPr/>
        <p:nvPr/>
      </p:nvGrpSpPr>
      <p:grpSpPr>
        <a:xfrm>
          <a:off x="0" y="0"/>
          <a:ext cx="0" cy="0"/>
          <a:chOff x="0" y="0"/>
          <a:chExt cx="0" cy="0"/>
        </a:xfrm>
      </p:grpSpPr>
      <p:pic>
        <p:nvPicPr>
          <p:cNvPr id="374" name="Google Shape;374;g355ea8b0119_0_215">
            <a:extLst>
              <a:ext uri="{FF2B5EF4-FFF2-40B4-BE49-F238E27FC236}">
                <a16:creationId xmlns:a16="http://schemas.microsoft.com/office/drawing/2014/main" id="{4422BDF9-EDC9-3CAE-2EEF-F51FA976CFD2}"/>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sp>
        <p:nvSpPr>
          <p:cNvPr id="377" name="Google Shape;377;g355ea8b0119_0_215">
            <a:extLst>
              <a:ext uri="{FF2B5EF4-FFF2-40B4-BE49-F238E27FC236}">
                <a16:creationId xmlns:a16="http://schemas.microsoft.com/office/drawing/2014/main" id="{ADD36A70-7A13-468C-664C-26FBF32922A2}"/>
              </a:ext>
            </a:extLst>
          </p:cNvPr>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378" name="Google Shape;378;g355ea8b0119_0_215">
            <a:extLst>
              <a:ext uri="{FF2B5EF4-FFF2-40B4-BE49-F238E27FC236}">
                <a16:creationId xmlns:a16="http://schemas.microsoft.com/office/drawing/2014/main" id="{B427F308-065D-39FC-3D63-3BFD20E84974}"/>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Example</a:t>
            </a:r>
            <a:endParaRPr sz="1400" b="0" i="0" u="none" strike="noStrike" cap="none" dirty="0">
              <a:solidFill>
                <a:srgbClr val="000000"/>
              </a:solidFill>
              <a:latin typeface="Arial"/>
              <a:ea typeface="Arial"/>
              <a:cs typeface="Arial"/>
              <a:sym typeface="Arial"/>
            </a:endParaRPr>
          </a:p>
        </p:txBody>
      </p:sp>
      <p:sp>
        <p:nvSpPr>
          <p:cNvPr id="2" name="Google Shape;379;g355ea8b0119_0_215">
            <a:extLst>
              <a:ext uri="{FF2B5EF4-FFF2-40B4-BE49-F238E27FC236}">
                <a16:creationId xmlns:a16="http://schemas.microsoft.com/office/drawing/2014/main" id="{E629369B-39AE-9463-1DF1-EF5DEB4F4B34}"/>
              </a:ext>
            </a:extLst>
          </p:cNvPr>
          <p:cNvSpPr txBox="1"/>
          <p:nvPr/>
        </p:nvSpPr>
        <p:spPr>
          <a:xfrm>
            <a:off x="134900" y="670677"/>
            <a:ext cx="11663400" cy="6006300"/>
          </a:xfrm>
          <a:prstGeom prst="rect">
            <a:avLst/>
          </a:prstGeom>
          <a:noFill/>
          <a:ln>
            <a:noFill/>
          </a:ln>
        </p:spPr>
        <p:txBody>
          <a:bodyPr spcFirstLastPara="1" wrap="square" lIns="91425" tIns="45700" rIns="91425" bIns="45700" anchor="t" anchorCtr="0">
            <a:normAutofit/>
          </a:bodyPr>
          <a:lstStyle>
            <a:defPPr>
              <a:defRPr lang="en-US"/>
            </a:defPPr>
            <a:lvl1pPr marL="400050" lvl="0" indent="-285750">
              <a:spcBef>
                <a:spcPts val="1200"/>
              </a:spcBef>
              <a:spcAft>
                <a:spcPts val="0"/>
              </a:spcAft>
              <a:buClr>
                <a:srgbClr val="1BBFD1"/>
              </a:buClr>
              <a:buSzPts val="1800"/>
              <a:buFont typeface="Arial" panose="020B0604020202020204" pitchFamily="34" charset="0"/>
              <a:buChar char="•"/>
              <a:defRPr sz="1600">
                <a:solidFill>
                  <a:schemeClr val="dk1"/>
                </a:solidFill>
                <a:latin typeface="Montserrat"/>
                <a:ea typeface="Montserrat"/>
                <a:cs typeface="Montserrat"/>
              </a:defRPr>
            </a:lvl1pPr>
          </a:lstStyle>
          <a:p>
            <a:r>
              <a:rPr lang="en-US" dirty="0">
                <a:sym typeface="Montserrat"/>
              </a:rPr>
              <a:t>JP Morgan Chase wants to use AI to predict which customers are most likely to default on their loans. The objective is to improve risk management, automate loan approval decisions, and comply with regulatory standards.</a:t>
            </a:r>
          </a:p>
          <a:p>
            <a:r>
              <a:rPr lang="en-US" dirty="0">
                <a:sym typeface="Montserrat"/>
              </a:rPr>
              <a:t>Let’s explore the 3 approaches: CRISP-DM, Agile and Hybrid.</a:t>
            </a:r>
            <a:endParaRPr dirty="0">
              <a:sym typeface="Montserrat"/>
            </a:endParaRPr>
          </a:p>
        </p:txBody>
      </p:sp>
      <p:pic>
        <p:nvPicPr>
          <p:cNvPr id="4" name="Picture 3">
            <a:extLst>
              <a:ext uri="{FF2B5EF4-FFF2-40B4-BE49-F238E27FC236}">
                <a16:creationId xmlns:a16="http://schemas.microsoft.com/office/drawing/2014/main" id="{5048FBF5-55B5-6382-DC6F-15BFB1849414}"/>
              </a:ext>
            </a:extLst>
          </p:cNvPr>
          <p:cNvPicPr>
            <a:picLocks noChangeAspect="1"/>
          </p:cNvPicPr>
          <p:nvPr/>
        </p:nvPicPr>
        <p:blipFill>
          <a:blip r:embed="rId4"/>
          <a:stretch>
            <a:fillRect/>
          </a:stretch>
        </p:blipFill>
        <p:spPr>
          <a:xfrm>
            <a:off x="3096694" y="2363999"/>
            <a:ext cx="5167912" cy="3080098"/>
          </a:xfrm>
          <a:prstGeom prst="rect">
            <a:avLst/>
          </a:prstGeom>
        </p:spPr>
      </p:pic>
      <p:sp>
        <p:nvSpPr>
          <p:cNvPr id="6" name="TextBox 5">
            <a:extLst>
              <a:ext uri="{FF2B5EF4-FFF2-40B4-BE49-F238E27FC236}">
                <a16:creationId xmlns:a16="http://schemas.microsoft.com/office/drawing/2014/main" id="{864F4555-BBA2-44E0-0BB4-D02190B9A163}"/>
              </a:ext>
            </a:extLst>
          </p:cNvPr>
          <p:cNvSpPr txBox="1"/>
          <p:nvPr/>
        </p:nvSpPr>
        <p:spPr>
          <a:xfrm>
            <a:off x="569913" y="5932526"/>
            <a:ext cx="6143624" cy="261610"/>
          </a:xfrm>
          <a:prstGeom prst="rect">
            <a:avLst/>
          </a:prstGeom>
          <a:noFill/>
        </p:spPr>
        <p:txBody>
          <a:bodyPr wrap="square">
            <a:spAutoFit/>
          </a:bodyPr>
          <a:lstStyle/>
          <a:p>
            <a:r>
              <a:rPr lang="en-CA" sz="1100" dirty="0"/>
              <a:t>https://www.flickr.com/photos/bensutherland/178395814/in/photostream/</a:t>
            </a:r>
          </a:p>
        </p:txBody>
      </p:sp>
    </p:spTree>
    <p:extLst>
      <p:ext uri="{BB962C8B-B14F-4D97-AF65-F5344CB8AC3E}">
        <p14:creationId xmlns:p14="http://schemas.microsoft.com/office/powerpoint/2010/main" val="13632856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73">
          <a:extLst>
            <a:ext uri="{FF2B5EF4-FFF2-40B4-BE49-F238E27FC236}">
              <a16:creationId xmlns:a16="http://schemas.microsoft.com/office/drawing/2014/main" id="{D69AEAB4-5FC6-40CD-DF46-E20FB622F9A1}"/>
            </a:ext>
          </a:extLst>
        </p:cNvPr>
        <p:cNvGrpSpPr/>
        <p:nvPr/>
      </p:nvGrpSpPr>
      <p:grpSpPr>
        <a:xfrm>
          <a:off x="0" y="0"/>
          <a:ext cx="0" cy="0"/>
          <a:chOff x="0" y="0"/>
          <a:chExt cx="0" cy="0"/>
        </a:xfrm>
      </p:grpSpPr>
      <p:pic>
        <p:nvPicPr>
          <p:cNvPr id="374" name="Google Shape;374;g355ea8b0119_0_215">
            <a:extLst>
              <a:ext uri="{FF2B5EF4-FFF2-40B4-BE49-F238E27FC236}">
                <a16:creationId xmlns:a16="http://schemas.microsoft.com/office/drawing/2014/main" id="{AA44C3DC-BBBB-E1E2-3783-9D853D9B97B1}"/>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sp>
        <p:nvSpPr>
          <p:cNvPr id="377" name="Google Shape;377;g355ea8b0119_0_215">
            <a:extLst>
              <a:ext uri="{FF2B5EF4-FFF2-40B4-BE49-F238E27FC236}">
                <a16:creationId xmlns:a16="http://schemas.microsoft.com/office/drawing/2014/main" id="{65EB105F-91AE-A2C9-1578-2D74694FE6D7}"/>
              </a:ext>
            </a:extLst>
          </p:cNvPr>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378" name="Google Shape;378;g355ea8b0119_0_215">
            <a:extLst>
              <a:ext uri="{FF2B5EF4-FFF2-40B4-BE49-F238E27FC236}">
                <a16:creationId xmlns:a16="http://schemas.microsoft.com/office/drawing/2014/main" id="{07D1AE67-08BA-9C9A-860D-7007996B2E8B}"/>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CRISP-DM Approach</a:t>
            </a:r>
            <a:endParaRPr sz="1400" b="0" i="0" u="none" strike="noStrike" cap="none" dirty="0">
              <a:solidFill>
                <a:srgbClr val="000000"/>
              </a:solidFill>
              <a:latin typeface="Arial"/>
              <a:ea typeface="Arial"/>
              <a:cs typeface="Arial"/>
              <a:sym typeface="Arial"/>
            </a:endParaRPr>
          </a:p>
        </p:txBody>
      </p:sp>
      <p:sp>
        <p:nvSpPr>
          <p:cNvPr id="2" name="Google Shape;379;g355ea8b0119_0_215">
            <a:extLst>
              <a:ext uri="{FF2B5EF4-FFF2-40B4-BE49-F238E27FC236}">
                <a16:creationId xmlns:a16="http://schemas.microsoft.com/office/drawing/2014/main" id="{AF6972CF-93BA-A9D8-6D1A-DDFA53F6F655}"/>
              </a:ext>
            </a:extLst>
          </p:cNvPr>
          <p:cNvSpPr txBox="1"/>
          <p:nvPr/>
        </p:nvSpPr>
        <p:spPr>
          <a:xfrm>
            <a:off x="283888" y="962777"/>
            <a:ext cx="11663400" cy="3046988"/>
          </a:xfrm>
          <a:prstGeom prst="rect">
            <a:avLst/>
          </a:prstGeom>
          <a:noFill/>
        </p:spPr>
        <p:txBody>
          <a:bodyPr wrap="square">
            <a:spAutoFit/>
          </a:bodyPr>
          <a:lstStyle>
            <a:defPPr>
              <a:defRPr lang="en-US"/>
            </a:defPPr>
            <a:lvl1pPr marL="285750" indent="-285750">
              <a:buFont typeface="Arial" panose="020B0604020202020204" pitchFamily="34" charset="0"/>
              <a:buChar char="•"/>
              <a:defRPr sz="1600">
                <a:latin typeface="Montserrat" panose="00000500000000000000" pitchFamily="2" charset="0"/>
              </a:defRPr>
            </a:lvl1pPr>
          </a:lstStyle>
          <a:p>
            <a:pPr marL="342900" indent="-342900">
              <a:buFont typeface="+mj-lt"/>
              <a:buAutoNum type="arabicPeriod"/>
            </a:pPr>
            <a:r>
              <a:rPr lang="en-US" dirty="0">
                <a:sym typeface="Montserrat"/>
              </a:rPr>
              <a:t>Business Understanding: Stakeholders want to reduce default-related losses and automate decisions for faster loan approvals.</a:t>
            </a:r>
          </a:p>
          <a:p>
            <a:pPr marL="342900" indent="-342900">
              <a:buFont typeface="+mj-lt"/>
              <a:buAutoNum type="arabicPeriod"/>
            </a:pPr>
            <a:r>
              <a:rPr lang="en-US" dirty="0">
                <a:sym typeface="Montserrat"/>
              </a:rPr>
              <a:t>Data Understanding: Explore data from past loan applicants, including demographics, employment history, credit scores, loan amounts, and repayment history.</a:t>
            </a:r>
          </a:p>
          <a:p>
            <a:pPr marL="342900" indent="-342900">
              <a:buFont typeface="+mj-lt"/>
              <a:buAutoNum type="arabicPeriod"/>
            </a:pPr>
            <a:r>
              <a:rPr lang="en-US" dirty="0">
                <a:sym typeface="Montserrat"/>
              </a:rPr>
              <a:t>Data Preparation: Clean missing values, encode categorical features (e.g., employment type), and create engineered features like debt-to-income ratio or credit utilization rate.</a:t>
            </a:r>
          </a:p>
          <a:p>
            <a:pPr marL="342900" indent="-342900">
              <a:buFont typeface="+mj-lt"/>
              <a:buAutoNum type="arabicPeriod"/>
            </a:pPr>
            <a:r>
              <a:rPr lang="en-US" dirty="0">
                <a:sym typeface="Montserrat"/>
              </a:rPr>
              <a:t>Modeling: Train classification models like </a:t>
            </a:r>
            <a:r>
              <a:rPr lang="en-US" dirty="0" err="1">
                <a:sym typeface="Montserrat"/>
              </a:rPr>
              <a:t>XGBoost</a:t>
            </a:r>
            <a:r>
              <a:rPr lang="en-US" dirty="0">
                <a:sym typeface="Montserrat"/>
              </a:rPr>
              <a:t>. Use cross-validation and grid search for hyperparameter tuning.</a:t>
            </a:r>
          </a:p>
          <a:p>
            <a:pPr marL="342900" indent="-342900">
              <a:buFont typeface="+mj-lt"/>
              <a:buAutoNum type="arabicPeriod"/>
            </a:pPr>
            <a:r>
              <a:rPr lang="en-US" dirty="0">
                <a:sym typeface="Montserrat"/>
              </a:rPr>
              <a:t>Evaluation: Use metrics like precision, recall, and F1-score. Evaluate fairness and bias (e.g., by gender or income level) using SHAP values and bias audits.</a:t>
            </a:r>
          </a:p>
          <a:p>
            <a:pPr marL="342900" indent="-342900">
              <a:buFont typeface="+mj-lt"/>
              <a:buAutoNum type="arabicPeriod"/>
            </a:pPr>
            <a:r>
              <a:rPr lang="en-US" dirty="0">
                <a:sym typeface="Montserrat"/>
              </a:rPr>
              <a:t>Deployment: Deploy the model through the bank’s loan approval portal. Monitor model drift and performance with batch scoring and dashboards.</a:t>
            </a:r>
          </a:p>
        </p:txBody>
      </p:sp>
    </p:spTree>
    <p:extLst>
      <p:ext uri="{BB962C8B-B14F-4D97-AF65-F5344CB8AC3E}">
        <p14:creationId xmlns:p14="http://schemas.microsoft.com/office/powerpoint/2010/main" val="17050798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73">
          <a:extLst>
            <a:ext uri="{FF2B5EF4-FFF2-40B4-BE49-F238E27FC236}">
              <a16:creationId xmlns:a16="http://schemas.microsoft.com/office/drawing/2014/main" id="{A2C10580-34D0-5559-00B1-E76C71AEE025}"/>
            </a:ext>
          </a:extLst>
        </p:cNvPr>
        <p:cNvGrpSpPr/>
        <p:nvPr/>
      </p:nvGrpSpPr>
      <p:grpSpPr>
        <a:xfrm>
          <a:off x="0" y="0"/>
          <a:ext cx="0" cy="0"/>
          <a:chOff x="0" y="0"/>
          <a:chExt cx="0" cy="0"/>
        </a:xfrm>
      </p:grpSpPr>
      <p:pic>
        <p:nvPicPr>
          <p:cNvPr id="374" name="Google Shape;374;g355ea8b0119_0_215">
            <a:extLst>
              <a:ext uri="{FF2B5EF4-FFF2-40B4-BE49-F238E27FC236}">
                <a16:creationId xmlns:a16="http://schemas.microsoft.com/office/drawing/2014/main" id="{F4F355D7-101F-5F4E-E89C-BDFD389A0E40}"/>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sp>
        <p:nvSpPr>
          <p:cNvPr id="378" name="Google Shape;378;g355ea8b0119_0_215">
            <a:extLst>
              <a:ext uri="{FF2B5EF4-FFF2-40B4-BE49-F238E27FC236}">
                <a16:creationId xmlns:a16="http://schemas.microsoft.com/office/drawing/2014/main" id="{634BF0BE-56B9-53EE-302A-1B1315351AB3}"/>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Agile for AI</a:t>
            </a:r>
          </a:p>
        </p:txBody>
      </p:sp>
      <p:sp>
        <p:nvSpPr>
          <p:cNvPr id="4" name="TextBox 3">
            <a:extLst>
              <a:ext uri="{FF2B5EF4-FFF2-40B4-BE49-F238E27FC236}">
                <a16:creationId xmlns:a16="http://schemas.microsoft.com/office/drawing/2014/main" id="{A95F789D-36A4-746F-A4A0-8280B8A4C517}"/>
              </a:ext>
            </a:extLst>
          </p:cNvPr>
          <p:cNvSpPr txBox="1"/>
          <p:nvPr/>
        </p:nvSpPr>
        <p:spPr>
          <a:xfrm>
            <a:off x="246320" y="725911"/>
            <a:ext cx="11399838" cy="4770537"/>
          </a:xfrm>
          <a:prstGeom prst="rect">
            <a:avLst/>
          </a:prstGeom>
          <a:noFill/>
        </p:spPr>
        <p:txBody>
          <a:bodyPr wrap="square">
            <a:spAutoFit/>
          </a:bodyPr>
          <a:lstStyle>
            <a:defPPr>
              <a:defRPr lang="en-US"/>
            </a:defPPr>
            <a:lvl1pPr marL="342900" indent="-342900">
              <a:buFont typeface="+mj-lt"/>
              <a:buAutoNum type="arabicPeriod"/>
              <a:defRPr sz="1600">
                <a:latin typeface="Montserrat" panose="00000500000000000000" pitchFamily="2" charset="0"/>
              </a:defRPr>
            </a:lvl1pPr>
          </a:lstStyle>
          <a:p>
            <a:r>
              <a:rPr lang="en-US" b="1" dirty="0"/>
              <a:t>Sprints:</a:t>
            </a:r>
          </a:p>
          <a:p>
            <a:pPr lvl="1"/>
            <a:endParaRPr lang="en-US" sz="1600" dirty="0">
              <a:latin typeface="Montserrat" panose="00000500000000000000" pitchFamily="2" charset="0"/>
            </a:endParaRPr>
          </a:p>
          <a:p>
            <a:pPr lvl="1"/>
            <a:endParaRPr lang="en-US" sz="1600" dirty="0">
              <a:latin typeface="Montserrat" panose="00000500000000000000" pitchFamily="2" charset="0"/>
            </a:endParaRPr>
          </a:p>
          <a:p>
            <a:pPr lvl="1"/>
            <a:endParaRPr lang="en-US" sz="1600" dirty="0">
              <a:latin typeface="Montserrat" panose="00000500000000000000" pitchFamily="2" charset="0"/>
            </a:endParaRPr>
          </a:p>
          <a:p>
            <a:pPr lvl="1"/>
            <a:endParaRPr lang="en-US" sz="1600" dirty="0">
              <a:latin typeface="Montserrat" panose="00000500000000000000" pitchFamily="2" charset="0"/>
            </a:endParaRPr>
          </a:p>
          <a:p>
            <a:pPr lvl="1"/>
            <a:endParaRPr lang="en-US" sz="1600" dirty="0">
              <a:latin typeface="Montserrat" panose="00000500000000000000" pitchFamily="2" charset="0"/>
            </a:endParaRPr>
          </a:p>
          <a:p>
            <a:pPr lvl="1"/>
            <a:endParaRPr lang="en-US" sz="1600" dirty="0">
              <a:latin typeface="Montserrat" panose="00000500000000000000" pitchFamily="2" charset="0"/>
            </a:endParaRPr>
          </a:p>
          <a:p>
            <a:pPr lvl="1"/>
            <a:endParaRPr lang="en-US" sz="1600" dirty="0">
              <a:latin typeface="Montserrat" panose="00000500000000000000" pitchFamily="2" charset="0"/>
            </a:endParaRPr>
          </a:p>
          <a:p>
            <a:pPr lvl="1"/>
            <a:endParaRPr lang="en-US" sz="1600" dirty="0">
              <a:latin typeface="Montserrat" panose="00000500000000000000" pitchFamily="2" charset="0"/>
            </a:endParaRPr>
          </a:p>
          <a:p>
            <a:pPr lvl="1"/>
            <a:endParaRPr lang="en-US" sz="1600" dirty="0">
              <a:latin typeface="Montserrat" panose="00000500000000000000" pitchFamily="2" charset="0"/>
            </a:endParaRPr>
          </a:p>
          <a:p>
            <a:pPr lvl="1"/>
            <a:endParaRPr lang="en-US" sz="1600" dirty="0">
              <a:latin typeface="Montserrat" panose="00000500000000000000" pitchFamily="2" charset="0"/>
            </a:endParaRPr>
          </a:p>
          <a:p>
            <a:pPr lvl="1"/>
            <a:endParaRPr lang="en-US" sz="1600" dirty="0">
              <a:latin typeface="Montserrat" panose="00000500000000000000" pitchFamily="2" charset="0"/>
            </a:endParaRPr>
          </a:p>
          <a:p>
            <a:endParaRPr lang="en-US" b="1" dirty="0"/>
          </a:p>
          <a:p>
            <a:r>
              <a:rPr lang="en-US" b="1" dirty="0"/>
              <a:t>Daily Stand-ups (15-mins):</a:t>
            </a:r>
            <a:br>
              <a:rPr lang="en-US" dirty="0"/>
            </a:br>
            <a:r>
              <a:rPr lang="en-US" dirty="0"/>
              <a:t>Data scientists, product owners, and compliance officers discuss blockers like missing data or fairness concerns.</a:t>
            </a:r>
          </a:p>
          <a:p>
            <a:endParaRPr lang="en-US" dirty="0"/>
          </a:p>
          <a:p>
            <a:r>
              <a:rPr lang="en-US" b="1" dirty="0"/>
              <a:t>Rapid Experimentation:</a:t>
            </a:r>
            <a:br>
              <a:rPr lang="en-US" dirty="0"/>
            </a:br>
            <a:r>
              <a:rPr lang="en-US" dirty="0"/>
              <a:t>Test multiple models, sampling strategies, and explainability tools in short cycles.</a:t>
            </a:r>
          </a:p>
        </p:txBody>
      </p:sp>
      <p:graphicFrame>
        <p:nvGraphicFramePr>
          <p:cNvPr id="5" name="Table 4">
            <a:extLst>
              <a:ext uri="{FF2B5EF4-FFF2-40B4-BE49-F238E27FC236}">
                <a16:creationId xmlns:a16="http://schemas.microsoft.com/office/drawing/2014/main" id="{A64F2B3C-48F7-6245-86CD-965D17071F3A}"/>
              </a:ext>
            </a:extLst>
          </p:cNvPr>
          <p:cNvGraphicFramePr>
            <a:graphicFrameLocks noGrp="1"/>
          </p:cNvGraphicFramePr>
          <p:nvPr>
            <p:extLst>
              <p:ext uri="{D42A27DB-BD31-4B8C-83A1-F6EECF244321}">
                <p14:modId xmlns:p14="http://schemas.microsoft.com/office/powerpoint/2010/main" val="2546121187"/>
              </p:ext>
            </p:extLst>
          </p:nvPr>
        </p:nvGraphicFramePr>
        <p:xfrm>
          <a:off x="421690" y="1158808"/>
          <a:ext cx="11399838" cy="2505062"/>
        </p:xfrm>
        <a:graphic>
          <a:graphicData uri="http://schemas.openxmlformats.org/drawingml/2006/table">
            <a:tbl>
              <a:tblPr>
                <a:tableStyleId>{3B4B98B0-60AC-42C2-AFA5-B58CD77FA1E5}</a:tableStyleId>
              </a:tblPr>
              <a:tblGrid>
                <a:gridCol w="1110604">
                  <a:extLst>
                    <a:ext uri="{9D8B030D-6E8A-4147-A177-3AD203B41FA5}">
                      <a16:colId xmlns:a16="http://schemas.microsoft.com/office/drawing/2014/main" val="980357021"/>
                    </a:ext>
                  </a:extLst>
                </a:gridCol>
                <a:gridCol w="2758924">
                  <a:extLst>
                    <a:ext uri="{9D8B030D-6E8A-4147-A177-3AD203B41FA5}">
                      <a16:colId xmlns:a16="http://schemas.microsoft.com/office/drawing/2014/main" val="2162408691"/>
                    </a:ext>
                  </a:extLst>
                </a:gridCol>
                <a:gridCol w="3705597">
                  <a:extLst>
                    <a:ext uri="{9D8B030D-6E8A-4147-A177-3AD203B41FA5}">
                      <a16:colId xmlns:a16="http://schemas.microsoft.com/office/drawing/2014/main" val="4250600315"/>
                    </a:ext>
                  </a:extLst>
                </a:gridCol>
                <a:gridCol w="3824713">
                  <a:extLst>
                    <a:ext uri="{9D8B030D-6E8A-4147-A177-3AD203B41FA5}">
                      <a16:colId xmlns:a16="http://schemas.microsoft.com/office/drawing/2014/main" val="1303814735"/>
                    </a:ext>
                  </a:extLst>
                </a:gridCol>
              </a:tblGrid>
              <a:tr h="81079">
                <a:tc>
                  <a:txBody>
                    <a:bodyPr/>
                    <a:lstStyle/>
                    <a:p>
                      <a:r>
                        <a:rPr lang="en-CA" sz="1400" b="1" dirty="0">
                          <a:latin typeface="Montserrat" panose="00000500000000000000" pitchFamily="2" charset="0"/>
                        </a:rPr>
                        <a:t>Week</a:t>
                      </a:r>
                      <a:endParaRPr lang="en-CA" sz="1400" dirty="0">
                        <a:latin typeface="Montserrat" panose="00000500000000000000" pitchFamily="2" charset="0"/>
                      </a:endParaRPr>
                    </a:p>
                  </a:txBody>
                  <a:tcPr marL="53065" marR="53065" marT="26533" marB="26533" anchor="ctr"/>
                </a:tc>
                <a:tc>
                  <a:txBody>
                    <a:bodyPr/>
                    <a:lstStyle/>
                    <a:p>
                      <a:r>
                        <a:rPr lang="en-CA" sz="1400" b="1" dirty="0">
                          <a:latin typeface="Montserrat" panose="00000500000000000000" pitchFamily="2" charset="0"/>
                        </a:rPr>
                        <a:t>Sprint Goals</a:t>
                      </a:r>
                      <a:endParaRPr lang="en-CA" sz="1400" dirty="0">
                        <a:latin typeface="Montserrat" panose="00000500000000000000" pitchFamily="2" charset="0"/>
                      </a:endParaRPr>
                    </a:p>
                  </a:txBody>
                  <a:tcPr marL="53065" marR="53065" marT="26533" marB="26533" anchor="ctr"/>
                </a:tc>
                <a:tc>
                  <a:txBody>
                    <a:bodyPr/>
                    <a:lstStyle/>
                    <a:p>
                      <a:r>
                        <a:rPr lang="en-CA" sz="1400" b="1" dirty="0">
                          <a:latin typeface="Montserrat" panose="00000500000000000000" pitchFamily="2" charset="0"/>
                        </a:rPr>
                        <a:t>Activities</a:t>
                      </a:r>
                      <a:endParaRPr lang="en-CA" sz="1400" dirty="0">
                        <a:latin typeface="Montserrat" panose="00000500000000000000" pitchFamily="2" charset="0"/>
                      </a:endParaRPr>
                    </a:p>
                  </a:txBody>
                  <a:tcPr marL="53065" marR="53065" marT="26533" marB="26533" anchor="ctr"/>
                </a:tc>
                <a:tc>
                  <a:txBody>
                    <a:bodyPr/>
                    <a:lstStyle/>
                    <a:p>
                      <a:r>
                        <a:rPr lang="en-CA" sz="1400" b="1" dirty="0">
                          <a:latin typeface="Montserrat" panose="00000500000000000000" pitchFamily="2" charset="0"/>
                        </a:rPr>
                        <a:t>Deliverables</a:t>
                      </a:r>
                      <a:endParaRPr lang="en-CA" sz="1400" dirty="0">
                        <a:latin typeface="Montserrat" panose="00000500000000000000" pitchFamily="2" charset="0"/>
                      </a:endParaRPr>
                    </a:p>
                  </a:txBody>
                  <a:tcPr marL="53065" marR="53065" marT="26533" marB="26533" anchor="ctr"/>
                </a:tc>
                <a:extLst>
                  <a:ext uri="{0D108BD9-81ED-4DB2-BD59-A6C34878D82A}">
                    <a16:rowId xmlns:a16="http://schemas.microsoft.com/office/drawing/2014/main" val="2263624551"/>
                  </a:ext>
                </a:extLst>
              </a:tr>
              <a:tr h="324315">
                <a:tc>
                  <a:txBody>
                    <a:bodyPr/>
                    <a:lstStyle/>
                    <a:p>
                      <a:r>
                        <a:rPr lang="en-CA" sz="1400" b="1" dirty="0">
                          <a:latin typeface="Montserrat" panose="00000500000000000000" pitchFamily="2" charset="0"/>
                        </a:rPr>
                        <a:t>Week 1</a:t>
                      </a:r>
                      <a:endParaRPr lang="en-CA" sz="1400" dirty="0">
                        <a:latin typeface="Montserrat" panose="00000500000000000000" pitchFamily="2" charset="0"/>
                      </a:endParaRPr>
                    </a:p>
                  </a:txBody>
                  <a:tcPr marL="53065" marR="53065" marT="26533" marB="26533" anchor="ctr"/>
                </a:tc>
                <a:tc>
                  <a:txBody>
                    <a:bodyPr/>
                    <a:lstStyle/>
                    <a:p>
                      <a:r>
                        <a:rPr lang="en-CA" sz="1050" dirty="0">
                          <a:latin typeface="Montserrat" panose="00000500000000000000" pitchFamily="2" charset="0"/>
                        </a:rPr>
                        <a:t>Sprint 0: Planning &amp; Setup</a:t>
                      </a:r>
                    </a:p>
                  </a:txBody>
                  <a:tcPr marL="53065" marR="53065" marT="26533" marB="26533" anchor="ctr"/>
                </a:tc>
                <a:tc>
                  <a:txBody>
                    <a:bodyPr/>
                    <a:lstStyle/>
                    <a:p>
                      <a:r>
                        <a:rPr lang="en-US" sz="1050" dirty="0">
                          <a:latin typeface="Montserrat" panose="00000500000000000000" pitchFamily="2" charset="0"/>
                        </a:rPr>
                        <a:t>- Define problem and success metrics - Align with stakeholders - Set up data access &amp; infrastructure</a:t>
                      </a:r>
                    </a:p>
                  </a:txBody>
                  <a:tcPr marL="53065" marR="53065" marT="26533" marB="26533" anchor="ctr"/>
                </a:tc>
                <a:tc>
                  <a:txBody>
                    <a:bodyPr/>
                    <a:lstStyle/>
                    <a:p>
                      <a:r>
                        <a:rPr lang="en-US" sz="1050" dirty="0">
                          <a:latin typeface="Montserrat" panose="00000500000000000000" pitchFamily="2" charset="0"/>
                        </a:rPr>
                        <a:t>Product backlog, user stories, and sprint plan</a:t>
                      </a:r>
                    </a:p>
                  </a:txBody>
                  <a:tcPr marL="53065" marR="53065" marT="26533" marB="26533" anchor="ctr"/>
                </a:tc>
                <a:extLst>
                  <a:ext uri="{0D108BD9-81ED-4DB2-BD59-A6C34878D82A}">
                    <a16:rowId xmlns:a16="http://schemas.microsoft.com/office/drawing/2014/main" val="612334936"/>
                  </a:ext>
                </a:extLst>
              </a:tr>
              <a:tr h="263506">
                <a:tc>
                  <a:txBody>
                    <a:bodyPr/>
                    <a:lstStyle/>
                    <a:p>
                      <a:r>
                        <a:rPr lang="en-CA" sz="1400" b="1" dirty="0">
                          <a:latin typeface="Montserrat" panose="00000500000000000000" pitchFamily="2" charset="0"/>
                        </a:rPr>
                        <a:t>Week 2</a:t>
                      </a:r>
                      <a:endParaRPr lang="en-CA" sz="1400" dirty="0">
                        <a:latin typeface="Montserrat" panose="00000500000000000000" pitchFamily="2" charset="0"/>
                      </a:endParaRPr>
                    </a:p>
                  </a:txBody>
                  <a:tcPr marL="53065" marR="53065" marT="26533" marB="26533" anchor="ctr"/>
                </a:tc>
                <a:tc>
                  <a:txBody>
                    <a:bodyPr/>
                    <a:lstStyle/>
                    <a:p>
                      <a:r>
                        <a:rPr lang="en-US" sz="1050" dirty="0">
                          <a:latin typeface="Montserrat" panose="00000500000000000000" pitchFamily="2" charset="0"/>
                        </a:rPr>
                        <a:t>Sprint 1: Data Exploration &amp; Baseline</a:t>
                      </a:r>
                    </a:p>
                  </a:txBody>
                  <a:tcPr marL="53065" marR="53065" marT="26533" marB="26533" anchor="ctr"/>
                </a:tc>
                <a:tc>
                  <a:txBody>
                    <a:bodyPr/>
                    <a:lstStyle/>
                    <a:p>
                      <a:r>
                        <a:rPr lang="en-US" sz="1050" dirty="0">
                          <a:latin typeface="Montserrat" panose="00000500000000000000" pitchFamily="2" charset="0"/>
                        </a:rPr>
                        <a:t>- Explore data - Identify data quality issues - Build and evaluate baseline model</a:t>
                      </a:r>
                    </a:p>
                  </a:txBody>
                  <a:tcPr marL="53065" marR="53065" marT="26533" marB="26533" anchor="ctr"/>
                </a:tc>
                <a:tc>
                  <a:txBody>
                    <a:bodyPr/>
                    <a:lstStyle/>
                    <a:p>
                      <a:r>
                        <a:rPr lang="en-CA" sz="1050">
                          <a:latin typeface="Montserrat" panose="00000500000000000000" pitchFamily="2" charset="0"/>
                        </a:rPr>
                        <a:t>Data profiling report, baseline model results</a:t>
                      </a:r>
                    </a:p>
                  </a:txBody>
                  <a:tcPr marL="53065" marR="53065" marT="26533" marB="26533" anchor="ctr"/>
                </a:tc>
                <a:extLst>
                  <a:ext uri="{0D108BD9-81ED-4DB2-BD59-A6C34878D82A}">
                    <a16:rowId xmlns:a16="http://schemas.microsoft.com/office/drawing/2014/main" val="259447520"/>
                  </a:ext>
                </a:extLst>
              </a:tr>
              <a:tr h="202697">
                <a:tc>
                  <a:txBody>
                    <a:bodyPr/>
                    <a:lstStyle/>
                    <a:p>
                      <a:r>
                        <a:rPr lang="en-CA" sz="1400" b="1" dirty="0">
                          <a:latin typeface="Montserrat" panose="00000500000000000000" pitchFamily="2" charset="0"/>
                        </a:rPr>
                        <a:t>Week 3</a:t>
                      </a:r>
                      <a:endParaRPr lang="en-CA" sz="1400" dirty="0">
                        <a:latin typeface="Montserrat" panose="00000500000000000000" pitchFamily="2" charset="0"/>
                      </a:endParaRPr>
                    </a:p>
                  </a:txBody>
                  <a:tcPr marL="53065" marR="53065" marT="26533" marB="26533" anchor="ctr"/>
                </a:tc>
                <a:tc>
                  <a:txBody>
                    <a:bodyPr/>
                    <a:lstStyle/>
                    <a:p>
                      <a:r>
                        <a:rPr lang="en-US" sz="1050">
                          <a:latin typeface="Montserrat" panose="00000500000000000000" pitchFamily="2" charset="0"/>
                        </a:rPr>
                        <a:t>Sprint 2: Feature Engineering &amp; Model Iteration</a:t>
                      </a:r>
                    </a:p>
                  </a:txBody>
                  <a:tcPr marL="53065" marR="53065" marT="26533" marB="26533" anchor="ctr"/>
                </a:tc>
                <a:tc>
                  <a:txBody>
                    <a:bodyPr/>
                    <a:lstStyle/>
                    <a:p>
                      <a:r>
                        <a:rPr lang="en-US" sz="1050" dirty="0">
                          <a:latin typeface="Montserrat" panose="00000500000000000000" pitchFamily="2" charset="0"/>
                        </a:rPr>
                        <a:t>- Engineer features - Tune hyperparameters - Try multiple models</a:t>
                      </a:r>
                    </a:p>
                  </a:txBody>
                  <a:tcPr marL="53065" marR="53065" marT="26533" marB="26533" anchor="ctr"/>
                </a:tc>
                <a:tc>
                  <a:txBody>
                    <a:bodyPr/>
                    <a:lstStyle/>
                    <a:p>
                      <a:r>
                        <a:rPr lang="en-US" sz="1050">
                          <a:latin typeface="Montserrat" panose="00000500000000000000" pitchFamily="2" charset="0"/>
                        </a:rPr>
                        <a:t>Improved model performance, Jupyter notebooks</a:t>
                      </a:r>
                    </a:p>
                  </a:txBody>
                  <a:tcPr marL="53065" marR="53065" marT="26533" marB="26533" anchor="ctr"/>
                </a:tc>
                <a:extLst>
                  <a:ext uri="{0D108BD9-81ED-4DB2-BD59-A6C34878D82A}">
                    <a16:rowId xmlns:a16="http://schemas.microsoft.com/office/drawing/2014/main" val="248630720"/>
                  </a:ext>
                </a:extLst>
              </a:tr>
              <a:tr h="263506">
                <a:tc>
                  <a:txBody>
                    <a:bodyPr/>
                    <a:lstStyle/>
                    <a:p>
                      <a:r>
                        <a:rPr lang="en-CA" sz="1400" b="1">
                          <a:latin typeface="Montserrat" panose="00000500000000000000" pitchFamily="2" charset="0"/>
                        </a:rPr>
                        <a:t>Week 4</a:t>
                      </a:r>
                      <a:endParaRPr lang="en-CA" sz="1400">
                        <a:latin typeface="Montserrat" panose="00000500000000000000" pitchFamily="2" charset="0"/>
                      </a:endParaRPr>
                    </a:p>
                  </a:txBody>
                  <a:tcPr marL="53065" marR="53065" marT="26533" marB="26533" anchor="ctr"/>
                </a:tc>
                <a:tc>
                  <a:txBody>
                    <a:bodyPr/>
                    <a:lstStyle/>
                    <a:p>
                      <a:r>
                        <a:rPr lang="en-CA" sz="1050" dirty="0">
                          <a:latin typeface="Montserrat" panose="00000500000000000000" pitchFamily="2" charset="0"/>
                        </a:rPr>
                        <a:t>Sprint 3: Evaluation &amp; Explainability</a:t>
                      </a:r>
                    </a:p>
                  </a:txBody>
                  <a:tcPr marL="53065" marR="53065" marT="26533" marB="26533" anchor="ctr"/>
                </a:tc>
                <a:tc>
                  <a:txBody>
                    <a:bodyPr/>
                    <a:lstStyle/>
                    <a:p>
                      <a:r>
                        <a:rPr lang="en-US" sz="1050">
                          <a:latin typeface="Montserrat" panose="00000500000000000000" pitchFamily="2" charset="0"/>
                        </a:rPr>
                        <a:t>- Test for fairness &amp; bias - Add explainability (SHAP, LIME) - Validate with business team</a:t>
                      </a:r>
                    </a:p>
                  </a:txBody>
                  <a:tcPr marL="53065" marR="53065" marT="26533" marB="26533" anchor="ctr"/>
                </a:tc>
                <a:tc>
                  <a:txBody>
                    <a:bodyPr/>
                    <a:lstStyle/>
                    <a:p>
                      <a:r>
                        <a:rPr lang="en-CA" sz="1050" dirty="0">
                          <a:latin typeface="Montserrat" panose="00000500000000000000" pitchFamily="2" charset="0"/>
                        </a:rPr>
                        <a:t>Evaluation metrics, explainability report</a:t>
                      </a:r>
                    </a:p>
                  </a:txBody>
                  <a:tcPr marL="53065" marR="53065" marT="26533" marB="26533" anchor="ctr"/>
                </a:tc>
                <a:extLst>
                  <a:ext uri="{0D108BD9-81ED-4DB2-BD59-A6C34878D82A}">
                    <a16:rowId xmlns:a16="http://schemas.microsoft.com/office/drawing/2014/main" val="3529724106"/>
                  </a:ext>
                </a:extLst>
              </a:tr>
              <a:tr h="263506">
                <a:tc>
                  <a:txBody>
                    <a:bodyPr/>
                    <a:lstStyle/>
                    <a:p>
                      <a:r>
                        <a:rPr lang="en-CA" sz="1400" b="1" dirty="0">
                          <a:latin typeface="Montserrat" panose="00000500000000000000" pitchFamily="2" charset="0"/>
                        </a:rPr>
                        <a:t>Week 5</a:t>
                      </a:r>
                      <a:endParaRPr lang="en-CA" sz="1400" dirty="0">
                        <a:latin typeface="Montserrat" panose="00000500000000000000" pitchFamily="2" charset="0"/>
                      </a:endParaRPr>
                    </a:p>
                  </a:txBody>
                  <a:tcPr marL="53065" marR="53065" marT="26533" marB="26533" anchor="ctr"/>
                </a:tc>
                <a:tc>
                  <a:txBody>
                    <a:bodyPr/>
                    <a:lstStyle/>
                    <a:p>
                      <a:r>
                        <a:rPr lang="en-CA" sz="1050">
                          <a:latin typeface="Montserrat" panose="00000500000000000000" pitchFamily="2" charset="0"/>
                        </a:rPr>
                        <a:t>Sprint 4: Deployment &amp; Integration</a:t>
                      </a:r>
                    </a:p>
                  </a:txBody>
                  <a:tcPr marL="53065" marR="53065" marT="26533" marB="26533" anchor="ctr"/>
                </a:tc>
                <a:tc>
                  <a:txBody>
                    <a:bodyPr/>
                    <a:lstStyle/>
                    <a:p>
                      <a:r>
                        <a:rPr lang="en-US" sz="1050">
                          <a:latin typeface="Montserrat" panose="00000500000000000000" pitchFamily="2" charset="0"/>
                        </a:rPr>
                        <a:t>- Prepare model for production - Set up model serving pipeline - Integrate with application</a:t>
                      </a:r>
                    </a:p>
                  </a:txBody>
                  <a:tcPr marL="53065" marR="53065" marT="26533" marB="26533" anchor="ctr"/>
                </a:tc>
                <a:tc>
                  <a:txBody>
                    <a:bodyPr/>
                    <a:lstStyle/>
                    <a:p>
                      <a:r>
                        <a:rPr lang="en-CA" sz="1050" dirty="0">
                          <a:latin typeface="Montserrat" panose="00000500000000000000" pitchFamily="2" charset="0"/>
                        </a:rPr>
                        <a:t>Model API, deployment script</a:t>
                      </a:r>
                    </a:p>
                  </a:txBody>
                  <a:tcPr marL="53065" marR="53065" marT="26533" marB="26533" anchor="ctr"/>
                </a:tc>
                <a:extLst>
                  <a:ext uri="{0D108BD9-81ED-4DB2-BD59-A6C34878D82A}">
                    <a16:rowId xmlns:a16="http://schemas.microsoft.com/office/drawing/2014/main" val="1222927302"/>
                  </a:ext>
                </a:extLst>
              </a:tr>
              <a:tr h="263506">
                <a:tc>
                  <a:txBody>
                    <a:bodyPr/>
                    <a:lstStyle/>
                    <a:p>
                      <a:r>
                        <a:rPr lang="en-CA" sz="1400" b="1" dirty="0">
                          <a:latin typeface="Montserrat" panose="00000500000000000000" pitchFamily="2" charset="0"/>
                        </a:rPr>
                        <a:t>Week 6</a:t>
                      </a:r>
                      <a:endParaRPr lang="en-CA" sz="1400" dirty="0">
                        <a:latin typeface="Montserrat" panose="00000500000000000000" pitchFamily="2" charset="0"/>
                      </a:endParaRPr>
                    </a:p>
                  </a:txBody>
                  <a:tcPr marL="53065" marR="53065" marT="26533" marB="26533" anchor="ctr"/>
                </a:tc>
                <a:tc>
                  <a:txBody>
                    <a:bodyPr/>
                    <a:lstStyle/>
                    <a:p>
                      <a:r>
                        <a:rPr lang="en-CA" sz="1050">
                          <a:latin typeface="Montserrat" panose="00000500000000000000" pitchFamily="2" charset="0"/>
                        </a:rPr>
                        <a:t>Sprint 5: Monitoring &amp; Feedback Loop</a:t>
                      </a:r>
                    </a:p>
                  </a:txBody>
                  <a:tcPr marL="53065" marR="53065" marT="26533" marB="26533" anchor="ctr"/>
                </a:tc>
                <a:tc>
                  <a:txBody>
                    <a:bodyPr/>
                    <a:lstStyle/>
                    <a:p>
                      <a:r>
                        <a:rPr lang="en-US" sz="1050">
                          <a:latin typeface="Montserrat" panose="00000500000000000000" pitchFamily="2" charset="0"/>
                        </a:rPr>
                        <a:t>- Set up dashboards - Collect post-deployment feedback - Plan for retraining triggers</a:t>
                      </a:r>
                    </a:p>
                  </a:txBody>
                  <a:tcPr marL="53065" marR="53065" marT="26533" marB="26533" anchor="ctr"/>
                </a:tc>
                <a:tc>
                  <a:txBody>
                    <a:bodyPr/>
                    <a:lstStyle/>
                    <a:p>
                      <a:r>
                        <a:rPr lang="en-CA" sz="1050" dirty="0">
                          <a:latin typeface="Montserrat" panose="00000500000000000000" pitchFamily="2" charset="0"/>
                        </a:rPr>
                        <a:t>Monitoring dashboard, final report</a:t>
                      </a:r>
                    </a:p>
                  </a:txBody>
                  <a:tcPr marL="53065" marR="53065" marT="26533" marB="26533" anchor="ctr"/>
                </a:tc>
                <a:extLst>
                  <a:ext uri="{0D108BD9-81ED-4DB2-BD59-A6C34878D82A}">
                    <a16:rowId xmlns:a16="http://schemas.microsoft.com/office/drawing/2014/main" val="3707010673"/>
                  </a:ext>
                </a:extLst>
              </a:tr>
            </a:tbl>
          </a:graphicData>
        </a:graphic>
      </p:graphicFrame>
    </p:spTree>
    <p:extLst>
      <p:ext uri="{BB962C8B-B14F-4D97-AF65-F5344CB8AC3E}">
        <p14:creationId xmlns:p14="http://schemas.microsoft.com/office/powerpoint/2010/main" val="29735335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73">
          <a:extLst>
            <a:ext uri="{FF2B5EF4-FFF2-40B4-BE49-F238E27FC236}">
              <a16:creationId xmlns:a16="http://schemas.microsoft.com/office/drawing/2014/main" id="{61888F03-0618-36FE-CC9A-B2896DA07CFB}"/>
            </a:ext>
          </a:extLst>
        </p:cNvPr>
        <p:cNvGrpSpPr/>
        <p:nvPr/>
      </p:nvGrpSpPr>
      <p:grpSpPr>
        <a:xfrm>
          <a:off x="0" y="0"/>
          <a:ext cx="0" cy="0"/>
          <a:chOff x="0" y="0"/>
          <a:chExt cx="0" cy="0"/>
        </a:xfrm>
      </p:grpSpPr>
      <p:pic>
        <p:nvPicPr>
          <p:cNvPr id="374" name="Google Shape;374;g355ea8b0119_0_215">
            <a:extLst>
              <a:ext uri="{FF2B5EF4-FFF2-40B4-BE49-F238E27FC236}">
                <a16:creationId xmlns:a16="http://schemas.microsoft.com/office/drawing/2014/main" id="{8270BC39-C614-3E63-710A-67669273690F}"/>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sp>
        <p:nvSpPr>
          <p:cNvPr id="378" name="Google Shape;378;g355ea8b0119_0_215">
            <a:extLst>
              <a:ext uri="{FF2B5EF4-FFF2-40B4-BE49-F238E27FC236}">
                <a16:creationId xmlns:a16="http://schemas.microsoft.com/office/drawing/2014/main" id="{AC01FFDC-3C0A-D5F7-4E0D-461867622408}"/>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Hybrid Approach</a:t>
            </a:r>
          </a:p>
        </p:txBody>
      </p:sp>
      <p:sp>
        <p:nvSpPr>
          <p:cNvPr id="3" name="TextBox 2">
            <a:extLst>
              <a:ext uri="{FF2B5EF4-FFF2-40B4-BE49-F238E27FC236}">
                <a16:creationId xmlns:a16="http://schemas.microsoft.com/office/drawing/2014/main" id="{886F05F3-E829-8F95-FCCB-C0F3476F2F40}"/>
              </a:ext>
            </a:extLst>
          </p:cNvPr>
          <p:cNvSpPr txBox="1"/>
          <p:nvPr/>
        </p:nvSpPr>
        <p:spPr>
          <a:xfrm>
            <a:off x="253206" y="907670"/>
            <a:ext cx="11685587" cy="4031873"/>
          </a:xfrm>
          <a:prstGeom prst="rect">
            <a:avLst/>
          </a:prstGeom>
          <a:noFill/>
        </p:spPr>
        <p:txBody>
          <a:bodyPr wrap="square">
            <a:spAutoFit/>
          </a:bodyPr>
          <a:lstStyle/>
          <a:p>
            <a:pPr marL="285750" indent="-285750">
              <a:buFont typeface="Arial" panose="020B0604020202020204" pitchFamily="34" charset="0"/>
              <a:buChar char="•"/>
            </a:pPr>
            <a:r>
              <a:rPr lang="en-US" sz="1600" b="1" dirty="0">
                <a:latin typeface="Montserrat" panose="00000500000000000000" pitchFamily="2" charset="0"/>
              </a:rPr>
              <a:t>Traditional PM Backbone:</a:t>
            </a:r>
            <a:br>
              <a:rPr lang="en-US" sz="1600" dirty="0">
                <a:latin typeface="Montserrat" panose="00000500000000000000" pitchFamily="2" charset="0"/>
              </a:rPr>
            </a:br>
            <a:r>
              <a:rPr lang="en-US" sz="1600" dirty="0">
                <a:latin typeface="Montserrat" panose="00000500000000000000" pitchFamily="2" charset="0"/>
              </a:rPr>
              <a:t>Define clear milestones (e.g., data readiness, model MVP, compliance approval, deployment) and Gantt timelines to satisfy senior management and regulators.</a:t>
            </a:r>
          </a:p>
          <a:p>
            <a:pPr marL="285750" indent="-285750">
              <a:buFont typeface="Arial" panose="020B0604020202020204" pitchFamily="34" charset="0"/>
              <a:buChar char="•"/>
            </a:pPr>
            <a:endParaRPr lang="en-US" sz="1600" dirty="0">
              <a:latin typeface="Montserrat" panose="00000500000000000000" pitchFamily="2" charset="0"/>
            </a:endParaRPr>
          </a:p>
          <a:p>
            <a:pPr marL="285750" indent="-285750">
              <a:buFont typeface="Arial" panose="020B0604020202020204" pitchFamily="34" charset="0"/>
              <a:buChar char="•"/>
            </a:pPr>
            <a:r>
              <a:rPr lang="en-US" sz="1600" b="1" dirty="0">
                <a:latin typeface="Montserrat" panose="00000500000000000000" pitchFamily="2" charset="0"/>
              </a:rPr>
              <a:t>Agile Loops within Milestones:</a:t>
            </a:r>
            <a:br>
              <a:rPr lang="en-US" sz="1600" dirty="0">
                <a:latin typeface="Montserrat" panose="00000500000000000000" pitchFamily="2" charset="0"/>
              </a:rPr>
            </a:br>
            <a:r>
              <a:rPr lang="en-US" sz="1600" dirty="0">
                <a:latin typeface="Montserrat" panose="00000500000000000000" pitchFamily="2" charset="0"/>
              </a:rPr>
              <a:t>Use Agile cycles within each phase. For example, iterate on feature engineering while following CRISP-DM's structured flow.</a:t>
            </a:r>
          </a:p>
          <a:p>
            <a:pPr marL="285750" indent="-285750">
              <a:buFont typeface="Arial" panose="020B0604020202020204" pitchFamily="34" charset="0"/>
              <a:buChar char="•"/>
            </a:pPr>
            <a:endParaRPr lang="en-US" sz="1600" dirty="0">
              <a:latin typeface="Montserrat" panose="00000500000000000000" pitchFamily="2" charset="0"/>
            </a:endParaRPr>
          </a:p>
          <a:p>
            <a:pPr marL="285750" indent="-285750">
              <a:buFont typeface="Arial" panose="020B0604020202020204" pitchFamily="34" charset="0"/>
              <a:buChar char="•"/>
            </a:pPr>
            <a:r>
              <a:rPr lang="en-US" sz="1600" b="1" dirty="0">
                <a:latin typeface="Montserrat" panose="00000500000000000000" pitchFamily="2" charset="0"/>
              </a:rPr>
              <a:t>Cross-functional Collaboration:</a:t>
            </a:r>
            <a:br>
              <a:rPr lang="en-US" sz="1600" dirty="0">
                <a:latin typeface="Montserrat" panose="00000500000000000000" pitchFamily="2" charset="0"/>
              </a:rPr>
            </a:br>
            <a:r>
              <a:rPr lang="en-US" sz="1600" dirty="0">
                <a:latin typeface="Montserrat" panose="00000500000000000000" pitchFamily="2" charset="0"/>
              </a:rPr>
              <a:t>The data science team works with risk officers, legal advisors, and DevOps teams to ensure technical feasibility, regulatory compliance (e.g., explainability under the Equal Credit Opportunity Act), and smooth deployment.</a:t>
            </a:r>
          </a:p>
          <a:p>
            <a:pPr marL="285750" indent="-285750">
              <a:buFont typeface="Arial" panose="020B0604020202020204" pitchFamily="34" charset="0"/>
              <a:buChar char="•"/>
            </a:pPr>
            <a:endParaRPr lang="en-US" sz="1600" dirty="0">
              <a:latin typeface="Montserrat" panose="00000500000000000000" pitchFamily="2" charset="0"/>
            </a:endParaRPr>
          </a:p>
          <a:p>
            <a:pPr marL="285750" indent="-285750">
              <a:buFont typeface="Arial" panose="020B0604020202020204" pitchFamily="34" charset="0"/>
              <a:buChar char="•"/>
            </a:pPr>
            <a:r>
              <a:rPr lang="en-US" sz="1600" b="1" dirty="0">
                <a:latin typeface="Montserrat" panose="00000500000000000000" pitchFamily="2" charset="0"/>
              </a:rPr>
              <a:t>Post-deployment Governance:</a:t>
            </a:r>
            <a:br>
              <a:rPr lang="en-US" sz="1600" dirty="0">
                <a:latin typeface="Montserrat" panose="00000500000000000000" pitchFamily="2" charset="0"/>
              </a:rPr>
            </a:br>
            <a:r>
              <a:rPr lang="en-US" sz="1600" dirty="0">
                <a:latin typeface="Montserrat" panose="00000500000000000000" pitchFamily="2" charset="0"/>
              </a:rPr>
              <a:t>Set up model monitoring dashboards, bias tracking, and retraining triggers every quarter to keep models accurate and compliant.</a:t>
            </a:r>
          </a:p>
        </p:txBody>
      </p:sp>
    </p:spTree>
    <p:extLst>
      <p:ext uri="{BB962C8B-B14F-4D97-AF65-F5344CB8AC3E}">
        <p14:creationId xmlns:p14="http://schemas.microsoft.com/office/powerpoint/2010/main" val="22139218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766C3-04FA-30E1-B952-C718243FF5A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DFBA63C-73B5-5EA5-76B2-798B0FC835E4}"/>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ECB9B1C-9DBE-4A6F-5531-1C58EEABD5B0}"/>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F276313B-1111-BA71-A39E-640C3B102C31}"/>
              </a:ext>
            </a:extLst>
          </p:cNvPr>
          <p:cNvSpPr/>
          <p:nvPr/>
        </p:nvSpPr>
        <p:spPr>
          <a:xfrm>
            <a:off x="293914" y="793804"/>
            <a:ext cx="5578566" cy="1938992"/>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SCALED AGILE FRAMEWORK (SAFe)</a:t>
            </a:r>
          </a:p>
        </p:txBody>
      </p:sp>
    </p:spTree>
    <p:extLst>
      <p:ext uri="{BB962C8B-B14F-4D97-AF65-F5344CB8AC3E}">
        <p14:creationId xmlns:p14="http://schemas.microsoft.com/office/powerpoint/2010/main" val="37482931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A4E1B-7DED-EC7B-A563-4E01112D881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6B6FD61-F36B-505D-640B-1E742FBA893A}"/>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4CFD88ED-26C8-9A26-9D79-08ABD2A4AEDA}"/>
              </a:ext>
            </a:extLst>
          </p:cNvPr>
          <p:cNvSpPr/>
          <p:nvPr/>
        </p:nvSpPr>
        <p:spPr>
          <a:xfrm>
            <a:off x="154722" y="90489"/>
            <a:ext cx="9827492" cy="461665"/>
          </a:xfrm>
          <a:prstGeom prst="rect">
            <a:avLst/>
          </a:prstGeom>
        </p:spPr>
        <p:txBody>
          <a:bodyPr wrap="square">
            <a:spAutoFit/>
          </a:bodyPr>
          <a:lstStyle/>
          <a:p>
            <a:r>
              <a:rPr lang="en-CA" sz="2400" dirty="0">
                <a:solidFill>
                  <a:schemeClr val="bg1"/>
                </a:solidFill>
                <a:latin typeface="Montserrat" charset="0"/>
                <a:ea typeface="Montserrat" charset="0"/>
                <a:cs typeface="Montserrat" charset="0"/>
              </a:rPr>
              <a:t>Scaled Agile Framework (SAFe)</a:t>
            </a:r>
            <a:endParaRPr lang="en-US" sz="2400" b="1" dirty="0">
              <a:solidFill>
                <a:schemeClr val="bg1"/>
              </a:solidFill>
              <a:latin typeface="Montserrat" charset="0"/>
              <a:ea typeface="Montserrat" charset="0"/>
              <a:cs typeface="Montserrat" charset="0"/>
            </a:endParaRPr>
          </a:p>
        </p:txBody>
      </p:sp>
      <p:sp>
        <p:nvSpPr>
          <p:cNvPr id="4" name="TextBox 3">
            <a:extLst>
              <a:ext uri="{FF2B5EF4-FFF2-40B4-BE49-F238E27FC236}">
                <a16:creationId xmlns:a16="http://schemas.microsoft.com/office/drawing/2014/main" id="{097B2CF7-2DD6-C4D2-1515-4E79392D93C8}"/>
              </a:ext>
            </a:extLst>
          </p:cNvPr>
          <p:cNvSpPr txBox="1"/>
          <p:nvPr/>
        </p:nvSpPr>
        <p:spPr>
          <a:xfrm>
            <a:off x="172528" y="730426"/>
            <a:ext cx="11544364" cy="1077218"/>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ontserrat" panose="00000500000000000000" pitchFamily="2" charset="0"/>
              </a:rPr>
              <a:t>The SAFe (Scaled Agile Framework) is a structured methodology for scaling Agile, Lean, and DevOps practices across large enterprises. </a:t>
            </a:r>
          </a:p>
          <a:p>
            <a:pPr marL="285750" indent="-285750">
              <a:buFont typeface="Arial" panose="020B0604020202020204" pitchFamily="34" charset="0"/>
              <a:buChar char="•"/>
            </a:pPr>
            <a:r>
              <a:rPr lang="en-US" sz="1600" dirty="0">
                <a:latin typeface="Montserrat" panose="00000500000000000000" pitchFamily="2" charset="0"/>
              </a:rPr>
              <a:t>SAFe is a structured framework designed to apply Agile </a:t>
            </a:r>
            <a:r>
              <a:rPr lang="en-US" sz="1600" b="1" dirty="0">
                <a:latin typeface="Montserrat" panose="00000500000000000000" pitchFamily="2" charset="0"/>
              </a:rPr>
              <a:t>at scale</a:t>
            </a:r>
            <a:r>
              <a:rPr lang="en-US" sz="1600" dirty="0">
                <a:latin typeface="Montserrat" panose="00000500000000000000" pitchFamily="2" charset="0"/>
              </a:rPr>
              <a:t> across multiple teams, departments, and even the entire enterprise.</a:t>
            </a:r>
          </a:p>
        </p:txBody>
      </p:sp>
      <p:graphicFrame>
        <p:nvGraphicFramePr>
          <p:cNvPr id="8" name="Diagram 7">
            <a:extLst>
              <a:ext uri="{FF2B5EF4-FFF2-40B4-BE49-F238E27FC236}">
                <a16:creationId xmlns:a16="http://schemas.microsoft.com/office/drawing/2014/main" id="{43562F05-D456-CE91-0614-D09DE9D38D38}"/>
              </a:ext>
            </a:extLst>
          </p:cNvPr>
          <p:cNvGraphicFramePr/>
          <p:nvPr>
            <p:extLst>
              <p:ext uri="{D42A27DB-BD31-4B8C-83A1-F6EECF244321}">
                <p14:modId xmlns:p14="http://schemas.microsoft.com/office/powerpoint/2010/main" val="3175093456"/>
              </p:ext>
            </p:extLst>
          </p:nvPr>
        </p:nvGraphicFramePr>
        <p:xfrm>
          <a:off x="384536" y="2002577"/>
          <a:ext cx="9044318" cy="51061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a:extLst>
              <a:ext uri="{FF2B5EF4-FFF2-40B4-BE49-F238E27FC236}">
                <a16:creationId xmlns:a16="http://schemas.microsoft.com/office/drawing/2014/main" id="{E4E12015-898C-6BBB-944C-BF94EC02DA53}"/>
              </a:ext>
            </a:extLst>
          </p:cNvPr>
          <p:cNvSpPr txBox="1"/>
          <p:nvPr/>
        </p:nvSpPr>
        <p:spPr>
          <a:xfrm>
            <a:off x="2783702" y="1863498"/>
            <a:ext cx="6124754" cy="646331"/>
          </a:xfrm>
          <a:prstGeom prst="rect">
            <a:avLst/>
          </a:prstGeom>
          <a:noFill/>
        </p:spPr>
        <p:txBody>
          <a:bodyPr wrap="square">
            <a:spAutoFit/>
          </a:bodyPr>
          <a:lstStyle/>
          <a:p>
            <a:r>
              <a:rPr lang="en-CA" dirty="0">
                <a:latin typeface="Montserrat" panose="00000500000000000000" pitchFamily="2" charset="0"/>
                <a:hlinkClick r:id="rId8"/>
              </a:rPr>
              <a:t>https://framework.scaledagile.com/#essential</a:t>
            </a:r>
            <a:endParaRPr lang="en-CA" dirty="0">
              <a:latin typeface="Montserrat" panose="00000500000000000000" pitchFamily="2" charset="0"/>
            </a:endParaRPr>
          </a:p>
          <a:p>
            <a:endParaRPr lang="en-CA" dirty="0"/>
          </a:p>
        </p:txBody>
      </p:sp>
    </p:spTree>
    <p:extLst>
      <p:ext uri="{BB962C8B-B14F-4D97-AF65-F5344CB8AC3E}">
        <p14:creationId xmlns:p14="http://schemas.microsoft.com/office/powerpoint/2010/main" val="3538647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graphicEl>
                                              <a:dgm id="{9C10B42E-E9A0-417A-8225-10F481A57ACF}"/>
                                            </p:graphicEl>
                                          </p:spTgt>
                                        </p:tgtEl>
                                        <p:attrNameLst>
                                          <p:attrName>style.visibility</p:attrName>
                                        </p:attrNameLst>
                                      </p:cBhvr>
                                      <p:to>
                                        <p:strVal val="visible"/>
                                      </p:to>
                                    </p:set>
                                    <p:animEffect transition="in" filter="fade">
                                      <p:cBhvr>
                                        <p:cTn id="7" dur="500"/>
                                        <p:tgtEl>
                                          <p:spTgt spid="8">
                                            <p:graphicEl>
                                              <a:dgm id="{9C10B42E-E9A0-417A-8225-10F481A57ACF}"/>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graphicEl>
                                              <a:dgm id="{FD2F13F7-E419-4FA7-83C9-DEF04EE63800}"/>
                                            </p:graphicEl>
                                          </p:spTgt>
                                        </p:tgtEl>
                                        <p:attrNameLst>
                                          <p:attrName>style.visibility</p:attrName>
                                        </p:attrNameLst>
                                      </p:cBhvr>
                                      <p:to>
                                        <p:strVal val="visible"/>
                                      </p:to>
                                    </p:set>
                                    <p:animEffect transition="in" filter="fade">
                                      <p:cBhvr>
                                        <p:cTn id="12" dur="500"/>
                                        <p:tgtEl>
                                          <p:spTgt spid="8">
                                            <p:graphicEl>
                                              <a:dgm id="{FD2F13F7-E419-4FA7-83C9-DEF04EE63800}"/>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graphicEl>
                                              <a:dgm id="{96C988B8-42C1-443D-803F-9C7F20688824}"/>
                                            </p:graphicEl>
                                          </p:spTgt>
                                        </p:tgtEl>
                                        <p:attrNameLst>
                                          <p:attrName>style.visibility</p:attrName>
                                        </p:attrNameLst>
                                      </p:cBhvr>
                                      <p:to>
                                        <p:strVal val="visible"/>
                                      </p:to>
                                    </p:set>
                                    <p:animEffect transition="in" filter="fade">
                                      <p:cBhvr>
                                        <p:cTn id="17" dur="500"/>
                                        <p:tgtEl>
                                          <p:spTgt spid="8">
                                            <p:graphicEl>
                                              <a:dgm id="{96C988B8-42C1-443D-803F-9C7F20688824}"/>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graphicEl>
                                              <a:dgm id="{4A9BD7ED-F702-4114-8F8B-3136A02AD752}"/>
                                            </p:graphicEl>
                                          </p:spTgt>
                                        </p:tgtEl>
                                        <p:attrNameLst>
                                          <p:attrName>style.visibility</p:attrName>
                                        </p:attrNameLst>
                                      </p:cBhvr>
                                      <p:to>
                                        <p:strVal val="visible"/>
                                      </p:to>
                                    </p:set>
                                    <p:animEffect transition="in" filter="fade">
                                      <p:cBhvr>
                                        <p:cTn id="22" dur="500"/>
                                        <p:tgtEl>
                                          <p:spTgt spid="8">
                                            <p:graphicEl>
                                              <a:dgm id="{4A9BD7ED-F702-4114-8F8B-3136A02AD752}"/>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graphicEl>
                                              <a:dgm id="{188AFCF2-6168-4185-BF15-30828022E544}"/>
                                            </p:graphicEl>
                                          </p:spTgt>
                                        </p:tgtEl>
                                        <p:attrNameLst>
                                          <p:attrName>style.visibility</p:attrName>
                                        </p:attrNameLst>
                                      </p:cBhvr>
                                      <p:to>
                                        <p:strVal val="visible"/>
                                      </p:to>
                                    </p:set>
                                    <p:animEffect transition="in" filter="fade">
                                      <p:cBhvr>
                                        <p:cTn id="27" dur="500"/>
                                        <p:tgtEl>
                                          <p:spTgt spid="8">
                                            <p:graphicEl>
                                              <a:dgm id="{188AFCF2-6168-4185-BF15-30828022E544}"/>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graphicEl>
                                              <a:dgm id="{B283950B-1015-42EA-A048-D712DD9416C8}"/>
                                            </p:graphicEl>
                                          </p:spTgt>
                                        </p:tgtEl>
                                        <p:attrNameLst>
                                          <p:attrName>style.visibility</p:attrName>
                                        </p:attrNameLst>
                                      </p:cBhvr>
                                      <p:to>
                                        <p:strVal val="visible"/>
                                      </p:to>
                                    </p:set>
                                    <p:animEffect transition="in" filter="fade">
                                      <p:cBhvr>
                                        <p:cTn id="32" dur="500"/>
                                        <p:tgtEl>
                                          <p:spTgt spid="8">
                                            <p:graphicEl>
                                              <a:dgm id="{B283950B-1015-42EA-A048-D712DD9416C8}"/>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graphicEl>
                                              <a:dgm id="{9C923C9B-8756-4AF1-B44D-05374425E536}"/>
                                            </p:graphicEl>
                                          </p:spTgt>
                                        </p:tgtEl>
                                        <p:attrNameLst>
                                          <p:attrName>style.visibility</p:attrName>
                                        </p:attrNameLst>
                                      </p:cBhvr>
                                      <p:to>
                                        <p:strVal val="visible"/>
                                      </p:to>
                                    </p:set>
                                    <p:animEffect transition="in" filter="fade">
                                      <p:cBhvr>
                                        <p:cTn id="37" dur="500"/>
                                        <p:tgtEl>
                                          <p:spTgt spid="8">
                                            <p:graphicEl>
                                              <a:dgm id="{9C923C9B-8756-4AF1-B44D-05374425E536}"/>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8">
                                            <p:graphicEl>
                                              <a:dgm id="{8C40480D-7675-4CA4-B42F-385C90D63803}"/>
                                            </p:graphicEl>
                                          </p:spTgt>
                                        </p:tgtEl>
                                        <p:attrNameLst>
                                          <p:attrName>style.visibility</p:attrName>
                                        </p:attrNameLst>
                                      </p:cBhvr>
                                      <p:to>
                                        <p:strVal val="visible"/>
                                      </p:to>
                                    </p:set>
                                    <p:animEffect transition="in" filter="fade">
                                      <p:cBhvr>
                                        <p:cTn id="42" dur="500"/>
                                        <p:tgtEl>
                                          <p:spTgt spid="8">
                                            <p:graphicEl>
                                              <a:dgm id="{8C40480D-7675-4CA4-B42F-385C90D63803}"/>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8">
                                            <p:graphicEl>
                                              <a:dgm id="{4633365F-FFFE-4D93-959F-AD80371AAD9D}"/>
                                            </p:graphicEl>
                                          </p:spTgt>
                                        </p:tgtEl>
                                        <p:attrNameLst>
                                          <p:attrName>style.visibility</p:attrName>
                                        </p:attrNameLst>
                                      </p:cBhvr>
                                      <p:to>
                                        <p:strVal val="visible"/>
                                      </p:to>
                                    </p:set>
                                    <p:animEffect transition="in" filter="fade">
                                      <p:cBhvr>
                                        <p:cTn id="47" dur="500"/>
                                        <p:tgtEl>
                                          <p:spTgt spid="8">
                                            <p:graphicEl>
                                              <a:dgm id="{4633365F-FFFE-4D93-959F-AD80371AAD9D}"/>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8">
                                            <p:graphicEl>
                                              <a:dgm id="{F7FD9979-E2DB-46CF-ACA3-9992583B0F06}"/>
                                            </p:graphicEl>
                                          </p:spTgt>
                                        </p:tgtEl>
                                        <p:attrNameLst>
                                          <p:attrName>style.visibility</p:attrName>
                                        </p:attrNameLst>
                                      </p:cBhvr>
                                      <p:to>
                                        <p:strVal val="visible"/>
                                      </p:to>
                                    </p:set>
                                    <p:animEffect transition="in" filter="fade">
                                      <p:cBhvr>
                                        <p:cTn id="52" dur="500"/>
                                        <p:tgtEl>
                                          <p:spTgt spid="8">
                                            <p:graphicEl>
                                              <a:dgm id="{F7FD9979-E2DB-46CF-ACA3-9992583B0F06}"/>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one"/>
        </p:bldSub>
      </p:bldGraphic>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18F98-9D91-9705-9A4B-37C665287E8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7984188-65E6-97A5-4517-628D726AC7B9}"/>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538F2F6-958A-A016-EFDD-54B2426BE4B9}"/>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CF85AB98-A595-3DFB-27CE-583E53DEF19F}"/>
              </a:ext>
            </a:extLst>
          </p:cNvPr>
          <p:cNvSpPr/>
          <p:nvPr/>
        </p:nvSpPr>
        <p:spPr>
          <a:xfrm>
            <a:off x="293914" y="793804"/>
            <a:ext cx="5578566"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RISK MANAGEMENT IN AI PROJECTS</a:t>
            </a:r>
          </a:p>
        </p:txBody>
      </p:sp>
    </p:spTree>
    <p:extLst>
      <p:ext uri="{BB962C8B-B14F-4D97-AF65-F5344CB8AC3E}">
        <p14:creationId xmlns:p14="http://schemas.microsoft.com/office/powerpoint/2010/main" val="10748912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88">
          <a:extLst>
            <a:ext uri="{FF2B5EF4-FFF2-40B4-BE49-F238E27FC236}">
              <a16:creationId xmlns:a16="http://schemas.microsoft.com/office/drawing/2014/main" id="{F8F2F6FA-1420-F022-9F2A-0CC7CFC8CE5E}"/>
            </a:ext>
          </a:extLst>
        </p:cNvPr>
        <p:cNvGrpSpPr/>
        <p:nvPr/>
      </p:nvGrpSpPr>
      <p:grpSpPr>
        <a:xfrm>
          <a:off x="0" y="0"/>
          <a:ext cx="0" cy="0"/>
          <a:chOff x="0" y="0"/>
          <a:chExt cx="0" cy="0"/>
        </a:xfrm>
      </p:grpSpPr>
      <p:pic>
        <p:nvPicPr>
          <p:cNvPr id="389" name="Google Shape;389;g355ea8b0119_0_226">
            <a:extLst>
              <a:ext uri="{FF2B5EF4-FFF2-40B4-BE49-F238E27FC236}">
                <a16:creationId xmlns:a16="http://schemas.microsoft.com/office/drawing/2014/main" id="{B026DD37-C6C9-76A0-82C9-E7F1189E30DF}"/>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sp>
        <p:nvSpPr>
          <p:cNvPr id="392" name="Google Shape;392;g355ea8b0119_0_226">
            <a:extLst>
              <a:ext uri="{FF2B5EF4-FFF2-40B4-BE49-F238E27FC236}">
                <a16:creationId xmlns:a16="http://schemas.microsoft.com/office/drawing/2014/main" id="{0B5908AB-D5D5-BA61-AABE-2F40AD1C7D73}"/>
              </a:ext>
            </a:extLst>
          </p:cNvPr>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393" name="Google Shape;393;g355ea8b0119_0_226">
            <a:extLst>
              <a:ext uri="{FF2B5EF4-FFF2-40B4-BE49-F238E27FC236}">
                <a16:creationId xmlns:a16="http://schemas.microsoft.com/office/drawing/2014/main" id="{B4F8CAA5-DF08-41D0-03B2-3A2F3BDAD4FB}"/>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a:solidFill>
                  <a:schemeClr val="lt1"/>
                </a:solidFill>
                <a:latin typeface="Montserrat"/>
                <a:ea typeface="Montserrat"/>
                <a:cs typeface="Montserrat"/>
                <a:sym typeface="Montserrat"/>
              </a:rPr>
              <a:t>Risk Management in AI Projects: Navigating the Unknowns</a:t>
            </a:r>
            <a:endParaRPr sz="1400" b="0" i="0" u="none" strike="noStrike" cap="none">
              <a:solidFill>
                <a:srgbClr val="000000"/>
              </a:solidFill>
              <a:latin typeface="Arial"/>
              <a:ea typeface="Arial"/>
              <a:cs typeface="Arial"/>
              <a:sym typeface="Arial"/>
            </a:endParaRPr>
          </a:p>
        </p:txBody>
      </p:sp>
      <p:sp>
        <p:nvSpPr>
          <p:cNvPr id="394" name="Google Shape;394;g355ea8b0119_0_226">
            <a:extLst>
              <a:ext uri="{FF2B5EF4-FFF2-40B4-BE49-F238E27FC236}">
                <a16:creationId xmlns:a16="http://schemas.microsoft.com/office/drawing/2014/main" id="{30A62B85-6C79-50F0-A6C2-3D9A545784FD}"/>
              </a:ext>
            </a:extLst>
          </p:cNvPr>
          <p:cNvSpPr txBox="1"/>
          <p:nvPr/>
        </p:nvSpPr>
        <p:spPr>
          <a:xfrm>
            <a:off x="54197" y="666803"/>
            <a:ext cx="11464500" cy="6006300"/>
          </a:xfrm>
          <a:prstGeom prst="rect">
            <a:avLst/>
          </a:prstGeom>
          <a:noFill/>
          <a:ln>
            <a:noFill/>
          </a:ln>
        </p:spPr>
        <p:txBody>
          <a:bodyPr spcFirstLastPara="1" wrap="square" lIns="91425" tIns="45700" rIns="91425" bIns="45700" anchor="t" anchorCtr="0">
            <a:normAutofit/>
          </a:bodyPr>
          <a:lstStyle/>
          <a:p>
            <a:pPr marL="400050" lvl="0" indent="-285750" algn="l" rtl="0">
              <a:spcBef>
                <a:spcPts val="1200"/>
              </a:spcBef>
              <a:spcAft>
                <a:spcPts val="0"/>
              </a:spcAft>
              <a:buClr>
                <a:srgbClr val="1BBFD1"/>
              </a:buClr>
              <a:buSzPts val="1800"/>
              <a:buFont typeface="Arial" panose="020B0604020202020204" pitchFamily="34" charset="0"/>
              <a:buChar char="•"/>
            </a:pPr>
            <a:r>
              <a:rPr lang="en-US" sz="1600" dirty="0">
                <a:solidFill>
                  <a:schemeClr val="dk1"/>
                </a:solidFill>
                <a:latin typeface="Montserrat"/>
                <a:ea typeface="Montserrat"/>
                <a:cs typeface="Montserrat"/>
                <a:sym typeface="Montserrat"/>
              </a:rPr>
              <a:t>AI projects come with unique categories of risks (e.g.: data quality, model bias, ethical concerns, and regulatory compliance) that require thoughtful planning and continuous oversight.</a:t>
            </a:r>
          </a:p>
          <a:p>
            <a:pPr marL="400050" lvl="0" indent="-285750" algn="l" rtl="0">
              <a:spcBef>
                <a:spcPts val="1200"/>
              </a:spcBef>
              <a:spcAft>
                <a:spcPts val="0"/>
              </a:spcAft>
              <a:buClr>
                <a:srgbClr val="1BBFD1"/>
              </a:buClr>
              <a:buSzPts val="1800"/>
              <a:buFont typeface="Arial" panose="020B0604020202020204" pitchFamily="34" charset="0"/>
              <a:buChar char="•"/>
            </a:pPr>
            <a:r>
              <a:rPr lang="en-US" sz="1600" dirty="0">
                <a:solidFill>
                  <a:schemeClr val="dk1"/>
                </a:solidFill>
                <a:latin typeface="Montserrat"/>
                <a:ea typeface="Montserrat"/>
                <a:cs typeface="Montserrat"/>
                <a:sym typeface="Montserrat"/>
              </a:rPr>
              <a:t>Effective AI project management should balance the open-ended, iterative nature of data science with the structured, goal-oriented discipline of traditional project execution.</a:t>
            </a:r>
          </a:p>
        </p:txBody>
      </p:sp>
      <p:sp>
        <p:nvSpPr>
          <p:cNvPr id="395" name="Google Shape;395;g355ea8b0119_0_226">
            <a:extLst>
              <a:ext uri="{FF2B5EF4-FFF2-40B4-BE49-F238E27FC236}">
                <a16:creationId xmlns:a16="http://schemas.microsoft.com/office/drawing/2014/main" id="{77DD4763-226D-3EE0-2AFC-4C0686A07790}"/>
              </a:ext>
            </a:extLst>
          </p:cNvPr>
          <p:cNvSpPr/>
          <p:nvPr/>
        </p:nvSpPr>
        <p:spPr>
          <a:xfrm>
            <a:off x="2829020" y="2423219"/>
            <a:ext cx="2410800" cy="918600"/>
          </a:xfrm>
          <a:prstGeom prst="roundRect">
            <a:avLst>
              <a:gd name="adj" fmla="val 50000"/>
            </a:avLst>
          </a:prstGeom>
          <a:solidFill>
            <a:srgbClr val="D56E48"/>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CA" sz="2000" dirty="0">
                <a:solidFill>
                  <a:srgbClr val="FFFFFF"/>
                </a:solidFill>
                <a:latin typeface="Montserrat" panose="00000500000000000000" pitchFamily="2" charset="0"/>
                <a:ea typeface="Roboto"/>
                <a:cs typeface="Roboto"/>
                <a:sym typeface="Roboto"/>
              </a:rPr>
              <a:t>Risk Management</a:t>
            </a:r>
            <a:endParaRPr sz="3200" dirty="0">
              <a:solidFill>
                <a:srgbClr val="FFFFFF"/>
              </a:solidFill>
              <a:latin typeface="Montserrat" panose="00000500000000000000" pitchFamily="2" charset="0"/>
            </a:endParaRPr>
          </a:p>
        </p:txBody>
      </p:sp>
      <p:sp>
        <p:nvSpPr>
          <p:cNvPr id="396" name="Google Shape;396;g355ea8b0119_0_226">
            <a:extLst>
              <a:ext uri="{FF2B5EF4-FFF2-40B4-BE49-F238E27FC236}">
                <a16:creationId xmlns:a16="http://schemas.microsoft.com/office/drawing/2014/main" id="{DE9EAA3C-D3C7-4CA2-C2C3-61A1B2210FE4}"/>
              </a:ext>
            </a:extLst>
          </p:cNvPr>
          <p:cNvSpPr/>
          <p:nvPr/>
        </p:nvSpPr>
        <p:spPr>
          <a:xfrm>
            <a:off x="5603812" y="4291333"/>
            <a:ext cx="2410800" cy="918600"/>
          </a:xfrm>
          <a:prstGeom prst="roundRect">
            <a:avLst>
              <a:gd name="adj" fmla="val 50000"/>
            </a:avLst>
          </a:prstGeom>
          <a:solidFill>
            <a:schemeClr val="bg1">
              <a:lumMod val="65000"/>
            </a:schemeClr>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CA" sz="2000">
                <a:solidFill>
                  <a:srgbClr val="FFFFFF"/>
                </a:solidFill>
                <a:latin typeface="Montserrat" panose="00000500000000000000" pitchFamily="2" charset="0"/>
                <a:ea typeface="Roboto"/>
                <a:cs typeface="Roboto"/>
                <a:sym typeface="Roboto"/>
              </a:rPr>
              <a:t>Integration Hurdles</a:t>
            </a:r>
            <a:endParaRPr sz="3200">
              <a:solidFill>
                <a:srgbClr val="FFFFFF"/>
              </a:solidFill>
              <a:latin typeface="Montserrat" panose="00000500000000000000" pitchFamily="2" charset="0"/>
            </a:endParaRPr>
          </a:p>
        </p:txBody>
      </p:sp>
      <p:sp>
        <p:nvSpPr>
          <p:cNvPr id="397" name="Google Shape;397;g355ea8b0119_0_226">
            <a:extLst>
              <a:ext uri="{FF2B5EF4-FFF2-40B4-BE49-F238E27FC236}">
                <a16:creationId xmlns:a16="http://schemas.microsoft.com/office/drawing/2014/main" id="{E3938258-0328-422F-8D43-7C7501D240CF}"/>
              </a:ext>
            </a:extLst>
          </p:cNvPr>
          <p:cNvSpPr/>
          <p:nvPr/>
        </p:nvSpPr>
        <p:spPr>
          <a:xfrm>
            <a:off x="54197" y="4291291"/>
            <a:ext cx="2410800" cy="918600"/>
          </a:xfrm>
          <a:prstGeom prst="roundRect">
            <a:avLst>
              <a:gd name="adj" fmla="val 50000"/>
            </a:avLst>
          </a:prstGeom>
          <a:solidFill>
            <a:srgbClr val="0C175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CA" sz="2000">
                <a:solidFill>
                  <a:srgbClr val="FFFFFF"/>
                </a:solidFill>
                <a:latin typeface="Montserrat" panose="00000500000000000000" pitchFamily="2" charset="0"/>
                <a:ea typeface="Roboto"/>
                <a:cs typeface="Roboto"/>
                <a:sym typeface="Roboto"/>
              </a:rPr>
              <a:t>Data Issues </a:t>
            </a:r>
            <a:endParaRPr sz="3200">
              <a:solidFill>
                <a:srgbClr val="FFFFFF"/>
              </a:solidFill>
              <a:latin typeface="Montserrat" panose="00000500000000000000" pitchFamily="2" charset="0"/>
            </a:endParaRPr>
          </a:p>
        </p:txBody>
      </p:sp>
      <p:cxnSp>
        <p:nvCxnSpPr>
          <p:cNvPr id="398" name="Google Shape;398;g355ea8b0119_0_226">
            <a:extLst>
              <a:ext uri="{FF2B5EF4-FFF2-40B4-BE49-F238E27FC236}">
                <a16:creationId xmlns:a16="http://schemas.microsoft.com/office/drawing/2014/main" id="{05F48F10-B6E7-1557-7CCB-E72145C31E1E}"/>
              </a:ext>
            </a:extLst>
          </p:cNvPr>
          <p:cNvCxnSpPr>
            <a:stCxn id="395" idx="2"/>
            <a:endCxn id="396" idx="0"/>
          </p:cNvCxnSpPr>
          <p:nvPr/>
        </p:nvCxnSpPr>
        <p:spPr>
          <a:xfrm rot="-5400000" flipH="1">
            <a:off x="4947020" y="2429219"/>
            <a:ext cx="949500" cy="2774700"/>
          </a:xfrm>
          <a:prstGeom prst="bentConnector3">
            <a:avLst>
              <a:gd name="adj1" fmla="val 50000"/>
            </a:avLst>
          </a:prstGeom>
          <a:noFill/>
          <a:ln w="9525" cap="flat" cmpd="sng">
            <a:solidFill>
              <a:srgbClr val="C2C2C2"/>
            </a:solidFill>
            <a:prstDash val="solid"/>
            <a:round/>
            <a:headEnd type="none" w="sm" len="sm"/>
            <a:tailEnd type="none" w="sm" len="sm"/>
          </a:ln>
        </p:spPr>
      </p:cxnSp>
      <p:cxnSp>
        <p:nvCxnSpPr>
          <p:cNvPr id="399" name="Google Shape;399;g355ea8b0119_0_226">
            <a:extLst>
              <a:ext uri="{FF2B5EF4-FFF2-40B4-BE49-F238E27FC236}">
                <a16:creationId xmlns:a16="http://schemas.microsoft.com/office/drawing/2014/main" id="{75BFFA6B-6E86-04C2-3B59-96783F20675D}"/>
              </a:ext>
            </a:extLst>
          </p:cNvPr>
          <p:cNvCxnSpPr>
            <a:stCxn id="397" idx="0"/>
            <a:endCxn id="395" idx="2"/>
          </p:cNvCxnSpPr>
          <p:nvPr/>
        </p:nvCxnSpPr>
        <p:spPr>
          <a:xfrm rot="-5400000">
            <a:off x="2172197" y="2429191"/>
            <a:ext cx="949500" cy="2774700"/>
          </a:xfrm>
          <a:prstGeom prst="bentConnector3">
            <a:avLst>
              <a:gd name="adj1" fmla="val 50012"/>
            </a:avLst>
          </a:prstGeom>
          <a:noFill/>
          <a:ln w="9525" cap="flat" cmpd="sng">
            <a:solidFill>
              <a:srgbClr val="C2C2C2"/>
            </a:solidFill>
            <a:prstDash val="solid"/>
            <a:round/>
            <a:headEnd type="none" w="sm" len="sm"/>
            <a:tailEnd type="none" w="sm" len="sm"/>
          </a:ln>
        </p:spPr>
      </p:cxnSp>
      <p:cxnSp>
        <p:nvCxnSpPr>
          <p:cNvPr id="400" name="Google Shape;400;g355ea8b0119_0_226">
            <a:extLst>
              <a:ext uri="{FF2B5EF4-FFF2-40B4-BE49-F238E27FC236}">
                <a16:creationId xmlns:a16="http://schemas.microsoft.com/office/drawing/2014/main" id="{414DB9F6-4A3D-3901-4F3D-8EA80C92B5A1}"/>
              </a:ext>
            </a:extLst>
          </p:cNvPr>
          <p:cNvCxnSpPr/>
          <p:nvPr/>
        </p:nvCxnSpPr>
        <p:spPr>
          <a:xfrm rot="5400000" flipH="1">
            <a:off x="3751060" y="4006494"/>
            <a:ext cx="566700" cy="30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401" name="Google Shape;401;g355ea8b0119_0_226">
            <a:extLst>
              <a:ext uri="{FF2B5EF4-FFF2-40B4-BE49-F238E27FC236}">
                <a16:creationId xmlns:a16="http://schemas.microsoft.com/office/drawing/2014/main" id="{D9A3E19B-B1B0-4486-5079-F3D6037D5BEB}"/>
              </a:ext>
            </a:extLst>
          </p:cNvPr>
          <p:cNvSpPr/>
          <p:nvPr/>
        </p:nvSpPr>
        <p:spPr>
          <a:xfrm>
            <a:off x="2829004" y="4291312"/>
            <a:ext cx="2410800" cy="918600"/>
          </a:xfrm>
          <a:prstGeom prst="roundRect">
            <a:avLst>
              <a:gd name="adj" fmla="val 50000"/>
            </a:avLst>
          </a:prstGeom>
          <a:solidFill>
            <a:srgbClr val="1BBFD1"/>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CA" sz="2000">
                <a:solidFill>
                  <a:srgbClr val="FFFFFF"/>
                </a:solidFill>
                <a:latin typeface="Montserrat" panose="00000500000000000000" pitchFamily="2" charset="0"/>
                <a:ea typeface="Roboto"/>
                <a:cs typeface="Roboto"/>
                <a:sym typeface="Roboto"/>
              </a:rPr>
              <a:t>Model Bias</a:t>
            </a:r>
            <a:endParaRPr sz="3200">
              <a:solidFill>
                <a:srgbClr val="FFFFFF"/>
              </a:solidFill>
              <a:latin typeface="Montserrat" panose="00000500000000000000" pitchFamily="2" charset="0"/>
            </a:endParaRPr>
          </a:p>
        </p:txBody>
      </p:sp>
      <p:cxnSp>
        <p:nvCxnSpPr>
          <p:cNvPr id="404" name="Google Shape;404;g355ea8b0119_0_226">
            <a:extLst>
              <a:ext uri="{FF2B5EF4-FFF2-40B4-BE49-F238E27FC236}">
                <a16:creationId xmlns:a16="http://schemas.microsoft.com/office/drawing/2014/main" id="{B887F915-6FBC-223A-777C-922238D6DEFC}"/>
              </a:ext>
            </a:extLst>
          </p:cNvPr>
          <p:cNvCxnSpPr/>
          <p:nvPr/>
        </p:nvCxnSpPr>
        <p:spPr>
          <a:xfrm>
            <a:off x="6626360" y="3810569"/>
            <a:ext cx="1927500" cy="486900"/>
          </a:xfrm>
          <a:prstGeom prst="bentConnector3">
            <a:avLst>
              <a:gd name="adj1" fmla="val 100578"/>
            </a:avLst>
          </a:prstGeom>
          <a:noFill/>
          <a:ln w="9525" cap="flat" cmpd="sng">
            <a:solidFill>
              <a:srgbClr val="C2C2C2"/>
            </a:solidFill>
            <a:prstDash val="solid"/>
            <a:round/>
            <a:headEnd type="none" w="sm" len="sm"/>
            <a:tailEnd type="none" w="sm" len="sm"/>
          </a:ln>
        </p:spPr>
      </p:cxnSp>
      <p:cxnSp>
        <p:nvCxnSpPr>
          <p:cNvPr id="405" name="Google Shape;405;g355ea8b0119_0_226">
            <a:extLst>
              <a:ext uri="{FF2B5EF4-FFF2-40B4-BE49-F238E27FC236}">
                <a16:creationId xmlns:a16="http://schemas.microsoft.com/office/drawing/2014/main" id="{16D1DD16-019B-0542-6FE6-C59FEE0A7E26}"/>
              </a:ext>
            </a:extLst>
          </p:cNvPr>
          <p:cNvCxnSpPr/>
          <p:nvPr/>
        </p:nvCxnSpPr>
        <p:spPr>
          <a:xfrm>
            <a:off x="7411235" y="3810569"/>
            <a:ext cx="1927500" cy="486900"/>
          </a:xfrm>
          <a:prstGeom prst="bentConnector3">
            <a:avLst>
              <a:gd name="adj1" fmla="val 100578"/>
            </a:avLst>
          </a:prstGeom>
          <a:noFill/>
          <a:ln w="9525" cap="flat" cmpd="sng">
            <a:solidFill>
              <a:srgbClr val="C2C2C2"/>
            </a:solidFill>
            <a:prstDash val="solid"/>
            <a:round/>
            <a:headEnd type="none" w="sm" len="sm"/>
            <a:tailEnd type="none" w="sm" len="sm"/>
          </a:ln>
        </p:spPr>
      </p:cxnSp>
      <p:sp>
        <p:nvSpPr>
          <p:cNvPr id="406" name="Google Shape;406;g355ea8b0119_0_226">
            <a:extLst>
              <a:ext uri="{FF2B5EF4-FFF2-40B4-BE49-F238E27FC236}">
                <a16:creationId xmlns:a16="http://schemas.microsoft.com/office/drawing/2014/main" id="{6D9D6262-3FE3-47E9-F3C1-75D8459B9D35}"/>
              </a:ext>
            </a:extLst>
          </p:cNvPr>
          <p:cNvSpPr/>
          <p:nvPr/>
        </p:nvSpPr>
        <p:spPr>
          <a:xfrm>
            <a:off x="8257472" y="4291294"/>
            <a:ext cx="649500" cy="918600"/>
          </a:xfrm>
          <a:prstGeom prst="roundRect">
            <a:avLst>
              <a:gd name="adj" fmla="val 50000"/>
            </a:avLst>
          </a:prstGeom>
          <a:solidFill>
            <a:srgbClr val="0C175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CA" sz="3200">
                <a:solidFill>
                  <a:srgbClr val="FFFFFF"/>
                </a:solidFill>
                <a:latin typeface="Montserrat" panose="00000500000000000000" pitchFamily="2" charset="0"/>
              </a:rPr>
              <a:t>…</a:t>
            </a:r>
            <a:endParaRPr sz="3200">
              <a:solidFill>
                <a:srgbClr val="FFFFFF"/>
              </a:solidFill>
              <a:latin typeface="Montserrat" panose="00000500000000000000" pitchFamily="2" charset="0"/>
            </a:endParaRPr>
          </a:p>
        </p:txBody>
      </p:sp>
      <p:sp>
        <p:nvSpPr>
          <p:cNvPr id="407" name="Google Shape;407;g355ea8b0119_0_226">
            <a:extLst>
              <a:ext uri="{FF2B5EF4-FFF2-40B4-BE49-F238E27FC236}">
                <a16:creationId xmlns:a16="http://schemas.microsoft.com/office/drawing/2014/main" id="{2486AAF2-B44E-8DBC-747E-DBA3FA1E33CC}"/>
              </a:ext>
            </a:extLst>
          </p:cNvPr>
          <p:cNvSpPr/>
          <p:nvPr/>
        </p:nvSpPr>
        <p:spPr>
          <a:xfrm>
            <a:off x="9064172" y="4291294"/>
            <a:ext cx="649500" cy="918600"/>
          </a:xfrm>
          <a:prstGeom prst="roundRect">
            <a:avLst>
              <a:gd name="adj" fmla="val 50000"/>
            </a:avLst>
          </a:prstGeom>
          <a:solidFill>
            <a:srgbClr val="0D175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CA" sz="3200">
                <a:solidFill>
                  <a:srgbClr val="FFFFFF"/>
                </a:solidFill>
                <a:latin typeface="Montserrat" panose="00000500000000000000" pitchFamily="2" charset="0"/>
              </a:rPr>
              <a:t>…</a:t>
            </a:r>
            <a:endParaRPr sz="3200">
              <a:solidFill>
                <a:srgbClr val="FFFFFF"/>
              </a:solidFill>
              <a:latin typeface="Montserrat" panose="00000500000000000000" pitchFamily="2" charset="0"/>
            </a:endParaRPr>
          </a:p>
        </p:txBody>
      </p:sp>
    </p:spTree>
    <p:extLst>
      <p:ext uri="{BB962C8B-B14F-4D97-AF65-F5344CB8AC3E}">
        <p14:creationId xmlns:p14="http://schemas.microsoft.com/office/powerpoint/2010/main" val="16303339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pic>
        <p:nvPicPr>
          <p:cNvPr id="414" name="Google Shape;414;g355ea8b0119_0_237"/>
          <p:cNvPicPr preferRelativeResize="0"/>
          <p:nvPr/>
        </p:nvPicPr>
        <p:blipFill rotWithShape="1">
          <a:blip r:embed="rId3">
            <a:alphaModFix/>
          </a:blip>
          <a:srcRect/>
          <a:stretch/>
        </p:blipFill>
        <p:spPr>
          <a:xfrm>
            <a:off x="3202" y="0"/>
            <a:ext cx="12224773" cy="6857999"/>
          </a:xfrm>
          <a:prstGeom prst="rect">
            <a:avLst/>
          </a:prstGeom>
          <a:noFill/>
          <a:ln>
            <a:noFill/>
          </a:ln>
        </p:spPr>
      </p:pic>
      <p:sp>
        <p:nvSpPr>
          <p:cNvPr id="417" name="Google Shape;417;g355ea8b0119_0_237"/>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418" name="Google Shape;418;g355ea8b0119_0_237"/>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Common AI Project Risks &amp; Mitigations </a:t>
            </a:r>
            <a:endParaRPr sz="1400" b="0" i="0" u="none" strike="noStrike" cap="none" dirty="0">
              <a:solidFill>
                <a:srgbClr val="000000"/>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02D55AD6-5032-9261-04BB-D10DB417DC14}"/>
              </a:ext>
            </a:extLst>
          </p:cNvPr>
          <p:cNvGraphicFramePr>
            <a:graphicFrameLocks noGrp="1"/>
          </p:cNvGraphicFramePr>
          <p:nvPr>
            <p:extLst>
              <p:ext uri="{D42A27DB-BD31-4B8C-83A1-F6EECF244321}">
                <p14:modId xmlns:p14="http://schemas.microsoft.com/office/powerpoint/2010/main" val="1090230198"/>
              </p:ext>
            </p:extLst>
          </p:nvPr>
        </p:nvGraphicFramePr>
        <p:xfrm>
          <a:off x="-2083" y="969757"/>
          <a:ext cx="12060708" cy="3649885"/>
        </p:xfrm>
        <a:graphic>
          <a:graphicData uri="http://schemas.openxmlformats.org/drawingml/2006/table">
            <a:tbl>
              <a:tblPr>
                <a:tableStyleId>{3B4B98B0-60AC-42C2-AFA5-B58CD77FA1E5}</a:tableStyleId>
              </a:tblPr>
              <a:tblGrid>
                <a:gridCol w="2084883">
                  <a:extLst>
                    <a:ext uri="{9D8B030D-6E8A-4147-A177-3AD203B41FA5}">
                      <a16:colId xmlns:a16="http://schemas.microsoft.com/office/drawing/2014/main" val="868608570"/>
                    </a:ext>
                  </a:extLst>
                </a:gridCol>
                <a:gridCol w="4508500">
                  <a:extLst>
                    <a:ext uri="{9D8B030D-6E8A-4147-A177-3AD203B41FA5}">
                      <a16:colId xmlns:a16="http://schemas.microsoft.com/office/drawing/2014/main" val="1196746030"/>
                    </a:ext>
                  </a:extLst>
                </a:gridCol>
                <a:gridCol w="5467325">
                  <a:extLst>
                    <a:ext uri="{9D8B030D-6E8A-4147-A177-3AD203B41FA5}">
                      <a16:colId xmlns:a16="http://schemas.microsoft.com/office/drawing/2014/main" val="3318726292"/>
                    </a:ext>
                  </a:extLst>
                </a:gridCol>
              </a:tblGrid>
              <a:tr h="288218">
                <a:tc>
                  <a:txBody>
                    <a:bodyPr/>
                    <a:lstStyle/>
                    <a:p>
                      <a:pPr algn="ctr"/>
                      <a:r>
                        <a:rPr lang="en-CA" sz="1600" b="1" dirty="0"/>
                        <a:t>Category</a:t>
                      </a:r>
                      <a:endParaRPr lang="en-CA" sz="1600" dirty="0">
                        <a:latin typeface="Montserrat" panose="00000500000000000000" pitchFamily="2" charset="0"/>
                      </a:endParaRPr>
                    </a:p>
                  </a:txBody>
                  <a:tcPr marL="63063" marR="63063" marT="31531" marB="31531" anchor="ctr"/>
                </a:tc>
                <a:tc>
                  <a:txBody>
                    <a:bodyPr/>
                    <a:lstStyle/>
                    <a:p>
                      <a:pPr algn="ctr"/>
                      <a:r>
                        <a:rPr lang="en-CA" sz="1600" b="1"/>
                        <a:t>Issue</a:t>
                      </a:r>
                      <a:endParaRPr lang="en-CA" sz="1600">
                        <a:latin typeface="Montserrat" panose="00000500000000000000" pitchFamily="2" charset="0"/>
                      </a:endParaRPr>
                    </a:p>
                  </a:txBody>
                  <a:tcPr marL="63063" marR="63063" marT="31531" marB="31531" anchor="ctr"/>
                </a:tc>
                <a:tc>
                  <a:txBody>
                    <a:bodyPr/>
                    <a:lstStyle/>
                    <a:p>
                      <a:pPr algn="ctr"/>
                      <a:r>
                        <a:rPr lang="en-CA" sz="1600" b="1" dirty="0"/>
                        <a:t>Mitigation</a:t>
                      </a:r>
                      <a:endParaRPr lang="en-CA" sz="1600" dirty="0">
                        <a:latin typeface="Montserrat" panose="00000500000000000000" pitchFamily="2" charset="0"/>
                      </a:endParaRPr>
                    </a:p>
                  </a:txBody>
                  <a:tcPr marL="63063" marR="63063" marT="31531" marB="31531" anchor="ctr"/>
                </a:tc>
                <a:extLst>
                  <a:ext uri="{0D108BD9-81ED-4DB2-BD59-A6C34878D82A}">
                    <a16:rowId xmlns:a16="http://schemas.microsoft.com/office/drawing/2014/main" val="2927984154"/>
                  </a:ext>
                </a:extLst>
              </a:tr>
              <a:tr h="517213">
                <a:tc>
                  <a:txBody>
                    <a:bodyPr/>
                    <a:lstStyle/>
                    <a:p>
                      <a:pPr algn="ctr"/>
                      <a:r>
                        <a:rPr lang="en-CA" sz="1600" b="1" dirty="0"/>
                        <a:t>Data Risks</a:t>
                      </a:r>
                      <a:endParaRPr lang="en-CA" sz="1600" dirty="0">
                        <a:latin typeface="Montserrat" panose="00000500000000000000" pitchFamily="2" charset="0"/>
                      </a:endParaRPr>
                    </a:p>
                  </a:txBody>
                  <a:tcPr marL="63063" marR="63063" marT="31531" marB="31531" anchor="ctr"/>
                </a:tc>
                <a:tc>
                  <a:txBody>
                    <a:bodyPr/>
                    <a:lstStyle/>
                    <a:p>
                      <a:pPr algn="ctr"/>
                      <a:r>
                        <a:rPr lang="en-CA" sz="1600" dirty="0"/>
                        <a:t>Poor quality, insufficient quantity, inherent biases, privacy concerns.</a:t>
                      </a:r>
                      <a:endParaRPr lang="en-CA" sz="1600" dirty="0">
                        <a:latin typeface="Montserrat" panose="00000500000000000000" pitchFamily="2" charset="0"/>
                      </a:endParaRPr>
                    </a:p>
                  </a:txBody>
                  <a:tcPr marL="63063" marR="63063" marT="31531" marB="31531" anchor="ctr"/>
                </a:tc>
                <a:tc>
                  <a:txBody>
                    <a:bodyPr/>
                    <a:lstStyle/>
                    <a:p>
                      <a:pPr algn="ctr"/>
                      <a:r>
                        <a:rPr lang="en-US" sz="1600"/>
                        <a:t>Thorough data assessment early, data governance, ethical data sourcing, data augmentation strategies, anonymization.</a:t>
                      </a:r>
                      <a:endParaRPr lang="en-US" sz="1600">
                        <a:latin typeface="Montserrat" panose="00000500000000000000" pitchFamily="2" charset="0"/>
                      </a:endParaRPr>
                    </a:p>
                  </a:txBody>
                  <a:tcPr marL="63063" marR="63063" marT="31531" marB="31531" anchor="ctr"/>
                </a:tc>
                <a:extLst>
                  <a:ext uri="{0D108BD9-81ED-4DB2-BD59-A6C34878D82A}">
                    <a16:rowId xmlns:a16="http://schemas.microsoft.com/office/drawing/2014/main" val="3947552498"/>
                  </a:ext>
                </a:extLst>
              </a:tr>
              <a:tr h="665605">
                <a:tc>
                  <a:txBody>
                    <a:bodyPr/>
                    <a:lstStyle/>
                    <a:p>
                      <a:pPr algn="ctr"/>
                      <a:r>
                        <a:rPr lang="en-CA" sz="1600" b="1"/>
                        <a:t>Technical Feasibility Risks</a:t>
                      </a:r>
                      <a:endParaRPr lang="en-CA" sz="1600">
                        <a:latin typeface="Montserrat" panose="00000500000000000000" pitchFamily="2" charset="0"/>
                      </a:endParaRPr>
                    </a:p>
                  </a:txBody>
                  <a:tcPr marL="63063" marR="63063" marT="31531" marB="31531" anchor="ctr"/>
                </a:tc>
                <a:tc>
                  <a:txBody>
                    <a:bodyPr/>
                    <a:lstStyle/>
                    <a:p>
                      <a:pPr algn="ctr"/>
                      <a:r>
                        <a:rPr lang="en-US" sz="1600" dirty="0"/>
                        <a:t>Model doesn’t achieve required accuracy, high computational costs, complex integration.</a:t>
                      </a:r>
                      <a:endParaRPr lang="en-US" sz="1600" dirty="0">
                        <a:latin typeface="Montserrat" panose="00000500000000000000" pitchFamily="2" charset="0"/>
                      </a:endParaRPr>
                    </a:p>
                  </a:txBody>
                  <a:tcPr marL="63063" marR="63063" marT="31531" marB="31531" anchor="ctr"/>
                </a:tc>
                <a:tc>
                  <a:txBody>
                    <a:bodyPr/>
                    <a:lstStyle/>
                    <a:p>
                      <a:pPr algn="ctr"/>
                      <a:r>
                        <a:rPr lang="en-US" sz="1600" dirty="0"/>
                        <a:t>Start with a Proof-of-Concept, set realistic expectations, explore multiple algorithms, plan for scalability.</a:t>
                      </a:r>
                      <a:endParaRPr lang="en-US" sz="1600" dirty="0">
                        <a:latin typeface="Montserrat" panose="00000500000000000000" pitchFamily="2" charset="0"/>
                      </a:endParaRPr>
                    </a:p>
                  </a:txBody>
                  <a:tcPr marL="63063" marR="63063" marT="31531" marB="31531" anchor="ctr"/>
                </a:tc>
                <a:extLst>
                  <a:ext uri="{0D108BD9-81ED-4DB2-BD59-A6C34878D82A}">
                    <a16:rowId xmlns:a16="http://schemas.microsoft.com/office/drawing/2014/main" val="730104942"/>
                  </a:ext>
                </a:extLst>
              </a:tr>
              <a:tr h="736867">
                <a:tc>
                  <a:txBody>
                    <a:bodyPr/>
                    <a:lstStyle/>
                    <a:p>
                      <a:pPr algn="ctr"/>
                      <a:r>
                        <a:rPr lang="en-CA" sz="1600" b="1"/>
                        <a:t>Stakeholder Alignment Risks</a:t>
                      </a:r>
                      <a:endParaRPr lang="en-CA" sz="1600">
                        <a:latin typeface="Montserrat" panose="00000500000000000000" pitchFamily="2" charset="0"/>
                      </a:endParaRPr>
                    </a:p>
                  </a:txBody>
                  <a:tcPr marL="63063" marR="63063" marT="31531" marB="31531" anchor="ctr"/>
                </a:tc>
                <a:tc>
                  <a:txBody>
                    <a:bodyPr/>
                    <a:lstStyle/>
                    <a:p>
                      <a:pPr algn="ctr"/>
                      <a:r>
                        <a:rPr lang="en-US" sz="1600"/>
                        <a:t>Misunderstanding of business problem, changing expectations, lack of buy-in.</a:t>
                      </a:r>
                      <a:endParaRPr lang="en-US" sz="1600">
                        <a:latin typeface="Montserrat" panose="00000500000000000000" pitchFamily="2" charset="0"/>
                      </a:endParaRPr>
                    </a:p>
                  </a:txBody>
                  <a:tcPr marL="63063" marR="63063" marT="31531" marB="31531" anchor="ctr"/>
                </a:tc>
                <a:tc>
                  <a:txBody>
                    <a:bodyPr/>
                    <a:lstStyle/>
                    <a:p>
                      <a:pPr algn="ctr"/>
                      <a:r>
                        <a:rPr lang="en-US" sz="1600" dirty="0"/>
                        <a:t>Continuous communication, involve stakeholders in evaluation, clearly define success metrics, ensure executive sponsorship.</a:t>
                      </a:r>
                      <a:endParaRPr lang="en-US" sz="1600" dirty="0">
                        <a:latin typeface="Montserrat" panose="00000500000000000000" pitchFamily="2" charset="0"/>
                      </a:endParaRPr>
                    </a:p>
                  </a:txBody>
                  <a:tcPr marL="63063" marR="63063" marT="31531" marB="31531" anchor="ctr"/>
                </a:tc>
                <a:extLst>
                  <a:ext uri="{0D108BD9-81ED-4DB2-BD59-A6C34878D82A}">
                    <a16:rowId xmlns:a16="http://schemas.microsoft.com/office/drawing/2014/main" val="3468919518"/>
                  </a:ext>
                </a:extLst>
              </a:tr>
              <a:tr h="517213">
                <a:tc>
                  <a:txBody>
                    <a:bodyPr/>
                    <a:lstStyle/>
                    <a:p>
                      <a:pPr algn="ctr"/>
                      <a:r>
                        <a:rPr lang="en-CA" sz="1600" b="1"/>
                        <a:t>Operational &amp; Deployment Risks</a:t>
                      </a:r>
                      <a:endParaRPr lang="en-CA" sz="1600">
                        <a:latin typeface="Montserrat" panose="00000500000000000000" pitchFamily="2" charset="0"/>
                      </a:endParaRPr>
                    </a:p>
                  </a:txBody>
                  <a:tcPr marL="63063" marR="63063" marT="31531" marB="31531" anchor="ctr"/>
                </a:tc>
                <a:tc>
                  <a:txBody>
                    <a:bodyPr/>
                    <a:lstStyle/>
                    <a:p>
                      <a:pPr algn="ctr"/>
                      <a:r>
                        <a:rPr lang="en-US" sz="1600"/>
                        <a:t>Difficult implementation, latency, scalability, model drift post-deployment, security vulnerabilities.</a:t>
                      </a:r>
                      <a:endParaRPr lang="en-US" sz="1600">
                        <a:latin typeface="Montserrat" panose="00000500000000000000" pitchFamily="2" charset="0"/>
                      </a:endParaRPr>
                    </a:p>
                  </a:txBody>
                  <a:tcPr marL="63063" marR="63063" marT="31531" marB="31531" anchor="ctr"/>
                </a:tc>
                <a:tc>
                  <a:txBody>
                    <a:bodyPr/>
                    <a:lstStyle/>
                    <a:p>
                      <a:pPr algn="ctr"/>
                      <a:r>
                        <a:rPr lang="en-US" sz="1600" dirty="0"/>
                        <a:t>Implement IT/DevOps/</a:t>
                      </a:r>
                      <a:r>
                        <a:rPr lang="en-US" sz="1600" dirty="0" err="1"/>
                        <a:t>MLOps</a:t>
                      </a:r>
                      <a:r>
                        <a:rPr lang="en-US" sz="1600" dirty="0"/>
                        <a:t> early, design for production, plan for monitoring and retraining.</a:t>
                      </a:r>
                      <a:endParaRPr lang="en-US" sz="1600" dirty="0">
                        <a:latin typeface="Montserrat" panose="00000500000000000000" pitchFamily="2" charset="0"/>
                      </a:endParaRPr>
                    </a:p>
                  </a:txBody>
                  <a:tcPr marL="63063" marR="63063" marT="31531" marB="31531" anchor="ctr"/>
                </a:tc>
                <a:extLst>
                  <a:ext uri="{0D108BD9-81ED-4DB2-BD59-A6C34878D82A}">
                    <a16:rowId xmlns:a16="http://schemas.microsoft.com/office/drawing/2014/main" val="184025897"/>
                  </a:ext>
                </a:extLst>
              </a:tr>
              <a:tr h="839027">
                <a:tc>
                  <a:txBody>
                    <a:bodyPr/>
                    <a:lstStyle/>
                    <a:p>
                      <a:pPr algn="ctr"/>
                      <a:r>
                        <a:rPr lang="en-CA" sz="1600" b="1"/>
                        <a:t>Ethical &amp; Compliance Risks</a:t>
                      </a:r>
                      <a:endParaRPr lang="en-CA" sz="1600">
                        <a:latin typeface="Montserrat" panose="00000500000000000000" pitchFamily="2" charset="0"/>
                      </a:endParaRPr>
                    </a:p>
                  </a:txBody>
                  <a:tcPr marL="63063" marR="63063" marT="31531" marB="31531" anchor="ctr"/>
                </a:tc>
                <a:tc>
                  <a:txBody>
                    <a:bodyPr/>
                    <a:lstStyle/>
                    <a:p>
                      <a:pPr algn="ctr"/>
                      <a:r>
                        <a:rPr lang="en-US" sz="1600"/>
                        <a:t>Lack of fairness, bias, lack of transparency, regulatory non-compliance.</a:t>
                      </a:r>
                      <a:endParaRPr lang="en-US" sz="1600">
                        <a:latin typeface="Montserrat" panose="00000500000000000000" pitchFamily="2" charset="0"/>
                      </a:endParaRPr>
                    </a:p>
                  </a:txBody>
                  <a:tcPr marL="63063" marR="63063" marT="31531" marB="31531" anchor="ctr"/>
                </a:tc>
                <a:tc>
                  <a:txBody>
                    <a:bodyPr/>
                    <a:lstStyle/>
                    <a:p>
                      <a:pPr algn="ctr"/>
                      <a:r>
                        <a:rPr lang="en-US" sz="1600" dirty="0"/>
                        <a:t>Establish ethical guidelines, conduct bias audits, ensure explainability where needed, consult legal/compliance teams.</a:t>
                      </a:r>
                      <a:endParaRPr lang="en-US" sz="1600" dirty="0">
                        <a:latin typeface="Montserrat" panose="00000500000000000000" pitchFamily="2" charset="0"/>
                      </a:endParaRPr>
                    </a:p>
                  </a:txBody>
                  <a:tcPr marL="63063" marR="63063" marT="31531" marB="31531" anchor="ctr"/>
                </a:tc>
                <a:extLst>
                  <a:ext uri="{0D108BD9-81ED-4DB2-BD59-A6C34878D82A}">
                    <a16:rowId xmlns:a16="http://schemas.microsoft.com/office/drawing/2014/main" val="3753698257"/>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290C7-41C2-4BAA-BE61-E7D43A83937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BAD78C4-9049-6D93-9AE7-D650F5A46F88}"/>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4F99DA0-9CB7-73C2-610E-F3C623B71FF2}"/>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8566AF0E-A890-1C11-0176-E6FF5469B2BB}"/>
              </a:ext>
            </a:extLst>
          </p:cNvPr>
          <p:cNvSpPr/>
          <p:nvPr/>
        </p:nvSpPr>
        <p:spPr>
          <a:xfrm>
            <a:off x="293914" y="793804"/>
            <a:ext cx="5578566" cy="1938992"/>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KEY INGREDIENTS FOR AI PROJECT SUCCESS</a:t>
            </a:r>
          </a:p>
        </p:txBody>
      </p:sp>
    </p:spTree>
    <p:extLst>
      <p:ext uri="{BB962C8B-B14F-4D97-AF65-F5344CB8AC3E}">
        <p14:creationId xmlns:p14="http://schemas.microsoft.com/office/powerpoint/2010/main" val="18582942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AAA52-A05F-055C-D878-9031134CA83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2BFCD71-4323-CCA3-6B18-A618B1DCFB5C}"/>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25290128-626B-E17F-319F-AE5C0742E08C}"/>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AI Success Equation</a:t>
            </a:r>
          </a:p>
        </p:txBody>
      </p:sp>
      <p:sp>
        <p:nvSpPr>
          <p:cNvPr id="13" name="TextBox 12">
            <a:extLst>
              <a:ext uri="{FF2B5EF4-FFF2-40B4-BE49-F238E27FC236}">
                <a16:creationId xmlns:a16="http://schemas.microsoft.com/office/drawing/2014/main" id="{B17555E4-9D4F-F905-5831-6028BE4748DC}"/>
              </a:ext>
            </a:extLst>
          </p:cNvPr>
          <p:cNvSpPr txBox="1"/>
          <p:nvPr/>
        </p:nvSpPr>
        <p:spPr>
          <a:xfrm>
            <a:off x="399034" y="2554221"/>
            <a:ext cx="11490386" cy="646331"/>
          </a:xfrm>
          <a:prstGeom prst="rect">
            <a:avLst/>
          </a:prstGeom>
          <a:noFill/>
        </p:spPr>
        <p:txBody>
          <a:bodyPr wrap="square">
            <a:spAutoFit/>
          </a:bodyPr>
          <a:lstStyle/>
          <a:p>
            <a:r>
              <a:rPr lang="en-US" sz="3600" b="1" dirty="0">
                <a:latin typeface="Montserrat" panose="00000500000000000000" pitchFamily="2" charset="0"/>
              </a:rPr>
              <a:t>AI success = technology × people × alignment</a:t>
            </a:r>
            <a:endParaRPr lang="en-CA" sz="3600" b="1" dirty="0">
              <a:latin typeface="Montserrat" panose="00000500000000000000" pitchFamily="2" charset="0"/>
            </a:endParaRPr>
          </a:p>
        </p:txBody>
      </p:sp>
    </p:spTree>
    <p:extLst>
      <p:ext uri="{BB962C8B-B14F-4D97-AF65-F5344CB8AC3E}">
        <p14:creationId xmlns:p14="http://schemas.microsoft.com/office/powerpoint/2010/main" val="8794201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DC1BC-F1A8-8659-874A-FFFCC1D4A2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FECE4EA-C9C7-6AEA-231A-D1B2F89724B9}"/>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52767533-3C2A-1054-7E6D-EA376F2F3BDC}"/>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Key Success Ingredients in AI Projects</a:t>
            </a:r>
          </a:p>
        </p:txBody>
      </p:sp>
      <p:graphicFrame>
        <p:nvGraphicFramePr>
          <p:cNvPr id="3" name="Diagram 2">
            <a:extLst>
              <a:ext uri="{FF2B5EF4-FFF2-40B4-BE49-F238E27FC236}">
                <a16:creationId xmlns:a16="http://schemas.microsoft.com/office/drawing/2014/main" id="{467ABFF9-CCCD-70DD-C763-793A31C92AD8}"/>
              </a:ext>
            </a:extLst>
          </p:cNvPr>
          <p:cNvGraphicFramePr/>
          <p:nvPr>
            <p:extLst>
              <p:ext uri="{D42A27DB-BD31-4B8C-83A1-F6EECF244321}">
                <p14:modId xmlns:p14="http://schemas.microsoft.com/office/powerpoint/2010/main" val="1254926914"/>
              </p:ext>
            </p:extLst>
          </p:nvPr>
        </p:nvGraphicFramePr>
        <p:xfrm>
          <a:off x="781170" y="999417"/>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6651890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EE374-3742-7A7C-AA53-BB7C2692748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A38BFB5-0C39-2C58-C35E-87C7A74E6C5B}"/>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9DBB42E-B187-5FCA-4396-98274564ADF2}"/>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0966D8E1-9D35-7657-809B-9352093D5D7C}"/>
              </a:ext>
            </a:extLst>
          </p:cNvPr>
          <p:cNvSpPr/>
          <p:nvPr/>
        </p:nvSpPr>
        <p:spPr>
          <a:xfrm>
            <a:off x="293914" y="793804"/>
            <a:ext cx="5578566"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AI PROJECT BUDGETING</a:t>
            </a:r>
          </a:p>
        </p:txBody>
      </p:sp>
    </p:spTree>
    <p:extLst>
      <p:ext uri="{BB962C8B-B14F-4D97-AF65-F5344CB8AC3E}">
        <p14:creationId xmlns:p14="http://schemas.microsoft.com/office/powerpoint/2010/main" val="414741646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88">
          <a:extLst>
            <a:ext uri="{FF2B5EF4-FFF2-40B4-BE49-F238E27FC236}">
              <a16:creationId xmlns:a16="http://schemas.microsoft.com/office/drawing/2014/main" id="{EF18FA64-F532-FB42-A57E-83D0875254D4}"/>
            </a:ext>
          </a:extLst>
        </p:cNvPr>
        <p:cNvGrpSpPr/>
        <p:nvPr/>
      </p:nvGrpSpPr>
      <p:grpSpPr>
        <a:xfrm>
          <a:off x="0" y="0"/>
          <a:ext cx="0" cy="0"/>
          <a:chOff x="0" y="0"/>
          <a:chExt cx="0" cy="0"/>
        </a:xfrm>
      </p:grpSpPr>
      <p:pic>
        <p:nvPicPr>
          <p:cNvPr id="389" name="Google Shape;389;g355ea8b0119_0_226">
            <a:extLst>
              <a:ext uri="{FF2B5EF4-FFF2-40B4-BE49-F238E27FC236}">
                <a16:creationId xmlns:a16="http://schemas.microsoft.com/office/drawing/2014/main" id="{755323EC-2885-0B9D-3CD0-52ECA19B0C53}"/>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sp>
        <p:nvSpPr>
          <p:cNvPr id="392" name="Google Shape;392;g355ea8b0119_0_226">
            <a:extLst>
              <a:ext uri="{FF2B5EF4-FFF2-40B4-BE49-F238E27FC236}">
                <a16:creationId xmlns:a16="http://schemas.microsoft.com/office/drawing/2014/main" id="{055E5E17-1527-6379-16B0-64CEE794483C}"/>
              </a:ext>
            </a:extLst>
          </p:cNvPr>
          <p:cNvSpPr txBox="1"/>
          <p:nvPr/>
        </p:nvSpPr>
        <p:spPr>
          <a:xfrm>
            <a:off x="3200" y="812519"/>
            <a:ext cx="11596200" cy="1610700"/>
          </a:xfrm>
          <a:prstGeom prst="rect">
            <a:avLst/>
          </a:prstGeom>
          <a:noFill/>
          <a:ln>
            <a:noFill/>
          </a:ln>
        </p:spPr>
        <p:txBody>
          <a:bodyPr spcFirstLastPara="1" wrap="square" lIns="91425" tIns="45700" rIns="91425" bIns="45700" anchor="t" anchorCtr="0">
            <a:normAutofit/>
          </a:bodyPr>
          <a:lstStyle/>
          <a:p>
            <a:pPr marL="457200" marR="0" lvl="0" indent="0" algn="l" rtl="0">
              <a:lnSpc>
                <a:spcPct val="90000"/>
              </a:lnSpc>
              <a:spcBef>
                <a:spcPts val="0"/>
              </a:spcBef>
              <a:spcAft>
                <a:spcPts val="0"/>
              </a:spcAft>
              <a:buNone/>
            </a:pPr>
            <a:endParaRPr sz="1800" b="0" i="0" u="none" strike="noStrike" cap="none">
              <a:solidFill>
                <a:schemeClr val="dk1"/>
              </a:solidFill>
              <a:latin typeface="Montserrat"/>
              <a:ea typeface="Montserrat"/>
              <a:cs typeface="Montserrat"/>
              <a:sym typeface="Montserrat"/>
            </a:endParaRPr>
          </a:p>
          <a:p>
            <a:pPr marL="457200" marR="0" lvl="0" indent="0" algn="l" rtl="0">
              <a:lnSpc>
                <a:spcPct val="9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p:txBody>
      </p:sp>
      <p:sp>
        <p:nvSpPr>
          <p:cNvPr id="393" name="Google Shape;393;g355ea8b0119_0_226">
            <a:extLst>
              <a:ext uri="{FF2B5EF4-FFF2-40B4-BE49-F238E27FC236}">
                <a16:creationId xmlns:a16="http://schemas.microsoft.com/office/drawing/2014/main" id="{213A8359-5210-1F4B-7447-872A53449FC1}"/>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AI Projects Budgeting</a:t>
            </a:r>
            <a:endParaRPr sz="1400" b="0" i="0" u="none" strike="noStrike" cap="none" dirty="0">
              <a:solidFill>
                <a:srgbClr val="000000"/>
              </a:solidFill>
              <a:latin typeface="Arial"/>
              <a:ea typeface="Arial"/>
              <a:cs typeface="Arial"/>
              <a:sym typeface="Arial"/>
            </a:endParaRPr>
          </a:p>
        </p:txBody>
      </p:sp>
      <p:sp>
        <p:nvSpPr>
          <p:cNvPr id="394" name="Google Shape;394;g355ea8b0119_0_226">
            <a:extLst>
              <a:ext uri="{FF2B5EF4-FFF2-40B4-BE49-F238E27FC236}">
                <a16:creationId xmlns:a16="http://schemas.microsoft.com/office/drawing/2014/main" id="{89B19FE3-F7BB-5CA7-A26E-B7BAA91EFC67}"/>
              </a:ext>
            </a:extLst>
          </p:cNvPr>
          <p:cNvSpPr txBox="1"/>
          <p:nvPr/>
        </p:nvSpPr>
        <p:spPr>
          <a:xfrm>
            <a:off x="54197" y="666803"/>
            <a:ext cx="11464500" cy="6006300"/>
          </a:xfrm>
          <a:prstGeom prst="rect">
            <a:avLst/>
          </a:prstGeom>
          <a:noFill/>
          <a:ln>
            <a:noFill/>
          </a:ln>
        </p:spPr>
        <p:txBody>
          <a:bodyPr spcFirstLastPara="1" wrap="square" lIns="91425" tIns="45700" rIns="91425" bIns="45700" anchor="t" anchorCtr="0">
            <a:normAutofit/>
          </a:bodyPr>
          <a:lstStyle/>
          <a:p>
            <a:pPr marL="400050" lvl="0" indent="-285750" algn="l" rtl="0">
              <a:spcBef>
                <a:spcPts val="1200"/>
              </a:spcBef>
              <a:spcAft>
                <a:spcPts val="0"/>
              </a:spcAft>
              <a:buClr>
                <a:srgbClr val="1BBFD1"/>
              </a:buClr>
              <a:buSzPts val="1800"/>
              <a:buFont typeface="Arial" panose="020B0604020202020204" pitchFamily="34" charset="0"/>
              <a:buChar char="•"/>
            </a:pPr>
            <a:r>
              <a:rPr lang="en-US" sz="1600" dirty="0">
                <a:solidFill>
                  <a:schemeClr val="dk1"/>
                </a:solidFill>
                <a:latin typeface="Montserrat"/>
                <a:ea typeface="Montserrat"/>
                <a:cs typeface="Montserrat"/>
                <a:sym typeface="Montserrat"/>
              </a:rPr>
              <a:t>AI projects are complex and require careful financial planning. Many initiatives fail not due to poor algorithms but due to mismanaged budgets, unanticipated costs, or poor alignment with business goals. </a:t>
            </a:r>
          </a:p>
        </p:txBody>
      </p:sp>
      <p:graphicFrame>
        <p:nvGraphicFramePr>
          <p:cNvPr id="3" name="Diagram 2">
            <a:extLst>
              <a:ext uri="{FF2B5EF4-FFF2-40B4-BE49-F238E27FC236}">
                <a16:creationId xmlns:a16="http://schemas.microsoft.com/office/drawing/2014/main" id="{791A64F5-277C-E460-E6E5-574422F2B7F1}"/>
              </a:ext>
            </a:extLst>
          </p:cNvPr>
          <p:cNvGraphicFramePr/>
          <p:nvPr>
            <p:extLst>
              <p:ext uri="{D42A27DB-BD31-4B8C-83A1-F6EECF244321}">
                <p14:modId xmlns:p14="http://schemas.microsoft.com/office/powerpoint/2010/main" val="656401527"/>
              </p:ext>
            </p:extLst>
          </p:nvPr>
        </p:nvGraphicFramePr>
        <p:xfrm>
          <a:off x="-235678" y="1745653"/>
          <a:ext cx="10077247" cy="3142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3120987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88">
          <a:extLst>
            <a:ext uri="{FF2B5EF4-FFF2-40B4-BE49-F238E27FC236}">
              <a16:creationId xmlns:a16="http://schemas.microsoft.com/office/drawing/2014/main" id="{FFCBE2E2-CBE1-04E3-9C97-E7AD3A7B7C4D}"/>
            </a:ext>
          </a:extLst>
        </p:cNvPr>
        <p:cNvGrpSpPr/>
        <p:nvPr/>
      </p:nvGrpSpPr>
      <p:grpSpPr>
        <a:xfrm>
          <a:off x="0" y="0"/>
          <a:ext cx="0" cy="0"/>
          <a:chOff x="0" y="0"/>
          <a:chExt cx="0" cy="0"/>
        </a:xfrm>
      </p:grpSpPr>
      <p:pic>
        <p:nvPicPr>
          <p:cNvPr id="389" name="Google Shape;389;g355ea8b0119_0_226">
            <a:extLst>
              <a:ext uri="{FF2B5EF4-FFF2-40B4-BE49-F238E27FC236}">
                <a16:creationId xmlns:a16="http://schemas.microsoft.com/office/drawing/2014/main" id="{FE20DB38-BE1F-DCE5-DDA4-06CBC759A0C5}"/>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sp>
        <p:nvSpPr>
          <p:cNvPr id="393" name="Google Shape;393;g355ea8b0119_0_226">
            <a:extLst>
              <a:ext uri="{FF2B5EF4-FFF2-40B4-BE49-F238E27FC236}">
                <a16:creationId xmlns:a16="http://schemas.microsoft.com/office/drawing/2014/main" id="{67E44B59-902C-AB8A-B656-23DE07E106F3}"/>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Key Cost Categories</a:t>
            </a:r>
            <a:endParaRPr sz="1400" b="0" i="0" u="none" strike="noStrike" cap="none" dirty="0">
              <a:solidFill>
                <a:srgbClr val="000000"/>
              </a:solidFill>
              <a:latin typeface="Arial"/>
              <a:ea typeface="Arial"/>
              <a:cs typeface="Arial"/>
              <a:sym typeface="Arial"/>
            </a:endParaRPr>
          </a:p>
        </p:txBody>
      </p:sp>
      <p:graphicFrame>
        <p:nvGraphicFramePr>
          <p:cNvPr id="3" name="Diagram 2">
            <a:extLst>
              <a:ext uri="{FF2B5EF4-FFF2-40B4-BE49-F238E27FC236}">
                <a16:creationId xmlns:a16="http://schemas.microsoft.com/office/drawing/2014/main" id="{3A6EC211-43E7-1B44-11FE-8D706E0C568A}"/>
              </a:ext>
            </a:extLst>
          </p:cNvPr>
          <p:cNvGraphicFramePr/>
          <p:nvPr>
            <p:extLst>
              <p:ext uri="{D42A27DB-BD31-4B8C-83A1-F6EECF244321}">
                <p14:modId xmlns:p14="http://schemas.microsoft.com/office/powerpoint/2010/main" val="3538858119"/>
              </p:ext>
            </p:extLst>
          </p:nvPr>
        </p:nvGraphicFramePr>
        <p:xfrm>
          <a:off x="54197" y="1078903"/>
          <a:ext cx="10077247" cy="3142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847994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88">
          <a:extLst>
            <a:ext uri="{FF2B5EF4-FFF2-40B4-BE49-F238E27FC236}">
              <a16:creationId xmlns:a16="http://schemas.microsoft.com/office/drawing/2014/main" id="{A623FDD8-9EA3-FF7D-76CD-4C529706ED7D}"/>
            </a:ext>
          </a:extLst>
        </p:cNvPr>
        <p:cNvGrpSpPr/>
        <p:nvPr/>
      </p:nvGrpSpPr>
      <p:grpSpPr>
        <a:xfrm>
          <a:off x="0" y="0"/>
          <a:ext cx="0" cy="0"/>
          <a:chOff x="0" y="0"/>
          <a:chExt cx="0" cy="0"/>
        </a:xfrm>
      </p:grpSpPr>
      <p:pic>
        <p:nvPicPr>
          <p:cNvPr id="389" name="Google Shape;389;g355ea8b0119_0_226">
            <a:extLst>
              <a:ext uri="{FF2B5EF4-FFF2-40B4-BE49-F238E27FC236}">
                <a16:creationId xmlns:a16="http://schemas.microsoft.com/office/drawing/2014/main" id="{CC48DDCD-A001-DA84-AB3F-1B13E756A5F7}"/>
              </a:ext>
            </a:extLst>
          </p:cNvPr>
          <p:cNvPicPr preferRelativeResize="0"/>
          <p:nvPr/>
        </p:nvPicPr>
        <p:blipFill rotWithShape="1">
          <a:blip r:embed="rId3">
            <a:alphaModFix/>
          </a:blip>
          <a:srcRect/>
          <a:stretch/>
        </p:blipFill>
        <p:spPr>
          <a:xfrm>
            <a:off x="3202" y="0"/>
            <a:ext cx="12224773" cy="6857999"/>
          </a:xfrm>
          <a:prstGeom prst="rect">
            <a:avLst/>
          </a:prstGeom>
          <a:noFill/>
          <a:ln>
            <a:noFill/>
          </a:ln>
        </p:spPr>
      </p:pic>
      <p:sp>
        <p:nvSpPr>
          <p:cNvPr id="393" name="Google Shape;393;g355ea8b0119_0_226">
            <a:extLst>
              <a:ext uri="{FF2B5EF4-FFF2-40B4-BE49-F238E27FC236}">
                <a16:creationId xmlns:a16="http://schemas.microsoft.com/office/drawing/2014/main" id="{A9094B4C-DED9-D283-2DAB-17CAABEAE0D6}"/>
              </a:ext>
            </a:extLst>
          </p:cNvPr>
          <p:cNvSpPr/>
          <p:nvPr/>
        </p:nvSpPr>
        <p:spPr>
          <a:xfrm>
            <a:off x="54197" y="98526"/>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CA" sz="2400" dirty="0">
                <a:solidFill>
                  <a:schemeClr val="lt1"/>
                </a:solidFill>
                <a:latin typeface="Montserrat"/>
                <a:ea typeface="Montserrat"/>
                <a:cs typeface="Montserrat"/>
                <a:sym typeface="Montserrat"/>
              </a:rPr>
              <a:t>Budget Example</a:t>
            </a:r>
            <a:endParaRPr sz="1400" b="0" i="0" u="none" strike="noStrike" cap="none" dirty="0">
              <a:solidFill>
                <a:srgbClr val="000000"/>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9E6303A1-F357-107B-C545-79C2AC6D953A}"/>
              </a:ext>
            </a:extLst>
          </p:cNvPr>
          <p:cNvGraphicFramePr>
            <a:graphicFrameLocks noGrp="1"/>
          </p:cNvGraphicFramePr>
          <p:nvPr>
            <p:extLst>
              <p:ext uri="{D42A27DB-BD31-4B8C-83A1-F6EECF244321}">
                <p14:modId xmlns:p14="http://schemas.microsoft.com/office/powerpoint/2010/main" val="2823657284"/>
              </p:ext>
            </p:extLst>
          </p:nvPr>
        </p:nvGraphicFramePr>
        <p:xfrm>
          <a:off x="254000" y="984250"/>
          <a:ext cx="11684000" cy="3244992"/>
        </p:xfrm>
        <a:graphic>
          <a:graphicData uri="http://schemas.openxmlformats.org/drawingml/2006/table">
            <a:tbl>
              <a:tblPr>
                <a:tableStyleId>{3B4B98B0-60AC-42C2-AFA5-B58CD77FA1E5}</a:tableStyleId>
              </a:tblPr>
              <a:tblGrid>
                <a:gridCol w="2543000">
                  <a:extLst>
                    <a:ext uri="{9D8B030D-6E8A-4147-A177-3AD203B41FA5}">
                      <a16:colId xmlns:a16="http://schemas.microsoft.com/office/drawing/2014/main" val="2590186060"/>
                    </a:ext>
                  </a:extLst>
                </a:gridCol>
                <a:gridCol w="4649137">
                  <a:extLst>
                    <a:ext uri="{9D8B030D-6E8A-4147-A177-3AD203B41FA5}">
                      <a16:colId xmlns:a16="http://schemas.microsoft.com/office/drawing/2014/main" val="1382941337"/>
                    </a:ext>
                  </a:extLst>
                </a:gridCol>
                <a:gridCol w="4491863">
                  <a:extLst>
                    <a:ext uri="{9D8B030D-6E8A-4147-A177-3AD203B41FA5}">
                      <a16:colId xmlns:a16="http://schemas.microsoft.com/office/drawing/2014/main" val="2159458450"/>
                    </a:ext>
                  </a:extLst>
                </a:gridCol>
              </a:tblGrid>
              <a:tr h="144818">
                <a:tc>
                  <a:txBody>
                    <a:bodyPr/>
                    <a:lstStyle/>
                    <a:p>
                      <a:r>
                        <a:rPr lang="en-CA" sz="1300" b="1">
                          <a:latin typeface="Montserrat" panose="00000500000000000000" pitchFamily="2" charset="0"/>
                        </a:rPr>
                        <a:t>Category</a:t>
                      </a:r>
                      <a:endParaRPr lang="en-CA" sz="1300">
                        <a:latin typeface="Montserrat" panose="00000500000000000000" pitchFamily="2" charset="0"/>
                      </a:endParaRPr>
                    </a:p>
                  </a:txBody>
                  <a:tcPr marL="55786" marR="55786" marT="27893" marB="27893" anchor="ctr"/>
                </a:tc>
                <a:tc>
                  <a:txBody>
                    <a:bodyPr/>
                    <a:lstStyle/>
                    <a:p>
                      <a:r>
                        <a:rPr lang="en-CA" sz="1300" b="1" dirty="0">
                          <a:latin typeface="Montserrat" panose="00000500000000000000" pitchFamily="2" charset="0"/>
                        </a:rPr>
                        <a:t>Subcategories / Examples</a:t>
                      </a:r>
                      <a:endParaRPr lang="en-CA" sz="1300" dirty="0">
                        <a:latin typeface="Montserrat" panose="00000500000000000000" pitchFamily="2" charset="0"/>
                      </a:endParaRPr>
                    </a:p>
                  </a:txBody>
                  <a:tcPr marL="55786" marR="55786" marT="27893" marB="27893" anchor="ctr"/>
                </a:tc>
                <a:tc>
                  <a:txBody>
                    <a:bodyPr/>
                    <a:lstStyle/>
                    <a:p>
                      <a:r>
                        <a:rPr lang="en-CA" sz="1300" b="1">
                          <a:latin typeface="Montserrat" panose="00000500000000000000" pitchFamily="2" charset="0"/>
                        </a:rPr>
                        <a:t>Adjusted Cost Range</a:t>
                      </a:r>
                      <a:endParaRPr lang="en-CA" sz="1300">
                        <a:latin typeface="Montserrat" panose="00000500000000000000" pitchFamily="2" charset="0"/>
                      </a:endParaRPr>
                    </a:p>
                  </a:txBody>
                  <a:tcPr marL="55786" marR="55786" marT="27893" marB="27893" anchor="ctr"/>
                </a:tc>
                <a:extLst>
                  <a:ext uri="{0D108BD9-81ED-4DB2-BD59-A6C34878D82A}">
                    <a16:rowId xmlns:a16="http://schemas.microsoft.com/office/drawing/2014/main" val="879430277"/>
                  </a:ext>
                </a:extLst>
              </a:tr>
              <a:tr h="144818">
                <a:tc>
                  <a:txBody>
                    <a:bodyPr/>
                    <a:lstStyle/>
                    <a:p>
                      <a:r>
                        <a:rPr lang="en-CA" sz="1300" b="1" dirty="0">
                          <a:latin typeface="Montserrat" panose="00000500000000000000" pitchFamily="2" charset="0"/>
                        </a:rPr>
                        <a:t>1. Infrastructure</a:t>
                      </a:r>
                      <a:endParaRPr lang="en-CA" sz="1300" dirty="0">
                        <a:latin typeface="Montserrat" panose="00000500000000000000" pitchFamily="2" charset="0"/>
                      </a:endParaRPr>
                    </a:p>
                  </a:txBody>
                  <a:tcPr marL="55786" marR="55786" marT="27893" marB="27893" anchor="ctr"/>
                </a:tc>
                <a:tc>
                  <a:txBody>
                    <a:bodyPr/>
                    <a:lstStyle/>
                    <a:p>
                      <a:r>
                        <a:rPr lang="en-CA" sz="1300">
                          <a:latin typeface="Montserrat" panose="00000500000000000000" pitchFamily="2" charset="0"/>
                        </a:rPr>
                        <a:t>GPUs, servers, local/cloud storage</a:t>
                      </a:r>
                    </a:p>
                  </a:txBody>
                  <a:tcPr marL="55786" marR="55786" marT="27893" marB="27893" anchor="ctr"/>
                </a:tc>
                <a:tc>
                  <a:txBody>
                    <a:bodyPr/>
                    <a:lstStyle/>
                    <a:p>
                      <a:r>
                        <a:rPr lang="en-CA" sz="1300">
                          <a:latin typeface="Montserrat" panose="00000500000000000000" pitchFamily="2" charset="0"/>
                        </a:rPr>
                        <a:t>$4,000 – $30,000 (initial setup)</a:t>
                      </a:r>
                    </a:p>
                  </a:txBody>
                  <a:tcPr marL="55786" marR="55786" marT="27893" marB="27893" anchor="ctr"/>
                </a:tc>
                <a:extLst>
                  <a:ext uri="{0D108BD9-81ED-4DB2-BD59-A6C34878D82A}">
                    <a16:rowId xmlns:a16="http://schemas.microsoft.com/office/drawing/2014/main" val="2374314186"/>
                  </a:ext>
                </a:extLst>
              </a:tr>
              <a:tr h="253113">
                <a:tc>
                  <a:txBody>
                    <a:bodyPr/>
                    <a:lstStyle/>
                    <a:p>
                      <a:r>
                        <a:rPr lang="en-CA" sz="1300" b="1" dirty="0">
                          <a:latin typeface="Montserrat" panose="00000500000000000000" pitchFamily="2" charset="0"/>
                        </a:rPr>
                        <a:t>2. Software &amp; Tools</a:t>
                      </a:r>
                      <a:endParaRPr lang="en-CA" sz="1300" dirty="0">
                        <a:latin typeface="Montserrat" panose="00000500000000000000" pitchFamily="2" charset="0"/>
                      </a:endParaRPr>
                    </a:p>
                  </a:txBody>
                  <a:tcPr marL="55786" marR="55786" marT="27893" marB="27893" anchor="ctr"/>
                </a:tc>
                <a:tc>
                  <a:txBody>
                    <a:bodyPr/>
                    <a:lstStyle/>
                    <a:p>
                      <a:r>
                        <a:rPr lang="en-US" sz="1300">
                          <a:latin typeface="Montserrat" panose="00000500000000000000" pitchFamily="2" charset="0"/>
                        </a:rPr>
                        <a:t>Cloud platforms, AI frameworks, dev tools</a:t>
                      </a:r>
                    </a:p>
                  </a:txBody>
                  <a:tcPr marL="55786" marR="55786" marT="27893" marB="27893" anchor="ctr"/>
                </a:tc>
                <a:tc>
                  <a:txBody>
                    <a:bodyPr/>
                    <a:lstStyle/>
                    <a:p>
                      <a:r>
                        <a:rPr lang="en-US" sz="1300">
                          <a:latin typeface="Montserrat" panose="00000500000000000000" pitchFamily="2" charset="0"/>
                        </a:rPr>
                        <a:t>$500 – $7,000 + $150–$1,200/month</a:t>
                      </a:r>
                    </a:p>
                  </a:txBody>
                  <a:tcPr marL="55786" marR="55786" marT="27893" marB="27893" anchor="ctr"/>
                </a:tc>
                <a:extLst>
                  <a:ext uri="{0D108BD9-81ED-4DB2-BD59-A6C34878D82A}">
                    <a16:rowId xmlns:a16="http://schemas.microsoft.com/office/drawing/2014/main" val="652710870"/>
                  </a:ext>
                </a:extLst>
              </a:tr>
              <a:tr h="253113">
                <a:tc>
                  <a:txBody>
                    <a:bodyPr/>
                    <a:lstStyle/>
                    <a:p>
                      <a:r>
                        <a:rPr lang="en-CA" sz="1300" b="1">
                          <a:latin typeface="Montserrat" panose="00000500000000000000" pitchFamily="2" charset="0"/>
                        </a:rPr>
                        <a:t>3. Talent / Human Capital</a:t>
                      </a:r>
                      <a:endParaRPr lang="en-CA" sz="1300">
                        <a:latin typeface="Montserrat" panose="00000500000000000000" pitchFamily="2" charset="0"/>
                      </a:endParaRPr>
                    </a:p>
                  </a:txBody>
                  <a:tcPr marL="55786" marR="55786" marT="27893" marB="27893" anchor="ctr"/>
                </a:tc>
                <a:tc>
                  <a:txBody>
                    <a:bodyPr/>
                    <a:lstStyle/>
                    <a:p>
                      <a:r>
                        <a:rPr lang="en-CA" sz="1300">
                          <a:latin typeface="Montserrat" panose="00000500000000000000" pitchFamily="2" charset="0"/>
                        </a:rPr>
                        <a:t>Data scientists, ML engineers, AI specialists</a:t>
                      </a:r>
                    </a:p>
                  </a:txBody>
                  <a:tcPr marL="55786" marR="55786" marT="27893" marB="27893" anchor="ctr"/>
                </a:tc>
                <a:tc>
                  <a:txBody>
                    <a:bodyPr/>
                    <a:lstStyle/>
                    <a:p>
                      <a:r>
                        <a:rPr lang="en-US" sz="1300" dirty="0">
                          <a:latin typeface="Montserrat" panose="00000500000000000000" pitchFamily="2" charset="0"/>
                        </a:rPr>
                        <a:t>$100K – $140K/year per role (Location Dependent)</a:t>
                      </a:r>
                    </a:p>
                  </a:txBody>
                  <a:tcPr marL="55786" marR="55786" marT="27893" marB="27893" anchor="ctr"/>
                </a:tc>
                <a:extLst>
                  <a:ext uri="{0D108BD9-81ED-4DB2-BD59-A6C34878D82A}">
                    <a16:rowId xmlns:a16="http://schemas.microsoft.com/office/drawing/2014/main" val="3431988378"/>
                  </a:ext>
                </a:extLst>
              </a:tr>
              <a:tr h="253113">
                <a:tc>
                  <a:txBody>
                    <a:bodyPr/>
                    <a:lstStyle/>
                    <a:p>
                      <a:r>
                        <a:rPr lang="en-CA" sz="1300" b="1">
                          <a:latin typeface="Montserrat" panose="00000500000000000000" pitchFamily="2" charset="0"/>
                        </a:rPr>
                        <a:t>4. Training &amp; Development</a:t>
                      </a:r>
                      <a:endParaRPr lang="en-CA" sz="1300">
                        <a:latin typeface="Montserrat" panose="00000500000000000000" pitchFamily="2" charset="0"/>
                      </a:endParaRPr>
                    </a:p>
                  </a:txBody>
                  <a:tcPr marL="55786" marR="55786" marT="27893" marB="27893" anchor="ctr"/>
                </a:tc>
                <a:tc>
                  <a:txBody>
                    <a:bodyPr/>
                    <a:lstStyle/>
                    <a:p>
                      <a:r>
                        <a:rPr lang="en-US" sz="1300">
                          <a:latin typeface="Montserrat" panose="00000500000000000000" pitchFamily="2" charset="0"/>
                        </a:rPr>
                        <a:t>Online courses, workshops, team upskilling</a:t>
                      </a:r>
                    </a:p>
                  </a:txBody>
                  <a:tcPr marL="55786" marR="55786" marT="27893" marB="27893" anchor="ctr"/>
                </a:tc>
                <a:tc>
                  <a:txBody>
                    <a:bodyPr/>
                    <a:lstStyle/>
                    <a:p>
                      <a:r>
                        <a:rPr lang="en-CA" sz="1300" dirty="0">
                          <a:latin typeface="Montserrat" panose="00000500000000000000" pitchFamily="2" charset="0"/>
                        </a:rPr>
                        <a:t>$300 – $3,000</a:t>
                      </a:r>
                    </a:p>
                  </a:txBody>
                  <a:tcPr marL="55786" marR="55786" marT="27893" marB="27893" anchor="ctr"/>
                </a:tc>
                <a:extLst>
                  <a:ext uri="{0D108BD9-81ED-4DB2-BD59-A6C34878D82A}">
                    <a16:rowId xmlns:a16="http://schemas.microsoft.com/office/drawing/2014/main" val="550005454"/>
                  </a:ext>
                </a:extLst>
              </a:tr>
              <a:tr h="253113">
                <a:tc>
                  <a:txBody>
                    <a:bodyPr/>
                    <a:lstStyle/>
                    <a:p>
                      <a:r>
                        <a:rPr lang="en-CA" sz="1300" b="1">
                          <a:latin typeface="Montserrat" panose="00000500000000000000" pitchFamily="2" charset="0"/>
                        </a:rPr>
                        <a:t>5. Data Acquisition</a:t>
                      </a:r>
                      <a:endParaRPr lang="en-CA" sz="1300">
                        <a:latin typeface="Montserrat" panose="00000500000000000000" pitchFamily="2" charset="0"/>
                      </a:endParaRPr>
                    </a:p>
                  </a:txBody>
                  <a:tcPr marL="55786" marR="55786" marT="27893" marB="27893" anchor="ctr"/>
                </a:tc>
                <a:tc>
                  <a:txBody>
                    <a:bodyPr/>
                    <a:lstStyle/>
                    <a:p>
                      <a:r>
                        <a:rPr lang="en-US" sz="1300">
                          <a:latin typeface="Montserrat" panose="00000500000000000000" pitchFamily="2" charset="0"/>
                        </a:rPr>
                        <a:t>Licensed datasets, data vendors, collection software</a:t>
                      </a:r>
                    </a:p>
                  </a:txBody>
                  <a:tcPr marL="55786" marR="55786" marT="27893" marB="27893" anchor="ctr"/>
                </a:tc>
                <a:tc>
                  <a:txBody>
                    <a:bodyPr/>
                    <a:lstStyle/>
                    <a:p>
                      <a:r>
                        <a:rPr lang="en-US" sz="1300">
                          <a:latin typeface="Montserrat" panose="00000500000000000000" pitchFamily="2" charset="0"/>
                        </a:rPr>
                        <a:t>$1,500 – $45,000 + $600–$4,500/month</a:t>
                      </a:r>
                    </a:p>
                  </a:txBody>
                  <a:tcPr marL="55786" marR="55786" marT="27893" marB="27893" anchor="ctr"/>
                </a:tc>
                <a:extLst>
                  <a:ext uri="{0D108BD9-81ED-4DB2-BD59-A6C34878D82A}">
                    <a16:rowId xmlns:a16="http://schemas.microsoft.com/office/drawing/2014/main" val="396214869"/>
                  </a:ext>
                </a:extLst>
              </a:tr>
              <a:tr h="253113">
                <a:tc>
                  <a:txBody>
                    <a:bodyPr/>
                    <a:lstStyle/>
                    <a:p>
                      <a:r>
                        <a:rPr lang="en-CA" sz="1300" b="1">
                          <a:latin typeface="Montserrat" panose="00000500000000000000" pitchFamily="2" charset="0"/>
                        </a:rPr>
                        <a:t>6. Data Management</a:t>
                      </a:r>
                      <a:endParaRPr lang="en-CA" sz="1300">
                        <a:latin typeface="Montserrat" panose="00000500000000000000" pitchFamily="2" charset="0"/>
                      </a:endParaRPr>
                    </a:p>
                  </a:txBody>
                  <a:tcPr marL="55786" marR="55786" marT="27893" marB="27893" anchor="ctr"/>
                </a:tc>
                <a:tc>
                  <a:txBody>
                    <a:bodyPr/>
                    <a:lstStyle/>
                    <a:p>
                      <a:r>
                        <a:rPr lang="en-US" sz="1300">
                          <a:latin typeface="Montserrat" panose="00000500000000000000" pitchFamily="2" charset="0"/>
                        </a:rPr>
                        <a:t>Cleaning, labeling, storage, security systems</a:t>
                      </a:r>
                    </a:p>
                  </a:txBody>
                  <a:tcPr marL="55786" marR="55786" marT="27893" marB="27893" anchor="ctr"/>
                </a:tc>
                <a:tc>
                  <a:txBody>
                    <a:bodyPr/>
                    <a:lstStyle/>
                    <a:p>
                      <a:r>
                        <a:rPr lang="en-US" sz="1300">
                          <a:latin typeface="Montserrat" panose="00000500000000000000" pitchFamily="2" charset="0"/>
                        </a:rPr>
                        <a:t>$1,200 – $18,000 + $150–$2,200/month</a:t>
                      </a:r>
                    </a:p>
                  </a:txBody>
                  <a:tcPr marL="55786" marR="55786" marT="27893" marB="27893" anchor="ctr"/>
                </a:tc>
                <a:extLst>
                  <a:ext uri="{0D108BD9-81ED-4DB2-BD59-A6C34878D82A}">
                    <a16:rowId xmlns:a16="http://schemas.microsoft.com/office/drawing/2014/main" val="2078804262"/>
                  </a:ext>
                </a:extLst>
              </a:tr>
              <a:tr h="253113">
                <a:tc>
                  <a:txBody>
                    <a:bodyPr/>
                    <a:lstStyle/>
                    <a:p>
                      <a:r>
                        <a:rPr lang="en-CA" sz="1300" b="1">
                          <a:latin typeface="Montserrat" panose="00000500000000000000" pitchFamily="2" charset="0"/>
                        </a:rPr>
                        <a:t>7. Operations</a:t>
                      </a:r>
                      <a:endParaRPr lang="en-CA" sz="1300">
                        <a:latin typeface="Montserrat" panose="00000500000000000000" pitchFamily="2" charset="0"/>
                      </a:endParaRPr>
                    </a:p>
                  </a:txBody>
                  <a:tcPr marL="55786" marR="55786" marT="27893" marB="27893" anchor="ctr"/>
                </a:tc>
                <a:tc>
                  <a:txBody>
                    <a:bodyPr/>
                    <a:lstStyle/>
                    <a:p>
                      <a:r>
                        <a:rPr lang="en-US" sz="1300">
                          <a:latin typeface="Montserrat" panose="00000500000000000000" pitchFamily="2" charset="0"/>
                        </a:rPr>
                        <a:t>Continuous data intake, model retraining, testing</a:t>
                      </a:r>
                    </a:p>
                  </a:txBody>
                  <a:tcPr marL="55786" marR="55786" marT="27893" marB="27893" anchor="ctr"/>
                </a:tc>
                <a:tc>
                  <a:txBody>
                    <a:bodyPr/>
                    <a:lstStyle/>
                    <a:p>
                      <a:r>
                        <a:rPr lang="en-CA" sz="1300">
                          <a:latin typeface="Montserrat" panose="00000500000000000000" pitchFamily="2" charset="0"/>
                        </a:rPr>
                        <a:t>$600 – $4,800/month</a:t>
                      </a:r>
                    </a:p>
                  </a:txBody>
                  <a:tcPr marL="55786" marR="55786" marT="27893" marB="27893" anchor="ctr"/>
                </a:tc>
                <a:extLst>
                  <a:ext uri="{0D108BD9-81ED-4DB2-BD59-A6C34878D82A}">
                    <a16:rowId xmlns:a16="http://schemas.microsoft.com/office/drawing/2014/main" val="1238744546"/>
                  </a:ext>
                </a:extLst>
              </a:tr>
              <a:tr h="253113">
                <a:tc>
                  <a:txBody>
                    <a:bodyPr/>
                    <a:lstStyle/>
                    <a:p>
                      <a:r>
                        <a:rPr lang="en-CA" sz="1300" b="1">
                          <a:latin typeface="Montserrat" panose="00000500000000000000" pitchFamily="2" charset="0"/>
                        </a:rPr>
                        <a:t>8. Maintenance</a:t>
                      </a:r>
                      <a:endParaRPr lang="en-CA" sz="1300">
                        <a:latin typeface="Montserrat" panose="00000500000000000000" pitchFamily="2" charset="0"/>
                      </a:endParaRPr>
                    </a:p>
                  </a:txBody>
                  <a:tcPr marL="55786" marR="55786" marT="27893" marB="27893" anchor="ctr"/>
                </a:tc>
                <a:tc>
                  <a:txBody>
                    <a:bodyPr/>
                    <a:lstStyle/>
                    <a:p>
                      <a:r>
                        <a:rPr lang="en-US" sz="1300">
                          <a:latin typeface="Montserrat" panose="00000500000000000000" pitchFamily="2" charset="0"/>
                        </a:rPr>
                        <a:t>Server upkeep, cloud usage fees, cybersecurity tools</a:t>
                      </a:r>
                    </a:p>
                  </a:txBody>
                  <a:tcPr marL="55786" marR="55786" marT="27893" marB="27893" anchor="ctr"/>
                </a:tc>
                <a:tc>
                  <a:txBody>
                    <a:bodyPr/>
                    <a:lstStyle/>
                    <a:p>
                      <a:r>
                        <a:rPr lang="en-CA" sz="1300" dirty="0">
                          <a:latin typeface="Montserrat" panose="00000500000000000000" pitchFamily="2" charset="0"/>
                        </a:rPr>
                        <a:t>$750 – $9,500/month</a:t>
                      </a:r>
                    </a:p>
                  </a:txBody>
                  <a:tcPr marL="55786" marR="55786" marT="27893" marB="27893" anchor="ctr"/>
                </a:tc>
                <a:extLst>
                  <a:ext uri="{0D108BD9-81ED-4DB2-BD59-A6C34878D82A}">
                    <a16:rowId xmlns:a16="http://schemas.microsoft.com/office/drawing/2014/main" val="1931010157"/>
                  </a:ext>
                </a:extLst>
              </a:tr>
              <a:tr h="253113">
                <a:tc>
                  <a:txBody>
                    <a:bodyPr/>
                    <a:lstStyle/>
                    <a:p>
                      <a:r>
                        <a:rPr lang="en-CA" sz="1300" b="1">
                          <a:latin typeface="Montserrat" panose="00000500000000000000" pitchFamily="2" charset="0"/>
                        </a:rPr>
                        <a:t>9. Integration Costs</a:t>
                      </a:r>
                      <a:endParaRPr lang="en-CA" sz="1300">
                        <a:latin typeface="Montserrat" panose="00000500000000000000" pitchFamily="2" charset="0"/>
                      </a:endParaRPr>
                    </a:p>
                  </a:txBody>
                  <a:tcPr marL="55786" marR="55786" marT="27893" marB="27893" anchor="ctr"/>
                </a:tc>
                <a:tc>
                  <a:txBody>
                    <a:bodyPr/>
                    <a:lstStyle/>
                    <a:p>
                      <a:r>
                        <a:rPr lang="en-CA" sz="1300">
                          <a:latin typeface="Montserrat" panose="00000500000000000000" pitchFamily="2" charset="0"/>
                        </a:rPr>
                        <a:t>Custom APIs, system integration, user training</a:t>
                      </a:r>
                    </a:p>
                  </a:txBody>
                  <a:tcPr marL="55786" marR="55786" marT="27893" marB="27893" anchor="ctr"/>
                </a:tc>
                <a:tc>
                  <a:txBody>
                    <a:bodyPr/>
                    <a:lstStyle/>
                    <a:p>
                      <a:r>
                        <a:rPr lang="en-CA" sz="1300">
                          <a:latin typeface="Montserrat" panose="00000500000000000000" pitchFamily="2" charset="0"/>
                        </a:rPr>
                        <a:t>$6,000 – $45,000</a:t>
                      </a:r>
                    </a:p>
                  </a:txBody>
                  <a:tcPr marL="55786" marR="55786" marT="27893" marB="27893" anchor="ctr"/>
                </a:tc>
                <a:extLst>
                  <a:ext uri="{0D108BD9-81ED-4DB2-BD59-A6C34878D82A}">
                    <a16:rowId xmlns:a16="http://schemas.microsoft.com/office/drawing/2014/main" val="828768268"/>
                  </a:ext>
                </a:extLst>
              </a:tr>
              <a:tr h="253113">
                <a:tc>
                  <a:txBody>
                    <a:bodyPr/>
                    <a:lstStyle/>
                    <a:p>
                      <a:r>
                        <a:rPr lang="en-CA" sz="1300" b="1">
                          <a:latin typeface="Montserrat" panose="00000500000000000000" pitchFamily="2" charset="0"/>
                        </a:rPr>
                        <a:t>10. Hidden/Unexpected</a:t>
                      </a:r>
                      <a:endParaRPr lang="en-CA" sz="1300">
                        <a:latin typeface="Montserrat" panose="00000500000000000000" pitchFamily="2" charset="0"/>
                      </a:endParaRPr>
                    </a:p>
                  </a:txBody>
                  <a:tcPr marL="55786" marR="55786" marT="27893" marB="27893" anchor="ctr"/>
                </a:tc>
                <a:tc>
                  <a:txBody>
                    <a:bodyPr/>
                    <a:lstStyle/>
                    <a:p>
                      <a:r>
                        <a:rPr lang="en-US" sz="1300">
                          <a:latin typeface="Montserrat" panose="00000500000000000000" pitchFamily="2" charset="0"/>
                        </a:rPr>
                        <a:t>Advanced feature engineering, model revisions, legal/ethics review</a:t>
                      </a:r>
                    </a:p>
                  </a:txBody>
                  <a:tcPr marL="55786" marR="55786" marT="27893" marB="27893" anchor="ctr"/>
                </a:tc>
                <a:tc>
                  <a:txBody>
                    <a:bodyPr/>
                    <a:lstStyle/>
                    <a:p>
                      <a:r>
                        <a:rPr lang="en-CA" sz="1300">
                          <a:latin typeface="Montserrat" panose="00000500000000000000" pitchFamily="2" charset="0"/>
                        </a:rPr>
                        <a:t>$3,000 – $28,000</a:t>
                      </a:r>
                    </a:p>
                  </a:txBody>
                  <a:tcPr marL="55786" marR="55786" marT="27893" marB="27893" anchor="ctr"/>
                </a:tc>
                <a:extLst>
                  <a:ext uri="{0D108BD9-81ED-4DB2-BD59-A6C34878D82A}">
                    <a16:rowId xmlns:a16="http://schemas.microsoft.com/office/drawing/2014/main" val="3034239518"/>
                  </a:ext>
                </a:extLst>
              </a:tr>
              <a:tr h="253113">
                <a:tc>
                  <a:txBody>
                    <a:bodyPr/>
                    <a:lstStyle/>
                    <a:p>
                      <a:r>
                        <a:rPr lang="en-CA" sz="1300" b="1">
                          <a:latin typeface="Montserrat" panose="00000500000000000000" pitchFamily="2" charset="0"/>
                        </a:rPr>
                        <a:t>11. Total Project Range</a:t>
                      </a:r>
                      <a:endParaRPr lang="en-CA" sz="1300">
                        <a:latin typeface="Montserrat" panose="00000500000000000000" pitchFamily="2" charset="0"/>
                      </a:endParaRPr>
                    </a:p>
                  </a:txBody>
                  <a:tcPr marL="55786" marR="55786" marT="27893" marB="27893" anchor="ctr"/>
                </a:tc>
                <a:tc>
                  <a:txBody>
                    <a:bodyPr/>
                    <a:lstStyle/>
                    <a:p>
                      <a:r>
                        <a:rPr lang="en-CA" sz="1300">
                          <a:latin typeface="Montserrat" panose="00000500000000000000" pitchFamily="2" charset="0"/>
                        </a:rPr>
                        <a:t>Pilot to enterprise-level deployment</a:t>
                      </a:r>
                    </a:p>
                  </a:txBody>
                  <a:tcPr marL="55786" marR="55786" marT="27893" marB="27893" anchor="ctr"/>
                </a:tc>
                <a:tc>
                  <a:txBody>
                    <a:bodyPr/>
                    <a:lstStyle/>
                    <a:p>
                      <a:r>
                        <a:rPr lang="en-CA" sz="1300" dirty="0">
                          <a:latin typeface="Montserrat" panose="00000500000000000000" pitchFamily="2" charset="0"/>
                        </a:rPr>
                        <a:t>$15,000 – $450,000+</a:t>
                      </a:r>
                    </a:p>
                  </a:txBody>
                  <a:tcPr marL="55786" marR="55786" marT="27893" marB="27893" anchor="ctr"/>
                </a:tc>
                <a:extLst>
                  <a:ext uri="{0D108BD9-81ED-4DB2-BD59-A6C34878D82A}">
                    <a16:rowId xmlns:a16="http://schemas.microsoft.com/office/drawing/2014/main" val="246376086"/>
                  </a:ext>
                </a:extLst>
              </a:tr>
            </a:tbl>
          </a:graphicData>
        </a:graphic>
      </p:graphicFrame>
    </p:spTree>
    <p:extLst>
      <p:ext uri="{BB962C8B-B14F-4D97-AF65-F5344CB8AC3E}">
        <p14:creationId xmlns:p14="http://schemas.microsoft.com/office/powerpoint/2010/main" val="17391012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8B283-C7F6-C3D4-35D9-58E9F664240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35F8351-A51B-778A-1966-9AC1B89670A2}"/>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C985ACE-3EFD-F52B-1ACA-C6324B9092C2}"/>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F26B78CD-FD85-EC59-F680-D3FA06E0DF12}"/>
              </a:ext>
            </a:extLst>
          </p:cNvPr>
          <p:cNvSpPr/>
          <p:nvPr/>
        </p:nvSpPr>
        <p:spPr>
          <a:xfrm>
            <a:off x="293914" y="793804"/>
            <a:ext cx="5578566"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PRACTICE OPPORTUNITY</a:t>
            </a:r>
          </a:p>
        </p:txBody>
      </p:sp>
    </p:spTree>
    <p:extLst>
      <p:ext uri="{BB962C8B-B14F-4D97-AF65-F5344CB8AC3E}">
        <p14:creationId xmlns:p14="http://schemas.microsoft.com/office/powerpoint/2010/main" val="8283340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65854-DDEA-9E02-076A-1E744690867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C5D8237-9204-E71A-3820-2E75343B10B9}"/>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3A35E4A0-A10D-3525-B2B7-8D1EF6CB2B33}"/>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a:t>
            </a:r>
          </a:p>
        </p:txBody>
      </p:sp>
      <p:pic>
        <p:nvPicPr>
          <p:cNvPr id="3" name="Picture 2">
            <a:extLst>
              <a:ext uri="{FF2B5EF4-FFF2-40B4-BE49-F238E27FC236}">
                <a16:creationId xmlns:a16="http://schemas.microsoft.com/office/drawing/2014/main" id="{CDAEFFCA-FC85-8F50-2AE0-ED58ECC861DA}"/>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985275" y="2160277"/>
            <a:ext cx="3206725" cy="2537445"/>
          </a:xfrm>
          <a:prstGeom prst="rect">
            <a:avLst/>
          </a:prstGeom>
        </p:spPr>
      </p:pic>
      <p:sp>
        <p:nvSpPr>
          <p:cNvPr id="12" name="TextBox 11">
            <a:extLst>
              <a:ext uri="{FF2B5EF4-FFF2-40B4-BE49-F238E27FC236}">
                <a16:creationId xmlns:a16="http://schemas.microsoft.com/office/drawing/2014/main" id="{811D9625-D54A-A3A3-C244-DDDA6B22DDBC}"/>
              </a:ext>
            </a:extLst>
          </p:cNvPr>
          <p:cNvSpPr txBox="1"/>
          <p:nvPr/>
        </p:nvSpPr>
        <p:spPr>
          <a:xfrm>
            <a:off x="103504" y="785671"/>
            <a:ext cx="11682412" cy="1307409"/>
          </a:xfrm>
          <a:prstGeom prst="rect">
            <a:avLst/>
          </a:prstGeom>
          <a:noFill/>
        </p:spPr>
        <p:txBody>
          <a:bodyPr wrap="square">
            <a:spAutoFit/>
          </a:bodyPr>
          <a:lstStyle/>
          <a:p>
            <a:pPr marL="285750" indent="-285750">
              <a:lnSpc>
                <a:spcPct val="115000"/>
              </a:lnSpc>
              <a:spcAft>
                <a:spcPts val="800"/>
              </a:spcAft>
              <a:buFont typeface="Arial" panose="020B0604020202020204" pitchFamily="34" charset="0"/>
              <a:buChar char="•"/>
            </a:pPr>
            <a:r>
              <a:rPr lang="en-US" sz="1600" kern="100" dirty="0">
                <a:effectLst/>
                <a:latin typeface="Montserrat" panose="00000500000000000000" pitchFamily="2" charset="0"/>
                <a:ea typeface="Aptos" panose="020B0004020202020204" pitchFamily="34" charset="0"/>
                <a:cs typeface="Times New Roman" panose="02020603050405020304" pitchFamily="18" charset="0"/>
              </a:rPr>
              <a:t>You are part of a consulting team advising a mid-size tech company interested in building a generative AI system. Your client wants to understand what it would take to train a model like GPT-3 or GPT-4 from scratch (or fine-tune one at scale) and whether it’s financially realistic.</a:t>
            </a:r>
          </a:p>
          <a:p>
            <a:pPr marL="285750" indent="-285750">
              <a:lnSpc>
                <a:spcPct val="115000"/>
              </a:lnSpc>
              <a:spcAft>
                <a:spcPts val="800"/>
              </a:spcAft>
              <a:buFont typeface="Arial" panose="020B0604020202020204" pitchFamily="34" charset="0"/>
              <a:buChar char="•"/>
            </a:pPr>
            <a:r>
              <a:rPr lang="en-US" sz="1600" kern="100" dirty="0">
                <a:effectLst/>
                <a:latin typeface="Montserrat" panose="00000500000000000000" pitchFamily="2" charset="0"/>
                <a:ea typeface="Aptos" panose="020B0004020202020204" pitchFamily="34" charset="0"/>
                <a:cs typeface="Times New Roman" panose="02020603050405020304" pitchFamily="18" charset="0"/>
              </a:rPr>
              <a:t>Select a Frontier AI Model to Research (Choose One): GPT-3, GPT-4, Gemini 1.5, or Claude 3 (Anthropic)</a:t>
            </a:r>
            <a:endParaRPr lang="en-CA" sz="1600" kern="100" dirty="0">
              <a:effectLst/>
              <a:latin typeface="Montserrat" panose="00000500000000000000" pitchFamily="2" charset="0"/>
              <a:ea typeface="Aptos" panose="020B0004020202020204" pitchFamily="34"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FD48CF76-227D-7F31-95ED-7711C92647BA}"/>
              </a:ext>
            </a:extLst>
          </p:cNvPr>
          <p:cNvGraphicFramePr>
            <a:graphicFrameLocks noGrp="1"/>
          </p:cNvGraphicFramePr>
          <p:nvPr>
            <p:extLst>
              <p:ext uri="{D42A27DB-BD31-4B8C-83A1-F6EECF244321}">
                <p14:modId xmlns:p14="http://schemas.microsoft.com/office/powerpoint/2010/main" val="2835908022"/>
              </p:ext>
            </p:extLst>
          </p:nvPr>
        </p:nvGraphicFramePr>
        <p:xfrm>
          <a:off x="154722" y="2473484"/>
          <a:ext cx="9212954" cy="2468880"/>
        </p:xfrm>
        <a:graphic>
          <a:graphicData uri="http://schemas.openxmlformats.org/drawingml/2006/table">
            <a:tbl>
              <a:tblPr>
                <a:tableStyleId>{5FD0F851-EC5A-4D38-B0AD-8093EC10F338}</a:tableStyleId>
              </a:tblPr>
              <a:tblGrid>
                <a:gridCol w="2982178">
                  <a:extLst>
                    <a:ext uri="{9D8B030D-6E8A-4147-A177-3AD203B41FA5}">
                      <a16:colId xmlns:a16="http://schemas.microsoft.com/office/drawing/2014/main" val="2990707959"/>
                    </a:ext>
                  </a:extLst>
                </a:gridCol>
                <a:gridCol w="6230776">
                  <a:extLst>
                    <a:ext uri="{9D8B030D-6E8A-4147-A177-3AD203B41FA5}">
                      <a16:colId xmlns:a16="http://schemas.microsoft.com/office/drawing/2014/main" val="2947959217"/>
                    </a:ext>
                  </a:extLst>
                </a:gridCol>
              </a:tblGrid>
              <a:tr h="0">
                <a:tc>
                  <a:txBody>
                    <a:bodyPr/>
                    <a:lstStyle/>
                    <a:p>
                      <a:r>
                        <a:rPr lang="en-CA" sz="1400" b="1" dirty="0">
                          <a:latin typeface="Montserrat" panose="00000500000000000000" pitchFamily="2" charset="0"/>
                        </a:rPr>
                        <a:t>Aspect</a:t>
                      </a:r>
                      <a:endParaRPr lang="en-CA" sz="1400" dirty="0">
                        <a:latin typeface="Montserrat" panose="00000500000000000000" pitchFamily="2" charset="0"/>
                      </a:endParaRPr>
                    </a:p>
                  </a:txBody>
                  <a:tcPr anchor="ctr"/>
                </a:tc>
                <a:tc>
                  <a:txBody>
                    <a:bodyPr/>
                    <a:lstStyle/>
                    <a:p>
                      <a:r>
                        <a:rPr lang="en-CA" sz="1400" b="1">
                          <a:latin typeface="Montserrat" panose="00000500000000000000" pitchFamily="2" charset="0"/>
                        </a:rPr>
                        <a:t>Your Research Findings</a:t>
                      </a:r>
                      <a:endParaRPr lang="en-CA" sz="1400">
                        <a:latin typeface="Montserrat" panose="00000500000000000000" pitchFamily="2" charset="0"/>
                      </a:endParaRPr>
                    </a:p>
                  </a:txBody>
                  <a:tcPr anchor="ctr"/>
                </a:tc>
                <a:extLst>
                  <a:ext uri="{0D108BD9-81ED-4DB2-BD59-A6C34878D82A}">
                    <a16:rowId xmlns:a16="http://schemas.microsoft.com/office/drawing/2014/main" val="2659886738"/>
                  </a:ext>
                </a:extLst>
              </a:tr>
              <a:tr h="0">
                <a:tc>
                  <a:txBody>
                    <a:bodyPr/>
                    <a:lstStyle/>
                    <a:p>
                      <a:r>
                        <a:rPr lang="en-CA" sz="1400" dirty="0">
                          <a:latin typeface="Montserrat" panose="00000500000000000000" pitchFamily="2" charset="0"/>
                        </a:rPr>
                        <a:t>Estimated total training cost</a:t>
                      </a:r>
                    </a:p>
                  </a:txBody>
                  <a:tcPr anchor="ctr"/>
                </a:tc>
                <a:tc>
                  <a:txBody>
                    <a:bodyPr/>
                    <a:lstStyle/>
                    <a:p>
                      <a:r>
                        <a:rPr lang="en-US" sz="1400">
                          <a:latin typeface="Montserrat" panose="00000500000000000000" pitchFamily="2" charset="0"/>
                        </a:rPr>
                        <a:t>What are the publicly available figures or best estimates?</a:t>
                      </a:r>
                    </a:p>
                  </a:txBody>
                  <a:tcPr anchor="ctr"/>
                </a:tc>
                <a:extLst>
                  <a:ext uri="{0D108BD9-81ED-4DB2-BD59-A6C34878D82A}">
                    <a16:rowId xmlns:a16="http://schemas.microsoft.com/office/drawing/2014/main" val="2498515087"/>
                  </a:ext>
                </a:extLst>
              </a:tr>
              <a:tr h="0">
                <a:tc>
                  <a:txBody>
                    <a:bodyPr/>
                    <a:lstStyle/>
                    <a:p>
                      <a:r>
                        <a:rPr lang="en-CA" sz="1400" dirty="0">
                          <a:latin typeface="Montserrat" panose="00000500000000000000" pitchFamily="2" charset="0"/>
                        </a:rPr>
                        <a:t>Infrastructure &amp; compute cost</a:t>
                      </a:r>
                    </a:p>
                  </a:txBody>
                  <a:tcPr anchor="ctr"/>
                </a:tc>
                <a:tc>
                  <a:txBody>
                    <a:bodyPr/>
                    <a:lstStyle/>
                    <a:p>
                      <a:r>
                        <a:rPr lang="en-US" sz="1400" dirty="0">
                          <a:latin typeface="Montserrat" panose="00000500000000000000" pitchFamily="2" charset="0"/>
                        </a:rPr>
                        <a:t>What kind of chips (e.g., A100, V100, H100)? How many? Any cloud usage?</a:t>
                      </a:r>
                    </a:p>
                  </a:txBody>
                  <a:tcPr anchor="ctr"/>
                </a:tc>
                <a:extLst>
                  <a:ext uri="{0D108BD9-81ED-4DB2-BD59-A6C34878D82A}">
                    <a16:rowId xmlns:a16="http://schemas.microsoft.com/office/drawing/2014/main" val="1966696454"/>
                  </a:ext>
                </a:extLst>
              </a:tr>
              <a:tr h="0">
                <a:tc>
                  <a:txBody>
                    <a:bodyPr/>
                    <a:lstStyle/>
                    <a:p>
                      <a:r>
                        <a:rPr lang="en-CA" sz="1400" dirty="0">
                          <a:latin typeface="Montserrat" panose="00000500000000000000" pitchFamily="2" charset="0"/>
                        </a:rPr>
                        <a:t>Talent &amp; research personnel</a:t>
                      </a:r>
                    </a:p>
                  </a:txBody>
                  <a:tcPr anchor="ctr"/>
                </a:tc>
                <a:tc>
                  <a:txBody>
                    <a:bodyPr/>
                    <a:lstStyle/>
                    <a:p>
                      <a:r>
                        <a:rPr lang="en-US" sz="1400" dirty="0">
                          <a:latin typeface="Montserrat" panose="00000500000000000000" pitchFamily="2" charset="0"/>
                        </a:rPr>
                        <a:t>What teams are typically involved (e.g., researchers, </a:t>
                      </a:r>
                      <a:r>
                        <a:rPr lang="en-US" sz="1400" dirty="0" err="1">
                          <a:latin typeface="Montserrat" panose="00000500000000000000" pitchFamily="2" charset="0"/>
                        </a:rPr>
                        <a:t>MLOps</a:t>
                      </a:r>
                      <a:r>
                        <a:rPr lang="en-US" sz="1400" dirty="0">
                          <a:latin typeface="Montserrat" panose="00000500000000000000" pitchFamily="2" charset="0"/>
                        </a:rPr>
                        <a:t>, engineers)?</a:t>
                      </a:r>
                    </a:p>
                  </a:txBody>
                  <a:tcPr anchor="ctr"/>
                </a:tc>
                <a:extLst>
                  <a:ext uri="{0D108BD9-81ED-4DB2-BD59-A6C34878D82A}">
                    <a16:rowId xmlns:a16="http://schemas.microsoft.com/office/drawing/2014/main" val="217689227"/>
                  </a:ext>
                </a:extLst>
              </a:tr>
              <a:tr h="0">
                <a:tc>
                  <a:txBody>
                    <a:bodyPr/>
                    <a:lstStyle/>
                    <a:p>
                      <a:r>
                        <a:rPr lang="en-CA" sz="1400" dirty="0">
                          <a:latin typeface="Montserrat" panose="00000500000000000000" pitchFamily="2" charset="0"/>
                        </a:rPr>
                        <a:t>Energy consumption &amp; location</a:t>
                      </a:r>
                    </a:p>
                  </a:txBody>
                  <a:tcPr anchor="ctr"/>
                </a:tc>
                <a:tc>
                  <a:txBody>
                    <a:bodyPr/>
                    <a:lstStyle/>
                    <a:p>
                      <a:r>
                        <a:rPr lang="en-US" sz="1400" dirty="0">
                          <a:latin typeface="Montserrat" panose="00000500000000000000" pitchFamily="2" charset="0"/>
                        </a:rPr>
                        <a:t>Where was it trained? What’s the estimated power or energy footprint?</a:t>
                      </a:r>
                    </a:p>
                  </a:txBody>
                  <a:tcPr anchor="ctr"/>
                </a:tc>
                <a:extLst>
                  <a:ext uri="{0D108BD9-81ED-4DB2-BD59-A6C34878D82A}">
                    <a16:rowId xmlns:a16="http://schemas.microsoft.com/office/drawing/2014/main" val="1826455332"/>
                  </a:ext>
                </a:extLst>
              </a:tr>
              <a:tr h="0">
                <a:tc>
                  <a:txBody>
                    <a:bodyPr/>
                    <a:lstStyle/>
                    <a:p>
                      <a:r>
                        <a:rPr lang="en-CA" sz="1400" dirty="0">
                          <a:latin typeface="Montserrat" panose="00000500000000000000" pitchFamily="2" charset="0"/>
                        </a:rPr>
                        <a:t>Ongoing operational cost</a:t>
                      </a:r>
                    </a:p>
                  </a:txBody>
                  <a:tcPr anchor="ctr"/>
                </a:tc>
                <a:tc>
                  <a:txBody>
                    <a:bodyPr/>
                    <a:lstStyle/>
                    <a:p>
                      <a:r>
                        <a:rPr lang="en-US" sz="1400" dirty="0">
                          <a:latin typeface="Montserrat" panose="00000500000000000000" pitchFamily="2" charset="0"/>
                        </a:rPr>
                        <a:t>What is the estimated daily or monthly cost of inference/serving?</a:t>
                      </a:r>
                    </a:p>
                  </a:txBody>
                  <a:tcPr anchor="ctr"/>
                </a:tc>
                <a:extLst>
                  <a:ext uri="{0D108BD9-81ED-4DB2-BD59-A6C34878D82A}">
                    <a16:rowId xmlns:a16="http://schemas.microsoft.com/office/drawing/2014/main" val="3922719766"/>
                  </a:ext>
                </a:extLst>
              </a:tr>
            </a:tbl>
          </a:graphicData>
        </a:graphic>
      </p:graphicFrame>
    </p:spTree>
    <p:extLst>
      <p:ext uri="{BB962C8B-B14F-4D97-AF65-F5344CB8AC3E}">
        <p14:creationId xmlns:p14="http://schemas.microsoft.com/office/powerpoint/2010/main" val="25221251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7A560-5133-8356-6C04-7B4F6AEC143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76CE78B-B83D-D712-28DC-200AC84E4369}"/>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A4E5120E-01EC-38CC-229D-668DC0537154}"/>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 Solution</a:t>
            </a:r>
          </a:p>
        </p:txBody>
      </p:sp>
      <p:graphicFrame>
        <p:nvGraphicFramePr>
          <p:cNvPr id="2" name="Table 1">
            <a:extLst>
              <a:ext uri="{FF2B5EF4-FFF2-40B4-BE49-F238E27FC236}">
                <a16:creationId xmlns:a16="http://schemas.microsoft.com/office/drawing/2014/main" id="{B32816CF-92AB-BA39-6961-48A9D97C3D7B}"/>
              </a:ext>
            </a:extLst>
          </p:cNvPr>
          <p:cNvGraphicFramePr>
            <a:graphicFrameLocks noGrp="1"/>
          </p:cNvGraphicFramePr>
          <p:nvPr>
            <p:extLst>
              <p:ext uri="{D42A27DB-BD31-4B8C-83A1-F6EECF244321}">
                <p14:modId xmlns:p14="http://schemas.microsoft.com/office/powerpoint/2010/main" val="691133947"/>
              </p:ext>
            </p:extLst>
          </p:nvPr>
        </p:nvGraphicFramePr>
        <p:xfrm>
          <a:off x="285751" y="874508"/>
          <a:ext cx="11600467" cy="3550380"/>
        </p:xfrm>
        <a:graphic>
          <a:graphicData uri="http://schemas.openxmlformats.org/drawingml/2006/table">
            <a:tbl>
              <a:tblPr>
                <a:tableStyleId>{3B4B98B0-60AC-42C2-AFA5-B58CD77FA1E5}</a:tableStyleId>
              </a:tblPr>
              <a:tblGrid>
                <a:gridCol w="2101034">
                  <a:extLst>
                    <a:ext uri="{9D8B030D-6E8A-4147-A177-3AD203B41FA5}">
                      <a16:colId xmlns:a16="http://schemas.microsoft.com/office/drawing/2014/main" val="217042976"/>
                    </a:ext>
                  </a:extLst>
                </a:gridCol>
                <a:gridCol w="2564878">
                  <a:extLst>
                    <a:ext uri="{9D8B030D-6E8A-4147-A177-3AD203B41FA5}">
                      <a16:colId xmlns:a16="http://schemas.microsoft.com/office/drawing/2014/main" val="868844097"/>
                    </a:ext>
                  </a:extLst>
                </a:gridCol>
                <a:gridCol w="6934555">
                  <a:extLst>
                    <a:ext uri="{9D8B030D-6E8A-4147-A177-3AD203B41FA5}">
                      <a16:colId xmlns:a16="http://schemas.microsoft.com/office/drawing/2014/main" val="1921876818"/>
                    </a:ext>
                  </a:extLst>
                </a:gridCol>
              </a:tblGrid>
              <a:tr h="172451">
                <a:tc>
                  <a:txBody>
                    <a:bodyPr/>
                    <a:lstStyle/>
                    <a:p>
                      <a:r>
                        <a:rPr lang="en-CA" sz="1200" b="1" dirty="0">
                          <a:latin typeface="Montserrat" panose="00000500000000000000" pitchFamily="2" charset="0"/>
                        </a:rPr>
                        <a:t>Category</a:t>
                      </a:r>
                      <a:endParaRPr lang="en-CA" sz="1200" dirty="0">
                        <a:latin typeface="Montserrat" panose="00000500000000000000" pitchFamily="2" charset="0"/>
                      </a:endParaRPr>
                    </a:p>
                  </a:txBody>
                  <a:tcPr marL="48348" marR="48348" marT="24174" marB="24174" anchor="ctr"/>
                </a:tc>
                <a:tc>
                  <a:txBody>
                    <a:bodyPr/>
                    <a:lstStyle/>
                    <a:p>
                      <a:r>
                        <a:rPr lang="en-CA" sz="1200" b="1">
                          <a:latin typeface="Montserrat" panose="00000500000000000000" pitchFamily="2" charset="0"/>
                        </a:rPr>
                        <a:t>Estimated Cost</a:t>
                      </a:r>
                      <a:endParaRPr lang="en-CA" sz="1200">
                        <a:latin typeface="Montserrat" panose="00000500000000000000" pitchFamily="2" charset="0"/>
                      </a:endParaRPr>
                    </a:p>
                  </a:txBody>
                  <a:tcPr marL="48348" marR="48348" marT="24174" marB="24174" anchor="ctr"/>
                </a:tc>
                <a:tc>
                  <a:txBody>
                    <a:bodyPr/>
                    <a:lstStyle/>
                    <a:p>
                      <a:r>
                        <a:rPr lang="en-CA" sz="1200" b="1">
                          <a:latin typeface="Montserrat" panose="00000500000000000000" pitchFamily="2" charset="0"/>
                        </a:rPr>
                        <a:t>Details &amp; Notes</a:t>
                      </a:r>
                      <a:endParaRPr lang="en-CA" sz="1200">
                        <a:latin typeface="Montserrat" panose="00000500000000000000" pitchFamily="2" charset="0"/>
                      </a:endParaRPr>
                    </a:p>
                  </a:txBody>
                  <a:tcPr marL="48348" marR="48348" marT="24174" marB="24174" anchor="ctr"/>
                </a:tc>
                <a:extLst>
                  <a:ext uri="{0D108BD9-81ED-4DB2-BD59-A6C34878D82A}">
                    <a16:rowId xmlns:a16="http://schemas.microsoft.com/office/drawing/2014/main" val="537112979"/>
                  </a:ext>
                </a:extLst>
              </a:tr>
              <a:tr h="360584">
                <a:tc>
                  <a:txBody>
                    <a:bodyPr/>
                    <a:lstStyle/>
                    <a:p>
                      <a:r>
                        <a:rPr lang="en-CA" sz="1200" b="1">
                          <a:latin typeface="Montserrat" panose="00000500000000000000" pitchFamily="2" charset="0"/>
                        </a:rPr>
                        <a:t>Total Training Cost</a:t>
                      </a:r>
                      <a:endParaRPr lang="en-CA" sz="1200">
                        <a:latin typeface="Montserrat" panose="00000500000000000000" pitchFamily="2" charset="0"/>
                      </a:endParaRPr>
                    </a:p>
                  </a:txBody>
                  <a:tcPr marL="48348" marR="48348" marT="24174" marB="24174" anchor="ctr"/>
                </a:tc>
                <a:tc>
                  <a:txBody>
                    <a:bodyPr/>
                    <a:lstStyle/>
                    <a:p>
                      <a:r>
                        <a:rPr lang="en-CA" sz="1200">
                          <a:latin typeface="Montserrat" panose="00000500000000000000" pitchFamily="2" charset="0"/>
                        </a:rPr>
                        <a:t>$63M – $100M+</a:t>
                      </a:r>
                    </a:p>
                  </a:txBody>
                  <a:tcPr marL="48348" marR="48348" marT="24174" marB="24174" anchor="ctr"/>
                </a:tc>
                <a:tc>
                  <a:txBody>
                    <a:bodyPr/>
                    <a:lstStyle/>
                    <a:p>
                      <a:r>
                        <a:rPr lang="en-US" sz="1200">
                          <a:latin typeface="Montserrat" panose="00000500000000000000" pitchFamily="2" charset="0"/>
                        </a:rPr>
                        <a:t>Includes compute, staff, infrastructure, and energy. Sam Altman confirmed &gt;$100M.</a:t>
                      </a:r>
                    </a:p>
                  </a:txBody>
                  <a:tcPr marL="48348" marR="48348" marT="24174" marB="24174" anchor="ctr"/>
                </a:tc>
                <a:extLst>
                  <a:ext uri="{0D108BD9-81ED-4DB2-BD59-A6C34878D82A}">
                    <a16:rowId xmlns:a16="http://schemas.microsoft.com/office/drawing/2014/main" val="2596865410"/>
                  </a:ext>
                </a:extLst>
              </a:tr>
              <a:tr h="360584">
                <a:tc>
                  <a:txBody>
                    <a:bodyPr/>
                    <a:lstStyle/>
                    <a:p>
                      <a:r>
                        <a:rPr lang="en-CA" sz="1200" b="1" dirty="0">
                          <a:latin typeface="Montserrat" panose="00000500000000000000" pitchFamily="2" charset="0"/>
                        </a:rPr>
                        <a:t>GPU Hardware (</a:t>
                      </a:r>
                      <a:r>
                        <a:rPr lang="en-CA" sz="1200" b="1" dirty="0" err="1">
                          <a:latin typeface="Montserrat" panose="00000500000000000000" pitchFamily="2" charset="0"/>
                        </a:rPr>
                        <a:t>CapEx</a:t>
                      </a:r>
                      <a:r>
                        <a:rPr lang="en-CA" sz="1200" b="1" dirty="0">
                          <a:latin typeface="Montserrat" panose="00000500000000000000" pitchFamily="2" charset="0"/>
                        </a:rPr>
                        <a:t>)</a:t>
                      </a:r>
                      <a:endParaRPr lang="en-CA" sz="1200" dirty="0">
                        <a:latin typeface="Montserrat" panose="00000500000000000000" pitchFamily="2" charset="0"/>
                      </a:endParaRPr>
                    </a:p>
                  </a:txBody>
                  <a:tcPr marL="48348" marR="48348" marT="24174" marB="24174" anchor="ctr"/>
                </a:tc>
                <a:tc>
                  <a:txBody>
                    <a:bodyPr/>
                    <a:lstStyle/>
                    <a:p>
                      <a:r>
                        <a:rPr lang="en-CA" sz="1200" dirty="0">
                          <a:latin typeface="Montserrat" panose="00000500000000000000" pitchFamily="2" charset="0"/>
                        </a:rPr>
                        <a:t>~$800M (purchase)</a:t>
                      </a:r>
                    </a:p>
                  </a:txBody>
                  <a:tcPr marL="48348" marR="48348" marT="24174" marB="24174" anchor="ctr"/>
                </a:tc>
                <a:tc>
                  <a:txBody>
                    <a:bodyPr/>
                    <a:lstStyle/>
                    <a:p>
                      <a:r>
                        <a:rPr lang="en-US" sz="1200">
                          <a:latin typeface="Montserrat" panose="00000500000000000000" pitchFamily="2" charset="0"/>
                        </a:rPr>
                        <a:t>Based on NVIDIA A100 clusters (tens of thousands of GPUs); often amortized.</a:t>
                      </a:r>
                    </a:p>
                  </a:txBody>
                  <a:tcPr marL="48348" marR="48348" marT="24174" marB="24174" anchor="ctr"/>
                </a:tc>
                <a:extLst>
                  <a:ext uri="{0D108BD9-81ED-4DB2-BD59-A6C34878D82A}">
                    <a16:rowId xmlns:a16="http://schemas.microsoft.com/office/drawing/2014/main" val="1865039933"/>
                  </a:ext>
                </a:extLst>
              </a:tr>
              <a:tr h="308844">
                <a:tc>
                  <a:txBody>
                    <a:bodyPr/>
                    <a:lstStyle/>
                    <a:p>
                      <a:r>
                        <a:rPr lang="en-CA" sz="1200" b="1">
                          <a:latin typeface="Montserrat" panose="00000500000000000000" pitchFamily="2" charset="0"/>
                        </a:rPr>
                        <a:t>Amortized Hardware Cost</a:t>
                      </a:r>
                      <a:endParaRPr lang="en-CA" sz="1200">
                        <a:latin typeface="Montserrat" panose="00000500000000000000" pitchFamily="2" charset="0"/>
                      </a:endParaRPr>
                    </a:p>
                  </a:txBody>
                  <a:tcPr marL="48348" marR="48348" marT="24174" marB="24174" anchor="ctr"/>
                </a:tc>
                <a:tc>
                  <a:txBody>
                    <a:bodyPr/>
                    <a:lstStyle/>
                    <a:p>
                      <a:r>
                        <a:rPr lang="en-CA" sz="1200">
                          <a:latin typeface="Montserrat" panose="00000500000000000000" pitchFamily="2" charset="0"/>
                        </a:rPr>
                        <a:t>~$40M</a:t>
                      </a:r>
                    </a:p>
                  </a:txBody>
                  <a:tcPr marL="48348" marR="48348" marT="24174" marB="24174" anchor="ctr"/>
                </a:tc>
                <a:tc>
                  <a:txBody>
                    <a:bodyPr/>
                    <a:lstStyle/>
                    <a:p>
                      <a:r>
                        <a:rPr lang="en-US" sz="1200">
                          <a:latin typeface="Montserrat" panose="00000500000000000000" pitchFamily="2" charset="0"/>
                        </a:rPr>
                        <a:t>Spread out over multiple projects or usage cycles.</a:t>
                      </a:r>
                    </a:p>
                  </a:txBody>
                  <a:tcPr marL="48348" marR="48348" marT="24174" marB="24174" anchor="ctr"/>
                </a:tc>
                <a:extLst>
                  <a:ext uri="{0D108BD9-81ED-4DB2-BD59-A6C34878D82A}">
                    <a16:rowId xmlns:a16="http://schemas.microsoft.com/office/drawing/2014/main" val="3552413300"/>
                  </a:ext>
                </a:extLst>
              </a:tr>
              <a:tr h="308844">
                <a:tc>
                  <a:txBody>
                    <a:bodyPr/>
                    <a:lstStyle/>
                    <a:p>
                      <a:r>
                        <a:rPr lang="en-CA" sz="1200" b="1">
                          <a:latin typeface="Montserrat" panose="00000500000000000000" pitchFamily="2" charset="0"/>
                        </a:rPr>
                        <a:t>Compute Cost (Training)</a:t>
                      </a:r>
                      <a:endParaRPr lang="en-CA" sz="1200">
                        <a:latin typeface="Montserrat" panose="00000500000000000000" pitchFamily="2" charset="0"/>
                      </a:endParaRPr>
                    </a:p>
                  </a:txBody>
                  <a:tcPr marL="48348" marR="48348" marT="24174" marB="24174" anchor="ctr"/>
                </a:tc>
                <a:tc>
                  <a:txBody>
                    <a:bodyPr/>
                    <a:lstStyle/>
                    <a:p>
                      <a:r>
                        <a:rPr lang="en-CA" sz="1200" dirty="0">
                          <a:latin typeface="Montserrat" panose="00000500000000000000" pitchFamily="2" charset="0"/>
                        </a:rPr>
                        <a:t>~$63M – $78M</a:t>
                      </a:r>
                    </a:p>
                  </a:txBody>
                  <a:tcPr marL="48348" marR="48348" marT="24174" marB="24174" anchor="ctr"/>
                </a:tc>
                <a:tc>
                  <a:txBody>
                    <a:bodyPr/>
                    <a:lstStyle/>
                    <a:p>
                      <a:r>
                        <a:rPr lang="en-US" sz="1200">
                          <a:latin typeface="Montserrat" panose="00000500000000000000" pitchFamily="2" charset="0"/>
                        </a:rPr>
                        <a:t>For model training using cloud or in-house clusters.</a:t>
                      </a:r>
                    </a:p>
                  </a:txBody>
                  <a:tcPr marL="48348" marR="48348" marT="24174" marB="24174" anchor="ctr"/>
                </a:tc>
                <a:extLst>
                  <a:ext uri="{0D108BD9-81ED-4DB2-BD59-A6C34878D82A}">
                    <a16:rowId xmlns:a16="http://schemas.microsoft.com/office/drawing/2014/main" val="2561529878"/>
                  </a:ext>
                </a:extLst>
              </a:tr>
              <a:tr h="252408">
                <a:tc>
                  <a:txBody>
                    <a:bodyPr/>
                    <a:lstStyle/>
                    <a:p>
                      <a:r>
                        <a:rPr lang="en-CA" sz="1200" b="1">
                          <a:latin typeface="Montserrat" panose="00000500000000000000" pitchFamily="2" charset="0"/>
                        </a:rPr>
                        <a:t>Staff &amp; Research</a:t>
                      </a:r>
                      <a:endParaRPr lang="en-CA" sz="1200">
                        <a:latin typeface="Montserrat" panose="00000500000000000000" pitchFamily="2" charset="0"/>
                      </a:endParaRPr>
                    </a:p>
                  </a:txBody>
                  <a:tcPr marL="48348" marR="48348" marT="24174" marB="24174" anchor="ctr"/>
                </a:tc>
                <a:tc>
                  <a:txBody>
                    <a:bodyPr/>
                    <a:lstStyle/>
                    <a:p>
                      <a:r>
                        <a:rPr lang="en-US" sz="1200">
                          <a:latin typeface="Montserrat" panose="00000500000000000000" pitchFamily="2" charset="0"/>
                        </a:rPr>
                        <a:t>~30–40% of total training cost</a:t>
                      </a:r>
                    </a:p>
                  </a:txBody>
                  <a:tcPr marL="48348" marR="48348" marT="24174" marB="24174" anchor="ctr"/>
                </a:tc>
                <a:tc>
                  <a:txBody>
                    <a:bodyPr/>
                    <a:lstStyle/>
                    <a:p>
                      <a:r>
                        <a:rPr lang="en-US" sz="1200">
                          <a:latin typeface="Montserrat" panose="00000500000000000000" pitchFamily="2" charset="0"/>
                        </a:rPr>
                        <a:t>Includes ML engineers, researchers, alignment teams, MLOps, etc.</a:t>
                      </a:r>
                    </a:p>
                  </a:txBody>
                  <a:tcPr marL="48348" marR="48348" marT="24174" marB="24174" anchor="ctr"/>
                </a:tc>
                <a:extLst>
                  <a:ext uri="{0D108BD9-81ED-4DB2-BD59-A6C34878D82A}">
                    <a16:rowId xmlns:a16="http://schemas.microsoft.com/office/drawing/2014/main" val="3362358924"/>
                  </a:ext>
                </a:extLst>
              </a:tr>
              <a:tr h="360584">
                <a:tc>
                  <a:txBody>
                    <a:bodyPr/>
                    <a:lstStyle/>
                    <a:p>
                      <a:r>
                        <a:rPr lang="en-CA" sz="1200" b="1">
                          <a:latin typeface="Montserrat" panose="00000500000000000000" pitchFamily="2" charset="0"/>
                        </a:rPr>
                        <a:t>Interconnect &amp; Servers</a:t>
                      </a:r>
                      <a:endParaRPr lang="en-CA" sz="1200">
                        <a:latin typeface="Montserrat" panose="00000500000000000000" pitchFamily="2" charset="0"/>
                      </a:endParaRPr>
                    </a:p>
                  </a:txBody>
                  <a:tcPr marL="48348" marR="48348" marT="24174" marB="24174" anchor="ctr"/>
                </a:tc>
                <a:tc>
                  <a:txBody>
                    <a:bodyPr/>
                    <a:lstStyle/>
                    <a:p>
                      <a:r>
                        <a:rPr lang="en-US" sz="1200">
                          <a:latin typeface="Montserrat" panose="00000500000000000000" pitchFamily="2" charset="0"/>
                        </a:rPr>
                        <a:t>~15–22% of total training cost</a:t>
                      </a:r>
                    </a:p>
                  </a:txBody>
                  <a:tcPr marL="48348" marR="48348" marT="24174" marB="24174" anchor="ctr"/>
                </a:tc>
                <a:tc>
                  <a:txBody>
                    <a:bodyPr/>
                    <a:lstStyle/>
                    <a:p>
                      <a:r>
                        <a:rPr lang="en-US" sz="1200">
                          <a:latin typeface="Montserrat" panose="00000500000000000000" pitchFamily="2" charset="0"/>
                        </a:rPr>
                        <a:t>Includes high-speed networking (e.g., NVLink) and non-GPU server infrastructure.</a:t>
                      </a:r>
                    </a:p>
                  </a:txBody>
                  <a:tcPr marL="48348" marR="48348" marT="24174" marB="24174" anchor="ctr"/>
                </a:tc>
                <a:extLst>
                  <a:ext uri="{0D108BD9-81ED-4DB2-BD59-A6C34878D82A}">
                    <a16:rowId xmlns:a16="http://schemas.microsoft.com/office/drawing/2014/main" val="1860689242"/>
                  </a:ext>
                </a:extLst>
              </a:tr>
              <a:tr h="252408">
                <a:tc>
                  <a:txBody>
                    <a:bodyPr/>
                    <a:lstStyle/>
                    <a:p>
                      <a:r>
                        <a:rPr lang="en-CA" sz="1200" b="1">
                          <a:latin typeface="Montserrat" panose="00000500000000000000" pitchFamily="2" charset="0"/>
                        </a:rPr>
                        <a:t>Cluster Interconnect</a:t>
                      </a:r>
                      <a:endParaRPr lang="en-CA" sz="1200">
                        <a:latin typeface="Montserrat" panose="00000500000000000000" pitchFamily="2" charset="0"/>
                      </a:endParaRPr>
                    </a:p>
                  </a:txBody>
                  <a:tcPr marL="48348" marR="48348" marT="24174" marB="24174" anchor="ctr"/>
                </a:tc>
                <a:tc>
                  <a:txBody>
                    <a:bodyPr/>
                    <a:lstStyle/>
                    <a:p>
                      <a:r>
                        <a:rPr lang="en-CA" sz="1200">
                          <a:latin typeface="Montserrat" panose="00000500000000000000" pitchFamily="2" charset="0"/>
                        </a:rPr>
                        <a:t>~9–13%</a:t>
                      </a:r>
                    </a:p>
                  </a:txBody>
                  <a:tcPr marL="48348" marR="48348" marT="24174" marB="24174" anchor="ctr"/>
                </a:tc>
                <a:tc>
                  <a:txBody>
                    <a:bodyPr/>
                    <a:lstStyle/>
                    <a:p>
                      <a:r>
                        <a:rPr lang="en-CA" sz="1200">
                          <a:latin typeface="Montserrat" panose="00000500000000000000" pitchFamily="2" charset="0"/>
                        </a:rPr>
                        <a:t>Covers networking between compute nodes.</a:t>
                      </a:r>
                    </a:p>
                  </a:txBody>
                  <a:tcPr marL="48348" marR="48348" marT="24174" marB="24174" anchor="ctr"/>
                </a:tc>
                <a:extLst>
                  <a:ext uri="{0D108BD9-81ED-4DB2-BD59-A6C34878D82A}">
                    <a16:rowId xmlns:a16="http://schemas.microsoft.com/office/drawing/2014/main" val="2660008823"/>
                  </a:ext>
                </a:extLst>
              </a:tr>
              <a:tr h="252408">
                <a:tc>
                  <a:txBody>
                    <a:bodyPr/>
                    <a:lstStyle/>
                    <a:p>
                      <a:r>
                        <a:rPr lang="en-CA" sz="1200" b="1">
                          <a:latin typeface="Montserrat" panose="00000500000000000000" pitchFamily="2" charset="0"/>
                        </a:rPr>
                        <a:t>Energy Consumption</a:t>
                      </a:r>
                      <a:endParaRPr lang="en-CA" sz="1200">
                        <a:latin typeface="Montserrat" panose="00000500000000000000" pitchFamily="2" charset="0"/>
                      </a:endParaRPr>
                    </a:p>
                  </a:txBody>
                  <a:tcPr marL="48348" marR="48348" marT="24174" marB="24174" anchor="ctr"/>
                </a:tc>
                <a:tc>
                  <a:txBody>
                    <a:bodyPr/>
                    <a:lstStyle/>
                    <a:p>
                      <a:r>
                        <a:rPr lang="en-CA" sz="1200">
                          <a:latin typeface="Montserrat" panose="00000500000000000000" pitchFamily="2" charset="0"/>
                        </a:rPr>
                        <a:t>~2–6%</a:t>
                      </a:r>
                    </a:p>
                  </a:txBody>
                  <a:tcPr marL="48348" marR="48348" marT="24174" marB="24174" anchor="ctr"/>
                </a:tc>
                <a:tc>
                  <a:txBody>
                    <a:bodyPr/>
                    <a:lstStyle/>
                    <a:p>
                      <a:r>
                        <a:rPr lang="en-US" sz="1200">
                          <a:latin typeface="Montserrat" panose="00000500000000000000" pitchFamily="2" charset="0"/>
                        </a:rPr>
                        <a:t>Power for running clusters; varies by region and efficiency.</a:t>
                      </a:r>
                    </a:p>
                  </a:txBody>
                  <a:tcPr marL="48348" marR="48348" marT="24174" marB="24174" anchor="ctr"/>
                </a:tc>
                <a:extLst>
                  <a:ext uri="{0D108BD9-81ED-4DB2-BD59-A6C34878D82A}">
                    <a16:rowId xmlns:a16="http://schemas.microsoft.com/office/drawing/2014/main" val="901942971"/>
                  </a:ext>
                </a:extLst>
              </a:tr>
              <a:tr h="252408">
                <a:tc>
                  <a:txBody>
                    <a:bodyPr/>
                    <a:lstStyle/>
                    <a:p>
                      <a:r>
                        <a:rPr lang="en-CA" sz="1200" b="1">
                          <a:latin typeface="Montserrat" panose="00000500000000000000" pitchFamily="2" charset="0"/>
                        </a:rPr>
                        <a:t>Water Use (Cooling)</a:t>
                      </a:r>
                      <a:endParaRPr lang="en-CA" sz="1200">
                        <a:latin typeface="Montserrat" panose="00000500000000000000" pitchFamily="2" charset="0"/>
                      </a:endParaRPr>
                    </a:p>
                  </a:txBody>
                  <a:tcPr marL="48348" marR="48348" marT="24174" marB="24174" anchor="ctr"/>
                </a:tc>
                <a:tc>
                  <a:txBody>
                    <a:bodyPr/>
                    <a:lstStyle/>
                    <a:p>
                      <a:r>
                        <a:rPr lang="en-CA" sz="1200">
                          <a:latin typeface="Montserrat" panose="00000500000000000000" pitchFamily="2" charset="0"/>
                        </a:rPr>
                        <a:t>~0.5 liters/query</a:t>
                      </a:r>
                    </a:p>
                  </a:txBody>
                  <a:tcPr marL="48348" marR="48348" marT="24174" marB="24174" anchor="ctr"/>
                </a:tc>
                <a:tc>
                  <a:txBody>
                    <a:bodyPr/>
                    <a:lstStyle/>
                    <a:p>
                      <a:r>
                        <a:rPr lang="en-US" sz="1200">
                          <a:latin typeface="Montserrat" panose="00000500000000000000" pitchFamily="2" charset="0"/>
                        </a:rPr>
                        <a:t>For data center cooling; significant for inference at scale.</a:t>
                      </a:r>
                    </a:p>
                  </a:txBody>
                  <a:tcPr marL="48348" marR="48348" marT="24174" marB="24174" anchor="ctr"/>
                </a:tc>
                <a:extLst>
                  <a:ext uri="{0D108BD9-81ED-4DB2-BD59-A6C34878D82A}">
                    <a16:rowId xmlns:a16="http://schemas.microsoft.com/office/drawing/2014/main" val="2576078818"/>
                  </a:ext>
                </a:extLst>
              </a:tr>
              <a:tr h="252408">
                <a:tc>
                  <a:txBody>
                    <a:bodyPr/>
                    <a:lstStyle/>
                    <a:p>
                      <a:r>
                        <a:rPr lang="en-CA" sz="1200" b="1">
                          <a:latin typeface="Montserrat" panose="00000500000000000000" pitchFamily="2" charset="0"/>
                        </a:rPr>
                        <a:t>Inference (Daily Ops)</a:t>
                      </a:r>
                      <a:endParaRPr lang="en-CA" sz="1200">
                        <a:latin typeface="Montserrat" panose="00000500000000000000" pitchFamily="2" charset="0"/>
                      </a:endParaRPr>
                    </a:p>
                  </a:txBody>
                  <a:tcPr marL="48348" marR="48348" marT="24174" marB="24174" anchor="ctr"/>
                </a:tc>
                <a:tc>
                  <a:txBody>
                    <a:bodyPr/>
                    <a:lstStyle/>
                    <a:p>
                      <a:r>
                        <a:rPr lang="en-CA" sz="1200">
                          <a:latin typeface="Montserrat" panose="00000500000000000000" pitchFamily="2" charset="0"/>
                        </a:rPr>
                        <a:t>~$700K/day</a:t>
                      </a:r>
                    </a:p>
                  </a:txBody>
                  <a:tcPr marL="48348" marR="48348" marT="24174" marB="24174" anchor="ctr"/>
                </a:tc>
                <a:tc>
                  <a:txBody>
                    <a:bodyPr/>
                    <a:lstStyle/>
                    <a:p>
                      <a:r>
                        <a:rPr lang="en-US" sz="1200">
                          <a:latin typeface="Montserrat" panose="00000500000000000000" pitchFamily="2" charset="0"/>
                        </a:rPr>
                        <a:t>Ongoing cost to serve ChatGPT to users globally.</a:t>
                      </a:r>
                    </a:p>
                  </a:txBody>
                  <a:tcPr marL="48348" marR="48348" marT="24174" marB="24174" anchor="ctr"/>
                </a:tc>
                <a:extLst>
                  <a:ext uri="{0D108BD9-81ED-4DB2-BD59-A6C34878D82A}">
                    <a16:rowId xmlns:a16="http://schemas.microsoft.com/office/drawing/2014/main" val="3146459922"/>
                  </a:ext>
                </a:extLst>
              </a:tr>
              <a:tr h="252408">
                <a:tc>
                  <a:txBody>
                    <a:bodyPr/>
                    <a:lstStyle/>
                    <a:p>
                      <a:r>
                        <a:rPr lang="en-CA" sz="1200" b="1">
                          <a:latin typeface="Montserrat" panose="00000500000000000000" pitchFamily="2" charset="0"/>
                        </a:rPr>
                        <a:t>Cost Per Query</a:t>
                      </a:r>
                      <a:endParaRPr lang="en-CA" sz="1200">
                        <a:latin typeface="Montserrat" panose="00000500000000000000" pitchFamily="2" charset="0"/>
                      </a:endParaRPr>
                    </a:p>
                  </a:txBody>
                  <a:tcPr marL="48348" marR="48348" marT="24174" marB="24174" anchor="ctr"/>
                </a:tc>
                <a:tc>
                  <a:txBody>
                    <a:bodyPr/>
                    <a:lstStyle/>
                    <a:p>
                      <a:r>
                        <a:rPr lang="en-CA" sz="1200">
                          <a:latin typeface="Montserrat" panose="00000500000000000000" pitchFamily="2" charset="0"/>
                        </a:rPr>
                        <a:t>~$0.0036/token (≈0.36¢/query)</a:t>
                      </a:r>
                    </a:p>
                  </a:txBody>
                  <a:tcPr marL="48348" marR="48348" marT="24174" marB="24174" anchor="ctr"/>
                </a:tc>
                <a:tc>
                  <a:txBody>
                    <a:bodyPr/>
                    <a:lstStyle/>
                    <a:p>
                      <a:r>
                        <a:rPr lang="en-US" sz="1200" dirty="0">
                          <a:latin typeface="Montserrat" panose="00000500000000000000" pitchFamily="2" charset="0"/>
                        </a:rPr>
                        <a:t>Based on OpenAI’s serving scale and infrastructure.</a:t>
                      </a:r>
                    </a:p>
                  </a:txBody>
                  <a:tcPr marL="48348" marR="48348" marT="24174" marB="24174" anchor="ctr"/>
                </a:tc>
                <a:extLst>
                  <a:ext uri="{0D108BD9-81ED-4DB2-BD59-A6C34878D82A}">
                    <a16:rowId xmlns:a16="http://schemas.microsoft.com/office/drawing/2014/main" val="3790648939"/>
                  </a:ext>
                </a:extLst>
              </a:tr>
            </a:tbl>
          </a:graphicData>
        </a:graphic>
      </p:graphicFrame>
      <p:sp>
        <p:nvSpPr>
          <p:cNvPr id="8" name="TextBox 7">
            <a:extLst>
              <a:ext uri="{FF2B5EF4-FFF2-40B4-BE49-F238E27FC236}">
                <a16:creationId xmlns:a16="http://schemas.microsoft.com/office/drawing/2014/main" id="{B4535176-94DA-B39C-7F51-B37C9203B7A8}"/>
              </a:ext>
            </a:extLst>
          </p:cNvPr>
          <p:cNvSpPr txBox="1"/>
          <p:nvPr/>
        </p:nvSpPr>
        <p:spPr>
          <a:xfrm>
            <a:off x="1250950" y="5506135"/>
            <a:ext cx="6121400" cy="923330"/>
          </a:xfrm>
          <a:prstGeom prst="rect">
            <a:avLst/>
          </a:prstGeom>
          <a:noFill/>
        </p:spPr>
        <p:txBody>
          <a:bodyPr wrap="square">
            <a:spAutoFit/>
          </a:bodyPr>
          <a:lstStyle/>
          <a:p>
            <a:r>
              <a:rPr lang="en-CA" dirty="0">
                <a:hlinkClick r:id="rId3"/>
              </a:rPr>
              <a:t>https://www.forbes.com/sites/katharinabuchholz/2024/08/23/the-extreme-cost-of-training-ai-models/</a:t>
            </a:r>
            <a:endParaRPr lang="en-CA" dirty="0"/>
          </a:p>
          <a:p>
            <a:endParaRPr lang="en-CA" dirty="0"/>
          </a:p>
        </p:txBody>
      </p:sp>
    </p:spTree>
    <p:extLst>
      <p:ext uri="{BB962C8B-B14F-4D97-AF65-F5344CB8AC3E}">
        <p14:creationId xmlns:p14="http://schemas.microsoft.com/office/powerpoint/2010/main" val="400490524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F6620-3831-B9AB-F1DB-0BA10580D34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E5EDF9A-6011-907E-EE5A-ED2477CCD24E}"/>
              </a:ext>
            </a:extLst>
          </p:cNvPr>
          <p:cNvPicPr>
            <a:picLocks noChangeAspect="1"/>
          </p:cNvPicPr>
          <p:nvPr/>
        </p:nvPicPr>
        <p:blipFill>
          <a:blip r:embed="rId2"/>
          <a:stretch>
            <a:fillRect/>
          </a:stretch>
        </p:blipFill>
        <p:spPr>
          <a:xfrm>
            <a:off x="0" y="0"/>
            <a:ext cx="12224773" cy="6858000"/>
          </a:xfrm>
          <a:prstGeom prst="rect">
            <a:avLst/>
          </a:prstGeom>
        </p:spPr>
      </p:pic>
      <p:sp>
        <p:nvSpPr>
          <p:cNvPr id="7" name="Прямоугольник 9">
            <a:extLst>
              <a:ext uri="{FF2B5EF4-FFF2-40B4-BE49-F238E27FC236}">
                <a16:creationId xmlns:a16="http://schemas.microsoft.com/office/drawing/2014/main" id="{10DEBF56-6EE6-076C-102C-4FD41140BA11}"/>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Summary</a:t>
            </a:r>
          </a:p>
        </p:txBody>
      </p:sp>
      <p:pic>
        <p:nvPicPr>
          <p:cNvPr id="4" name="Picture 3">
            <a:extLst>
              <a:ext uri="{FF2B5EF4-FFF2-40B4-BE49-F238E27FC236}">
                <a16:creationId xmlns:a16="http://schemas.microsoft.com/office/drawing/2014/main" id="{6BE7600C-84B4-C578-295E-23C9DFFC5B19}"/>
              </a:ext>
            </a:extLst>
          </p:cNvPr>
          <p:cNvPicPr>
            <a:picLocks noChangeAspect="1"/>
          </p:cNvPicPr>
          <p:nvPr/>
        </p:nvPicPr>
        <p:blipFill>
          <a:blip r:embed="rId3"/>
          <a:stretch>
            <a:fillRect/>
          </a:stretch>
        </p:blipFill>
        <p:spPr>
          <a:xfrm>
            <a:off x="9982214" y="747533"/>
            <a:ext cx="1924946" cy="1903870"/>
          </a:xfrm>
          <a:prstGeom prst="rect">
            <a:avLst/>
          </a:prstGeom>
        </p:spPr>
      </p:pic>
      <p:graphicFrame>
        <p:nvGraphicFramePr>
          <p:cNvPr id="2" name="Diagram 1">
            <a:extLst>
              <a:ext uri="{FF2B5EF4-FFF2-40B4-BE49-F238E27FC236}">
                <a16:creationId xmlns:a16="http://schemas.microsoft.com/office/drawing/2014/main" id="{504D8008-416A-3257-C658-8D212E939B67}"/>
              </a:ext>
            </a:extLst>
          </p:cNvPr>
          <p:cNvGraphicFramePr/>
          <p:nvPr>
            <p:extLst>
              <p:ext uri="{D42A27DB-BD31-4B8C-83A1-F6EECF244321}">
                <p14:modId xmlns:p14="http://schemas.microsoft.com/office/powerpoint/2010/main" val="2904952555"/>
              </p:ext>
            </p:extLst>
          </p:nvPr>
        </p:nvGraphicFramePr>
        <p:xfrm>
          <a:off x="215509" y="1254596"/>
          <a:ext cx="9705917" cy="434880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40637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graphicEl>
                                              <a:dgm id="{F127AF12-6782-499A-8EFD-D8BB796B5895}"/>
                                            </p:graphicEl>
                                          </p:spTgt>
                                        </p:tgtEl>
                                        <p:attrNameLst>
                                          <p:attrName>style.visibility</p:attrName>
                                        </p:attrNameLst>
                                      </p:cBhvr>
                                      <p:to>
                                        <p:strVal val="visible"/>
                                      </p:to>
                                    </p:set>
                                    <p:animEffect transition="in" filter="fade">
                                      <p:cBhvr>
                                        <p:cTn id="7" dur="500"/>
                                        <p:tgtEl>
                                          <p:spTgt spid="2">
                                            <p:graphicEl>
                                              <a:dgm id="{F127AF12-6782-499A-8EFD-D8BB796B5895}"/>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graphicEl>
                                              <a:dgm id="{8350E2B7-98A5-4698-AE20-B8B9E3078ABB}"/>
                                            </p:graphicEl>
                                          </p:spTgt>
                                        </p:tgtEl>
                                        <p:attrNameLst>
                                          <p:attrName>style.visibility</p:attrName>
                                        </p:attrNameLst>
                                      </p:cBhvr>
                                      <p:to>
                                        <p:strVal val="visible"/>
                                      </p:to>
                                    </p:set>
                                    <p:animEffect transition="in" filter="fade">
                                      <p:cBhvr>
                                        <p:cTn id="12" dur="500"/>
                                        <p:tgtEl>
                                          <p:spTgt spid="2">
                                            <p:graphicEl>
                                              <a:dgm id="{8350E2B7-98A5-4698-AE20-B8B9E3078ABB}"/>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graphicEl>
                                              <a:dgm id="{29340F4A-9AEC-4E14-B0E3-3C267431BFFB}"/>
                                            </p:graphicEl>
                                          </p:spTgt>
                                        </p:tgtEl>
                                        <p:attrNameLst>
                                          <p:attrName>style.visibility</p:attrName>
                                        </p:attrNameLst>
                                      </p:cBhvr>
                                      <p:to>
                                        <p:strVal val="visible"/>
                                      </p:to>
                                    </p:set>
                                    <p:animEffect transition="in" filter="fade">
                                      <p:cBhvr>
                                        <p:cTn id="17" dur="500"/>
                                        <p:tgtEl>
                                          <p:spTgt spid="2">
                                            <p:graphicEl>
                                              <a:dgm id="{29340F4A-9AEC-4E14-B0E3-3C267431BFFB}"/>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graphicEl>
                                              <a:dgm id="{677DDDE2-8DD8-422E-9A88-4FA2A00AC870}"/>
                                            </p:graphicEl>
                                          </p:spTgt>
                                        </p:tgtEl>
                                        <p:attrNameLst>
                                          <p:attrName>style.visibility</p:attrName>
                                        </p:attrNameLst>
                                      </p:cBhvr>
                                      <p:to>
                                        <p:strVal val="visible"/>
                                      </p:to>
                                    </p:set>
                                    <p:animEffect transition="in" filter="fade">
                                      <p:cBhvr>
                                        <p:cTn id="22" dur="500"/>
                                        <p:tgtEl>
                                          <p:spTgt spid="2">
                                            <p:graphicEl>
                                              <a:dgm id="{677DDDE2-8DD8-422E-9A88-4FA2A00AC870}"/>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graphicEl>
                                              <a:dgm id="{1BB9FB31-8821-4519-9EDC-0C3D8BC4707A}"/>
                                            </p:graphicEl>
                                          </p:spTgt>
                                        </p:tgtEl>
                                        <p:attrNameLst>
                                          <p:attrName>style.visibility</p:attrName>
                                        </p:attrNameLst>
                                      </p:cBhvr>
                                      <p:to>
                                        <p:strVal val="visible"/>
                                      </p:to>
                                    </p:set>
                                    <p:animEffect transition="in" filter="fade">
                                      <p:cBhvr>
                                        <p:cTn id="27" dur="500"/>
                                        <p:tgtEl>
                                          <p:spTgt spid="2">
                                            <p:graphicEl>
                                              <a:dgm id="{1BB9FB31-8821-4519-9EDC-0C3D8BC4707A}"/>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uiExpand="1">
        <p:bldSub>
          <a:bldDgm bld="one"/>
        </p:bldSub>
      </p:bldGraphic>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909FB-E671-B17D-77BB-65311A51D4C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F45C378-4A8E-9187-A206-DB4730F91548}"/>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EA9FA6F-A71D-92D5-9E16-A91F986E09CE}"/>
              </a:ext>
            </a:extLst>
          </p:cNvPr>
          <p:cNvSpPr/>
          <p:nvPr/>
        </p:nvSpPr>
        <p:spPr>
          <a:xfrm>
            <a:off x="3306715" y="3495040"/>
            <a:ext cx="5578566" cy="707886"/>
          </a:xfrm>
          <a:prstGeom prst="rect">
            <a:avLst/>
          </a:prstGeom>
        </p:spPr>
        <p:txBody>
          <a:bodyPr wrap="square">
            <a:spAutoFit/>
          </a:bodyPr>
          <a:lstStyle/>
          <a:p>
            <a:pPr algn="ctr"/>
            <a:r>
              <a:rPr lang="en-US" sz="4000" dirty="0">
                <a:solidFill>
                  <a:schemeClr val="bg1"/>
                </a:solidFill>
                <a:latin typeface="Montserrat" charset="0"/>
                <a:ea typeface="Montserrat" charset="0"/>
                <a:cs typeface="Montserrat" charset="0"/>
              </a:rPr>
              <a:t>Thank you!</a:t>
            </a:r>
          </a:p>
        </p:txBody>
      </p:sp>
    </p:spTree>
    <p:extLst>
      <p:ext uri="{BB962C8B-B14F-4D97-AF65-F5344CB8AC3E}">
        <p14:creationId xmlns:p14="http://schemas.microsoft.com/office/powerpoint/2010/main" val="2596154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5354</TotalTime>
  <Words>7064</Words>
  <Application>Microsoft Macintosh PowerPoint</Application>
  <PresentationFormat>Widescreen</PresentationFormat>
  <Paragraphs>800</Paragraphs>
  <Slides>74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74</vt:i4>
      </vt:variant>
    </vt:vector>
  </HeadingPairs>
  <TitlesOfParts>
    <vt:vector size="80" baseType="lpstr">
      <vt:lpstr>Aptos</vt:lpstr>
      <vt:lpstr>Arial</vt:lpstr>
      <vt:lpstr>Calibri</vt:lpstr>
      <vt:lpstr>Calibri Light</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kukesh kodess</dc:creator>
  <cp:lastModifiedBy>Trainify Demo</cp:lastModifiedBy>
  <cp:revision>575</cp:revision>
  <dcterms:created xsi:type="dcterms:W3CDTF">2019-11-18T17:58:36Z</dcterms:created>
  <dcterms:modified xsi:type="dcterms:W3CDTF">2026-07-12T13:49:41Z</dcterms:modified>
</cp:coreProperties>
</file>